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2232000"/>
            <a:ext cx="432000" cy="57600"/>
          </a:xfrm>
          <a:prstGeom prst="rect">
            <a:avLst/>
          </a:prstGeom>
          <a:solidFill>
            <a:srgbClr val="7FA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440000"/>
            <a:ext cx="107532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SETU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484000"/>
            <a:ext cx="1075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C5D6E8"/>
                </a:solidFill>
                <a:latin typeface="Calibri"/>
              </a:rPr>
              <a:t>Structural Evaluation and Thickness Underwriting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096000"/>
            <a:ext cx="1003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 Reliability-Based Framework for Residual-Life Prediction and Maintenance Prioritisation of Concrete Pavements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824000"/>
            <a:ext cx="1075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8C0DC"/>
                </a:solidFill>
                <a:latin typeface="Calibri"/>
              </a:rPr>
              <a:t>Research proposal — supervisory review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8C0DC"/>
                </a:solidFill>
                <a:latin typeface="Calibri"/>
              </a:rPr>
              <a:t>[Name] · Department of Civil Engineering · [Institution]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8C0DC"/>
                </a:solidFill>
                <a:latin typeface="Calibri"/>
              </a:rPr>
              <a:t>Supervisor: [Supervisor]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62000"/>
            <a:ext cx="1132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6E8"/>
                </a:solidFill>
                <a:latin typeface="Calibri"/>
              </a:rPr>
              <a:t>Designed once from assumptions; never checked until it cracks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52000"/>
            <a:ext cx="11329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202B"/>
                </a:solidFill>
                <a:latin typeface="Calibri"/>
              </a:rPr>
              <a:t>A rigid pavement slab is designed once, in an office, using single representative values — and is never revisited against the conditions actually realised on site.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872000"/>
          <a:ext cx="11340000" cy="18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980000"/>
                <a:gridCol w="4140000"/>
                <a:gridCol w="162000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Design parameter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Assumed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Reality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CoV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02B"/>
                          </a:solidFill>
                        </a:rPr>
                        <a:t>Subgrade reaction,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one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varies continuously along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0.20 – 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02B"/>
                          </a:solidFill>
                        </a:rPr>
                        <a:t>Flexural strength, MR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one value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varies pour to pour, season to season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0.10 – 0.15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02B"/>
                          </a:solidFill>
                        </a:rPr>
                        <a:t>Elastic modulus,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one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varies with mix and maturity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0.10 – 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02B"/>
                          </a:solidFill>
                        </a:rPr>
                        <a:t>Slab thickness, h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nominal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construction tolerance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0.02 – 0.05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02B"/>
                          </a:solidFill>
                        </a:rPr>
                        <a:t>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projection error and overloading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6202B"/>
                          </a:solidFill>
                        </a:rPr>
                        <a:t>0.15 – 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32000" y="5184000"/>
            <a:ext cx="11329200" cy="90000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5328000"/>
            <a:ext cx="10897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The industry's answer is a blanket safety factor applied everywhere — so concrete is wasted where conditions are good, and slabs fail early where they are not. Both happen on the same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44001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SETU — Structural Evaluation and Thickness Underwriting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1200" y="6444001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160000"/>
            <a:ext cx="103932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1F3B5C"/>
                </a:solidFill>
                <a:latin typeface="Calibri"/>
              </a:rPr>
              <a:t>“Which 200 metres of this 40 km road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1F3B5C"/>
                </a:solidFill>
                <a:latin typeface="Calibri"/>
              </a:rPr>
              <a:t>will fail first — and what will it cost me?”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4320000"/>
            <a:ext cx="1003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16202B"/>
                </a:solidFill>
                <a:latin typeface="Calibri"/>
              </a:rPr>
              <a:t>No design office, asset owner or software product can answer this today.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D6B7A"/>
                </a:solidFill>
                <a:latin typeface="Calibri"/>
              </a:rPr>
              <a:t>The data needed already exists — pour registers, cube results, subgrade tests, traffic counts. It has simply never been joined to the damage model that produced the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444001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SETU — Structural Evaluation and Thickness Underwriting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1200" y="6444001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62000"/>
            <a:ext cx="1132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approach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6E8"/>
                </a:solidFill>
                <a:latin typeface="Calibri"/>
              </a:rPr>
              <a:t>Four layers — the code is the foundation, not the casualty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224000"/>
            <a:ext cx="79200" cy="936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188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LAYER 1 — Mechanistic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530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202B"/>
                </a:solidFill>
                <a:latin typeface="Calibri"/>
              </a:rPr>
              <a:t>Westergaard stresses · Bradbury warping · IRC:58 fatigue · Miner summation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0000" y="1368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D6B7A"/>
                </a:solidFill>
                <a:latin typeface="Calibri"/>
              </a:rPr>
              <a:t>→  Deterministic damage, every value clause-traceable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340000"/>
            <a:ext cx="79200" cy="936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2304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LAYER 2 — Probabilistic propagation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000" y="2646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202B"/>
                </a:solidFill>
                <a:latin typeface="Calibri"/>
              </a:rPr>
              <a:t>Monte Carlo over distributions of k, MR, E, h and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40000" y="2484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D6B7A"/>
                </a:solidFill>
                <a:latin typeface="Calibri"/>
              </a:rPr>
              <a:t>→  P(failure) and reliability per segment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456000"/>
            <a:ext cx="79200" cy="936000"/>
          </a:xfrm>
          <a:prstGeom prst="rect">
            <a:avLst/>
          </a:prstGeom>
          <a:solidFill>
            <a:srgbClr val="2D5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00" y="3420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LAYER 3 — ML residual correction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762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202B"/>
                </a:solidFill>
                <a:latin typeface="Calibri"/>
              </a:rPr>
              <a:t>Gaussian Process on (predicted − observed) distress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0000" y="3600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D6B7A"/>
                </a:solidFill>
                <a:latin typeface="Calibri"/>
              </a:rPr>
              <a:t>→  Corrected forecast with calibrated 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572000"/>
            <a:ext cx="79200" cy="936000"/>
          </a:xfrm>
          <a:prstGeom prst="rect">
            <a:avLst/>
          </a:prstGeom>
          <a:solidFill>
            <a:srgbClr val="2D5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000" y="4536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LAYER 4 — Decision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4878000"/>
            <a:ext cx="64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202B"/>
                </a:solidFill>
                <a:latin typeface="Calibri"/>
              </a:rPr>
              <a:t>Cost of acting now vs probability-weighted cost of waiting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0000" y="4716000"/>
            <a:ext cx="39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D6B7A"/>
                </a:solidFill>
                <a:latin typeface="Calibri"/>
              </a:rPr>
              <a:t>→  Ranked maintenance plan, with money attached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5832000"/>
            <a:ext cx="11329200" cy="61200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000" y="5922000"/>
            <a:ext cx="10897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B5C"/>
                </a:solidFill>
                <a:latin typeface="Calibri"/>
              </a:rPr>
              <a:t>At zero variability the framework reduces EXACTLY to the deterministic IRC:58 result — verified by automated test. It extends the code; it does not replace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6444001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SETU — Structural Evaluation and Thickness Underwriting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1200" y="6444001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62000"/>
            <a:ext cx="1132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Why the ML is constrained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6E8"/>
                </a:solidFill>
                <a:latin typeface="Calibri"/>
              </a:rPr>
              <a:t>Three independent reasons, any one of which is sufficient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296000"/>
            <a:ext cx="11304000" cy="122400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404000"/>
            <a:ext cx="34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Professional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0" y="1421999"/>
            <a:ext cx="72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202B"/>
                </a:solidFill>
                <a:latin typeface="Calibri"/>
              </a:rPr>
              <a:t>No engineer will stake a seal on a number whose provenance is “the neural network said so”. A codal computation plus a bounded correction remains open to professional scrutiny.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2808000"/>
            <a:ext cx="11304000" cy="122400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2916000"/>
            <a:ext cx="34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Data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000" y="2933999"/>
            <a:ext cx="72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202B"/>
                </a:solidFill>
                <a:latin typeface="Calibri"/>
              </a:rPr>
              <a:t>The physics carries the signal; the model fits only a small residual. Useful accuracy is attainable with a few hundred observations rather than tens of thousands.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4320000"/>
            <a:ext cx="11304000" cy="122400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000" y="4428000"/>
            <a:ext cx="34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B5C"/>
                </a:solidFill>
                <a:latin typeface="Calibri"/>
              </a:rPr>
              <a:t>Regulatory admissibility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8000" y="4445999"/>
            <a:ext cx="727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202B"/>
                </a:solidFill>
                <a:latin typeface="Calibri"/>
              </a:rPr>
              <a:t>Output that cites the governing clause is admissible in project documentation. Output that cannot be traced is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6444001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SETU — Structural Evaluation and Thickness Underwriting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1200" y="6444001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62000"/>
            <a:ext cx="1132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Result — reliability-based thickness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6E8"/>
                </a:solidFill>
                <a:latin typeface="Calibri"/>
              </a:rPr>
              <a:t>Same corridor, same traffic, same concrete. Only the subgrade differs.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00000" y="1440000"/>
          <a:ext cx="10440000" cy="2483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160000"/>
                <a:gridCol w="3060000"/>
                <a:gridCol w="2700000"/>
              </a:tblGrid>
              <a:tr h="41399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Subgrade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 (MPa/mm)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h for 90% reliability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vs. uniform design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202B"/>
                          </a:solidFill>
                        </a:rPr>
                        <a:t>Very 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0.200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285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7B4F"/>
                          </a:solidFill>
                        </a:rPr>
                        <a:t>15 mm saved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202B"/>
                          </a:solidFill>
                        </a:rPr>
                        <a:t>Good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0.150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295 mm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F7B4F"/>
                          </a:solidFill>
                        </a:rPr>
                        <a:t>5 mm saved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202B"/>
                          </a:solidFill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0.110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300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202B"/>
                          </a:solidFill>
                        </a:rPr>
                        <a:t>Poor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0.080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305 mm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3261E"/>
                          </a:solidFill>
                        </a:rPr>
                        <a:t>5 mm more required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202B"/>
                          </a:solidFill>
                        </a:rPr>
                        <a:t>Very poor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0.045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320 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3261E"/>
                          </a:solidFill>
                        </a:rPr>
                        <a:t>20 mm more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00000" y="4536000"/>
            <a:ext cx="10440000" cy="118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4662000"/>
            <a:ext cx="9936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 35 mm spread across one corridor.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5D6E8"/>
                </a:solidFill>
                <a:latin typeface="Calibri"/>
              </a:rPr>
              <a:t>Uniform design conceals this entirely: it over-builds the good ground and under-builds the bad. One computation corrects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5903999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D6B7A"/>
                </a:solidFill>
                <a:latin typeface="Calibri"/>
              </a:rPr>
              <a:t>Computed with the implemented engine. Indicative coefficients of variation; project-specific values to be substituted.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44001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SETU — Structural Evaluation and Thickness Underwriting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1200" y="6444001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62000"/>
            <a:ext cx="1132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Result — thermal warping frequently governs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6E8"/>
                </a:solidFill>
                <a:latin typeface="Calibri"/>
              </a:rPr>
              <a:t>300 mm slab · 15 t axle · ΔT 16.8 °C day / 8.4 °C night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00000" y="1512000"/>
          <a:ext cx="124200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/>
                <a:gridCol w="2160000"/>
                <a:gridCol w="1980000"/>
                <a:gridCol w="4320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Analysis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Stress (MPa)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Stress ratio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Assessment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202B"/>
                          </a:solidFill>
                        </a:rPr>
                        <a:t>Load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2.055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0.457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below endurance limit — appears safe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6202B"/>
                          </a:solidFill>
                        </a:rPr>
                        <a:t>Load + warping (BUC governs)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3.625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6202B"/>
                          </a:solidFill>
                        </a:rPr>
                        <a:t>0.806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B3261E"/>
                          </a:solidFill>
                        </a:rPr>
                        <a:t>well above endurance limit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00000" y="3420000"/>
            <a:ext cx="10440000" cy="1296000"/>
          </a:xfrm>
          <a:prstGeom prst="rect">
            <a:avLst/>
          </a:prstGeom>
          <a:solidFill>
            <a:srgbClr val="FB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3564000"/>
            <a:ext cx="9936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B3261E"/>
                </a:solidFill>
                <a:latin typeface="Calibri"/>
              </a:rPr>
              <a:t>Omitting thermal warping understates the stress ratio by 43 per cent.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6202B"/>
                </a:solidFill>
                <a:latin typeface="Calibri"/>
              </a:rPr>
              <a:t>Because the fatigue relationship is steeply non-linear in the stress ratio, this becomes an order-of-magnitude error in allowable repetitions. Warping is not a refinement — it frequently governs.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5004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D6B7A"/>
                </a:solidFill>
                <a:latin typeface="Calibri"/>
              </a:rPr>
              <a:t>Bradbury coefficient evaluated from a continuous fitted function (max deviation 0.023 from the published curve, 1 ≤ L/l ≤ 14) rather than a tabulated lookup — original work, and differentiable for later optimisation.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6444001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SETU — Structural Evaluation and Thickness Underwriting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1200" y="6444001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62000"/>
            <a:ext cx="1132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is already built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6E8"/>
                </a:solidFill>
                <a:latin typeface="Calibri"/>
              </a:rPr>
              <a:t>This is not a concept — the core is running and tested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260000"/>
          <a:ext cx="11303999" cy="33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5903999"/>
                <a:gridCol w="2520000"/>
              </a:tblGrid>
              <a:tr h="55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02B"/>
                          </a:solidFill>
                        </a:rPr>
                        <a:t>Analytical stress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6202B"/>
                          </a:solidFill>
                        </a:rPr>
                        <a:t>Westergaard interior / edge / corner, radius of relative stiffness, equivalent radius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7B4F"/>
                          </a:solidFill>
                        </a:rPr>
                        <a:t>9 tests passing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02B"/>
                          </a:solidFill>
                        </a:rPr>
                        <a:t>Thermal warping module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6202B"/>
                          </a:solidFill>
                        </a:rPr>
                        <a:t>Bradbury coefficient (fitted), edge and interior warping, BUC and TDC checks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7B4F"/>
                          </a:solidFill>
                        </a:rPr>
                        <a:t>21 tests passing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02B"/>
                          </a:solidFill>
                        </a:rPr>
                        <a:t>Damage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6202B"/>
                          </a:solidFill>
                        </a:rPr>
                        <a:t>Stress ratio, 3-branch fatigue law, Miner summation, residual life, erosion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7B4F"/>
                          </a:solidFill>
                        </a:rPr>
                        <a:t>22 tests passing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02B"/>
                          </a:solidFill>
                        </a:rPr>
                        <a:t>Reliability module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6202B"/>
                          </a:solidFill>
                        </a:rPr>
                        <a:t>Monte Carlo propagation, P(failure), reliability-based thickness search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7B4F"/>
                          </a:solidFill>
                        </a:rPr>
                        <a:t>included above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6202B"/>
                          </a:solidFill>
                        </a:rPr>
                        <a:t>Public web calculator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6202B"/>
                          </a:solidFill>
                        </a:rPr>
                        <a:t>Browser-based, offline-capable, full calculation trace, no data collected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F7B4F"/>
                          </a:solidFill>
                        </a:rPr>
                        <a:t>4 parity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32000" y="5616000"/>
            <a:ext cx="11329200" cy="792000"/>
          </a:xfrm>
          <a:prstGeom prst="rect">
            <a:avLst/>
          </a:prstGeom>
          <a:solidFill>
            <a:srgbClr val="E8F0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8000" y="5742000"/>
            <a:ext cx="10897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B5C"/>
                </a:solidFill>
                <a:latin typeface="Calibri"/>
              </a:rPr>
              <a:t>56 automated tests, all passing. The browser calculator agrees with the Python reference to 3.4 × 10⁻¹⁵ — verified by test, not by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444001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SETU — Structural Evaluation and Thickness Underwriting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1200" y="6444001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62000"/>
            <a:ext cx="1132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I am asking for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6E8"/>
                </a:solidFill>
                <a:latin typeface="Calibri"/>
              </a:rPr>
              <a:t>Guidance, and access — not funding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260000"/>
            <a:ext cx="540000" cy="972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458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000" y="1314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Approval of the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1673999"/>
            <a:ext cx="102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202B"/>
                </a:solidFill>
                <a:latin typeface="Calibri"/>
              </a:rPr>
              <a:t>Confirmation that the reliability-based extension of IRC:58 is a sound and defensible line of research for the thesis.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2466000"/>
            <a:ext cx="540000" cy="972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2664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2520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One corridor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000" y="2879999"/>
            <a:ext cx="102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202B"/>
                </a:solidFill>
                <a:latin typeface="Calibri"/>
              </a:rPr>
              <a:t>Introduction to a concessionaire, PWD circle or consultant willing to share construction and condition records for a single stretch. This is the critical dependency for Objective 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3672000"/>
            <a:ext cx="540000" cy="972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000" y="3870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3726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Publication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4085999"/>
            <a:ext cx="102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202B"/>
                </a:solidFill>
                <a:latin typeface="Calibri"/>
              </a:rPr>
              <a:t>Advice on the appropriate venue — an IRC/ICI journal or an international transportation journal — and on what must be strengthened before submission.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4878000"/>
            <a:ext cx="540000" cy="972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5076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4932000"/>
            <a:ext cx="39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B5C"/>
                </a:solidFill>
                <a:latin typeface="Calibri"/>
              </a:rPr>
              <a:t>A view on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000" y="5291999"/>
            <a:ext cx="102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202B"/>
                </a:solidFill>
                <a:latin typeface="Calibri"/>
              </a:rPr>
              <a:t>Whether to prioritise depth on the mechanistic and reliability layers, or to proceed to the machine-learning layer once field data is in hand.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444001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SETU — Structural Evaluation and Thickness Underwriting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1200" y="6444001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00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62000"/>
            <a:ext cx="1132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Work plan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C5D6E8"/>
                </a:solidFill>
                <a:latin typeface="Calibri"/>
              </a:rPr>
              <a:t>24 months, two phases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2000" y="1296000"/>
          <a:ext cx="11340000" cy="40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6840000"/>
                <a:gridCol w="28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Months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1F3B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202B"/>
                          </a:solidFill>
                        </a:rPr>
                        <a:t>1 –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Literature consolidation; variability statistics for Indian materials and subgrades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Parameter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202B"/>
                          </a:solidFill>
                        </a:rPr>
                        <a:t>3 – 6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Extend mechanistic core: temperature differential regimes, erosion criterion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Extended Layer 1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202B"/>
                          </a:solidFill>
                        </a:rPr>
                        <a:t>5 –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Probabilistic layer refinement and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Validated Layer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202B"/>
                          </a:solidFill>
                        </a:rPr>
                        <a:t>7 – 12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Corridor identification; acquisition of construction and condition records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Field dataset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202B"/>
                          </a:solidFill>
                        </a:rPr>
                        <a:t>12 –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Retrospective validation against documented distress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Accuracy established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202B"/>
                          </a:solidFill>
                        </a:rPr>
                        <a:t>14 – 19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Machine-learning residual layer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Validated Layer 3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202B"/>
                          </a:solidFill>
                        </a:rPr>
                        <a:t>18 –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Decision engine and maintenance prioritisation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Layer 4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6202B"/>
                          </a:solidFill>
                        </a:rPr>
                        <a:t>20 – 24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Demonstration study, documentation, dissemination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6202B"/>
                          </a:solidFill>
                        </a:rPr>
                        <a:t>Publications; final report</a:t>
                      </a:r>
                    </a:p>
                  </a:txBody>
                  <a:tcPr>
                    <a:solidFill>
                      <a:srgbClr val="E8F0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2000" y="6444001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SETU — Structural Evaluation and Thickness Underwriting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1200" y="6444001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D6B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620000"/>
            <a:ext cx="103932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C5D6E8"/>
                </a:solidFill>
                <a:latin typeface="Calibri"/>
              </a:rPr>
              <a:t>The mechanics already exist in IRC:58.</a:t>
            </a:r>
          </a:p>
          <a:p>
            <a:pPr algn="l">
              <a:spcAft>
                <a:spcPts val="400"/>
              </a:spcAft>
            </a:pPr>
            <a:r>
              <a:rPr sz="2600" b="0">
                <a:solidFill>
                  <a:srgbClr val="C5D6E8"/>
                </a:solidFill>
                <a:latin typeface="Calibri"/>
              </a:rPr>
              <a:t>What is missing is its probabilistic extension,</a:t>
            </a:r>
          </a:p>
          <a:p>
            <a:pPr algn="l">
              <a:spcAft>
                <a:spcPts val="400"/>
              </a:spcAft>
            </a:pPr>
            <a:r>
              <a:rPr sz="2600" b="0">
                <a:solidFill>
                  <a:srgbClr val="C5D6E8"/>
                </a:solidFill>
                <a:latin typeface="Calibri"/>
              </a:rPr>
              <a:t>its application forward in time,</a:t>
            </a:r>
          </a:p>
          <a:p>
            <a:pPr algn="l">
              <a:spcAft>
                <a:spcPts val="400"/>
              </a:spcAft>
            </a:pPr>
            <a:r>
              <a:rPr sz="2600" b="0">
                <a:solidFill>
                  <a:srgbClr val="C5D6E8"/>
                </a:solidFill>
                <a:latin typeface="Calibri"/>
              </a:rPr>
              <a:t>and its calibration against the records</a:t>
            </a:r>
          </a:p>
          <a:p>
            <a:pPr algn="l">
              <a:spcAft>
                <a:spcPts val="400"/>
              </a:spcAft>
            </a:pPr>
            <a:r>
              <a:rPr sz="2600" b="0">
                <a:solidFill>
                  <a:srgbClr val="C5D6E8"/>
                </a:solidFill>
                <a:latin typeface="Calibri"/>
              </a:rPr>
              <a:t>that construction already generates.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4392000"/>
            <a:ext cx="432000" cy="50400"/>
          </a:xfrm>
          <a:prstGeom prst="rect">
            <a:avLst/>
          </a:prstGeom>
          <a:solidFill>
            <a:srgbClr val="7FA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4680000"/>
            <a:ext cx="103932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No instrumentation. No proprietary software. No significant capital.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A8C0DC"/>
                </a:solidFill>
                <a:latin typeface="Calibri"/>
              </a:rPr>
              <a:t>A verified computational core is already implemented.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