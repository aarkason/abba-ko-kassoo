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c:v>
                </c:pt>
              </c:strCache>
            </c:strRef>
          </c:tx>
          <c:dPt>
            <c:idx val="0"/>
            <c:spPr>
              <a:solidFill>
                <a:srgbClr val="2B78A6"/>
              </a:solidFill>
              <a:ln>
                <a:solidFill>
                  <a:srgbClr val="2B78A6"/>
                </a:solidFill>
              </a:ln>
            </c:spPr>
          </c:dPt>
          <c:dPt>
            <c:idx val="1"/>
            <c:spPr>
              <a:solidFill>
                <a:srgbClr val="22B8C7"/>
              </a:solidFill>
              <a:ln>
                <a:solidFill>
                  <a:srgbClr val="22B8C7"/>
                </a:solidFill>
              </a:ln>
            </c:spPr>
          </c:dPt>
          <c:dPt>
            <c:idx val="2"/>
            <c:spPr>
              <a:solidFill>
                <a:srgbClr val="F39C3D"/>
              </a:solidFill>
              <a:ln>
                <a:solidFill>
                  <a:srgbClr val="F39C3D"/>
                </a:solidFill>
              </a:ln>
            </c:spPr>
          </c:dPt>
          <c:dPt>
            <c:idx val="3"/>
            <c:spPr>
              <a:solidFill>
                <a:srgbClr val="D8E2E8"/>
              </a:solidFill>
              <a:ln>
                <a:solidFill>
                  <a:srgbClr val="D8E2E8"/>
                </a:solidFill>
              </a:ln>
            </c:spPr>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ser>
        <c:firstSliceAng val="0"/>
        <c:holeSize val="50"/>
      </c:doughnutChart>
    </c:plotArea>
    <c:legend>
      <c:legendPos val="b"/>
      <c:layout/>
      <c:overlay val="0"/>
      <c:txPr>
        <a:bodyPr/>
        <a:lstStyle/>
        <a:p>
          <a:pPr>
            <a:defRPr sz="800">
              <a:solidFill>
                <a:srgbClr val="596C78"/>
              </a:solidFill>
              <a:latin typeface="Aptos"/>
            </a:defRPr>
          </a:pPr>
        </a:p>
      </c:txPr>
    </c:legend>
    <c:plotVisOnly val="1"/>
    <c:dispBlanksAs val="gap"/>
    <c:showDLblsOverMax val="0"/>
  </c:chart>
  <c:txPr>
    <a:bodyPr/>
    <a:lstStyle/>
    <a:p>
      <a:pPr>
        <a:defRPr sz="800">
          <a:solidFill>
            <a:srgbClr val="596C78"/>
          </a:solidFill>
          <a:latin typeface="Aptos"/>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Reported density</c:v>
                </c:pt>
              </c:strCache>
            </c:strRef>
          </c:tx>
          <c:spPr>
            <a:solidFill>
              <a:srgbClr val="2B78A6"/>
            </a:solidFill>
            <a:ln>
              <a:solidFill>
                <a:srgbClr val="2B78A6"/>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2700.0"/>
          <c:min val="0.0"/>
        </c:scaling>
        <c:delete val="0"/>
        <c:axPos val="l"/>
        <c:majorGridlines>
          <c:spPr>
            <a:ln>
              <a:solidFill>
                <a:srgbClr val="D8E2E8"/>
              </a:solidFill>
            </a:ln>
          </c:spPr>
        </c:majorGridlines>
        <c:title>
          <c:tx>
            <c:rich>
              <a:bodyPr/>
              <a:lstStyle/>
              <a:p>
                <a:r>
                  <a:rPr sz="800"/>
                  <a:t>kg/m³</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Compression</c:v>
                </c:pt>
              </c:strCache>
            </c:strRef>
          </c:tx>
          <c:spPr>
            <a:solidFill>
              <a:srgbClr val="178D86"/>
            </a:solidFill>
            <a:ln>
              <a:solidFill>
                <a:srgbClr val="178D86"/>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ser>
        <c:dLbls>
          <c:numFmt formatCode="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65.0"/>
          <c:min val="0.0"/>
        </c:scaling>
        <c:delete val="0"/>
        <c:axPos val="l"/>
        <c:majorGridlines>
          <c:spPr>
            <a:ln>
              <a:solidFill>
                <a:srgbClr val="D8E2E8"/>
              </a:solidFill>
            </a:ln>
          </c:spPr>
        </c:majorGridlines>
        <c:title>
          <c:tx>
            <c:rich>
              <a:bodyPr/>
              <a:lstStyle/>
              <a:p>
                <a:r>
                  <a:rPr sz="800"/>
                  <a:t>MPa</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Split tension</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4.77</c:v>
                </c:pt>
                <c:pt idx="3">
                  <c:v>5.92</c:v>
                </c:pt>
                <c:pt idx="4">
                  <c:v>7.6</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9.0"/>
          <c:min val="0.0"/>
        </c:scaling>
        <c:delete val="0"/>
        <c:axPos val="l"/>
        <c:majorGridlines>
          <c:spPr>
            <a:ln>
              <a:solidFill>
                <a:srgbClr val="D8E2E8"/>
              </a:solidFill>
            </a:ln>
          </c:spPr>
        </c:majorGridlines>
        <c:title>
          <c:tx>
            <c:rich>
              <a:bodyPr/>
              <a:lstStyle/>
              <a:p>
                <a:r>
                  <a:rPr sz="800"/>
                  <a:t>MPa</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2B78A6"/>
            </a:solidFill>
            <a:ln>
              <a:solidFill>
                <a:srgbClr val="2B78A6"/>
              </a:solidFill>
            </a:ln>
          </c:spPr>
          <c:dPt>
            <c:idx val="0"/>
            <c:spPr>
              <a:solidFill>
                <a:srgbClr val="D8E2E8"/>
              </a:solidFill>
              <a:ln>
                <a:solidFill>
                  <a:srgbClr val="D8E2E8"/>
                </a:solidFill>
              </a:ln>
            </c:spPr>
          </c:dPt>
          <c:dPt>
            <c:idx val="1"/>
            <c:spPr>
              <a:solidFill>
                <a:srgbClr val="9ABFD1"/>
              </a:solidFill>
              <a:ln>
                <a:solidFill>
                  <a:srgbClr val="9ABFD1"/>
                </a:solidFill>
              </a:ln>
            </c:spPr>
          </c:dPt>
          <c:dPt>
            <c:idx val="2"/>
            <c:spPr>
              <a:solidFill>
                <a:srgbClr val="22B8C7"/>
              </a:solidFill>
              <a:ln>
                <a:solidFill>
                  <a:srgbClr val="22B8C7"/>
                </a:solidFill>
              </a:ln>
            </c:spPr>
          </c:dPt>
          <c:dPt>
            <c:idx val="3"/>
            <c:spPr>
              <a:solidFill>
                <a:srgbClr val="F39C3D"/>
              </a:solidFill>
              <a:ln>
                <a:solidFill>
                  <a:srgbClr val="F39C3D"/>
                </a:solidFill>
              </a:ln>
            </c:spPr>
          </c:dPt>
          <c:dPt>
            <c:idx val="4"/>
            <c:spPr>
              <a:solidFill>
                <a:srgbClr val="D95D5D"/>
              </a:solidFill>
              <a:ln>
                <a:solidFill>
                  <a:srgbClr val="D95D5D"/>
                </a:solidFill>
              </a:ln>
            </c:spPr>
          </c:dPt>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ser>
        <c:dLbls>
          <c:numFmt formatCode="0" sourceLinked="0"/>
          <c:txPr>
            <a:bodyPr/>
            <a:lstStyle/>
            <a:p>
              <a:pPr>
                <a:defRPr sz="80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axMin"/>
        </c:scaling>
        <c:delete val="0"/>
        <c:axPos val="l"/>
        <c:majorTickMark val="out"/>
        <c:minorTickMark val="none"/>
        <c:tickLblPos val="nextTo"/>
        <c:spPr>
          <a:ln>
            <a:solidFill>
              <a:srgbClr val="D8E2E8"/>
            </a:solidFill>
          </a:ln>
        </c:spPr>
        <c:txPr>
          <a:bodyPr/>
          <a:lstStyle/>
          <a:p>
            <a:pPr>
              <a:defRPr sz="830">
                <a:latin typeface="Aptos"/>
              </a:defRPr>
            </a:pPr>
          </a:p>
        </c:txPr>
        <c:crossAx val="-2113994440"/>
        <c:crosses val="autoZero"/>
        <c:auto val="1"/>
        <c:lblAlgn val="ctr"/>
        <c:lblOffset val="100"/>
        <c:noMultiLvlLbl val="0"/>
      </c:catAx>
      <c:valAx>
        <c:axId val="-2113994440"/>
        <c:scaling>
          <c:max val="3300.0"/>
          <c:min val="0.0"/>
        </c:scaling>
        <c:delete val="0"/>
        <c:axPos val="b"/>
        <c:majorGridlines>
          <c:spPr>
            <a:ln>
              <a:solidFill>
                <a:srgbClr val="D8E2E8"/>
              </a:solidFill>
            </a:ln>
          </c:spPr>
        </c:majorGridlines>
        <c:majorTickMark val="out"/>
        <c:minorTickMark val="none"/>
        <c:tickLblPos val="nextTo"/>
        <c:spPr>
          <a:ln>
            <a:solidFill>
              <a:srgbClr val="D8E2E8"/>
            </a:solidFill>
          </a:ln>
        </c:spPr>
        <c:txPr>
          <a:bodyPr/>
          <a:lstStyle/>
          <a:p>
            <a:pPr>
              <a:defRPr sz="750"/>
            </a:pPr>
          </a:p>
        </c:txPr>
        <c:crossAx val="-2068027336"/>
        <c:crosses val="autoZero"/>
      </c:valAx>
    </c:plotArea>
    <c:dispBlanksAs val="gap"/>
  </c:chart>
  <c:txPr>
    <a:bodyPr/>
    <a:lstStyle/>
    <a:p>
      <a:pPr>
        <a:defRPr sz="819">
          <a:solidFill>
            <a:srgbClr val="596C78"/>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First crack N₁</c:v>
                </c:pt>
              </c:strCache>
            </c:strRef>
          </c:tx>
          <c:spPr>
            <a:solidFill>
              <a:srgbClr val="22B8C7"/>
            </a:solidFill>
            <a:ln>
              <a:solidFill>
                <a:srgbClr val="22B8C7"/>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ser>
        <c:ser>
          <c:idx val="1"/>
          <c:order val="1"/>
          <c:tx>
            <c:strRef>
              <c:f>Sheet1!$C$1</c:f>
              <c:strCache>
                <c:ptCount val="1"/>
                <c:pt idx="0">
                  <c:v>Failure N₂</c:v>
                </c:pt>
              </c:strCache>
            </c:strRef>
          </c:tx>
          <c:spPr>
            <a:solidFill>
              <a:srgbClr val="08243A"/>
            </a:solidFill>
            <a:ln>
              <a:solidFill>
                <a:srgbClr val="08243A"/>
              </a:solidFill>
            </a:ln>
          </c:spPr>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D8E2E8"/>
              </a:solidFill>
            </a:ln>
          </c:spPr>
        </c:majorGridlines>
        <c:title>
          <c:tx>
            <c:rich>
              <a:bodyPr/>
              <a:lstStyle/>
              <a:p>
                <a:r>
                  <a:rPr sz="800"/>
                  <a:t>blows</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legend>
      <c:legendPos val="b"/>
      <c:overlay val="0"/>
      <c:txPr>
        <a:bodyPr/>
        <a:lstStyle/>
        <a:p>
          <a:pPr>
            <a:defRPr sz="800">
              <a:solidFill>
                <a:srgbClr val="596C78"/>
              </a:solidFill>
              <a:latin typeface="Aptos"/>
            </a:defRPr>
          </a:pPr>
        </a:p>
      </c:txPr>
    </c:legend>
    <c:dispBlanksAs val="gap"/>
  </c:chart>
  <c:txPr>
    <a:bodyPr/>
    <a:lstStyle/>
    <a:p>
      <a:pPr>
        <a:defRPr sz="800">
          <a:solidFill>
            <a:srgbClr val="596C78"/>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Peak displacement</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c:v>
                </c:pt>
                <c:pt idx="1">
                  <c:v>0.08</c:v>
                </c:pt>
                <c:pt idx="2">
                  <c:v>0.14</c:v>
                </c:pt>
                <c:pt idx="3">
                  <c:v>0.85</c:v>
                </c:pt>
                <c:pt idx="4">
                  <c:v>0.71</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8E2E8"/>
              </a:solidFill>
            </a:ln>
          </c:spPr>
        </c:majorGridlines>
        <c:title>
          <c:tx>
            <c:rich>
              <a:bodyPr/>
              <a:lstStyle/>
              <a:p>
                <a:r>
                  <a:rPr sz="800"/>
                  <a:t>mm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Material cost</c:v>
                </c:pt>
              </c:strCache>
            </c:strRef>
          </c:tx>
          <c:spPr>
            <a:solidFill>
              <a:srgbClr val="08243A"/>
            </a:solidFill>
            <a:ln>
              <a:solidFill>
                <a:srgbClr val="08243A"/>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c:v>
                </c:pt>
                <c:pt idx="3">
                  <c:v>12261.62</c:v>
                </c:pt>
                <c:pt idx="4">
                  <c:v>16191.62</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8000.0"/>
          <c:min val="0.0"/>
        </c:scaling>
        <c:delete val="0"/>
        <c:axPos val="l"/>
        <c:majorGridlines>
          <c:spPr>
            <a:ln>
              <a:solidFill>
                <a:srgbClr val="D8E2E8"/>
              </a:solidFill>
            </a:ln>
          </c:spPr>
        </c:majorGridlines>
        <c:title>
          <c:tx>
            <c:rich>
              <a:bodyPr/>
              <a:lstStyle/>
              <a:p>
                <a:r>
                  <a:rPr sz="800"/>
                  <a:t>₹/m³</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Cost / failure energy</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85.0"/>
          <c:min val="0.0"/>
        </c:scaling>
        <c:delete val="0"/>
        <c:axPos val="l"/>
        <c:majorGridlines>
          <c:spPr>
            <a:ln>
              <a:solidFill>
                <a:srgbClr val="D8E2E8"/>
              </a:solidFill>
            </a:ln>
          </c:spPr>
        </c:majorGridlines>
        <c:title>
          <c:tx>
            <c:rich>
              <a:bodyPr/>
              <a:lstStyle/>
              <a:p>
                <a:r>
                  <a:rPr sz="800"/>
                  <a:t>₹/(N·m)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Failure energy</c:v>
                </c:pt>
              </c:strCache>
            </c:strRef>
          </c:tx>
          <c:spPr>
            <a:solidFill>
              <a:srgbClr val="D95D5D"/>
            </a:solidFill>
            <a:ln>
              <a:solidFill>
                <a:srgbClr val="D95D5D"/>
              </a:solidFill>
            </a:ln>
          </c:spPr>
          <c:cat>
            <c:strRef>
              <c:f>Sheet1!$A$2:$A$3</c:f>
              <c:strCache>
                <c:ptCount val="2"/>
                <c:pt idx="0">
                  <c:v>NWC</c:v>
                </c:pt>
                <c:pt idx="1">
                  <c:v>LWC15</c:v>
                </c:pt>
              </c:strCache>
            </c:strRef>
          </c:cat>
          <c:val>
            <c:numRef>
              <c:f>Sheet1!$B$2:$B$3</c:f>
              <c:numCache>
                <c:formatCode>General</c:formatCode>
                <c:ptCount val="2"/>
                <c:pt idx="0">
                  <c:v>1373</c:v>
                </c:pt>
                <c:pt idx="1">
                  <c:v>2746</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3100.0"/>
          <c:min val="0.0"/>
        </c:scaling>
        <c:delete val="0"/>
        <c:axPos val="l"/>
        <c:majorGridlines>
          <c:spPr>
            <a:ln>
              <a:solidFill>
                <a:srgbClr val="D8E2E8"/>
              </a:solidFill>
            </a:ln>
          </c:spPr>
        </c:majorGridlines>
        <c:title>
          <c:tx>
            <c:rich>
              <a:bodyPr/>
              <a:lstStyle/>
              <a:p>
                <a:r>
                  <a:rPr sz="800"/>
                  <a:t>N·m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Deformation</c:v>
                </c:pt>
              </c:strCache>
            </c:strRef>
          </c:tx>
          <c:spPr>
            <a:solidFill>
              <a:srgbClr val="F39C3D"/>
            </a:solidFill>
            <a:ln>
              <a:solidFill>
                <a:srgbClr val="F39C3D"/>
              </a:solidFill>
            </a:ln>
          </c:spPr>
          <c:cat>
            <c:strRef>
              <c:f>Sheet1!$A$2:$A$3</c:f>
              <c:strCache>
                <c:ptCount val="2"/>
                <c:pt idx="0">
                  <c:v>NWC</c:v>
                </c:pt>
                <c:pt idx="1">
                  <c:v>LWC15</c:v>
                </c:pt>
              </c:strCache>
            </c:strRef>
          </c:cat>
          <c:val>
            <c:numRef>
              <c:f>Sheet1!$B$2:$B$3</c:f>
              <c:numCache>
                <c:formatCode>General</c:formatCode>
                <c:ptCount val="2"/>
                <c:pt idx="0">
                  <c:v>4.22</c:v>
                </c:pt>
                <c:pt idx="1">
                  <c:v>12.7</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5.0"/>
          <c:min val="0.0"/>
        </c:scaling>
        <c:delete val="0"/>
        <c:axPos val="l"/>
        <c:majorGridlines>
          <c:spPr>
            <a:ln>
              <a:solidFill>
                <a:srgbClr val="D8E2E8"/>
              </a:solidFill>
            </a:ln>
          </c:spPr>
        </c:majorGridlines>
        <c:title>
          <c:tx>
            <c:rich>
              <a:bodyPr/>
              <a:lstStyle/>
              <a:p>
                <a:r>
                  <a:rPr sz="800"/>
                  <a:t>mm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OPENING — approximately 45 seconds</a:t>
            </a:r>
          </a:p>
          <a:p/>
          <a:p>
            <a:r>
              <a:rPr sz="1200" b="0" i="0">
                <a:solidFill>
                  <a:srgbClr val="172733"/>
                </a:solidFill>
                <a:latin typeface="Aptos"/>
              </a:rPr>
              <a:t>• This presentation evaluates an experimentally reduced-to-practice material platform for impact-energy-dissipating crash barriers. It is not a legal patentability opinion.</a:t>
            </a:r>
          </a:p>
          <a:p>
            <a:r>
              <a:rPr sz="1200" b="0" i="0">
                <a:solidFill>
                  <a:srgbClr val="172733"/>
                </a:solidFill>
                <a:latin typeface="Aptos"/>
              </a:rPr>
              <a:t>• The invention team is Haruna Al-Amir Saleh, Pratik Kanungo, Dr Anush K. Chandrappa and Prof Dinakar Pasla, School of Infrastructure, IIT Bhubaneswar.</a:t>
            </a:r>
          </a:p>
          <a:p>
            <a:r>
              <a:rPr sz="1200" b="0" i="0">
                <a:solidFill>
                  <a:srgbClr val="172733"/>
                </a:solidFill>
                <a:latin typeface="Aptos"/>
              </a:rPr>
              <a:t>• The internal disclosure states that no patent had been filed as of 16 July 2026 and that a related manuscript was submitted on 18 July 2026. Treat this deck accordingly: CONFIDENTIAL • NOT FILED AS OF SUPPLIED DISCLOSURE (16 JUL 2026) • INTERNAL IP EVALUATION ONLY.</a:t>
            </a:r>
          </a:p>
          <a:p>
            <a:r>
              <a:rPr sz="1200" b="0" i="0">
                <a:solidFill>
                  <a:srgbClr val="172733"/>
                </a:solidFill>
                <a:latin typeface="Aptos"/>
              </a:rPr>
              <a:t>• The central question is not whether the concrete is merely lighter. It is whether the tested combination creates a defensible, multi-mechanism improvement in energy absorption, post-cracking integrity and controlled damage while retaining structural-grade strength.</a:t>
            </a:r>
          </a:p>
          <a:p>
            <a:r>
              <a:rPr sz="1200" b="0" i="0">
                <a:solidFill>
                  <a:srgbClr val="172733"/>
                </a:solidFill>
                <a:latin typeface="Aptos"/>
              </a:rPr>
              <a:t>• The presentation separates measured evidence from proposed occupant-safety benefit. Full-scale vehicle testing is still required before any claim of reduced occupant injury or standards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KEY MESSAGE — approximately 60 seconds</a:t>
            </a:r>
          </a:p>
          <a:p/>
          <a:p>
            <a:r>
              <a:rPr sz="1200" b="0" i="0">
                <a:solidFill>
                  <a:srgbClr val="172733"/>
                </a:solidFill>
                <a:latin typeface="Aptos"/>
              </a:rPr>
              <a:t>• Lead with the evidence: relative to normal-weight concrete, the selected lightweight mixture has 19.4% lower reported density and 75.9% higher splitting tensile strength. In the repeated drop-weight prism test it absorbed 55.3 times the failure energy of NWC.</a:t>
            </a:r>
          </a:p>
          <a:p>
            <a:r>
              <a:rPr sz="1200" b="0" i="0">
                <a:solidFill>
                  <a:srgbClr val="1727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a:solidFill>
                  <a:srgbClr val="172733"/>
                </a:solidFill>
                <a:latin typeface="Aptos"/>
              </a:rPr>
              <a:t>• The patent thesis should not be “steel fibre is useful” or “lightweight aggregate is useful”; both are known. The potentially protectable value is the integrated composition, the use of SFA and hooked-end fibres in a crash-barrier system, the dual energy-dissipation mechanism, and the demonstrated performance combination.</a:t>
            </a:r>
          </a:p>
          <a:p>
            <a:r>
              <a:rPr sz="1200" b="0" i="0">
                <a:solidFill>
                  <a:srgbClr val="172733"/>
                </a:solidFill>
                <a:latin typeface="Aptos"/>
              </a:rPr>
              <a:t>• Commercially, the material can use conventional concrete/precast infrastructure. The cost per unit of laboratory impact energy is favourable, but no lifecycle cost analysis or environmental life-cycle assessment has yet been performed.</a:t>
            </a:r>
          </a:p>
          <a:p>
            <a:r>
              <a:rPr sz="1200" b="0" i="0">
                <a:solidFill>
                  <a:srgbClr val="1727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GLOBAL CONTEXT — approximately 75 seconds</a:t>
            </a:r>
          </a:p>
          <a:p/>
          <a:p>
            <a:r>
              <a:rPr sz="1200" b="0" i="0">
                <a:solidFill>
                  <a:srgbClr val="172733"/>
                </a:solidFill>
                <a:latin typeface="Aptos"/>
              </a:rPr>
              <a:t>• The global road-safety burden is about 1.19 million deaths annually. WHO estimates that 92% occur in low- and middle-income countries. The pie chart is a global dataset: 35% upper-middle, 44% lower-middle, 13% low-income and 8% high-income countries.</a:t>
            </a:r>
          </a:p>
          <a:p>
            <a:r>
              <a:rPr sz="1200" b="0" i="0">
                <a:solidFill>
                  <a:srgbClr val="172733"/>
                </a:solidFill>
                <a:latin typeface="Aptos"/>
              </a:rPr>
              <a:t>• At the same time, construction operates at planetary material scale: UNEP estimates 50 billion tonnes of sand and gravel are used each year; USGS estimates about 4.0 billion tonnes of cement were produced in 2024, while IEA reports direct cement-emissions intensity just under 0.6 tonnes of CO₂ per tonne.</a:t>
            </a:r>
          </a:p>
          <a:p>
            <a:r>
              <a:rPr sz="1200" b="0" i="0">
                <a:solidFill>
                  <a:srgbClr val="172733"/>
                </a:solidFill>
                <a:latin typeface="Aptos"/>
              </a:rPr>
              <a:t>• Coal combustion also generates more than one billion tonnes of fly ash annually by order of magnitude. Availability and specification vary regionally, so this figure supports the resource opportunity—not a guaranteed feedstock claim.</a:t>
            </a:r>
          </a:p>
          <a:p>
            <a:r>
              <a:rPr sz="1200" b="0" i="0">
                <a:solidFill>
                  <a:srgbClr val="172733"/>
                </a:solidFill>
                <a:latin typeface="Aptos"/>
              </a:rPr>
              <a:t>• The invention sits at the intersection of three needs: safer roadside infrastructure, lower self-weight and virgin-aggregate demand, and productive use of industrial by-products.</a:t>
            </a:r>
          </a:p>
          <a:p>
            <a:r>
              <a:rPr sz="1200" b="0" i="0">
                <a:solidFill>
                  <a:srgbClr val="172733"/>
                </a:solidFill>
                <a:latin typeface="Aptos"/>
              </a:rPr>
              <a:t>• Be explicit about the environmental boundary. The mix uses GGBS and sintered fly ash aggregate, but sintering consumes energy and the high steel-fibre dosage has embodied impacts. A comparative, region-specific LCA is required before claiming a net carbon reduction.</a:t>
            </a:r>
          </a:p>
          <a:p>
            <a:r>
              <a:rPr sz="1200" b="0" i="0">
                <a:solidFill>
                  <a:srgbClr val="172733"/>
                </a:solidFill>
                <a:latin typeface="Aptos"/>
              </a:rPr>
              <a:t>• Transition: global need alone does not establish novelty. The next slide maps the prior-art trade 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PRIOR ART AND DIFFERENTIATION — approximately 90 seconds</a:t>
            </a:r>
          </a:p>
          <a:p/>
          <a:p>
            <a:r>
              <a:rPr sz="1200" b="0" i="0">
                <a:solidFill>
                  <a:srgbClr val="172733"/>
                </a:solidFill>
                <a:latin typeface="Aptos"/>
              </a:rPr>
              <a:t>• Conventional rigid concrete barriers are mature and effective for containment, but their low deflection can create a severe vehicle pulse, and brittle damage can generate debris under severe impact.</a:t>
            </a:r>
          </a:p>
          <a:p>
            <a:r>
              <a:rPr sz="1200" b="0" i="0">
                <a:solidFill>
                  <a:srgbClr val="172733"/>
                </a:solidFill>
                <a:latin typeface="Aptos"/>
              </a:rPr>
              <a:t>• Flexible and semi-rigid systems dissipate energy through global deflection, but require working width and post-impact repair. Rubberised, UHPC and ECC concepts each solve part of the problem, while introducing strength, cost, stiffness or processing trade-offs.</a:t>
            </a:r>
          </a:p>
          <a:p>
            <a:r>
              <a:rPr sz="1200" b="0" i="0">
                <a:solidFill>
                  <a:srgbClr val="1727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a:solidFill>
                  <a:srgbClr val="172733"/>
                </a:solidFill>
                <a:latin typeface="Aptos"/>
              </a:rPr>
              <a:t>• The narrower and more defensible thesis is the integrated OPC/GGBS/SFA/hooked-end-fibre composition, its use as the load-bearing crash-barrier material, and the observed synergy: structural strength, lower reported density, major post-cracking impact resistance and controlled fragmentation.</a:t>
            </a:r>
          </a:p>
          <a:p>
            <a:r>
              <a:rPr sz="1200" b="0" i="0">
                <a:solidFill>
                  <a:srgbClr val="172733"/>
                </a:solidFill>
                <a:latin typeface="Aptos"/>
              </a:rPr>
              <a:t>• The literature and patent searches documented by the inventors are preliminary. A professional claim-by-claim patentability and freedom-to-operate search is still required, including composition ranges, SFA manufacture/specification, fibre geometry and barrier-system claims.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MECHANISM — approximately 80 seconds</a:t>
            </a:r>
          </a:p>
          <a:p/>
          <a:p>
            <a:r>
              <a:rPr sz="1200" b="0" i="0">
                <a:solidFill>
                  <a:srgbClr val="172733"/>
                </a:solidFill>
                <a:latin typeface="Aptos"/>
              </a:rPr>
              <a:t>• The concept intentionally combines three functions. First, the porous SFA can crush locally and contribute internal damping. Second, hooked-end steel fibres bridge cracks and dissipate energy through progressive debonding, friction and pull-out. Third, the cement–GGBS matrix provides the structural-grade load path and transfers stress into the aggregate and fibres.</a:t>
            </a:r>
          </a:p>
          <a:p>
            <a:r>
              <a:rPr sz="1200" b="0" i="0">
                <a:solidFill>
                  <a:srgbClr val="172733"/>
                </a:solidFill>
                <a:latin typeface="Aptos"/>
              </a:rPr>
              <a:t>• The expected sequence is crack initiation, distributed bridging and controlled deformation, followed by progressive internal energy dissipation and improved residual integrity.</a:t>
            </a:r>
          </a:p>
          <a:p>
            <a:r>
              <a:rPr sz="1200" b="0" i="0">
                <a:solidFill>
                  <a:srgbClr val="1727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a:solidFill>
                  <a:srgbClr val="1727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a:solidFill>
                  <a:srgbClr val="172733"/>
                </a:solidFill>
                <a:latin typeface="Aptos"/>
              </a:rPr>
              <a:t>• For claim drafting, consider separate families covering composition ranges, mixing/conditioning controls, a barrier article made from the composition, and functionally linked performance features where legally supportable.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EXPERIMENTAL LOGIC — approximately 75 seconds</a:t>
            </a:r>
          </a:p>
          <a:p/>
          <a:p>
            <a:r>
              <a:rPr sz="1200" b="0" i="0">
                <a:solidFill>
                  <a:srgbClr val="172733"/>
                </a:solidFill>
                <a:latin typeface="Aptos"/>
              </a:rPr>
              <a:t>• The evidence was built in five layers: constituent characterization, mixture screening, static mechanical tests, repeated drop-weight impact testing and a one-third-scale barrier comparison.</a:t>
            </a:r>
          </a:p>
          <a:p>
            <a:r>
              <a:rPr sz="1200" b="0" i="0">
                <a:solidFill>
                  <a:srgbClr val="172733"/>
                </a:solidFill>
                <a:latin typeface="Aptos"/>
              </a:rPr>
              <a:t>• Four lightweight mixtures were evaluated with fibre volume increasing from zero to 1.5%, alongside an M40 normal-weight reference.</a:t>
            </a:r>
          </a:p>
          <a:p>
            <a:r>
              <a:rPr sz="1200" b="0" i="0">
                <a:solidFill>
                  <a:srgbClr val="1727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a:solidFill>
                  <a:srgbClr val="1727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a:solidFill>
                  <a:srgbClr val="1727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TESTED EMBODIMENTS — approximately 70 seconds</a:t>
            </a:r>
          </a:p>
          <a:p/>
          <a:p>
            <a:r>
              <a:rPr sz="1200" b="0" i="0">
                <a:solidFill>
                  <a:srgbClr val="172733"/>
                </a:solidFill>
                <a:latin typeface="Aptos"/>
              </a:rPr>
              <a:t>• The experimental programme isolates the effect of the lightweight aggregate and the progressive addition of crack-bridging reinforcement.</a:t>
            </a:r>
          </a:p>
          <a:p>
            <a:r>
              <a:rPr sz="1200" b="0" i="0">
                <a:solidFill>
                  <a:srgbClr val="172733"/>
                </a:solidFill>
                <a:latin typeface="Aptos"/>
              </a:rPr>
              <a:t>• NWC is the structural reference. LWC00 establishes what the porous lightweight aggregate does without fibre. LWC05, LWC10 and LWC15 then trace the fibre-content response.</a:t>
            </a:r>
          </a:p>
          <a:p>
            <a:r>
              <a:rPr sz="1200" b="0" i="0">
                <a:solidFill>
                  <a:srgbClr val="172733"/>
                </a:solidFill>
                <a:latin typeface="Aptos"/>
              </a:rPr>
              <a:t>• LWC15 was selected for the barrier comparison because it maximized repeated-impact endurance and cost per unit of absorbed impact energy while maintaining strength above the M40 requirement.</a:t>
            </a:r>
          </a:p>
          <a:p>
            <a:r>
              <a:rPr sz="1200" b="0" i="0">
                <a:solidFill>
                  <a:srgbClr val="172733"/>
                </a:solidFill>
                <a:latin typeface="Aptos"/>
              </a:rPr>
              <a:t>• The source document contains an unresolved method inconsistency: one passage states that compensation water was added, another says it was not added directly, and the final table lists an extra-water quantity. At the user’s direction, this deck omits that quantity rather than silently choosing one version.</a:t>
            </a:r>
          </a:p>
          <a:p>
            <a:r>
              <a:rPr sz="1200" b="0" i="0">
                <a:solidFill>
                  <a:srgbClr val="172733"/>
                </a:solidFill>
                <a:latin typeface="Aptos"/>
              </a:rPr>
              <a:t>• The source also alternates between “wet” and “dry” density. Accordingly, the deck uses the neutral term “reported density.” Confirm the measurement basis before patent examples, specifications or publications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STATIC RESULTS — approximately 75 seconds</a:t>
            </a:r>
          </a:p>
          <a:p/>
          <a:p>
            <a:r>
              <a:rPr sz="1200" b="0" i="0">
                <a:solidFill>
                  <a:srgbClr val="172733"/>
                </a:solidFill>
                <a:latin typeface="Aptos"/>
              </a:rPr>
              <a:t>• The material clears the first gate: all mixtures are reported above the M40 target used for rigid crash barriers in the source.</a:t>
            </a:r>
          </a:p>
          <a:p>
            <a:r>
              <a:rPr sz="1200" b="0" i="0">
                <a:solidFill>
                  <a:srgbClr val="172733"/>
                </a:solidFill>
                <a:latin typeface="Aptos"/>
              </a:rPr>
              <a:t>• The selected LWC15 mixture has a reported density of 1,987 kg per cubic metre versus 2,466 for NWC—a 19.4% reduction. Because the manuscript alternates between wet and dry density, describe this as the reported value until the test basis is confirmed.</a:t>
            </a:r>
          </a:p>
          <a:p>
            <a:r>
              <a:rPr sz="1200" b="0" i="0">
                <a:solidFill>
                  <a:srgbClr val="172733"/>
                </a:solidFill>
                <a:latin typeface="Aptos"/>
              </a:rPr>
              <a:t>• Compressive strength is not the main source of the impact benefit, but it is preserved. LWC10 has the maximum measured value at 56.8 MPa; LWC15 remains at 55.4 MPa, 11.7% above NWC.</a:t>
            </a:r>
          </a:p>
          <a:p>
            <a:r>
              <a:rPr sz="1200" b="0" i="0">
                <a:solidFill>
                  <a:srgbClr val="172733"/>
                </a:solidFill>
                <a:latin typeface="Aptos"/>
              </a:rPr>
              <a:t>• The more important shift is tensile: LWC15 reaches 7.60 MPa versus 4.32 MPa for NWC, a 75.9% increase. This supports crack bridging and post-cracking integrity.</a:t>
            </a:r>
          </a:p>
          <a:p>
            <a:r>
              <a:rPr sz="1200" b="0" i="0">
                <a:solidFill>
                  <a:srgbClr val="172733"/>
                </a:solidFill>
                <a:latin typeface="Aptos"/>
              </a:rPr>
              <a:t>• The manufacturing trade-off is workability. Slump decreases to 87 mm at the highest fibre content. Mixing energy, fibre addition rate, moisture condition and compaction therefore belong in the process know-how and quality-control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REPEATED-IMPACT METHOD — approximately 75 seconds</a:t>
            </a:r>
          </a:p>
          <a:p/>
          <a:p>
            <a:r>
              <a:rPr sz="1200" b="0" i="0">
                <a:solidFill>
                  <a:srgbClr val="172733"/>
                </a:solidFill>
                <a:latin typeface="Aptos"/>
              </a:rPr>
              <a:t>• The prism test uses a 13.5-kilogram hammer dropped 100 millimetres onto a simply supported 100-by-100-by-500-millimetre beam. Each impact supplies approximately 13.24 joules.</a:t>
            </a:r>
          </a:p>
          <a:p>
            <a:r>
              <a:rPr sz="1200" b="0" i="0">
                <a:solidFill>
                  <a:srgbClr val="172733"/>
                </a:solidFill>
                <a:latin typeface="Aptos"/>
              </a:rPr>
              <a:t>• N1 is the number of blows to the first visible crack; N2 is the number to complete failure. Multiplying the counts by mgh gives first-crack and failure energy.</a:t>
            </a:r>
          </a:p>
          <a:p>
            <a:r>
              <a:rPr sz="1200" b="0" i="0">
                <a:solidFill>
                  <a:srgbClr val="1727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a:solidFill>
                  <a:srgbClr val="1727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a:solidFill>
                  <a:srgbClr val="1727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PRISM IMPACT RESULTS — approximately 80 seconds</a:t>
            </a:r>
          </a:p>
          <a:p/>
          <a:p>
            <a:r>
              <a:rPr sz="1200" b="0" i="0">
                <a:solidFill>
                  <a:srgbClr val="172733"/>
                </a:solidFill>
                <a:latin typeface="Aptos"/>
              </a:rPr>
              <a:t>• Plain lightweight concrete is more brittle than NWC in this test: LWC00 fails after two blows and absorbs 26.49 newton-metres.</a:t>
            </a:r>
          </a:p>
          <a:p>
            <a:r>
              <a:rPr sz="1200" b="0" i="0">
                <a:solidFill>
                  <a:srgbClr val="172733"/>
                </a:solidFill>
                <a:latin typeface="Aptos"/>
              </a:rPr>
              <a:t>• Progressive crack-bridging reinforcement changes the response nonlinearly. The three reinforced variants reach 264.9, 596.0 and 2,927.8 newton-metres at failure, respectively.</a:t>
            </a:r>
          </a:p>
          <a:p>
            <a:r>
              <a:rPr sz="1200" b="0" i="0">
                <a:solidFill>
                  <a:srgbClr val="1727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a:solidFill>
                  <a:srgbClr val="172733"/>
                </a:solidFill>
                <a:latin typeface="Aptos"/>
              </a:rPr>
              <a:t>• LWC15 cracks after 35 blows but does not fail until 221 blows, leaving 186 blows in the post-cracking phase. This directly supports the crack-bridging and fibre pull-out mechanism.</a:t>
            </a:r>
          </a:p>
          <a:p>
            <a:r>
              <a:rPr sz="1200" b="0" i="0">
                <a:solidFill>
                  <a:srgbClr val="1727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DEFORMATION AND MECHANISM — approximately 75 seconds</a:t>
            </a:r>
          </a:p>
          <a:p/>
          <a:p>
            <a:r>
              <a:rPr sz="1200" b="0" i="0">
                <a:solidFill>
                  <a:srgbClr val="172733"/>
                </a:solidFill>
                <a:latin typeface="Aptos"/>
              </a:rPr>
              <a:t>• Peak displacement after the first impact rises sharply with reinforcement. The intermediate high-reinforcement variant reaches 0.85 millimetres and the selected variant reaches 0.71, compared with 0.28 for NWC and only 0.08 for plain LWC.</a:t>
            </a:r>
          </a:p>
          <a:p>
            <a:r>
              <a:rPr sz="1200" b="0" i="0">
                <a:solidFill>
                  <a:srgbClr val="172733"/>
                </a:solidFill>
                <a:latin typeface="Aptos"/>
              </a:rPr>
              <a:t>• The lower displacement of plain LWC should not be interpreted as superior stiffness. In the context of its immediate failure, it indicates a brittle, low-deformation response.</a:t>
            </a:r>
          </a:p>
          <a:p>
            <a:r>
              <a:rPr sz="1200" b="0" i="0">
                <a:solidFill>
                  <a:srgbClr val="1727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a:solidFill>
                  <a:srgbClr val="172733"/>
                </a:solidFill>
                <a:latin typeface="Aptos"/>
              </a:rPr>
              <a:t>• The material mechanism is a coupled sequence: SFA crushing, fibre bridging, debonding and frictional pull-out, followed by restraint of large fragments.</a:t>
            </a:r>
          </a:p>
          <a:p>
            <a:r>
              <a:rPr sz="1200" b="0" i="0">
                <a:solidFill>
                  <a:srgbClr val="1727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TECHNO-ECONOMIC RESULT — approximately 80 seconds</a:t>
            </a:r>
          </a:p>
          <a:p/>
          <a:p>
            <a:r>
              <a:rPr sz="1200" b="0" i="0">
                <a:solidFill>
                  <a:srgbClr val="172733"/>
                </a:solidFill>
                <a:latin typeface="Aptos"/>
              </a:rPr>
              <a:t>• The selected lightweight variant is not the cheapest concrete. Its inventor-estimated material cost is about 16,192 rupees per cubic metre, 3.27 times NWC, primarily because of the high steel-fibre dosage.</a:t>
            </a:r>
          </a:p>
          <a:p>
            <a:r>
              <a:rPr sz="1200" b="0" i="0">
                <a:solidFill>
                  <a:srgbClr val="172733"/>
                </a:solidFill>
                <a:latin typeface="Aptos"/>
              </a:rPr>
              <a:t>• The relevant engineering denominator is failure energy. When the reported prism impact capacity is included, LWC15 costs 5.53 rupees per newton-metre versus 93.36 for NWC—about 16.9 times better on this laboratory metric.</a:t>
            </a:r>
          </a:p>
          <a:p>
            <a:r>
              <a:rPr sz="1200" b="0" i="0">
                <a:solidFill>
                  <a:srgbClr val="172733"/>
                </a:solidFill>
                <a:latin typeface="Aptos"/>
              </a:rPr>
              <a:t>• This supports selection of LWC15 for the barrier test and creates a compelling value narrative: pay more per unit volume, receive substantially more post-cracking impact capacity.</a:t>
            </a:r>
          </a:p>
          <a:p>
            <a:r>
              <a:rPr sz="1200" b="0" i="0">
                <a:solidFill>
                  <a:srgbClr val="172733"/>
                </a:solidFill>
                <a:latin typeface="Aptos"/>
              </a:rPr>
              <a:t>• Keep the boundary explicit. This is not a full barrier cost, lifecycle cost or cost-benefit analysis. It omits reinforcement, formwork, labour, transport, curing, installation, repair frequency, downtime and uncertainty. Prices are local and time-specific.</a:t>
            </a:r>
          </a:p>
          <a:p>
            <a:r>
              <a:rPr sz="1200" b="0" i="0">
                <a:solidFill>
                  <a:srgbClr val="1727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SCALED BARRIER TEST — approximately 80 seconds</a:t>
            </a:r>
          </a:p>
          <a:p/>
          <a:p>
            <a:r>
              <a:rPr sz="1200" b="0" i="0">
                <a:solidFill>
                  <a:srgbClr val="172733"/>
                </a:solidFill>
                <a:latin typeface="Aptos"/>
              </a:rPr>
              <a:t>• To move beyond material coupons, the team fabricated one-third-scale New Jersey-profile barriers using NWC and the selected LWC15 mixture.</a:t>
            </a:r>
          </a:p>
          <a:p>
            <a:r>
              <a:rPr sz="1200" b="0" i="0">
                <a:solidFill>
                  <a:srgbClr val="172733"/>
                </a:solidFill>
                <a:latin typeface="Aptos"/>
              </a:rPr>
              <a:t>• The dimensions were reduced by a factor of three, and a pendulum rig applied repeated impact at mid-height. The impactor mass was 40 kilograms, the vertical rise 0.35 metres and the energy approximately 137.3 joules per blow.</a:t>
            </a:r>
          </a:p>
          <a:p>
            <a:r>
              <a:rPr sz="1200" b="0" i="0">
                <a:solidFill>
                  <a:srgbClr val="172733"/>
                </a:solidFill>
                <a:latin typeface="Aptos"/>
              </a:rPr>
              <a:t>• An accelerometer on the rear face captured the response for the same filtering and integration workflow used in the beam tests.</a:t>
            </a:r>
          </a:p>
          <a:p>
            <a:r>
              <a:rPr sz="1200" b="0" i="0">
                <a:solidFill>
                  <a:srgbClr val="172733"/>
                </a:solidFill>
                <a:latin typeface="Aptos"/>
              </a:rPr>
              <a:t>• This experiment is valuable as an application-scale proof of concept and supports reduction to practice. It also provides comparative failure patterns and cumulative impact energy.</a:t>
            </a:r>
          </a:p>
          <a:p>
            <a:r>
              <a:rPr sz="1200" b="0" i="0">
                <a:solidFill>
                  <a:srgbClr val="1727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a:solidFill>
                  <a:srgbClr val="172733"/>
                </a:solidFill>
                <a:latin typeface="Aptos"/>
              </a:rPr>
              <a:t>• Also note the sample size: one barrier per material. Treat the result as preliminary but decision-relevant.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BARRIER RESULTS — approximately 90 seconds</a:t>
            </a:r>
          </a:p>
          <a:p/>
          <a:p>
            <a:r>
              <a:rPr sz="1200" b="0" i="0">
                <a:solidFill>
                  <a:srgbClr val="172733"/>
                </a:solidFill>
                <a:latin typeface="Aptos"/>
              </a:rPr>
              <a:t>• The application-scale result points in the same direction as the prism tests. The NWC barrier failed after 10 blows and 1,373 newton-metres; LWC15 reached 20 blows and 2,746 newton-metres—exactly twice the cumulative impact energy in the reported setup.</a:t>
            </a:r>
          </a:p>
          <a:p>
            <a:r>
              <a:rPr sz="1200" b="0" i="0">
                <a:solidFill>
                  <a:srgbClr val="172733"/>
                </a:solidFill>
                <a:latin typeface="Aptos"/>
              </a:rPr>
              <a:t>• Peak deformation increased from 4.22 to 12.70 millimetres, a factor of approximately 3.01. Controlled deformation is consistent with the intended energy-dissipation philosophy.</a:t>
            </a:r>
          </a:p>
          <a:p>
            <a:r>
              <a:rPr sz="1200" b="0" i="0">
                <a:solidFill>
                  <a:srgbClr val="172733"/>
                </a:solidFill>
                <a:latin typeface="Aptos"/>
              </a:rPr>
              <a:t>• The failure photographs show a broader, more brittle crack and large localized fragments in NWC, while LWC15 exhibits a narrower crack path and finer, more distributed debris after more impacts.</a:t>
            </a:r>
          </a:p>
          <a:p>
            <a:r>
              <a:rPr sz="1200" b="0" i="0">
                <a:solidFill>
                  <a:srgbClr val="1727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a:solidFill>
                  <a:srgbClr val="1727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EVIDENCE-TO-CLAIM MAP — approximately 90 seconds</a:t>
            </a:r>
          </a:p>
          <a:p/>
          <a:p>
            <a:r>
              <a:rPr sz="1200" b="0" i="0">
                <a:solidFill>
                  <a:srgbClr val="172733"/>
                </a:solidFill>
                <a:latin typeface="Aptos"/>
              </a:rPr>
              <a:t>• This slide separates what is measured from what it may support in a patent application.</a:t>
            </a:r>
          </a:p>
          <a:p>
            <a:r>
              <a:rPr sz="1200" b="0" i="0">
                <a:solidFill>
                  <a:srgbClr val="172733"/>
                </a:solidFill>
                <a:latin typeface="Aptos"/>
              </a:rPr>
              <a:t>• Strength and splitting tensile data provide the strongest conventional evidence. The repeated-impact result may support an unexpected technical effect, but its uncertainty and test adaptation should be disclosed accurately.</a:t>
            </a:r>
          </a:p>
          <a:p>
            <a:r>
              <a:rPr sz="1200" b="0" i="0">
                <a:solidFill>
                  <a:srgbClr val="172733"/>
                </a:solidFill>
                <a:latin typeface="Aptos"/>
              </a:rPr>
              <a:t>• The barrier-scale result supports an article-of-manufacture embodiment and utility, while remaining preliminary due to n equals one and the absence of a standards-compliant vehicle test.</a:t>
            </a:r>
          </a:p>
          <a:p>
            <a:r>
              <a:rPr sz="1200" b="0" i="0">
                <a:solidFill>
                  <a:srgbClr val="172733"/>
                </a:solidFill>
                <a:latin typeface="Aptos"/>
              </a:rPr>
              <a:t>• A layered filing strategy can include: composition ranges; a process claim around moisture conditioning, mixing sequence, fibre dispersion and quality control; a barrier article made from the material; and carefully drafted functional/performance limitations where enabled.</a:t>
            </a:r>
          </a:p>
          <a:p>
            <a:r>
              <a:rPr sz="1200" b="0" i="0">
                <a:solidFill>
                  <a:srgbClr val="172733"/>
                </a:solidFill>
                <a:latin typeface="Aptos"/>
              </a:rPr>
              <a:t>• Avoid relying only on a narrow point recipe; include supported ranges and fallback positions around binder fraction, SFA substitution, fibre geometry/dosage and performance windows. Do not invent ranges not supported by the notebooks and experiments.</a:t>
            </a:r>
          </a:p>
          <a:p>
            <a:r>
              <a:rPr sz="1200" b="0" i="0">
                <a:solidFill>
                  <a:srgbClr val="172733"/>
                </a:solidFill>
                <a:latin typeface="Aptos"/>
              </a:rPr>
              <a:t>• Before filing, reconcile the water protocol and density terminology, preserve raw data and notebooks, and complete a professional patentability/FTO search. This slide is a technical aid and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TRANSLATION ROADMAP — approximately 90 seconds</a:t>
            </a:r>
          </a:p>
          <a:p/>
          <a:p>
            <a:r>
              <a:rPr sz="1200" b="0" i="0">
                <a:solidFill>
                  <a:srgbClr val="172733"/>
                </a:solidFill>
                <a:latin typeface="Aptos"/>
              </a:rPr>
              <a:t>• The immediate action is protection: reconcile the technical record, complete professional searching and file before any publication, conference presentation, industry pitch or external distribution.</a:t>
            </a:r>
          </a:p>
          <a:p>
            <a:r>
              <a:rPr sz="1200" b="0" i="0">
                <a:solidFill>
                  <a:srgbClr val="1727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a:solidFill>
                  <a:srgbClr val="172733"/>
                </a:solidFill>
                <a:latin typeface="Aptos"/>
              </a:rPr>
              <a:t>• In parallel, calibrate an LS-DYNA or ABAQUS vehicle–barrier model against the experiments, and add durability, corrosion, environmental exposure, repeated-impact and repairability studies.</a:t>
            </a:r>
          </a:p>
          <a:p>
            <a:r>
              <a:rPr sz="1200" b="0" i="0">
                <a:solidFill>
                  <a:srgbClr val="1727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a:solidFill>
                  <a:srgbClr val="172733"/>
                </a:solidFill>
                <a:latin typeface="Aptos"/>
              </a:rPr>
              <a:t>• A pilot then needs precast quality controls, fibre-dispersion inspection, SFA moisture/specification limits, a full installed-system cost model and comparative LCA.</a:t>
            </a:r>
          </a:p>
          <a:p>
            <a:r>
              <a:rPr sz="1200" b="0" i="0">
                <a:solidFill>
                  <a:srgbClr val="1727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CLOSE — approximately 60 seconds</a:t>
            </a:r>
          </a:p>
          <a:p/>
          <a:p>
            <a:r>
              <a:rPr sz="1200" b="0" i="0">
                <a:solidFill>
                  <a:srgbClr val="172733"/>
                </a:solidFill>
                <a:latin typeface="Aptos"/>
              </a:rPr>
              <a:t>• The recommendation is to proceed with a focused patent filing, because the team has reduced the concept to practice and demonstrated a distinctive combination of lower reported density, retained structural strength, major repeated-impact endurance and a positive one-third-scale barrier result.</a:t>
            </a:r>
          </a:p>
          <a:p>
            <a:r>
              <a:rPr sz="1200" b="0" i="0">
                <a:solidFill>
                  <a:srgbClr val="1727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a:solidFill>
                  <a:srgbClr val="172733"/>
                </a:solidFill>
                <a:latin typeface="Aptos"/>
              </a:rPr>
              <a:t>• Four approvals are requested: authorize professional drafting and searching; coordinate or pause public disclosure until filing; fund a staged validation programme; and engage a crash-test/precast partner.</a:t>
            </a:r>
          </a:p>
          <a:p>
            <a:r>
              <a:rPr sz="1200" b="0" i="0">
                <a:solidFill>
                  <a:srgbClr val="1727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a:solidFill>
                  <a:srgbClr val="172733"/>
                </a:solidFill>
                <a:latin typeface="Aptos"/>
              </a:rPr>
              <a:t>• Final line: protect the invention now, validate the occupant benefit next, and commercialize only after the full-scale safety gate is passed.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REFERENCE SLIDE — do not normally read aloud.</a:t>
            </a:r>
          </a:p>
          <a:p/>
          <a:p>
            <a:r>
              <a:rPr sz="1200" b="0" i="0">
                <a:solidFill>
                  <a:srgbClr val="172733"/>
                </a:solidFill>
                <a:latin typeface="Aptos"/>
              </a:rPr>
              <a:t>• These are the primary inventor documents, global datasets and design/test standards used in the presentation.</a:t>
            </a:r>
          </a:p>
          <a:p>
            <a:r>
              <a:rPr sz="1200" b="0" i="0">
                <a:solidFill>
                  <a:srgbClr val="172733"/>
                </a:solidFill>
                <a:latin typeface="Aptos"/>
              </a:rPr>
              <a:t>• The inventor manuscript is not represented as published or peer reviewed. It is identified as an inventor-supplied manuscript submitted on 18 July 2026.</a:t>
            </a:r>
          </a:p>
          <a:p>
            <a:r>
              <a:rPr sz="1200" b="0" i="0">
                <a:solidFill>
                  <a:srgbClr val="172733"/>
                </a:solidFill>
                <a:latin typeface="Aptos"/>
              </a:rPr>
              <a:t>• The WHO global road-death distribution, UNEP materials estimate, USGS cement-production estimate and IEA cement-emissions context are independently sourced.</a:t>
            </a:r>
          </a:p>
          <a:p>
            <a:r>
              <a:rPr sz="1200" b="0" i="0">
                <a:solidFill>
                  <a:srgbClr val="172733"/>
                </a:solidFill>
                <a:latin typeface="Aptos"/>
              </a:rPr>
              <a:t>• Confirm the current editions and legal applicability of IRC, BIS, ACI, MASH and EN 1317 requirements with the intended certification authority before test planning or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REFERENCE SLIDE — do not normally read aloud.</a:t>
            </a:r>
          </a:p>
          <a:p/>
          <a:p>
            <a:r>
              <a:rPr sz="1200" b="0" i="0">
                <a:solidFill>
                  <a:srgbClr val="172733"/>
                </a:solidFill>
                <a:latin typeface="Aptos"/>
              </a:rPr>
              <a:t>• This list deliberately includes both reputable journal literature and conference/symposium proceedings relevant to concrete-barrier crashworthiness and lightweight material concepts.</a:t>
            </a:r>
          </a:p>
          <a:p>
            <a:r>
              <a:rPr sz="1200" b="0" i="0">
                <a:solidFill>
                  <a:srgbClr val="172733"/>
                </a:solidFill>
                <a:latin typeface="Aptos"/>
              </a:rPr>
              <a:t>• Bonin et al. is particularly important for novelty framing because it shows that lightweight-concrete road-safety barrier concepts existed before this invention. The proposed patent position must therefore be narrower and evidence-led.</a:t>
            </a:r>
          </a:p>
          <a:p>
            <a:r>
              <a:rPr sz="1200" b="0" i="0">
                <a:solidFill>
                  <a:srgbClr val="172733"/>
                </a:solidFill>
                <a:latin typeface="Aptos"/>
              </a:rPr>
              <a:t>• The literature supports the plausibility of fibre bridging, lightweight-aggregate energy dissipation and the importance of occupant-risk metrics; it does not independently validate the exact invented formulation.</a:t>
            </a:r>
          </a:p>
          <a:p>
            <a:r>
              <a:rPr sz="1200" b="0" i="0">
                <a:solidFill>
                  <a:srgbClr val="172733"/>
                </a:solidFill>
                <a:latin typeface="Aptos"/>
              </a:rPr>
              <a:t>• A patent professional should expand this literature review into a jurisdiction-specific patentability and freedom-to-operate search before claims are finalized.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7.xml"/><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jpg"/><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B2C"/>
        </a:solidFill>
        <a:effectLst/>
      </p:bgPr>
    </p:bg>
    <p:spTree>
      <p:nvGrpSpPr>
        <p:cNvPr id="1" name=""/>
        <p:cNvGrpSpPr/>
        <p:nvPr/>
      </p:nvGrpSpPr>
      <p:grpSpPr/>
      <p:pic>
        <p:nvPicPr>
          <p:cNvPr id="2" name="Picture 1" descr="title_test_rig.jpg"/>
          <p:cNvPicPr>
            <a:picLocks noChangeAspect="1"/>
          </p:cNvPicPr>
          <p:nvPr/>
        </p:nvPicPr>
        <p:blipFill>
          <a:blip r:embed="rId2"/>
          <a:stretch>
            <a:fillRect/>
          </a:stretch>
        </p:blipFill>
        <p:spPr>
          <a:xfrm>
            <a:off x="8001000" y="0"/>
            <a:ext cx="4187952" cy="6858000"/>
          </a:xfrm>
          <a:prstGeom prst="rect">
            <a:avLst/>
          </a:prstGeom>
        </p:spPr>
      </p:pic>
      <p:sp>
        <p:nvSpPr>
          <p:cNvPr id="3" name="Rectangle 2"/>
          <p:cNvSpPr/>
          <p:nvPr/>
        </p:nvSpPr>
        <p:spPr>
          <a:xfrm>
            <a:off x="7955279" y="0"/>
            <a:ext cx="73152" cy="6858000"/>
          </a:xfrm>
          <a:prstGeom prst="rect">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3"/>
          <a:stretch>
            <a:fillRect/>
          </a:stretch>
        </p:blipFill>
        <p:spPr>
          <a:xfrm>
            <a:off x="11283696" y="164592"/>
            <a:ext cx="530352" cy="493776"/>
          </a:xfrm>
          <a:prstGeom prst="rect">
            <a:avLst/>
          </a:prstGeom>
        </p:spPr>
      </p:pic>
      <p:sp>
        <p:nvSpPr>
          <p:cNvPr id="6" name="Rounded Rectangle 5"/>
          <p:cNvSpPr/>
          <p:nvPr/>
        </p:nvSpPr>
        <p:spPr>
          <a:xfrm>
            <a:off x="713232" y="566928"/>
            <a:ext cx="2468880" cy="292608"/>
          </a:xfrm>
          <a:prstGeom prst="roundRect">
            <a:avLst>
              <a:gd name="adj" fmla="val 50000"/>
            </a:avLst>
          </a:prstGeom>
          <a:solidFill>
            <a:srgbClr val="14364B"/>
          </a:solidFill>
          <a:ln w="10160">
            <a:solidFill>
              <a:srgbClr val="1436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580644"/>
            <a:ext cx="2395728" cy="246888"/>
          </a:xfrm>
          <a:prstGeom prst="rect">
            <a:avLst/>
          </a:prstGeom>
          <a:noFill/>
        </p:spPr>
        <p:txBody>
          <a:bodyPr wrap="square" lIns="0" rIns="0" tIns="0" bIns="0" anchor="ctr">
            <a:spAutoFit/>
          </a:bodyPr>
          <a:lstStyle/>
          <a:p>
            <a:pPr algn="ctr">
              <a:lnSpc>
                <a:spcPct val="100000"/>
              </a:lnSpc>
            </a:pPr>
            <a:r>
              <a:rPr sz="900" b="1" i="0">
                <a:solidFill>
                  <a:srgbClr val="22B8C7"/>
                </a:solidFill>
                <a:latin typeface="Aptos"/>
              </a:rPr>
              <a:t>INTERNAL PATENT VALUE CASE</a:t>
            </a:r>
          </a:p>
        </p:txBody>
      </p:sp>
      <p:sp>
        <p:nvSpPr>
          <p:cNvPr id="8" name="TextBox 7"/>
          <p:cNvSpPr txBox="1"/>
          <p:nvPr/>
        </p:nvSpPr>
        <p:spPr>
          <a:xfrm>
            <a:off x="713232" y="1143000"/>
            <a:ext cx="6812280" cy="1874519"/>
          </a:xfrm>
          <a:prstGeom prst="rect">
            <a:avLst/>
          </a:prstGeom>
          <a:noFill/>
        </p:spPr>
        <p:txBody>
          <a:bodyPr wrap="square" lIns="0" rIns="0" tIns="0" bIns="0" anchor="t">
            <a:spAutoFit/>
          </a:bodyPr>
          <a:lstStyle/>
          <a:p>
            <a:pPr algn="l">
              <a:lnSpc>
                <a:spcPct val="88000"/>
              </a:lnSpc>
            </a:pPr>
            <a:r>
              <a:rPr sz="3050" b="1" i="0">
                <a:solidFill>
                  <a:srgbClr val="FFFFFF"/>
                </a:solidFill>
                <a:latin typeface="Aptos Display"/>
              </a:rPr>
              <a:t>Novel concrete composition for
impact-energy-dissipating
crash barriers</a:t>
            </a:r>
          </a:p>
        </p:txBody>
      </p:sp>
      <p:sp>
        <p:nvSpPr>
          <p:cNvPr id="9" name="TextBox 8"/>
          <p:cNvSpPr txBox="1"/>
          <p:nvPr/>
        </p:nvSpPr>
        <p:spPr>
          <a:xfrm>
            <a:off x="749808" y="3264408"/>
            <a:ext cx="6720840" cy="640080"/>
          </a:xfrm>
          <a:prstGeom prst="rect">
            <a:avLst/>
          </a:prstGeom>
          <a:noFill/>
        </p:spPr>
        <p:txBody>
          <a:bodyPr wrap="square" lIns="0" rIns="0" tIns="0" bIns="0" anchor="t">
            <a:spAutoFit/>
          </a:bodyPr>
          <a:lstStyle/>
          <a:p>
            <a:pPr algn="l">
              <a:lnSpc>
                <a:spcPct val="105000"/>
              </a:lnSpc>
            </a:pPr>
            <a:r>
              <a:rPr sz="1500" b="0" i="0">
                <a:solidFill>
                  <a:srgbClr val="C6D8E2"/>
                </a:solidFill>
                <a:latin typeface="Aptos"/>
              </a:rPr>
              <a:t>Steel-fibre reinforced sintered-fly-ash lightweight aggregate concrete</a:t>
            </a:r>
          </a:p>
        </p:txBody>
      </p:sp>
      <p:cxnSp>
        <p:nvCxnSpPr>
          <p:cNvPr id="10" name="Connector 9"/>
          <p:cNvCxnSpPr/>
          <p:nvPr/>
        </p:nvCxnSpPr>
        <p:spPr>
          <a:xfrm>
            <a:off x="749808" y="4151376"/>
            <a:ext cx="6336792" cy="0"/>
          </a:xfrm>
          <a:prstGeom prst="line">
            <a:avLst/>
          </a:prstGeom>
          <a:ln w="12700">
            <a:solidFill>
              <a:srgbClr val="31526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4407408"/>
            <a:ext cx="6766560" cy="548640"/>
          </a:xfrm>
          <a:prstGeom prst="rect">
            <a:avLst/>
          </a:prstGeom>
          <a:noFill/>
        </p:spPr>
        <p:txBody>
          <a:bodyPr wrap="square" lIns="0" rIns="0" tIns="0" bIns="0" anchor="t">
            <a:spAutoFit/>
          </a:bodyPr>
          <a:lstStyle/>
          <a:p>
            <a:pPr algn="l">
              <a:lnSpc>
                <a:spcPct val="100000"/>
              </a:lnSpc>
            </a:pPr>
            <a:r>
              <a:rPr sz="1120" b="1" i="0">
                <a:solidFill>
                  <a:srgbClr val="FFFFFF"/>
                </a:solidFill>
                <a:latin typeface="Aptos"/>
              </a:rPr>
              <a:t>Haruna Al-Amir Saleh  •  Pratik Kanungo  •  Anush K. Chandrappa  •  Dinakar Pasla</a:t>
            </a:r>
          </a:p>
        </p:txBody>
      </p:sp>
      <p:sp>
        <p:nvSpPr>
          <p:cNvPr id="12" name="TextBox 11"/>
          <p:cNvSpPr txBox="1"/>
          <p:nvPr/>
        </p:nvSpPr>
        <p:spPr>
          <a:xfrm>
            <a:off x="749808" y="5010912"/>
            <a:ext cx="5303520" cy="438912"/>
          </a:xfrm>
          <a:prstGeom prst="rect">
            <a:avLst/>
          </a:prstGeom>
          <a:noFill/>
        </p:spPr>
        <p:txBody>
          <a:bodyPr wrap="square" lIns="0" rIns="0" tIns="0" bIns="0" anchor="t">
            <a:spAutoFit/>
          </a:bodyPr>
          <a:lstStyle/>
          <a:p>
            <a:pPr algn="l">
              <a:lnSpc>
                <a:spcPct val="100000"/>
              </a:lnSpc>
            </a:pPr>
            <a:r>
              <a:rPr sz="1019" b="0" i="0">
                <a:solidFill>
                  <a:srgbClr val="AFC3CE"/>
                </a:solidFill>
                <a:latin typeface="Aptos"/>
              </a:rPr>
              <a:t>School of Infrastructure  |  IIT Bhubaneswar  |  13 August 2026</a:t>
            </a:r>
          </a:p>
        </p:txBody>
      </p:sp>
      <p:sp>
        <p:nvSpPr>
          <p:cNvPr id="13" name="TextBox 12"/>
          <p:cNvSpPr txBox="1"/>
          <p:nvPr/>
        </p:nvSpPr>
        <p:spPr>
          <a:xfrm>
            <a:off x="749808" y="5733288"/>
            <a:ext cx="6766560" cy="438912"/>
          </a:xfrm>
          <a:prstGeom prst="rect">
            <a:avLst/>
          </a:prstGeom>
          <a:noFill/>
        </p:spPr>
        <p:txBody>
          <a:bodyPr wrap="square" lIns="0" rIns="0" tIns="0" bIns="0" anchor="t">
            <a:spAutoFit/>
          </a:bodyPr>
          <a:lstStyle/>
          <a:p>
            <a:pPr algn="l">
              <a:lnSpc>
                <a:spcPct val="100000"/>
              </a:lnSpc>
            </a:pPr>
            <a:r>
              <a:rPr sz="950" b="1" i="0">
                <a:solidFill>
                  <a:srgbClr val="F39C3D"/>
                </a:solidFill>
                <a:latin typeface="Aptos"/>
              </a:rPr>
              <a:t>Supplied disclosure: not filed as of 16 Jul 2026  •  Reduction to practice: Apr 2026</a:t>
            </a:r>
          </a:p>
        </p:txBody>
      </p:sp>
      <p:sp>
        <p:nvSpPr>
          <p:cNvPr id="14" name="TextBox 13"/>
          <p:cNvSpPr txBox="1"/>
          <p:nvPr/>
        </p:nvSpPr>
        <p:spPr>
          <a:xfrm>
            <a:off x="8293608" y="5971032"/>
            <a:ext cx="3520440" cy="384048"/>
          </a:xfrm>
          <a:prstGeom prst="rect">
            <a:avLst/>
          </a:prstGeom>
          <a:noFill/>
        </p:spPr>
        <p:txBody>
          <a:bodyPr wrap="square" lIns="0" rIns="0" tIns="0" bIns="0" anchor="t">
            <a:spAutoFit/>
          </a:bodyPr>
          <a:lstStyle/>
          <a:p>
            <a:pPr algn="r">
              <a:lnSpc>
                <a:spcPct val="100000"/>
              </a:lnSpc>
            </a:pPr>
            <a:r>
              <a:rPr sz="710" b="0" i="0">
                <a:solidFill>
                  <a:srgbClr val="D8E5EB"/>
                </a:solidFill>
                <a:latin typeface="Aptos"/>
              </a:rPr>
              <a:t>Source: inventor-supplied manuscript Fig. 7 — 1:3 barrier impact setup</a:t>
            </a:r>
          </a:p>
        </p:txBody>
      </p:sp>
      <p:cxnSp>
        <p:nvCxnSpPr>
          <p:cNvPr id="15" name="Connector 14"/>
          <p:cNvCxnSpPr/>
          <p:nvPr/>
        </p:nvCxnSpPr>
        <p:spPr>
          <a:xfrm>
            <a:off x="640080" y="6473952"/>
            <a:ext cx="10899648" cy="0"/>
          </a:xfrm>
          <a:prstGeom prst="line">
            <a:avLst/>
          </a:prstGeom>
          <a:ln w="8890">
            <a:solidFill>
              <a:srgbClr val="284A6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AEC0CA"/>
                </a:solidFill>
                <a:latin typeface="Aptos"/>
              </a:rPr>
              <a:t>CONFIDENTIAL • NOT FILED AS OF SUPPLIED DISCLOSURE (16 JUL 2026) • INTERNAL IP EVALUATION ONLY</a:t>
            </a:r>
          </a:p>
        </p:txBody>
      </p:sp>
      <p:sp>
        <p:nvSpPr>
          <p:cNvPr id="17" name="TextBox 16"/>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AEC0CA"/>
                </a:solidFill>
                <a:latin typeface="Apto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EXECUTIVE THESIS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The value case in one view</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02</a:t>
            </a:r>
          </a:p>
        </p:txBody>
      </p:sp>
      <p:sp>
        <p:nvSpPr>
          <p:cNvPr id="10" name="TextBox 9"/>
          <p:cNvSpPr txBox="1"/>
          <p:nvPr/>
        </p:nvSpPr>
        <p:spPr>
          <a:xfrm>
            <a:off x="667512" y="1069848"/>
            <a:ext cx="10835640" cy="402336"/>
          </a:xfrm>
          <a:prstGeom prst="rect">
            <a:avLst/>
          </a:prstGeom>
          <a:noFill/>
        </p:spPr>
        <p:txBody>
          <a:bodyPr wrap="square" lIns="0" rIns="0" tIns="0" bIns="0" anchor="t">
            <a:spAutoFit/>
          </a:bodyPr>
          <a:lstStyle/>
          <a:p>
            <a:pPr algn="l">
              <a:lnSpc>
                <a:spcPct val="100000"/>
              </a:lnSpc>
            </a:pPr>
            <a:r>
              <a:rPr sz="1620" b="1" i="0">
                <a:solidFill>
                  <a:srgbClr val="08243A"/>
                </a:solidFill>
                <a:latin typeface="Aptos Display"/>
              </a:rPr>
              <a:t>A rigid-barrier material that trades brittle force transfer for controlled, multi-scale energy dissipation.</a:t>
            </a:r>
          </a:p>
        </p:txBody>
      </p:sp>
      <p:sp>
        <p:nvSpPr>
          <p:cNvPr id="11" name="Rounded Rectangle 10"/>
          <p:cNvSpPr/>
          <p:nvPr/>
        </p:nvSpPr>
        <p:spPr>
          <a:xfrm>
            <a:off x="667512"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3" y="1810512"/>
            <a:ext cx="2212848" cy="438912"/>
          </a:xfrm>
          <a:prstGeom prst="rect">
            <a:avLst/>
          </a:prstGeom>
          <a:noFill/>
        </p:spPr>
        <p:txBody>
          <a:bodyPr wrap="square" lIns="0" rIns="0" tIns="0" bIns="0" anchor="ctr">
            <a:spAutoFit/>
          </a:bodyPr>
          <a:lstStyle/>
          <a:p>
            <a:pPr algn="l">
              <a:lnSpc>
                <a:spcPct val="100000"/>
              </a:lnSpc>
            </a:pPr>
            <a:r>
              <a:rPr sz="2400" b="1" i="0">
                <a:solidFill>
                  <a:srgbClr val="2B78A6"/>
                </a:solidFill>
                <a:latin typeface="Aptos Display"/>
              </a:rPr>
              <a:t>19.4%</a:t>
            </a:r>
          </a:p>
        </p:txBody>
      </p:sp>
      <p:sp>
        <p:nvSpPr>
          <p:cNvPr id="13" name="TextBox 12"/>
          <p:cNvSpPr txBox="1"/>
          <p:nvPr/>
        </p:nvSpPr>
        <p:spPr>
          <a:xfrm>
            <a:off x="832103"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lower reported density</a:t>
            </a:r>
          </a:p>
        </p:txBody>
      </p:sp>
      <p:sp>
        <p:nvSpPr>
          <p:cNvPr id="14" name="TextBox 13"/>
          <p:cNvSpPr txBox="1"/>
          <p:nvPr/>
        </p:nvSpPr>
        <p:spPr>
          <a:xfrm>
            <a:off x="832103"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LWC15 vs NWC</a:t>
            </a:r>
          </a:p>
        </p:txBody>
      </p:sp>
      <p:sp>
        <p:nvSpPr>
          <p:cNvPr id="15" name="Rounded Rectangle 14"/>
          <p:cNvSpPr/>
          <p:nvPr/>
        </p:nvSpPr>
        <p:spPr>
          <a:xfrm>
            <a:off x="3429000"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1810512"/>
            <a:ext cx="2212848" cy="438912"/>
          </a:xfrm>
          <a:prstGeom prst="rect">
            <a:avLst/>
          </a:prstGeom>
          <a:noFill/>
        </p:spPr>
        <p:txBody>
          <a:bodyPr wrap="square" lIns="0" rIns="0" tIns="0" bIns="0" anchor="ctr">
            <a:spAutoFit/>
          </a:bodyPr>
          <a:lstStyle/>
          <a:p>
            <a:pPr algn="l">
              <a:lnSpc>
                <a:spcPct val="100000"/>
              </a:lnSpc>
            </a:pPr>
            <a:r>
              <a:rPr sz="2400" b="1" i="0">
                <a:solidFill>
                  <a:srgbClr val="178D86"/>
                </a:solidFill>
                <a:latin typeface="Aptos Display"/>
              </a:rPr>
              <a:t>76%</a:t>
            </a:r>
          </a:p>
        </p:txBody>
      </p:sp>
      <p:sp>
        <p:nvSpPr>
          <p:cNvPr id="17" name="TextBox 16"/>
          <p:cNvSpPr txBox="1"/>
          <p:nvPr/>
        </p:nvSpPr>
        <p:spPr>
          <a:xfrm>
            <a:off x="3593592"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higher splitting tensile strength</a:t>
            </a:r>
          </a:p>
        </p:txBody>
      </p:sp>
      <p:sp>
        <p:nvSpPr>
          <p:cNvPr id="18" name="TextBox 17"/>
          <p:cNvSpPr txBox="1"/>
          <p:nvPr/>
        </p:nvSpPr>
        <p:spPr>
          <a:xfrm>
            <a:off x="3593592"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7.60 vs 4.32 MPa</a:t>
            </a:r>
          </a:p>
        </p:txBody>
      </p:sp>
      <p:sp>
        <p:nvSpPr>
          <p:cNvPr id="19" name="Rounded Rectangle 18"/>
          <p:cNvSpPr/>
          <p:nvPr/>
        </p:nvSpPr>
        <p:spPr>
          <a:xfrm>
            <a:off x="6190488"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79" y="1810512"/>
            <a:ext cx="2212848" cy="438912"/>
          </a:xfrm>
          <a:prstGeom prst="rect">
            <a:avLst/>
          </a:prstGeom>
          <a:noFill/>
        </p:spPr>
        <p:txBody>
          <a:bodyPr wrap="square" lIns="0" rIns="0" tIns="0" bIns="0" anchor="ctr">
            <a:spAutoFit/>
          </a:bodyPr>
          <a:lstStyle/>
          <a:p>
            <a:pPr algn="l">
              <a:lnSpc>
                <a:spcPct val="100000"/>
              </a:lnSpc>
            </a:pPr>
            <a:r>
              <a:rPr sz="2400" b="1" i="0">
                <a:solidFill>
                  <a:srgbClr val="F39C3D"/>
                </a:solidFill>
                <a:latin typeface="Aptos Display"/>
              </a:rPr>
              <a:t>55.3×</a:t>
            </a:r>
          </a:p>
        </p:txBody>
      </p:sp>
      <p:sp>
        <p:nvSpPr>
          <p:cNvPr id="21" name="TextBox 20"/>
          <p:cNvSpPr txBox="1"/>
          <p:nvPr/>
        </p:nvSpPr>
        <p:spPr>
          <a:xfrm>
            <a:off x="6355079"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prism failure-energy capacity</a:t>
            </a:r>
          </a:p>
        </p:txBody>
      </p:sp>
      <p:sp>
        <p:nvSpPr>
          <p:cNvPr id="22" name="TextBox 21"/>
          <p:cNvSpPr txBox="1"/>
          <p:nvPr/>
        </p:nvSpPr>
        <p:spPr>
          <a:xfrm>
            <a:off x="6355079"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2,927.8 vs 53.0 N·m</a:t>
            </a:r>
          </a:p>
        </p:txBody>
      </p:sp>
      <p:sp>
        <p:nvSpPr>
          <p:cNvPr id="23" name="Rounded Rectangle 22"/>
          <p:cNvSpPr/>
          <p:nvPr/>
        </p:nvSpPr>
        <p:spPr>
          <a:xfrm>
            <a:off x="8951976"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1810512"/>
            <a:ext cx="2212848" cy="438912"/>
          </a:xfrm>
          <a:prstGeom prst="rect">
            <a:avLst/>
          </a:prstGeom>
          <a:noFill/>
        </p:spPr>
        <p:txBody>
          <a:bodyPr wrap="square" lIns="0" rIns="0" tIns="0" bIns="0" anchor="ctr">
            <a:spAutoFit/>
          </a:bodyPr>
          <a:lstStyle/>
          <a:p>
            <a:pPr algn="l">
              <a:lnSpc>
                <a:spcPct val="100000"/>
              </a:lnSpc>
            </a:pPr>
            <a:r>
              <a:rPr sz="2400" b="1" i="0">
                <a:solidFill>
                  <a:srgbClr val="D95D5D"/>
                </a:solidFill>
                <a:latin typeface="Aptos Display"/>
              </a:rPr>
              <a:t>2.0×</a:t>
            </a:r>
          </a:p>
        </p:txBody>
      </p:sp>
      <p:sp>
        <p:nvSpPr>
          <p:cNvPr id="25" name="TextBox 24"/>
          <p:cNvSpPr txBox="1"/>
          <p:nvPr/>
        </p:nvSpPr>
        <p:spPr>
          <a:xfrm>
            <a:off x="9116568"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scaled-barrier failure energy</a:t>
            </a:r>
          </a:p>
        </p:txBody>
      </p:sp>
      <p:sp>
        <p:nvSpPr>
          <p:cNvPr id="26" name="TextBox 25"/>
          <p:cNvSpPr txBox="1"/>
          <p:nvPr/>
        </p:nvSpPr>
        <p:spPr>
          <a:xfrm>
            <a:off x="9116568"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2,746 vs 1,373 N·m</a:t>
            </a:r>
          </a:p>
        </p:txBody>
      </p:sp>
      <p:sp>
        <p:nvSpPr>
          <p:cNvPr id="27" name="Rounded Rectangle 26"/>
          <p:cNvSpPr/>
          <p:nvPr/>
        </p:nvSpPr>
        <p:spPr>
          <a:xfrm>
            <a:off x="667512"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7512" y="3456432"/>
            <a:ext cx="64008" cy="2468880"/>
          </a:xfrm>
          <a:prstGeom prst="rect">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 y="3639312"/>
            <a:ext cx="320040" cy="320040"/>
          </a:xfrm>
          <a:prstGeom prst="rect">
            <a:avLst/>
          </a:prstGeom>
          <a:noFill/>
        </p:spPr>
        <p:txBody>
          <a:bodyPr wrap="square" lIns="0" rIns="0" tIns="0" bIns="0" anchor="ctr">
            <a:spAutoFit/>
          </a:bodyPr>
          <a:lstStyle/>
          <a:p>
            <a:pPr algn="ctr">
              <a:lnSpc>
                <a:spcPct val="100000"/>
              </a:lnSpc>
            </a:pPr>
            <a:r>
              <a:rPr sz="1700" b="1" i="0">
                <a:solidFill>
                  <a:srgbClr val="22B8C7"/>
                </a:solidFill>
                <a:latin typeface="Aptos"/>
              </a:rPr>
              <a:t>01</a:t>
            </a:r>
          </a:p>
        </p:txBody>
      </p:sp>
      <p:sp>
        <p:nvSpPr>
          <p:cNvPr id="30" name="TextBox 29"/>
          <p:cNvSpPr txBox="1"/>
          <p:nvPr/>
        </p:nvSpPr>
        <p:spPr>
          <a:xfrm>
            <a:off x="1298448"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Protectable technical thesis</a:t>
            </a:r>
          </a:p>
        </p:txBody>
      </p:sp>
      <p:sp>
        <p:nvSpPr>
          <p:cNvPr id="31" name="TextBox 30"/>
          <p:cNvSpPr txBox="1"/>
          <p:nvPr/>
        </p:nvSpPr>
        <p:spPr>
          <a:xfrm>
            <a:off x="877824"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Specific material architecture + dual dissipation mechanism + crash-barrier use + tested performance envelope. Claims should centre the integrated system—not isolated known constituents.</a:t>
            </a:r>
          </a:p>
        </p:txBody>
      </p:sp>
      <p:sp>
        <p:nvSpPr>
          <p:cNvPr id="32" name="Rounded Rectangle 31"/>
          <p:cNvSpPr/>
          <p:nvPr/>
        </p:nvSpPr>
        <p:spPr>
          <a:xfrm>
            <a:off x="4343400"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43400" y="3456432"/>
            <a:ext cx="64008" cy="2468880"/>
          </a:xfrm>
          <a:prstGeom prst="rect">
            <a:avLst/>
          </a:prstGeom>
          <a:solidFill>
            <a:srgbClr val="2E9D69"/>
          </a:solidFill>
          <a:ln>
            <a:solidFill>
              <a:srgbClr val="2E9D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53712" y="3639312"/>
            <a:ext cx="320040" cy="320040"/>
          </a:xfrm>
          <a:prstGeom prst="rect">
            <a:avLst/>
          </a:prstGeom>
          <a:noFill/>
        </p:spPr>
        <p:txBody>
          <a:bodyPr wrap="square" lIns="0" rIns="0" tIns="0" bIns="0" anchor="ctr">
            <a:spAutoFit/>
          </a:bodyPr>
          <a:lstStyle/>
          <a:p>
            <a:pPr algn="ctr">
              <a:lnSpc>
                <a:spcPct val="100000"/>
              </a:lnSpc>
            </a:pPr>
            <a:r>
              <a:rPr sz="1700" b="1" i="0">
                <a:solidFill>
                  <a:srgbClr val="2E9D69"/>
                </a:solidFill>
                <a:latin typeface="Aptos"/>
              </a:rPr>
              <a:t>02</a:t>
            </a:r>
          </a:p>
        </p:txBody>
      </p:sp>
      <p:sp>
        <p:nvSpPr>
          <p:cNvPr id="35" name="TextBox 34"/>
          <p:cNvSpPr txBox="1"/>
          <p:nvPr/>
        </p:nvSpPr>
        <p:spPr>
          <a:xfrm>
            <a:off x="4974336"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Commercial value pathway</a:t>
            </a:r>
          </a:p>
        </p:txBody>
      </p:sp>
      <p:sp>
        <p:nvSpPr>
          <p:cNvPr id="36" name="TextBox 35"/>
          <p:cNvSpPr txBox="1"/>
          <p:nvPr/>
        </p:nvSpPr>
        <p:spPr>
          <a:xfrm>
            <a:off x="4553712"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Precast-compatible manufacturing; lower barrier self-weight; improved damage control; potential transport, deck-load and lifecycle advantages. These benefits require pilot-scale TEA/LCA validation.</a:t>
            </a:r>
          </a:p>
        </p:txBody>
      </p:sp>
      <p:sp>
        <p:nvSpPr>
          <p:cNvPr id="37" name="Rounded Rectangle 36"/>
          <p:cNvSpPr/>
          <p:nvPr/>
        </p:nvSpPr>
        <p:spPr>
          <a:xfrm>
            <a:off x="8019288"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9288" y="3456432"/>
            <a:ext cx="64008" cy="2468880"/>
          </a:xfrm>
          <a:prstGeom prst="rect">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3639312"/>
            <a:ext cx="320040" cy="320040"/>
          </a:xfrm>
          <a:prstGeom prst="rect">
            <a:avLst/>
          </a:prstGeom>
          <a:noFill/>
        </p:spPr>
        <p:txBody>
          <a:bodyPr wrap="square" lIns="0" rIns="0" tIns="0" bIns="0" anchor="ctr">
            <a:spAutoFit/>
          </a:bodyPr>
          <a:lstStyle/>
          <a:p>
            <a:pPr algn="ctr">
              <a:lnSpc>
                <a:spcPct val="100000"/>
              </a:lnSpc>
            </a:pPr>
            <a:r>
              <a:rPr sz="1700" b="1" i="0">
                <a:solidFill>
                  <a:srgbClr val="D95D5D"/>
                </a:solidFill>
                <a:latin typeface="Aptos"/>
              </a:rPr>
              <a:t>03</a:t>
            </a:r>
          </a:p>
        </p:txBody>
      </p:sp>
      <p:sp>
        <p:nvSpPr>
          <p:cNvPr id="40" name="TextBox 39"/>
          <p:cNvSpPr txBox="1"/>
          <p:nvPr/>
        </p:nvSpPr>
        <p:spPr>
          <a:xfrm>
            <a:off x="8650224"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Evidence boundary</a:t>
            </a:r>
          </a:p>
        </p:txBody>
      </p:sp>
      <p:sp>
        <p:nvSpPr>
          <p:cNvPr id="41" name="TextBox 40"/>
          <p:cNvSpPr txBox="1"/>
          <p:nvPr/>
        </p:nvSpPr>
        <p:spPr>
          <a:xfrm>
            <a:off x="8229600"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Material and repeated-impact results are strong signals. The 1:3 barrier test used one specimen per mix and did not measure ASI/THIV, vehicle containment or redirection. Occupant benefit remains a testable hypothesis.</a:t>
            </a:r>
          </a:p>
        </p:txBody>
      </p:sp>
      <p:sp>
        <p:nvSpPr>
          <p:cNvPr id="42" name="TextBox 41"/>
          <p:cNvSpPr txBox="1"/>
          <p:nvPr/>
        </p:nvSpPr>
        <p:spPr>
          <a:xfrm>
            <a:off x="667512" y="6099048"/>
            <a:ext cx="1069848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Al-Amir et al. manuscript (submitted 18 Jul 2026), Tables/Figs 8–12; calculations in accompanying workbook.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GLOBAL EVIDENCE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The need is global: safety, materials and circularity intersect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03</a:t>
            </a:r>
          </a:p>
        </p:txBody>
      </p:sp>
      <p:graphicFrame>
        <p:nvGraphicFramePr>
          <p:cNvPr id="10" name="Chart 9"/>
          <p:cNvGraphicFramePr>
            <a:graphicFrameLocks noGrp="1"/>
          </p:cNvGraphicFramePr>
          <p:nvPr/>
        </p:nvGraphicFramePr>
        <p:xfrm>
          <a:off x="640080" y="1197864"/>
          <a:ext cx="3749039" cy="2971800"/>
        </p:xfrm>
        <a:graphic>
          <a:graphicData uri="http://schemas.openxmlformats.org/drawingml/2006/chart">
            <c:chart xmlns:c="http://schemas.openxmlformats.org/drawingml/2006/chart" r:id="rId3"/>
          </a:graphicData>
        </a:graphic>
      </p:graphicFrame>
      <p:sp>
        <p:nvSpPr>
          <p:cNvPr id="11" name="TextBox 10"/>
          <p:cNvSpPr txBox="1"/>
          <p:nvPr/>
        </p:nvSpPr>
        <p:spPr>
          <a:xfrm>
            <a:off x="1847088" y="2066543"/>
            <a:ext cx="1353312" cy="713232"/>
          </a:xfrm>
          <a:prstGeom prst="rect">
            <a:avLst/>
          </a:prstGeom>
          <a:noFill/>
        </p:spPr>
        <p:txBody>
          <a:bodyPr wrap="square" lIns="0" rIns="0" tIns="0" bIns="0" anchor="ctr">
            <a:spAutoFit/>
          </a:bodyPr>
          <a:lstStyle/>
          <a:p>
            <a:pPr algn="ctr">
              <a:lnSpc>
                <a:spcPct val="100000"/>
              </a:lnSpc>
            </a:pPr>
            <a:r>
              <a:rPr sz="2700" b="1" i="0">
                <a:solidFill>
                  <a:srgbClr val="08243A"/>
                </a:solidFill>
                <a:latin typeface="Aptos Display"/>
              </a:rPr>
              <a:t>92%</a:t>
            </a:r>
          </a:p>
        </p:txBody>
      </p:sp>
      <p:sp>
        <p:nvSpPr>
          <p:cNvPr id="12" name="TextBox 11"/>
          <p:cNvSpPr txBox="1"/>
          <p:nvPr/>
        </p:nvSpPr>
        <p:spPr>
          <a:xfrm>
            <a:off x="1737360" y="2697480"/>
            <a:ext cx="1572768" cy="365760"/>
          </a:xfrm>
          <a:prstGeom prst="rect">
            <a:avLst/>
          </a:prstGeom>
          <a:noFill/>
        </p:spPr>
        <p:txBody>
          <a:bodyPr wrap="square" lIns="0" rIns="0" tIns="0" bIns="0" anchor="t">
            <a:spAutoFit/>
          </a:bodyPr>
          <a:lstStyle/>
          <a:p>
            <a:pPr algn="ctr">
              <a:lnSpc>
                <a:spcPct val="100000"/>
              </a:lnSpc>
            </a:pPr>
            <a:r>
              <a:rPr sz="950" b="1" i="0">
                <a:solidFill>
                  <a:srgbClr val="596C78"/>
                </a:solidFill>
                <a:latin typeface="Aptos"/>
              </a:rPr>
              <a:t>of deaths in LMICs</a:t>
            </a:r>
          </a:p>
        </p:txBody>
      </p:sp>
      <p:sp>
        <p:nvSpPr>
          <p:cNvPr id="13" name="TextBox 12"/>
          <p:cNvSpPr txBox="1"/>
          <p:nvPr/>
        </p:nvSpPr>
        <p:spPr>
          <a:xfrm>
            <a:off x="768096" y="4197096"/>
            <a:ext cx="3520440" cy="42062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Global road-traffic deaths by country income group, 2021</a:t>
            </a:r>
          </a:p>
        </p:txBody>
      </p:sp>
      <p:sp>
        <p:nvSpPr>
          <p:cNvPr id="14" name="Rounded Rectangle 13"/>
          <p:cNvSpPr/>
          <p:nvPr/>
        </p:nvSpPr>
        <p:spPr>
          <a:xfrm>
            <a:off x="4681728" y="1216152"/>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362456"/>
            <a:ext cx="2798064" cy="438912"/>
          </a:xfrm>
          <a:prstGeom prst="rect">
            <a:avLst/>
          </a:prstGeom>
          <a:noFill/>
        </p:spPr>
        <p:txBody>
          <a:bodyPr wrap="square" lIns="0" rIns="0" tIns="0" bIns="0" anchor="ctr">
            <a:spAutoFit/>
          </a:bodyPr>
          <a:lstStyle/>
          <a:p>
            <a:pPr algn="l">
              <a:lnSpc>
                <a:spcPct val="100000"/>
              </a:lnSpc>
            </a:pPr>
            <a:r>
              <a:rPr sz="2300" b="1" i="0">
                <a:solidFill>
                  <a:srgbClr val="D95D5D"/>
                </a:solidFill>
                <a:latin typeface="Aptos Display"/>
              </a:rPr>
              <a:t>1.19 M</a:t>
            </a:r>
          </a:p>
        </p:txBody>
      </p:sp>
      <p:sp>
        <p:nvSpPr>
          <p:cNvPr id="16" name="TextBox 15"/>
          <p:cNvSpPr txBox="1"/>
          <p:nvPr/>
        </p:nvSpPr>
        <p:spPr>
          <a:xfrm>
            <a:off x="4846320" y="1856232"/>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road deaths/year</a:t>
            </a:r>
          </a:p>
        </p:txBody>
      </p:sp>
      <p:sp>
        <p:nvSpPr>
          <p:cNvPr id="17" name="TextBox 16"/>
          <p:cNvSpPr txBox="1"/>
          <p:nvPr/>
        </p:nvSpPr>
        <p:spPr>
          <a:xfrm>
            <a:off x="4846320" y="2240280"/>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WHO 2023; 2021 estimate</a:t>
            </a:r>
          </a:p>
        </p:txBody>
      </p:sp>
      <p:sp>
        <p:nvSpPr>
          <p:cNvPr id="18" name="Rounded Rectangle 17"/>
          <p:cNvSpPr/>
          <p:nvPr/>
        </p:nvSpPr>
        <p:spPr>
          <a:xfrm>
            <a:off x="8110727" y="1216152"/>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362456"/>
            <a:ext cx="2798064" cy="438912"/>
          </a:xfrm>
          <a:prstGeom prst="rect">
            <a:avLst/>
          </a:prstGeom>
          <a:noFill/>
        </p:spPr>
        <p:txBody>
          <a:bodyPr wrap="square" lIns="0" rIns="0" tIns="0" bIns="0" anchor="ctr">
            <a:spAutoFit/>
          </a:bodyPr>
          <a:lstStyle/>
          <a:p>
            <a:pPr algn="l">
              <a:lnSpc>
                <a:spcPct val="100000"/>
              </a:lnSpc>
            </a:pPr>
            <a:r>
              <a:rPr sz="2300" b="1" i="0">
                <a:solidFill>
                  <a:srgbClr val="F39C3D"/>
                </a:solidFill>
                <a:latin typeface="Aptos Display"/>
              </a:rPr>
              <a:t>50 Gt</a:t>
            </a:r>
          </a:p>
        </p:txBody>
      </p:sp>
      <p:sp>
        <p:nvSpPr>
          <p:cNvPr id="20" name="TextBox 19"/>
          <p:cNvSpPr txBox="1"/>
          <p:nvPr/>
        </p:nvSpPr>
        <p:spPr>
          <a:xfrm>
            <a:off x="8275319" y="1856232"/>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sand + gravel/year</a:t>
            </a:r>
          </a:p>
        </p:txBody>
      </p:sp>
      <p:sp>
        <p:nvSpPr>
          <p:cNvPr id="21" name="TextBox 20"/>
          <p:cNvSpPr txBox="1"/>
          <p:nvPr/>
        </p:nvSpPr>
        <p:spPr>
          <a:xfrm>
            <a:off x="8275319" y="2240280"/>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UNEP 2022 estimate</a:t>
            </a:r>
          </a:p>
        </p:txBody>
      </p:sp>
      <p:sp>
        <p:nvSpPr>
          <p:cNvPr id="22" name="Rounded Rectangle 21"/>
          <p:cNvSpPr/>
          <p:nvPr/>
        </p:nvSpPr>
        <p:spPr>
          <a:xfrm>
            <a:off x="4681728" y="2889504"/>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3035808"/>
            <a:ext cx="2798064" cy="438912"/>
          </a:xfrm>
          <a:prstGeom prst="rect">
            <a:avLst/>
          </a:prstGeom>
          <a:noFill/>
        </p:spPr>
        <p:txBody>
          <a:bodyPr wrap="square" lIns="0" rIns="0" tIns="0" bIns="0" anchor="ctr">
            <a:spAutoFit/>
          </a:bodyPr>
          <a:lstStyle/>
          <a:p>
            <a:pPr algn="l">
              <a:lnSpc>
                <a:spcPct val="100000"/>
              </a:lnSpc>
            </a:pPr>
            <a:r>
              <a:rPr sz="2300" b="1" i="0">
                <a:solidFill>
                  <a:srgbClr val="2B78A6"/>
                </a:solidFill>
                <a:latin typeface="Aptos Display"/>
              </a:rPr>
              <a:t>4.0 Gt</a:t>
            </a:r>
          </a:p>
        </p:txBody>
      </p:sp>
      <p:sp>
        <p:nvSpPr>
          <p:cNvPr id="24" name="TextBox 23"/>
          <p:cNvSpPr txBox="1"/>
          <p:nvPr/>
        </p:nvSpPr>
        <p:spPr>
          <a:xfrm>
            <a:off x="4846320" y="3529584"/>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cement produced, 2024</a:t>
            </a:r>
          </a:p>
        </p:txBody>
      </p:sp>
      <p:sp>
        <p:nvSpPr>
          <p:cNvPr id="25" name="TextBox 24"/>
          <p:cNvSpPr txBox="1"/>
          <p:nvPr/>
        </p:nvSpPr>
        <p:spPr>
          <a:xfrm>
            <a:off x="4846320" y="3913632"/>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USGS 2025 • ~0.6 tCO₂/t (IEA)</a:t>
            </a:r>
          </a:p>
        </p:txBody>
      </p:sp>
      <p:sp>
        <p:nvSpPr>
          <p:cNvPr id="26" name="Rounded Rectangle 25"/>
          <p:cNvSpPr/>
          <p:nvPr/>
        </p:nvSpPr>
        <p:spPr>
          <a:xfrm>
            <a:off x="8110727" y="2889504"/>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19" y="3035808"/>
            <a:ext cx="2798064" cy="438912"/>
          </a:xfrm>
          <a:prstGeom prst="rect">
            <a:avLst/>
          </a:prstGeom>
          <a:noFill/>
        </p:spPr>
        <p:txBody>
          <a:bodyPr wrap="square" lIns="0" rIns="0" tIns="0" bIns="0" anchor="ctr">
            <a:spAutoFit/>
          </a:bodyPr>
          <a:lstStyle/>
          <a:p>
            <a:pPr algn="l">
              <a:lnSpc>
                <a:spcPct val="100000"/>
              </a:lnSpc>
            </a:pPr>
            <a:r>
              <a:rPr sz="2300" b="1" i="0">
                <a:solidFill>
                  <a:srgbClr val="178D86"/>
                </a:solidFill>
                <a:latin typeface="Aptos Display"/>
              </a:rPr>
              <a:t>&gt;1 Gt</a:t>
            </a:r>
          </a:p>
        </p:txBody>
      </p:sp>
      <p:sp>
        <p:nvSpPr>
          <p:cNvPr id="28" name="TextBox 27"/>
          <p:cNvSpPr txBox="1"/>
          <p:nvPr/>
        </p:nvSpPr>
        <p:spPr>
          <a:xfrm>
            <a:off x="8275319" y="3529584"/>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coal fly ash/year</a:t>
            </a:r>
          </a:p>
        </p:txBody>
      </p:sp>
      <p:sp>
        <p:nvSpPr>
          <p:cNvPr id="29" name="TextBox 28"/>
          <p:cNvSpPr txBox="1"/>
          <p:nvPr/>
        </p:nvSpPr>
        <p:spPr>
          <a:xfrm>
            <a:off x="8275319" y="3913632"/>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IEA CCC 2020; global order</a:t>
            </a:r>
          </a:p>
        </p:txBody>
      </p:sp>
      <p:sp>
        <p:nvSpPr>
          <p:cNvPr id="30" name="Rounded Rectangle 29"/>
          <p:cNvSpPr/>
          <p:nvPr/>
        </p:nvSpPr>
        <p:spPr>
          <a:xfrm>
            <a:off x="4681728" y="4663440"/>
            <a:ext cx="6556248" cy="960120"/>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19472" y="4846320"/>
            <a:ext cx="6080760" cy="548640"/>
          </a:xfrm>
          <a:prstGeom prst="rect">
            <a:avLst/>
          </a:prstGeom>
          <a:noFill/>
        </p:spPr>
        <p:txBody>
          <a:bodyPr wrap="square" lIns="0" rIns="0" tIns="0" bIns="0" anchor="t">
            <a:spAutoFit/>
          </a:bodyPr>
          <a:lstStyle/>
          <a:p>
            <a:pPr algn="l">
              <a:lnSpc>
                <a:spcPct val="100000"/>
              </a:lnSpc>
            </a:pPr>
            <a:r>
              <a:rPr sz="1100" b="1" i="0">
                <a:solidFill>
                  <a:srgbClr val="FFFFFF"/>
                </a:solidFill>
                <a:latin typeface="Aptos"/>
              </a:rPr>
              <a:t>Opportunity: reduce crash severity while substituting a portion of virgin aggregate and clinker-intensive binder inputs.
Boundary: this project has not yet completed full-scale crash testing or a product LCA.</a:t>
            </a:r>
          </a:p>
        </p:txBody>
      </p:sp>
      <p:sp>
        <p:nvSpPr>
          <p:cNvPr id="32" name="TextBox 31"/>
          <p:cNvSpPr txBox="1"/>
          <p:nvPr/>
        </p:nvSpPr>
        <p:spPr>
          <a:xfrm>
            <a:off x="667512" y="5897880"/>
            <a:ext cx="108813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WHO, Global Status Report on Road Safety 2023, pp. 4, 14; UNEP, Sand and Sustainability (2022); USGS, MCS—Cement (2025); IEA, Cement (2023); Reid, Carpenter &amp; Masili, IEA CCC/303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LANDSCAPE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Prior art leaves an unresolved multi-objective gap</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04</a:t>
            </a:r>
          </a:p>
        </p:txBody>
      </p:sp>
      <p:graphicFrame>
        <p:nvGraphicFramePr>
          <p:cNvPr id="10" name="Table 9"/>
          <p:cNvGraphicFramePr>
            <a:graphicFrameLocks noGrp="1"/>
          </p:cNvGraphicFramePr>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gridCol w="1562748"/>
                <a:gridCol w="1562748"/>
                <a:gridCol w="1678507"/>
                <a:gridCol w="1678507"/>
                <a:gridCol w="2430942"/>
              </a:tblGrid>
              <a:tr h="493776">
                <a:tc>
                  <a:txBody>
                    <a:bodyPr/>
                    <a:lstStyle/>
                    <a:p>
                      <a:pPr algn="l"/>
                      <a:r>
                        <a:rPr sz="840" b="1" i="0">
                          <a:solidFill>
                            <a:srgbClr val="FFFFFF"/>
                          </a:solidFill>
                          <a:latin typeface="Aptos"/>
                        </a:rPr>
                        <a:t>Approach</a:t>
                      </a:r>
                    </a:p>
                  </a:txBody>
                  <a:tcPr marL="36576" marR="36576" marT="27432" marB="27432" anchor="ctr">
                    <a:solidFill>
                      <a:srgbClr val="08243A"/>
                    </a:solidFill>
                  </a:tcPr>
                </a:tc>
                <a:tc>
                  <a:txBody>
                    <a:bodyPr/>
                    <a:lstStyle/>
                    <a:p>
                      <a:pPr algn="ctr"/>
                      <a:r>
                        <a:rPr sz="840" b="1" i="0">
                          <a:solidFill>
                            <a:srgbClr val="FFFFFF"/>
                          </a:solidFill>
                          <a:latin typeface="Aptos"/>
                        </a:rPr>
                        <a:t>Containment / strength</a:t>
                      </a:r>
                    </a:p>
                  </a:txBody>
                  <a:tcPr marL="36576" marR="36576" marT="27432" marB="27432" anchor="ctr">
                    <a:solidFill>
                      <a:srgbClr val="08243A"/>
                    </a:solidFill>
                  </a:tcPr>
                </a:tc>
                <a:tc>
                  <a:txBody>
                    <a:bodyPr/>
                    <a:lstStyle/>
                    <a:p>
                      <a:pPr algn="ctr"/>
                      <a:r>
                        <a:rPr sz="840" b="1" i="0">
                          <a:solidFill>
                            <a:srgbClr val="FFFFFF"/>
                          </a:solidFill>
                          <a:latin typeface="Aptos"/>
                        </a:rPr>
                        <a:t>Energy dissipation</a:t>
                      </a:r>
                    </a:p>
                  </a:txBody>
                  <a:tcPr marL="36576" marR="36576" marT="27432" marB="27432" anchor="ctr">
                    <a:solidFill>
                      <a:srgbClr val="08243A"/>
                    </a:solidFill>
                  </a:tcPr>
                </a:tc>
                <a:tc>
                  <a:txBody>
                    <a:bodyPr/>
                    <a:lstStyle/>
                    <a:p>
                      <a:pPr algn="ctr"/>
                      <a:r>
                        <a:rPr sz="840" b="1" i="0">
                          <a:solidFill>
                            <a:srgbClr val="FFFFFF"/>
                          </a:solidFill>
                          <a:latin typeface="Aptos"/>
                        </a:rPr>
                        <a:t>Damage control</a:t>
                      </a:r>
                    </a:p>
                  </a:txBody>
                  <a:tcPr marL="36576" marR="36576" marT="27432" marB="27432" anchor="ctr">
                    <a:solidFill>
                      <a:srgbClr val="08243A"/>
                    </a:solidFill>
                  </a:tcPr>
                </a:tc>
                <a:tc>
                  <a:txBody>
                    <a:bodyPr/>
                    <a:lstStyle/>
                    <a:p>
                      <a:pPr algn="ctr"/>
                      <a:r>
                        <a:rPr sz="840" b="1" i="0">
                          <a:solidFill>
                            <a:srgbClr val="FFFFFF"/>
                          </a:solidFill>
                          <a:latin typeface="Aptos"/>
                        </a:rPr>
                        <a:t>Scale / cost</a:t>
                      </a:r>
                    </a:p>
                  </a:txBody>
                  <a:tcPr marL="36576" marR="36576" marT="27432" marB="27432" anchor="ctr">
                    <a:solidFill>
                      <a:srgbClr val="08243A"/>
                    </a:solidFill>
                  </a:tcPr>
                </a:tc>
                <a:tc>
                  <a:txBody>
                    <a:bodyPr/>
                    <a:lstStyle/>
                    <a:p>
                      <a:pPr algn="ctr"/>
                      <a:r>
                        <a:rPr sz="840" b="1" i="0">
                          <a:solidFill>
                            <a:srgbClr val="FFFFFF"/>
                          </a:solidFill>
                          <a:latin typeface="Aptos"/>
                        </a:rPr>
                        <a:t>Residual gap</a:t>
                      </a:r>
                    </a:p>
                  </a:txBody>
                  <a:tcPr marL="36576" marR="36576" marT="27432" marB="27432" anchor="ctr">
                    <a:solidFill>
                      <a:srgbClr val="08243A"/>
                    </a:solidFill>
                  </a:tcPr>
                </a:tc>
              </a:tr>
              <a:tr h="493776">
                <a:tc>
                  <a:txBody>
                    <a:bodyPr/>
                    <a:lstStyle/>
                    <a:p>
                      <a:pPr algn="l"/>
                      <a:r>
                        <a:rPr sz="860" b="1" i="0">
                          <a:solidFill>
                            <a:srgbClr val="172733"/>
                          </a:solidFill>
                          <a:latin typeface="Aptos"/>
                        </a:rPr>
                        <a:t>Rigid NWC barrier</a:t>
                      </a:r>
                    </a:p>
                  </a:txBody>
                  <a:tcPr marL="36576" marR="36576" marT="27432" marB="27432" anchor="ctr">
                    <a:solidFill>
                      <a:srgbClr val="FFFFFF"/>
                    </a:solidFill>
                  </a:tcPr>
                </a:tc>
                <a:tc>
                  <a:txBody>
                    <a:bodyPr/>
                    <a:lstStyle/>
                    <a:p>
                      <a:pPr algn="ctr"/>
                      <a:r>
                        <a:rPr sz="860" b="0" i="0">
                          <a:solidFill>
                            <a:srgbClr val="172733"/>
                          </a:solidFill>
                          <a:latin typeface="Aptos"/>
                        </a:rPr>
                        <a:t>High</a:t>
                      </a:r>
                    </a:p>
                  </a:txBody>
                  <a:tcPr marL="36576" marR="36576" marT="27432" marB="27432" anchor="ctr">
                    <a:solidFill>
                      <a:srgbClr val="FFFFFF"/>
                    </a:solidFill>
                  </a:tcPr>
                </a:tc>
                <a:tc>
                  <a:txBody>
                    <a:bodyPr/>
                    <a:lstStyle/>
                    <a:p>
                      <a:pPr algn="ctr"/>
                      <a:r>
                        <a:rPr sz="860" b="0" i="0">
                          <a:solidFill>
                            <a:srgbClr val="172733"/>
                          </a:solidFill>
                          <a:latin typeface="Aptos"/>
                        </a:rPr>
                        <a:t>Low–moderate</a:t>
                      </a:r>
                    </a:p>
                  </a:txBody>
                  <a:tcPr marL="36576" marR="36576" marT="27432" marB="27432" anchor="ctr">
                    <a:solidFill>
                      <a:srgbClr val="FFFFFF"/>
                    </a:solidFill>
                  </a:tcPr>
                </a:tc>
                <a:tc>
                  <a:txBody>
                    <a:bodyPr/>
                    <a:lstStyle/>
                    <a:p>
                      <a:pPr algn="ctr"/>
                      <a:r>
                        <a:rPr sz="860" b="0" i="0">
                          <a:solidFill>
                            <a:srgbClr val="172733"/>
                          </a:solidFill>
                          <a:latin typeface="Aptos"/>
                        </a:rPr>
                        <a:t>Brittle / debris risk</a:t>
                      </a:r>
                    </a:p>
                  </a:txBody>
                  <a:tcPr marL="36576" marR="36576" marT="27432" marB="27432" anchor="ctr">
                    <a:solidFill>
                      <a:srgbClr val="FFFFFF"/>
                    </a:solidFill>
                  </a:tcPr>
                </a:tc>
                <a:tc>
                  <a:txBody>
                    <a:bodyPr/>
                    <a:lstStyle/>
                    <a:p>
                      <a:pPr algn="ctr"/>
                      <a:r>
                        <a:rPr sz="860" b="0" i="0">
                          <a:solidFill>
                            <a:srgbClr val="172733"/>
                          </a:solidFill>
                          <a:latin typeface="Aptos"/>
                        </a:rPr>
                        <a:t>Mature</a:t>
                      </a:r>
                    </a:p>
                  </a:txBody>
                  <a:tcPr marL="36576" marR="36576" marT="27432" marB="27432" anchor="ctr">
                    <a:solidFill>
                      <a:srgbClr val="FFFFFF"/>
                    </a:solidFill>
                  </a:tcPr>
                </a:tc>
                <a:tc>
                  <a:txBody>
                    <a:bodyPr/>
                    <a:lstStyle/>
                    <a:p>
                      <a:pPr algn="ctr"/>
                      <a:r>
                        <a:rPr sz="860" b="0" i="0">
                          <a:solidFill>
                            <a:srgbClr val="172733"/>
                          </a:solidFill>
                          <a:latin typeface="Aptos"/>
                        </a:rPr>
                        <a:t>Harsh impact pulse</a:t>
                      </a:r>
                    </a:p>
                  </a:txBody>
                  <a:tcPr marL="36576" marR="36576" marT="27432" marB="27432" anchor="ctr">
                    <a:solidFill>
                      <a:srgbClr val="FFFFFF"/>
                    </a:solidFill>
                  </a:tcPr>
                </a:tc>
              </a:tr>
              <a:tr h="493776">
                <a:tc>
                  <a:txBody>
                    <a:bodyPr/>
                    <a:lstStyle/>
                    <a:p>
                      <a:pPr algn="l"/>
                      <a:r>
                        <a:rPr sz="860" b="1" i="0">
                          <a:solidFill>
                            <a:srgbClr val="172733"/>
                          </a:solidFill>
                          <a:latin typeface="Aptos"/>
                        </a:rPr>
                        <a:t>Steel / cable</a:t>
                      </a:r>
                    </a:p>
                  </a:txBody>
                  <a:tcPr marL="36576" marR="36576" marT="27432" marB="27432" anchor="ctr">
                    <a:solidFill>
                      <a:srgbClr val="F8FAFB"/>
                    </a:solidFill>
                  </a:tcPr>
                </a:tc>
                <a:tc>
                  <a:txBody>
                    <a:bodyPr/>
                    <a:lstStyle/>
                    <a:p>
                      <a:pPr algn="ctr"/>
                      <a:r>
                        <a:rPr sz="860" b="0" i="0">
                          <a:solidFill>
                            <a:srgbClr val="172733"/>
                          </a:solidFill>
                          <a:latin typeface="Aptos"/>
                        </a:rPr>
                        <a:t>System-dependent</a:t>
                      </a:r>
                    </a:p>
                  </a:txBody>
                  <a:tcPr marL="36576" marR="36576" marT="27432" marB="27432" anchor="ctr">
                    <a:solidFill>
                      <a:srgbClr val="F8FAFB"/>
                    </a:solidFill>
                  </a:tcPr>
                </a:tc>
                <a:tc>
                  <a:txBody>
                    <a:bodyPr/>
                    <a:lstStyle/>
                    <a:p>
                      <a:pPr algn="ctr"/>
                      <a:r>
                        <a:rPr sz="860" b="0" i="0">
                          <a:solidFill>
                            <a:srgbClr val="172733"/>
                          </a:solidFill>
                          <a:latin typeface="Aptos"/>
                        </a:rPr>
                        <a:t>High via deflection</a:t>
                      </a:r>
                    </a:p>
                  </a:txBody>
                  <a:tcPr marL="36576" marR="36576" marT="27432" marB="27432" anchor="ctr">
                    <a:solidFill>
                      <a:srgbClr val="F8FAFB"/>
                    </a:solidFill>
                  </a:tcPr>
                </a:tc>
                <a:tc>
                  <a:txBody>
                    <a:bodyPr/>
                    <a:lstStyle/>
                    <a:p>
                      <a:pPr algn="ctr"/>
                      <a:r>
                        <a:rPr sz="860" b="0" i="0">
                          <a:solidFill>
                            <a:srgbClr val="172733"/>
                          </a:solidFill>
                          <a:latin typeface="Aptos"/>
                        </a:rPr>
                        <a:t>Repair after impact</a:t>
                      </a:r>
                    </a:p>
                  </a:txBody>
                  <a:tcPr marL="36576" marR="36576" marT="27432" marB="27432" anchor="ctr">
                    <a:solidFill>
                      <a:srgbClr val="F8FAFB"/>
                    </a:solidFill>
                  </a:tcPr>
                </a:tc>
                <a:tc>
                  <a:txBody>
                    <a:bodyPr/>
                    <a:lstStyle/>
                    <a:p>
                      <a:pPr algn="ctr"/>
                      <a:r>
                        <a:rPr sz="860" b="0" i="0">
                          <a:solidFill>
                            <a:srgbClr val="172733"/>
                          </a:solidFill>
                          <a:latin typeface="Aptos"/>
                        </a:rPr>
                        <a:t>Corrosion / clear zone</a:t>
                      </a:r>
                    </a:p>
                  </a:txBody>
                  <a:tcPr marL="36576" marR="36576" marT="27432" marB="27432" anchor="ctr">
                    <a:solidFill>
                      <a:srgbClr val="F8FAFB"/>
                    </a:solidFill>
                  </a:tcPr>
                </a:tc>
                <a:tc>
                  <a:txBody>
                    <a:bodyPr/>
                    <a:lstStyle/>
                    <a:p>
                      <a:pPr algn="ctr"/>
                      <a:r>
                        <a:rPr sz="860" b="0" i="0">
                          <a:solidFill>
                            <a:srgbClr val="172733"/>
                          </a:solidFill>
                          <a:latin typeface="Aptos"/>
                        </a:rPr>
                        <a:t>Space + maintenance</a:t>
                      </a:r>
                    </a:p>
                  </a:txBody>
                  <a:tcPr marL="36576" marR="36576" marT="27432" marB="27432" anchor="ctr">
                    <a:solidFill>
                      <a:srgbClr val="F8FAFB"/>
                    </a:solidFill>
                  </a:tcPr>
                </a:tc>
              </a:tr>
              <a:tr h="493776">
                <a:tc>
                  <a:txBody>
                    <a:bodyPr/>
                    <a:lstStyle/>
                    <a:p>
                      <a:pPr algn="l"/>
                      <a:r>
                        <a:rPr sz="860" b="1" i="0">
                          <a:solidFill>
                            <a:srgbClr val="172733"/>
                          </a:solidFill>
                          <a:latin typeface="Aptos"/>
                        </a:rPr>
                        <a:t>Rubberised + fibre</a:t>
                      </a:r>
                    </a:p>
                  </a:txBody>
                  <a:tcPr marL="36576" marR="36576" marT="27432" marB="27432" anchor="ctr">
                    <a:solidFill>
                      <a:srgbClr val="FFFFFF"/>
                    </a:solidFill>
                  </a:tcPr>
                </a:tc>
                <a:tc>
                  <a:txBody>
                    <a:bodyPr/>
                    <a:lstStyle/>
                    <a:p>
                      <a:pPr algn="ctr"/>
                      <a:r>
                        <a:rPr sz="860" b="0" i="0">
                          <a:solidFill>
                            <a:srgbClr val="172733"/>
                          </a:solidFill>
                          <a:latin typeface="Aptos"/>
                        </a:rPr>
                        <a:t>Strength trade-off</a:t>
                      </a:r>
                    </a:p>
                  </a:txBody>
                  <a:tcPr marL="36576" marR="36576" marT="27432" marB="27432" anchor="ctr">
                    <a:solidFill>
                      <a:srgbClr val="FFFFFF"/>
                    </a:solidFill>
                  </a:tcPr>
                </a:tc>
                <a:tc>
                  <a:txBody>
                    <a:bodyPr/>
                    <a:lstStyle/>
                    <a:p>
                      <a:pPr algn="ctr"/>
                      <a:r>
                        <a:rPr sz="860" b="0" i="0">
                          <a:solidFill>
                            <a:srgbClr val="172733"/>
                          </a:solidFill>
                          <a:latin typeface="Aptos"/>
                        </a:rPr>
                        <a:t>Improved</a:t>
                      </a:r>
                    </a:p>
                  </a:txBody>
                  <a:tcPr marL="36576" marR="36576" marT="27432" marB="27432" anchor="ctr">
                    <a:solidFill>
                      <a:srgbClr val="FFFFFF"/>
                    </a:solidFill>
                  </a:tcPr>
                </a:tc>
                <a:tc>
                  <a:txBody>
                    <a:bodyPr/>
                    <a:lstStyle/>
                    <a:p>
                      <a:pPr algn="ctr"/>
                      <a:r>
                        <a:rPr sz="860" b="0" i="0">
                          <a:solidFill>
                            <a:srgbClr val="172733"/>
                          </a:solidFill>
                          <a:latin typeface="Aptos"/>
                        </a:rPr>
                        <a:t>Improved</a:t>
                      </a:r>
                    </a:p>
                  </a:txBody>
                  <a:tcPr marL="36576" marR="36576" marT="27432" marB="27432" anchor="ctr">
                    <a:solidFill>
                      <a:srgbClr val="FFFFFF"/>
                    </a:solidFill>
                  </a:tcPr>
                </a:tc>
                <a:tc>
                  <a:txBody>
                    <a:bodyPr/>
                    <a:lstStyle/>
                    <a:p>
                      <a:pPr algn="ctr"/>
                      <a:r>
                        <a:rPr sz="860" b="0" i="0">
                          <a:solidFill>
                            <a:srgbClr val="172733"/>
                          </a:solidFill>
                          <a:latin typeface="Aptos"/>
                        </a:rPr>
                        <a:t>Processing complexity</a:t>
                      </a:r>
                    </a:p>
                  </a:txBody>
                  <a:tcPr marL="36576" marR="36576" marT="27432" marB="27432" anchor="ctr">
                    <a:solidFill>
                      <a:srgbClr val="FFFFFF"/>
                    </a:solidFill>
                  </a:tcPr>
                </a:tc>
                <a:tc>
                  <a:txBody>
                    <a:bodyPr/>
                    <a:lstStyle/>
                    <a:p>
                      <a:pPr algn="ctr"/>
                      <a:r>
                        <a:rPr sz="860" b="0" i="0">
                          <a:solidFill>
                            <a:srgbClr val="172733"/>
                          </a:solidFill>
                          <a:latin typeface="Aptos"/>
                        </a:rPr>
                        <a:t>Durability / scale</a:t>
                      </a:r>
                    </a:p>
                  </a:txBody>
                  <a:tcPr marL="36576" marR="36576" marT="27432" marB="27432" anchor="ctr">
                    <a:solidFill>
                      <a:srgbClr val="FFFFFF"/>
                    </a:solidFill>
                  </a:tcPr>
                </a:tc>
              </a:tr>
              <a:tr h="493776">
                <a:tc>
                  <a:txBody>
                    <a:bodyPr/>
                    <a:lstStyle/>
                    <a:p>
                      <a:pPr algn="l"/>
                      <a:r>
                        <a:rPr sz="860" b="1" i="0">
                          <a:solidFill>
                            <a:srgbClr val="172733"/>
                          </a:solidFill>
                          <a:latin typeface="Aptos"/>
                        </a:rPr>
                        <a:t>UHPC / ECC</a:t>
                      </a:r>
                    </a:p>
                  </a:txBody>
                  <a:tcPr marL="36576" marR="36576" marT="27432" marB="27432" anchor="ctr">
                    <a:solidFill>
                      <a:srgbClr val="F8FAFB"/>
                    </a:solidFill>
                  </a:tcPr>
                </a:tc>
                <a:tc>
                  <a:txBody>
                    <a:bodyPr/>
                    <a:lstStyle/>
                    <a:p>
                      <a:pPr algn="ctr"/>
                      <a:r>
                        <a:rPr sz="860" b="0" i="0">
                          <a:solidFill>
                            <a:srgbClr val="172733"/>
                          </a:solidFill>
                          <a:latin typeface="Aptos"/>
                        </a:rPr>
                        <a:t>Very high</a:t>
                      </a:r>
                    </a:p>
                  </a:txBody>
                  <a:tcPr marL="36576" marR="36576" marT="27432" marB="27432" anchor="ctr">
                    <a:solidFill>
                      <a:srgbClr val="F8FAFB"/>
                    </a:solidFill>
                  </a:tcPr>
                </a:tc>
                <a:tc>
                  <a:txBody>
                    <a:bodyPr/>
                    <a:lstStyle/>
                    <a:p>
                      <a:pPr algn="ctr"/>
                      <a:r>
                        <a:rPr sz="860" b="0" i="0">
                          <a:solidFill>
                            <a:srgbClr val="172733"/>
                          </a:solidFill>
                          <a:latin typeface="Aptos"/>
                        </a:rPr>
                        <a:t>Mix-dependent</a:t>
                      </a:r>
                    </a:p>
                  </a:txBody>
                  <a:tcPr marL="36576" marR="36576" marT="27432" marB="27432" anchor="ctr">
                    <a:solidFill>
                      <a:srgbClr val="F8FAFB"/>
                    </a:solidFill>
                  </a:tcPr>
                </a:tc>
                <a:tc>
                  <a:txBody>
                    <a:bodyPr/>
                    <a:lstStyle/>
                    <a:p>
                      <a:pPr algn="ctr"/>
                      <a:r>
                        <a:rPr sz="860" b="0" i="0">
                          <a:solidFill>
                            <a:srgbClr val="172733"/>
                          </a:solidFill>
                          <a:latin typeface="Aptos"/>
                        </a:rPr>
                        <a:t>Good crack control</a:t>
                      </a:r>
                    </a:p>
                  </a:txBody>
                  <a:tcPr marL="36576" marR="36576" marT="27432" marB="27432" anchor="ctr">
                    <a:solidFill>
                      <a:srgbClr val="F8FAFB"/>
                    </a:solidFill>
                  </a:tcPr>
                </a:tc>
                <a:tc>
                  <a:txBody>
                    <a:bodyPr/>
                    <a:lstStyle/>
                    <a:p>
                      <a:pPr algn="ctr"/>
                      <a:r>
                        <a:rPr sz="860" b="0" i="0">
                          <a:solidFill>
                            <a:srgbClr val="172733"/>
                          </a:solidFill>
                          <a:latin typeface="Aptos"/>
                        </a:rPr>
                        <a:t>High material cost</a:t>
                      </a:r>
                    </a:p>
                  </a:txBody>
                  <a:tcPr marL="36576" marR="36576" marT="27432" marB="27432" anchor="ctr">
                    <a:solidFill>
                      <a:srgbClr val="F8FAFB"/>
                    </a:solidFill>
                  </a:tcPr>
                </a:tc>
                <a:tc>
                  <a:txBody>
                    <a:bodyPr/>
                    <a:lstStyle/>
                    <a:p>
                      <a:pPr algn="ctr"/>
                      <a:r>
                        <a:rPr sz="860" b="0" i="0">
                          <a:solidFill>
                            <a:srgbClr val="172733"/>
                          </a:solidFill>
                          <a:latin typeface="Aptos"/>
                        </a:rPr>
                        <a:t>Stiffness / economics</a:t>
                      </a:r>
                    </a:p>
                  </a:txBody>
                  <a:tcPr marL="36576" marR="36576" marT="27432" marB="27432" anchor="ctr">
                    <a:solidFill>
                      <a:srgbClr val="F8FAFB"/>
                    </a:solidFill>
                  </a:tcPr>
                </a:tc>
              </a:tr>
              <a:tr h="493776">
                <a:tc>
                  <a:txBody>
                    <a:bodyPr/>
                    <a:lstStyle/>
                    <a:p>
                      <a:pPr algn="l"/>
                      <a:r>
                        <a:rPr sz="860" b="1" i="0">
                          <a:solidFill>
                            <a:srgbClr val="172733"/>
                          </a:solidFill>
                          <a:latin typeface="Aptos"/>
                        </a:rPr>
                        <a:t>Lightweight barrier concepts</a:t>
                      </a:r>
                    </a:p>
                  </a:txBody>
                  <a:tcPr marL="36576" marR="36576" marT="27432" marB="27432" anchor="ctr">
                    <a:solidFill>
                      <a:srgbClr val="FFFFFF"/>
                    </a:solidFill>
                  </a:tcPr>
                </a:tc>
                <a:tc>
                  <a:txBody>
                    <a:bodyPr/>
                    <a:lstStyle/>
                    <a:p>
                      <a:pPr algn="ctr"/>
                      <a:r>
                        <a:rPr sz="860" b="0" i="0">
                          <a:solidFill>
                            <a:srgbClr val="172733"/>
                          </a:solidFill>
                          <a:latin typeface="Aptos"/>
                        </a:rPr>
                        <a:t>Demonstrated in prior art</a:t>
                      </a:r>
                    </a:p>
                  </a:txBody>
                  <a:tcPr marL="36576" marR="36576" marT="27432" marB="27432" anchor="ctr">
                    <a:solidFill>
                      <a:srgbClr val="FFFFFF"/>
                    </a:solidFill>
                  </a:tcPr>
                </a:tc>
                <a:tc>
                  <a:txBody>
                    <a:bodyPr/>
                    <a:lstStyle/>
                    <a:p>
                      <a:pPr algn="ctr"/>
                      <a:r>
                        <a:rPr sz="860" b="0" i="0">
                          <a:solidFill>
                            <a:srgbClr val="172733"/>
                          </a:solidFill>
                          <a:latin typeface="Aptos"/>
                        </a:rPr>
                        <a:t>Potential</a:t>
                      </a:r>
                    </a:p>
                  </a:txBody>
                  <a:tcPr marL="36576" marR="36576" marT="27432" marB="27432" anchor="ctr">
                    <a:solidFill>
                      <a:srgbClr val="FFFFFF"/>
                    </a:solidFill>
                  </a:tcPr>
                </a:tc>
                <a:tc>
                  <a:txBody>
                    <a:bodyPr/>
                    <a:lstStyle/>
                    <a:p>
                      <a:pPr algn="ctr"/>
                      <a:r>
                        <a:rPr sz="860" b="0" i="0">
                          <a:solidFill>
                            <a:srgbClr val="172733"/>
                          </a:solidFill>
                          <a:latin typeface="Aptos"/>
                        </a:rPr>
                        <a:t>Design-specific</a:t>
                      </a:r>
                    </a:p>
                  </a:txBody>
                  <a:tcPr marL="36576" marR="36576" marT="27432" marB="27432" anchor="ctr">
                    <a:solidFill>
                      <a:srgbClr val="FFFFFF"/>
                    </a:solidFill>
                  </a:tcPr>
                </a:tc>
                <a:tc>
                  <a:txBody>
                    <a:bodyPr/>
                    <a:lstStyle/>
                    <a:p>
                      <a:pPr algn="ctr"/>
                      <a:r>
                        <a:rPr sz="860" b="0" i="0">
                          <a:solidFill>
                            <a:srgbClr val="172733"/>
                          </a:solidFill>
                          <a:latin typeface="Aptos"/>
                        </a:rPr>
                        <a:t>Limited adoption</a:t>
                      </a:r>
                    </a:p>
                  </a:txBody>
                  <a:tcPr marL="36576" marR="36576" marT="27432" marB="27432" anchor="ctr">
                    <a:solidFill>
                      <a:srgbClr val="FFFFFF"/>
                    </a:solidFill>
                  </a:tcPr>
                </a:tc>
                <a:tc>
                  <a:txBody>
                    <a:bodyPr/>
                    <a:lstStyle/>
                    <a:p>
                      <a:pPr algn="ctr"/>
                      <a:r>
                        <a:rPr sz="860" b="0" i="0">
                          <a:solidFill>
                            <a:srgbClr val="172733"/>
                          </a:solidFill>
                          <a:latin typeface="Aptos"/>
                        </a:rPr>
                        <a:t>No SFA–fibre proof set</a:t>
                      </a:r>
                    </a:p>
                  </a:txBody>
                  <a:tcPr marL="36576" marR="36576" marT="27432" marB="27432" anchor="ctr">
                    <a:solidFill>
                      <a:srgbClr val="FFFFFF"/>
                    </a:solidFill>
                  </a:tcPr>
                </a:tc>
              </a:tr>
              <a:tr h="493776">
                <a:tc>
                  <a:txBody>
                    <a:bodyPr/>
                    <a:lstStyle/>
                    <a:p>
                      <a:pPr algn="l"/>
                      <a:r>
                        <a:rPr sz="860" b="1" i="0">
                          <a:solidFill>
                            <a:srgbClr val="172733"/>
                          </a:solidFill>
                          <a:latin typeface="Aptos"/>
                        </a:rPr>
                        <a:t>This invention</a:t>
                      </a:r>
                    </a:p>
                  </a:txBody>
                  <a:tcPr marL="36576" marR="36576" marT="27432" marB="27432" anchor="ctr">
                    <a:solidFill>
                      <a:srgbClr val="DDF5F4"/>
                    </a:solidFill>
                  </a:tcPr>
                </a:tc>
                <a:tc>
                  <a:txBody>
                    <a:bodyPr/>
                    <a:lstStyle/>
                    <a:p>
                      <a:pPr algn="ctr"/>
                      <a:r>
                        <a:rPr sz="860" b="0" i="0">
                          <a:solidFill>
                            <a:srgbClr val="172733"/>
                          </a:solidFill>
                          <a:latin typeface="Aptos"/>
                        </a:rPr>
                        <a:t>M40+ in tested mixes</a:t>
                      </a:r>
                    </a:p>
                  </a:txBody>
                  <a:tcPr marL="36576" marR="36576" marT="27432" marB="27432" anchor="ctr">
                    <a:solidFill>
                      <a:srgbClr val="DDF5F4"/>
                    </a:solidFill>
                  </a:tcPr>
                </a:tc>
                <a:tc>
                  <a:txBody>
                    <a:bodyPr/>
                    <a:lstStyle/>
                    <a:p>
                      <a:pPr algn="ctr"/>
                      <a:r>
                        <a:rPr sz="860" b="0" i="0">
                          <a:solidFill>
                            <a:srgbClr val="172733"/>
                          </a:solidFill>
                          <a:latin typeface="Aptos"/>
                        </a:rPr>
                        <a:t>High in repeated impact</a:t>
                      </a:r>
                    </a:p>
                  </a:txBody>
                  <a:tcPr marL="36576" marR="36576" marT="27432" marB="27432" anchor="ctr">
                    <a:solidFill>
                      <a:srgbClr val="DDF5F4"/>
                    </a:solidFill>
                  </a:tcPr>
                </a:tc>
                <a:tc>
                  <a:txBody>
                    <a:bodyPr/>
                    <a:lstStyle/>
                    <a:p>
                      <a:pPr algn="ctr"/>
                      <a:r>
                        <a:rPr sz="860" b="0" i="0">
                          <a:solidFill>
                            <a:srgbClr val="172733"/>
                          </a:solidFill>
                          <a:latin typeface="Aptos"/>
                        </a:rPr>
                        <a:t>Controlled cracking observed</a:t>
                      </a:r>
                    </a:p>
                  </a:txBody>
                  <a:tcPr marL="36576" marR="36576" marT="27432" marB="27432" anchor="ctr">
                    <a:solidFill>
                      <a:srgbClr val="DDF5F4"/>
                    </a:solidFill>
                  </a:tcPr>
                </a:tc>
                <a:tc>
                  <a:txBody>
                    <a:bodyPr/>
                    <a:lstStyle/>
                    <a:p>
                      <a:pPr algn="ctr"/>
                      <a:r>
                        <a:rPr sz="860" b="0" i="0">
                          <a:solidFill>
                            <a:srgbClr val="172733"/>
                          </a:solidFill>
                          <a:latin typeface="Aptos"/>
                        </a:rPr>
                        <a:t>Precast-compatible</a:t>
                      </a:r>
                    </a:p>
                  </a:txBody>
                  <a:tcPr marL="36576" marR="36576" marT="27432" marB="27432" anchor="ctr">
                    <a:solidFill>
                      <a:srgbClr val="DDF5F4"/>
                    </a:solidFill>
                  </a:tcPr>
                </a:tc>
                <a:tc>
                  <a:txBody>
                    <a:bodyPr/>
                    <a:lstStyle/>
                    <a:p>
                      <a:pPr algn="ctr"/>
                      <a:r>
                        <a:rPr sz="860" b="0" i="0">
                          <a:solidFill>
                            <a:srgbClr val="172733"/>
                          </a:solidFill>
                          <a:latin typeface="Aptos"/>
                        </a:rPr>
                        <a:t>Full-scale proof pending</a:t>
                      </a:r>
                    </a:p>
                  </a:txBody>
                  <a:tcPr marL="36576" marR="36576" marT="27432" marB="27432" anchor="ctr">
                    <a:solidFill>
                      <a:srgbClr val="DDF5F4"/>
                    </a:solidFill>
                  </a:tcPr>
                </a:tc>
              </a:tr>
            </a:tbl>
          </a:graphicData>
        </a:graphic>
      </p:graphicFrame>
      <p:sp>
        <p:nvSpPr>
          <p:cNvPr id="11" name="Rounded Rectangle 10"/>
          <p:cNvSpPr/>
          <p:nvPr/>
        </p:nvSpPr>
        <p:spPr>
          <a:xfrm>
            <a:off x="667512" y="4974336"/>
            <a:ext cx="10863072" cy="868680"/>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5148072"/>
            <a:ext cx="1920240" cy="274320"/>
          </a:xfrm>
          <a:prstGeom prst="rect">
            <a:avLst/>
          </a:prstGeom>
          <a:noFill/>
        </p:spPr>
        <p:txBody>
          <a:bodyPr wrap="square" lIns="0" rIns="0" tIns="0" bIns="0" anchor="t">
            <a:spAutoFit/>
          </a:bodyPr>
          <a:lstStyle/>
          <a:p>
            <a:pPr algn="l">
              <a:lnSpc>
                <a:spcPct val="100000"/>
              </a:lnSpc>
            </a:pPr>
            <a:r>
              <a:rPr sz="900" b="1" i="0">
                <a:solidFill>
                  <a:srgbClr val="2B78A6"/>
                </a:solidFill>
                <a:latin typeface="Aptos"/>
              </a:rPr>
              <a:t>PATENT POSITIONING</a:t>
            </a:r>
          </a:p>
        </p:txBody>
      </p:sp>
      <p:sp>
        <p:nvSpPr>
          <p:cNvPr id="13" name="TextBox 12"/>
          <p:cNvSpPr txBox="1"/>
          <p:nvPr/>
        </p:nvSpPr>
        <p:spPr>
          <a:xfrm>
            <a:off x="2724912" y="5074920"/>
            <a:ext cx="8485632" cy="530352"/>
          </a:xfrm>
          <a:prstGeom prst="rect">
            <a:avLst/>
          </a:prstGeom>
          <a:noFill/>
        </p:spPr>
        <p:txBody>
          <a:bodyPr wrap="square" lIns="0" rIns="0" tIns="0" bIns="0" anchor="t">
            <a:spAutoFit/>
          </a:bodyPr>
          <a:lstStyle/>
          <a:p>
            <a:pPr algn="l">
              <a:lnSpc>
                <a:spcPct val="100000"/>
              </a:lnSpc>
            </a:pPr>
            <a:r>
              <a:rPr sz="1060" b="1" i="0">
                <a:solidFill>
                  <a:srgbClr val="172733"/>
                </a:solidFill>
                <a:latin typeface="Aptos"/>
              </a:rPr>
              <a:t>Avoid a broad “first lightweight concrete barrier” assertion: lightweight-concrete barrier concepts appear in conference literature. Centre novelty on the specific integrated composition, SFA function, hooked-fibre crack control, quantified synergy and manufacturing/control envelope.</a:t>
            </a:r>
          </a:p>
        </p:txBody>
      </p:sp>
      <p:sp>
        <p:nvSpPr>
          <p:cNvPr id="14" name="TextBox 13"/>
          <p:cNvSpPr txBox="1"/>
          <p:nvPr/>
        </p:nvSpPr>
        <p:spPr>
          <a:xfrm>
            <a:off x="667512" y="5989320"/>
            <a:ext cx="1083564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Zain &amp; Mohammed (2015); Raj et al. (2020), ASCE J. Mater. Civ. Eng.; Shen et al. (2014), Constr. Build. Mater.; Bonin et al. (2004), II Int’l Congress SIIV proceedings; Grzebieta et al. (2005), 19th ESV Conference proceedings; Xue et al.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TECHNICAL CONCEPT</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Invention architecture: three functions, one controlled response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05</a:t>
            </a:r>
          </a:p>
        </p:txBody>
      </p:sp>
      <p:sp>
        <p:nvSpPr>
          <p:cNvPr id="10" name="Oval 9"/>
          <p:cNvSpPr/>
          <p:nvPr/>
        </p:nvSpPr>
        <p:spPr>
          <a:xfrm>
            <a:off x="749808" y="1380743"/>
            <a:ext cx="493776" cy="493776"/>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380743"/>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A</a:t>
            </a:r>
          </a:p>
        </p:txBody>
      </p:sp>
      <p:sp>
        <p:nvSpPr>
          <p:cNvPr id="12" name="Rounded Rectangle 11"/>
          <p:cNvSpPr/>
          <p:nvPr/>
        </p:nvSpPr>
        <p:spPr>
          <a:xfrm>
            <a:off x="1078992" y="1271016"/>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78992" y="1271016"/>
            <a:ext cx="64008" cy="950976"/>
          </a:xfrm>
          <a:prstGeom prst="rect">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1435607"/>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SFA lightweight aggregate</a:t>
            </a:r>
          </a:p>
        </p:txBody>
      </p:sp>
      <p:sp>
        <p:nvSpPr>
          <p:cNvPr id="15" name="TextBox 14"/>
          <p:cNvSpPr txBox="1"/>
          <p:nvPr/>
        </p:nvSpPr>
        <p:spPr>
          <a:xfrm>
            <a:off x="1289304" y="1837943"/>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Porous particle crushing + internal damping</a:t>
            </a:r>
          </a:p>
        </p:txBody>
      </p:sp>
      <p:sp>
        <p:nvSpPr>
          <p:cNvPr id="16" name="Chevron 15"/>
          <p:cNvSpPr/>
          <p:nvPr/>
        </p:nvSpPr>
        <p:spPr>
          <a:xfrm>
            <a:off x="5349240" y="1545336"/>
            <a:ext cx="566928" cy="384048"/>
          </a:xfrm>
          <a:prstGeom prst="chevron">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9808" y="2606040"/>
            <a:ext cx="493776" cy="493776"/>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606040"/>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B</a:t>
            </a:r>
          </a:p>
        </p:txBody>
      </p:sp>
      <p:sp>
        <p:nvSpPr>
          <p:cNvPr id="19" name="Rounded Rectangle 18"/>
          <p:cNvSpPr/>
          <p:nvPr/>
        </p:nvSpPr>
        <p:spPr>
          <a:xfrm>
            <a:off x="1078992" y="2496312"/>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8992" y="2496312"/>
            <a:ext cx="64008" cy="950976"/>
          </a:xfrm>
          <a:prstGeom prst="rect">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9304" y="2660904"/>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Hooked-end steel fibre</a:t>
            </a:r>
          </a:p>
        </p:txBody>
      </p:sp>
      <p:sp>
        <p:nvSpPr>
          <p:cNvPr id="22" name="TextBox 21"/>
          <p:cNvSpPr txBox="1"/>
          <p:nvPr/>
        </p:nvSpPr>
        <p:spPr>
          <a:xfrm>
            <a:off x="1289304" y="3063240"/>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Crack bridging + debonding + pull-out</a:t>
            </a:r>
          </a:p>
        </p:txBody>
      </p:sp>
      <p:sp>
        <p:nvSpPr>
          <p:cNvPr id="23" name="Chevron 22"/>
          <p:cNvSpPr/>
          <p:nvPr/>
        </p:nvSpPr>
        <p:spPr>
          <a:xfrm>
            <a:off x="5349240" y="2770632"/>
            <a:ext cx="566928" cy="384048"/>
          </a:xfrm>
          <a:prstGeom prst="chevron">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9808" y="3831336"/>
            <a:ext cx="493776" cy="493776"/>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831336"/>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C</a:t>
            </a:r>
          </a:p>
        </p:txBody>
      </p:sp>
      <p:sp>
        <p:nvSpPr>
          <p:cNvPr id="26" name="Rounded Rectangle 25"/>
          <p:cNvSpPr/>
          <p:nvPr/>
        </p:nvSpPr>
        <p:spPr>
          <a:xfrm>
            <a:off x="1078992" y="3721608"/>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78992" y="3721608"/>
            <a:ext cx="64008" cy="950976"/>
          </a:xfrm>
          <a:prstGeom prst="rect">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9304" y="3886200"/>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OPC + 20% GGBS matrix</a:t>
            </a:r>
          </a:p>
        </p:txBody>
      </p:sp>
      <p:sp>
        <p:nvSpPr>
          <p:cNvPr id="29" name="TextBox 28"/>
          <p:cNvSpPr txBox="1"/>
          <p:nvPr/>
        </p:nvSpPr>
        <p:spPr>
          <a:xfrm>
            <a:off x="1289304" y="4288536"/>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M40+ strength + fibre/aggregate load transfer</a:t>
            </a:r>
          </a:p>
        </p:txBody>
      </p:sp>
      <p:sp>
        <p:nvSpPr>
          <p:cNvPr id="30" name="Chevron 29"/>
          <p:cNvSpPr/>
          <p:nvPr/>
        </p:nvSpPr>
        <p:spPr>
          <a:xfrm>
            <a:off x="5349240" y="3995928"/>
            <a:ext cx="566928" cy="384048"/>
          </a:xfrm>
          <a:prstGeom prst="chevron">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89904" y="1234440"/>
            <a:ext cx="5212080" cy="3493008"/>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1527048"/>
            <a:ext cx="4645152" cy="347472"/>
          </a:xfrm>
          <a:prstGeom prst="rect">
            <a:avLst/>
          </a:prstGeom>
          <a:noFill/>
        </p:spPr>
        <p:txBody>
          <a:bodyPr wrap="square" lIns="0" rIns="0" tIns="0" bIns="0" anchor="t">
            <a:spAutoFit/>
          </a:bodyPr>
          <a:lstStyle/>
          <a:p>
            <a:pPr algn="l">
              <a:lnSpc>
                <a:spcPct val="100000"/>
              </a:lnSpc>
            </a:pPr>
            <a:r>
              <a:rPr sz="1000" b="1" i="0">
                <a:solidFill>
                  <a:srgbClr val="22B8C7"/>
                </a:solidFill>
                <a:latin typeface="Aptos"/>
              </a:rPr>
              <a:t>DESIGNED IMPACT RESPONSE</a:t>
            </a:r>
          </a:p>
        </p:txBody>
      </p:sp>
      <p:sp>
        <p:nvSpPr>
          <p:cNvPr id="33" name="TextBox 32"/>
          <p:cNvSpPr txBox="1"/>
          <p:nvPr/>
        </p:nvSpPr>
        <p:spPr>
          <a:xfrm>
            <a:off x="6400800" y="199339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01</a:t>
            </a:r>
          </a:p>
        </p:txBody>
      </p:sp>
      <p:sp>
        <p:nvSpPr>
          <p:cNvPr id="34" name="TextBox 33"/>
          <p:cNvSpPr txBox="1"/>
          <p:nvPr/>
        </p:nvSpPr>
        <p:spPr>
          <a:xfrm>
            <a:off x="6830568" y="197510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Crack initiation</a:t>
            </a:r>
          </a:p>
        </p:txBody>
      </p:sp>
      <p:sp>
        <p:nvSpPr>
          <p:cNvPr id="35" name="TextBox 34"/>
          <p:cNvSpPr txBox="1"/>
          <p:nvPr/>
        </p:nvSpPr>
        <p:spPr>
          <a:xfrm>
            <a:off x="8375904" y="197510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Fibres redistribute tensile stress and delay localisation.</a:t>
            </a:r>
          </a:p>
        </p:txBody>
      </p:sp>
      <p:sp>
        <p:nvSpPr>
          <p:cNvPr id="36" name="TextBox 35"/>
          <p:cNvSpPr txBox="1"/>
          <p:nvPr/>
        </p:nvSpPr>
        <p:spPr>
          <a:xfrm>
            <a:off x="6400800" y="263347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02</a:t>
            </a:r>
          </a:p>
        </p:txBody>
      </p:sp>
      <p:sp>
        <p:nvSpPr>
          <p:cNvPr id="37" name="TextBox 36"/>
          <p:cNvSpPr txBox="1"/>
          <p:nvPr/>
        </p:nvSpPr>
        <p:spPr>
          <a:xfrm>
            <a:off x="6830568" y="261518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Controlled deformation</a:t>
            </a:r>
          </a:p>
        </p:txBody>
      </p:sp>
      <p:sp>
        <p:nvSpPr>
          <p:cNvPr id="38" name="TextBox 37"/>
          <p:cNvSpPr txBox="1"/>
          <p:nvPr/>
        </p:nvSpPr>
        <p:spPr>
          <a:xfrm>
            <a:off x="8375904" y="261518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Aggregate crushing and fibre pull-out consume energy.</a:t>
            </a:r>
          </a:p>
        </p:txBody>
      </p:sp>
      <p:sp>
        <p:nvSpPr>
          <p:cNvPr id="39" name="TextBox 38"/>
          <p:cNvSpPr txBox="1"/>
          <p:nvPr/>
        </p:nvSpPr>
        <p:spPr>
          <a:xfrm>
            <a:off x="6400800" y="327355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03</a:t>
            </a:r>
          </a:p>
        </p:txBody>
      </p:sp>
      <p:sp>
        <p:nvSpPr>
          <p:cNvPr id="40" name="TextBox 39"/>
          <p:cNvSpPr txBox="1"/>
          <p:nvPr/>
        </p:nvSpPr>
        <p:spPr>
          <a:xfrm>
            <a:off x="6830568" y="325526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Residual integrity</a:t>
            </a:r>
          </a:p>
        </p:txBody>
      </p:sp>
      <p:sp>
        <p:nvSpPr>
          <p:cNvPr id="41" name="TextBox 40"/>
          <p:cNvSpPr txBox="1"/>
          <p:nvPr/>
        </p:nvSpPr>
        <p:spPr>
          <a:xfrm>
            <a:off x="8375904" y="325526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Bridging restrains large fragments and preserves load path.</a:t>
            </a:r>
          </a:p>
        </p:txBody>
      </p:sp>
      <p:sp>
        <p:nvSpPr>
          <p:cNvPr id="42" name="TextBox 41"/>
          <p:cNvSpPr txBox="1"/>
          <p:nvPr/>
        </p:nvSpPr>
        <p:spPr>
          <a:xfrm>
            <a:off x="6400800" y="3913631"/>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04</a:t>
            </a:r>
          </a:p>
        </p:txBody>
      </p:sp>
      <p:sp>
        <p:nvSpPr>
          <p:cNvPr id="43" name="TextBox 42"/>
          <p:cNvSpPr txBox="1"/>
          <p:nvPr/>
        </p:nvSpPr>
        <p:spPr>
          <a:xfrm>
            <a:off x="6830568" y="389534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Lower transmitted peak force</a:t>
            </a:r>
          </a:p>
        </p:txBody>
      </p:sp>
      <p:sp>
        <p:nvSpPr>
          <p:cNvPr id="44" name="TextBox 43"/>
          <p:cNvSpPr txBox="1"/>
          <p:nvPr/>
        </p:nvSpPr>
        <p:spPr>
          <a:xfrm>
            <a:off x="8375904" y="389534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Mechanistic hypothesis; requires vehicle-level validation.</a:t>
            </a:r>
          </a:p>
        </p:txBody>
      </p:sp>
      <p:sp>
        <p:nvSpPr>
          <p:cNvPr id="45" name="Rounded Rectangle 44"/>
          <p:cNvSpPr/>
          <p:nvPr/>
        </p:nvSpPr>
        <p:spPr>
          <a:xfrm>
            <a:off x="749808" y="5010912"/>
            <a:ext cx="10552176" cy="713232"/>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8408" y="5193792"/>
            <a:ext cx="10104120" cy="347472"/>
          </a:xfrm>
          <a:prstGeom prst="rect">
            <a:avLst/>
          </a:prstGeom>
          <a:noFill/>
        </p:spPr>
        <p:txBody>
          <a:bodyPr wrap="square" lIns="0" rIns="0" tIns="0" bIns="0" anchor="t">
            <a:spAutoFit/>
          </a:bodyPr>
          <a:lstStyle/>
          <a:p>
            <a:pPr algn="l">
              <a:lnSpc>
                <a:spcPct val="100000"/>
              </a:lnSpc>
            </a:pPr>
            <a:r>
              <a:rPr sz="1130" b="1" i="0">
                <a:solidFill>
                  <a:srgbClr val="08243A"/>
                </a:solidFill>
                <a:latin typeface="Aptos"/>
              </a:rPr>
              <a:t>Proposed inventive step: an intentionally semi-energy-absorbing rigid barrier in which the material—not only the barrier geometry—dissipates collision energy while retaining structural-grade strength.</a:t>
            </a:r>
          </a:p>
        </p:txBody>
      </p:sp>
      <p:sp>
        <p:nvSpPr>
          <p:cNvPr id="47" name="TextBox 46"/>
          <p:cNvSpPr txBox="1"/>
          <p:nvPr/>
        </p:nvSpPr>
        <p:spPr>
          <a:xfrm>
            <a:off x="749808" y="5916168"/>
            <a:ext cx="1056132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disclosure (16 Jul 2026), §§Description/Novelty/Inventiveness; Wang &amp; Wang (2013); Nadesan &amp; Dinakar (2017); Sahoo et al. (2020). Mechanism diagram is an author synthesis.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EXPERIMENTAL PROGRAMME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Evidence ladder: from constituents to a scaled barrier</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06</a:t>
            </a:r>
          </a:p>
        </p:txBody>
      </p:sp>
      <p:sp>
        <p:nvSpPr>
          <p:cNvPr id="10" name="Oval 9"/>
          <p:cNvSpPr/>
          <p:nvPr/>
        </p:nvSpPr>
        <p:spPr>
          <a:xfrm>
            <a:off x="1353312" y="1298448"/>
            <a:ext cx="493776" cy="493776"/>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01</a:t>
            </a:r>
          </a:p>
        </p:txBody>
      </p:sp>
      <p:sp>
        <p:nvSpPr>
          <p:cNvPr id="12" name="Chevron 11"/>
          <p:cNvSpPr/>
          <p:nvPr/>
        </p:nvSpPr>
        <p:spPr>
          <a:xfrm>
            <a:off x="2578608"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Constituent
characterisation</a:t>
            </a:r>
          </a:p>
        </p:txBody>
      </p:sp>
      <p:cxnSp>
        <p:nvCxnSpPr>
          <p:cNvPr id="15" name="Connector 14"/>
          <p:cNvCxnSpPr/>
          <p:nvPr/>
        </p:nvCxnSpPr>
        <p:spPr>
          <a:xfrm>
            <a:off x="868680" y="2816352"/>
            <a:ext cx="1536192" cy="0"/>
          </a:xfrm>
          <a:prstGeom prst="line">
            <a:avLst/>
          </a:prstGeom>
          <a:ln w="26670">
            <a:solidFill>
              <a:srgbClr val="2B78A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4671"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XRF, physical properties, SFA absorption, fibre geometry</a:t>
            </a:r>
          </a:p>
        </p:txBody>
      </p:sp>
      <p:sp>
        <p:nvSpPr>
          <p:cNvPr id="17" name="Oval 16"/>
          <p:cNvSpPr/>
          <p:nvPr/>
        </p:nvSpPr>
        <p:spPr>
          <a:xfrm>
            <a:off x="3621024" y="1298448"/>
            <a:ext cx="493776" cy="493776"/>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02</a:t>
            </a:r>
          </a:p>
        </p:txBody>
      </p:sp>
      <p:sp>
        <p:nvSpPr>
          <p:cNvPr id="19" name="Chevron 18"/>
          <p:cNvSpPr/>
          <p:nvPr/>
        </p:nvSpPr>
        <p:spPr>
          <a:xfrm>
            <a:off x="4846320"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907791"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44951"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Mixture
screening</a:t>
            </a:r>
          </a:p>
        </p:txBody>
      </p:sp>
      <p:cxnSp>
        <p:nvCxnSpPr>
          <p:cNvPr id="22" name="Connector 21"/>
          <p:cNvCxnSpPr/>
          <p:nvPr/>
        </p:nvCxnSpPr>
        <p:spPr>
          <a:xfrm>
            <a:off x="3136391" y="2816352"/>
            <a:ext cx="1536192" cy="0"/>
          </a:xfrm>
          <a:prstGeom prst="line">
            <a:avLst/>
          </a:prstGeom>
          <a:ln w="26670">
            <a:solidFill>
              <a:srgbClr val="22B8C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72384"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NWC + 4 LWC variants; 0–1.5% fibre by volume</a:t>
            </a:r>
          </a:p>
        </p:txBody>
      </p:sp>
      <p:sp>
        <p:nvSpPr>
          <p:cNvPr id="24" name="Oval 23"/>
          <p:cNvSpPr/>
          <p:nvPr/>
        </p:nvSpPr>
        <p:spPr>
          <a:xfrm>
            <a:off x="5888736" y="1298448"/>
            <a:ext cx="493776" cy="493776"/>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03</a:t>
            </a:r>
          </a:p>
        </p:txBody>
      </p:sp>
      <p:sp>
        <p:nvSpPr>
          <p:cNvPr id="26" name="Chevron 25"/>
          <p:cNvSpPr/>
          <p:nvPr/>
        </p:nvSpPr>
        <p:spPr>
          <a:xfrm>
            <a:off x="7114032"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75504"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2664"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Static
performance</a:t>
            </a:r>
          </a:p>
        </p:txBody>
      </p:sp>
      <p:cxnSp>
        <p:nvCxnSpPr>
          <p:cNvPr id="29" name="Connector 28"/>
          <p:cNvCxnSpPr/>
          <p:nvPr/>
        </p:nvCxnSpPr>
        <p:spPr>
          <a:xfrm>
            <a:off x="5404104" y="2816352"/>
            <a:ext cx="1536192" cy="0"/>
          </a:xfrm>
          <a:prstGeom prst="line">
            <a:avLst/>
          </a:prstGeom>
          <a:ln w="26670">
            <a:solidFill>
              <a:srgbClr val="178D8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340096"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Reported density, slump, 28 d compression and split tension</a:t>
            </a:r>
          </a:p>
        </p:txBody>
      </p:sp>
      <p:sp>
        <p:nvSpPr>
          <p:cNvPr id="31" name="Oval 30"/>
          <p:cNvSpPr/>
          <p:nvPr/>
        </p:nvSpPr>
        <p:spPr>
          <a:xfrm>
            <a:off x="8156447" y="1298448"/>
            <a:ext cx="493776" cy="493776"/>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56447"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04</a:t>
            </a:r>
          </a:p>
        </p:txBody>
      </p:sp>
      <p:sp>
        <p:nvSpPr>
          <p:cNvPr id="33" name="Chevron 32"/>
          <p:cNvSpPr/>
          <p:nvPr/>
        </p:nvSpPr>
        <p:spPr>
          <a:xfrm>
            <a:off x="9381743"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443215"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80375"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Repeated
impact</a:t>
            </a:r>
          </a:p>
        </p:txBody>
      </p:sp>
      <p:cxnSp>
        <p:nvCxnSpPr>
          <p:cNvPr id="36" name="Connector 35"/>
          <p:cNvCxnSpPr/>
          <p:nvPr/>
        </p:nvCxnSpPr>
        <p:spPr>
          <a:xfrm>
            <a:off x="7671815" y="2816352"/>
            <a:ext cx="1536192" cy="0"/>
          </a:xfrm>
          <a:prstGeom prst="line">
            <a:avLst/>
          </a:prstGeom>
          <a:ln w="26670">
            <a:solidFill>
              <a:srgbClr val="F39C3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07807"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13.5 kg drop hammer; N₁/N₂, energy, acceleration → displacement</a:t>
            </a:r>
          </a:p>
        </p:txBody>
      </p:sp>
      <p:sp>
        <p:nvSpPr>
          <p:cNvPr id="38" name="Oval 37"/>
          <p:cNvSpPr/>
          <p:nvPr/>
        </p:nvSpPr>
        <p:spPr>
          <a:xfrm>
            <a:off x="10424159" y="1298448"/>
            <a:ext cx="493776" cy="493776"/>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24159"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05</a:t>
            </a:r>
          </a:p>
        </p:txBody>
      </p:sp>
      <p:sp>
        <p:nvSpPr>
          <p:cNvPr id="40" name="Rounded Rectangle 39"/>
          <p:cNvSpPr/>
          <p:nvPr/>
        </p:nvSpPr>
        <p:spPr>
          <a:xfrm>
            <a:off x="9710928"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48088"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Barrier-scale
validation</a:t>
            </a:r>
          </a:p>
        </p:txBody>
      </p:sp>
      <p:cxnSp>
        <p:nvCxnSpPr>
          <p:cNvPr id="42" name="Connector 41"/>
          <p:cNvCxnSpPr/>
          <p:nvPr/>
        </p:nvCxnSpPr>
        <p:spPr>
          <a:xfrm>
            <a:off x="9939528" y="2816352"/>
            <a:ext cx="1536191" cy="0"/>
          </a:xfrm>
          <a:prstGeom prst="line">
            <a:avLst/>
          </a:prstGeom>
          <a:ln w="26670">
            <a:solidFill>
              <a:srgbClr val="D95D5D"/>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875519"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1:3 New Jersey models; 40 kg pendulum; NWC vs LWC15</a:t>
            </a:r>
          </a:p>
        </p:txBody>
      </p:sp>
      <p:sp>
        <p:nvSpPr>
          <p:cNvPr id="44" name="Rounded Rectangle 43"/>
          <p:cNvSpPr/>
          <p:nvPr/>
        </p:nvSpPr>
        <p:spPr>
          <a:xfrm>
            <a:off x="749808" y="4462272"/>
            <a:ext cx="10607040" cy="1051560"/>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1832" y="4681728"/>
            <a:ext cx="2057400" cy="274320"/>
          </a:xfrm>
          <a:prstGeom prst="rect">
            <a:avLst/>
          </a:prstGeom>
          <a:noFill/>
        </p:spPr>
        <p:txBody>
          <a:bodyPr wrap="square" lIns="0" rIns="0" tIns="0" bIns="0" anchor="t">
            <a:spAutoFit/>
          </a:bodyPr>
          <a:lstStyle/>
          <a:p>
            <a:pPr algn="l">
              <a:lnSpc>
                <a:spcPct val="100000"/>
              </a:lnSpc>
            </a:pPr>
            <a:r>
              <a:rPr sz="900" b="1" i="0">
                <a:solidFill>
                  <a:srgbClr val="D95D5D"/>
                </a:solidFill>
                <a:latin typeface="Aptos"/>
              </a:rPr>
              <a:t>REPLICATION / UNCERTAINTY</a:t>
            </a:r>
          </a:p>
        </p:txBody>
      </p:sp>
      <p:sp>
        <p:nvSpPr>
          <p:cNvPr id="46" name="TextBox 45"/>
          <p:cNvSpPr txBox="1"/>
          <p:nvPr/>
        </p:nvSpPr>
        <p:spPr>
          <a:xfrm>
            <a:off x="2907792" y="4590288"/>
            <a:ext cx="8183879" cy="640080"/>
          </a:xfrm>
          <a:prstGeom prst="rect">
            <a:avLst/>
          </a:prstGeom>
          <a:noFill/>
        </p:spPr>
        <p:txBody>
          <a:bodyPr wrap="square" lIns="0" rIns="0" tIns="0" bIns="0" anchor="t">
            <a:spAutoFit/>
          </a:bodyPr>
          <a:lstStyle/>
          <a:p>
            <a:pPr algn="l">
              <a:lnSpc>
                <a:spcPct val="100000"/>
              </a:lnSpc>
            </a:pPr>
            <a:r>
              <a:rPr sz="1070" b="1" i="0">
                <a:solidFill>
                  <a:srgbClr val="172733"/>
                </a:solidFill>
                <a:latin typeface="Aptos"/>
              </a:rPr>
              <a:t>The methods report 3 cubes + 3 cylinders per mix and 4 beams cast per mix; impact tables do not report dispersion for N₁/N₂. Barrier validation used one specimen per material. Treat barrier-scale effect sizes as preliminary, not population estimates.</a:t>
            </a:r>
          </a:p>
        </p:txBody>
      </p:sp>
      <p:sp>
        <p:nvSpPr>
          <p:cNvPr id="47" name="TextBox 46"/>
          <p:cNvSpPr txBox="1"/>
          <p:nvPr/>
        </p:nvSpPr>
        <p:spPr>
          <a:xfrm>
            <a:off x="749808" y="580644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Al-Amir et al. manuscript, Experimental Program and Testing Methods; inventor disclosure, Experimental Data Analysis. Sample-count interpretation is based on the stated casting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TESTED EMBODIMENTS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Tested material design: a fibre-content performance ladder</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07</a:t>
            </a:r>
          </a:p>
        </p:txBody>
      </p:sp>
      <p:graphicFrame>
        <p:nvGraphicFramePr>
          <p:cNvPr id="10" name="Table 9"/>
          <p:cNvGraphicFramePr>
            <a:graphicFrameLocks noGrp="1"/>
          </p:cNvGraphicFramePr>
          <p:nvPr/>
        </p:nvGraphicFramePr>
        <p:xfrm>
          <a:off x="658368" y="1216152"/>
          <a:ext cx="8046717" cy="3273552"/>
        </p:xfrm>
        <a:graphic>
          <a:graphicData uri="http://schemas.openxmlformats.org/drawingml/2006/table">
            <a:tbl>
              <a:tblPr firstRow="1" bandRow="1">
                <a:tableStyleId>{5C22544A-7EE6-4342-B048-85BDC9FD1C3A}</a:tableStyleId>
              </a:tblPr>
              <a:tblGrid>
                <a:gridCol w="838200"/>
                <a:gridCol w="838200"/>
                <a:gridCol w="782319"/>
                <a:gridCol w="871727"/>
                <a:gridCol w="983488"/>
                <a:gridCol w="1139952"/>
                <a:gridCol w="871727"/>
                <a:gridCol w="1028192"/>
                <a:gridCol w="692912"/>
              </a:tblGrid>
              <a:tr h="545592">
                <a:tc>
                  <a:txBody>
                    <a:bodyPr/>
                    <a:lstStyle/>
                    <a:p>
                      <a:pPr algn="l"/>
                      <a:r>
                        <a:rPr sz="780" b="1" i="0">
                          <a:solidFill>
                            <a:srgbClr val="FFFFFF"/>
                          </a:solidFill>
                          <a:latin typeface="Aptos"/>
                        </a:rPr>
                        <a:t>Mix</a:t>
                      </a:r>
                    </a:p>
                  </a:txBody>
                  <a:tcPr marL="36576" marR="36576" marT="27432" marB="27432" anchor="ctr">
                    <a:solidFill>
                      <a:srgbClr val="08243A"/>
                    </a:solidFill>
                  </a:tcPr>
                </a:tc>
                <a:tc>
                  <a:txBody>
                    <a:bodyPr/>
                    <a:lstStyle/>
                    <a:p>
                      <a:pPr algn="ctr"/>
                      <a:r>
                        <a:rPr sz="780" b="1" i="0">
                          <a:solidFill>
                            <a:srgbClr val="FFFFFF"/>
                          </a:solidFill>
                          <a:latin typeface="Aptos"/>
                        </a:rPr>
                        <a:t>OPC</a:t>
                      </a:r>
                    </a:p>
                  </a:txBody>
                  <a:tcPr marL="36576" marR="36576" marT="27432" marB="27432" anchor="ctr">
                    <a:solidFill>
                      <a:srgbClr val="08243A"/>
                    </a:solidFill>
                  </a:tcPr>
                </a:tc>
                <a:tc>
                  <a:txBody>
                    <a:bodyPr/>
                    <a:lstStyle/>
                    <a:p>
                      <a:pPr algn="ctr"/>
                      <a:r>
                        <a:rPr sz="780" b="1" i="0">
                          <a:solidFill>
                            <a:srgbClr val="FFFFFF"/>
                          </a:solidFill>
                          <a:latin typeface="Aptos"/>
                        </a:rPr>
                        <a:t>GGBS</a:t>
                      </a:r>
                    </a:p>
                  </a:txBody>
                  <a:tcPr marL="36576" marR="36576" marT="27432" marB="27432" anchor="ctr">
                    <a:solidFill>
                      <a:srgbClr val="08243A"/>
                    </a:solidFill>
                  </a:tcPr>
                </a:tc>
                <a:tc>
                  <a:txBody>
                    <a:bodyPr/>
                    <a:lstStyle/>
                    <a:p>
                      <a:pPr algn="ctr"/>
                      <a:r>
                        <a:rPr sz="780" b="1" i="0">
                          <a:solidFill>
                            <a:srgbClr val="FFFFFF"/>
                          </a:solidFill>
                          <a:latin typeface="Aptos"/>
                        </a:rPr>
                        <a:t>Water</a:t>
                      </a:r>
                    </a:p>
                  </a:txBody>
                  <a:tcPr marL="36576" marR="36576" marT="27432" marB="27432" anchor="ctr">
                    <a:solidFill>
                      <a:srgbClr val="08243A"/>
                    </a:solidFill>
                  </a:tcPr>
                </a:tc>
                <a:tc>
                  <a:txBody>
                    <a:bodyPr/>
                    <a:lstStyle/>
                    <a:p>
                      <a:pPr algn="ctr"/>
                      <a:r>
                        <a:rPr sz="780" b="1" i="0">
                          <a:solidFill>
                            <a:srgbClr val="FFFFFF"/>
                          </a:solidFill>
                          <a:latin typeface="Aptos"/>
                        </a:rPr>
                        <a:t>Fine agg.</a:t>
                      </a:r>
                    </a:p>
                  </a:txBody>
                  <a:tcPr marL="36576" marR="36576" marT="27432" marB="27432" anchor="ctr">
                    <a:solidFill>
                      <a:srgbClr val="08243A"/>
                    </a:solidFill>
                  </a:tcPr>
                </a:tc>
                <a:tc>
                  <a:txBody>
                    <a:bodyPr/>
                    <a:lstStyle/>
                    <a:p>
                      <a:pPr algn="ctr"/>
                      <a:r>
                        <a:rPr sz="780" b="1" i="0">
                          <a:solidFill>
                            <a:srgbClr val="FFFFFF"/>
                          </a:solidFill>
                          <a:latin typeface="Aptos"/>
                        </a:rPr>
                        <a:t>Nat. coarse</a:t>
                      </a:r>
                    </a:p>
                  </a:txBody>
                  <a:tcPr marL="36576" marR="36576" marT="27432" marB="27432" anchor="ctr">
                    <a:solidFill>
                      <a:srgbClr val="08243A"/>
                    </a:solidFill>
                  </a:tcPr>
                </a:tc>
                <a:tc>
                  <a:txBody>
                    <a:bodyPr/>
                    <a:lstStyle/>
                    <a:p>
                      <a:pPr algn="ctr"/>
                      <a:r>
                        <a:rPr sz="780" b="1" i="0">
                          <a:solidFill>
                            <a:srgbClr val="FFFFFF"/>
                          </a:solidFill>
                          <a:latin typeface="Aptos"/>
                        </a:rPr>
                        <a:t>SFA</a:t>
                      </a:r>
                    </a:p>
                  </a:txBody>
                  <a:tcPr marL="36576" marR="36576" marT="27432" marB="27432" anchor="ctr">
                    <a:solidFill>
                      <a:srgbClr val="08243A"/>
                    </a:solidFill>
                  </a:tcPr>
                </a:tc>
                <a:tc>
                  <a:txBody>
                    <a:bodyPr/>
                    <a:lstStyle/>
                    <a:p>
                      <a:pPr algn="ctr"/>
                      <a:r>
                        <a:rPr sz="780" b="1" i="0">
                          <a:solidFill>
                            <a:srgbClr val="FFFFFF"/>
                          </a:solidFill>
                          <a:latin typeface="Aptos"/>
                        </a:rPr>
                        <a:t>Steel fibre</a:t>
                      </a:r>
                    </a:p>
                  </a:txBody>
                  <a:tcPr marL="36576" marR="36576" marT="27432" marB="27432" anchor="ctr">
                    <a:solidFill>
                      <a:srgbClr val="08243A"/>
                    </a:solidFill>
                  </a:tcPr>
                </a:tc>
                <a:tc>
                  <a:txBody>
                    <a:bodyPr/>
                    <a:lstStyle/>
                    <a:p>
                      <a:pPr algn="ctr"/>
                      <a:r>
                        <a:rPr sz="780" b="1" i="0">
                          <a:solidFill>
                            <a:srgbClr val="FFFFFF"/>
                          </a:solidFill>
                          <a:latin typeface="Aptos"/>
                        </a:rPr>
                        <a:t>PCE</a:t>
                      </a:r>
                    </a:p>
                  </a:txBody>
                  <a:tcPr marL="36576" marR="36576" marT="27432" marB="27432" anchor="ctr">
                    <a:solidFill>
                      <a:srgbClr val="08243A"/>
                    </a:solidFill>
                  </a:tcPr>
                </a:tc>
              </a:tr>
              <a:tr h="545592">
                <a:tc>
                  <a:txBody>
                    <a:bodyPr/>
                    <a:lstStyle/>
                    <a:p>
                      <a:pPr algn="l"/>
                      <a:r>
                        <a:rPr sz="800" b="1" i="0">
                          <a:solidFill>
                            <a:srgbClr val="172733"/>
                          </a:solidFill>
                          <a:latin typeface="Aptos"/>
                        </a:rPr>
                        <a:t>NWC</a:t>
                      </a:r>
                    </a:p>
                  </a:txBody>
                  <a:tcPr marL="36576" marR="36576" marT="27432" marB="27432" anchor="ctr">
                    <a:solidFill>
                      <a:srgbClr val="FFFFFF"/>
                    </a:solidFill>
                  </a:tcPr>
                </a:tc>
                <a:tc>
                  <a:txBody>
                    <a:bodyPr/>
                    <a:lstStyle/>
                    <a:p>
                      <a:pPr algn="ctr"/>
                      <a:r>
                        <a:rPr sz="800" b="0" i="0">
                          <a:solidFill>
                            <a:srgbClr val="172733"/>
                          </a:solidFill>
                          <a:latin typeface="Aptos"/>
                        </a:rPr>
                        <a:t>338.8</a:t>
                      </a:r>
                    </a:p>
                  </a:txBody>
                  <a:tcPr marL="36576" marR="36576" marT="27432" marB="27432" anchor="ctr">
                    <a:solidFill>
                      <a:srgbClr val="FFFFFF"/>
                    </a:solidFill>
                  </a:tcPr>
                </a:tc>
                <a:tc>
                  <a:txBody>
                    <a:bodyPr/>
                    <a:lstStyle/>
                    <a:p>
                      <a:pPr algn="ctr"/>
                      <a:r>
                        <a:rPr sz="800" b="0" i="0">
                          <a:solidFill>
                            <a:srgbClr val="172733"/>
                          </a:solidFill>
                          <a:latin typeface="Aptos"/>
                        </a:rPr>
                        <a:t>87.4</a:t>
                      </a:r>
                    </a:p>
                  </a:txBody>
                  <a:tcPr marL="36576" marR="36576" marT="27432" marB="27432" anchor="ctr">
                    <a:solidFill>
                      <a:srgbClr val="FFFFFF"/>
                    </a:solidFill>
                  </a:tcPr>
                </a:tc>
                <a:tc>
                  <a:txBody>
                    <a:bodyPr/>
                    <a:lstStyle/>
                    <a:p>
                      <a:pPr algn="ctr"/>
                      <a:r>
                        <a:rPr sz="800" b="0" i="0">
                          <a:solidFill>
                            <a:srgbClr val="172733"/>
                          </a:solidFill>
                          <a:latin typeface="Aptos"/>
                        </a:rPr>
                        <a:t>173.6</a:t>
                      </a:r>
                    </a:p>
                  </a:txBody>
                  <a:tcPr marL="36576" marR="36576" marT="27432" marB="27432" anchor="ctr">
                    <a:solidFill>
                      <a:srgbClr val="FFFFFF"/>
                    </a:solidFill>
                  </a:tcPr>
                </a:tc>
                <a:tc>
                  <a:txBody>
                    <a:bodyPr/>
                    <a:lstStyle/>
                    <a:p>
                      <a:pPr algn="ctr"/>
                      <a:r>
                        <a:rPr sz="800" b="0" i="0">
                          <a:solidFill>
                            <a:srgbClr val="172733"/>
                          </a:solidFill>
                          <a:latin typeface="Aptos"/>
                        </a:rPr>
                        <a:t>795.6</a:t>
                      </a:r>
                    </a:p>
                  </a:txBody>
                  <a:tcPr marL="36576" marR="36576" marT="27432" marB="27432" anchor="ctr">
                    <a:solidFill>
                      <a:srgbClr val="FFFFFF"/>
                    </a:solidFill>
                  </a:tcPr>
                </a:tc>
                <a:tc>
                  <a:txBody>
                    <a:bodyPr/>
                    <a:lstStyle/>
                    <a:p>
                      <a:pPr algn="ctr"/>
                      <a:r>
                        <a:rPr sz="800" b="0" i="0">
                          <a:solidFill>
                            <a:srgbClr val="172733"/>
                          </a:solidFill>
                          <a:latin typeface="Aptos"/>
                        </a:rPr>
                        <a:t>948.8</a:t>
                      </a:r>
                    </a:p>
                  </a:txBody>
                  <a:tcPr marL="36576" marR="36576" marT="27432" marB="27432" anchor="ctr">
                    <a:solidFill>
                      <a:srgbClr val="FFFFFF"/>
                    </a:solidFill>
                  </a:tcPr>
                </a:tc>
                <a:tc>
                  <a:txBody>
                    <a:bodyPr/>
                    <a:lstStyle/>
                    <a:p>
                      <a:pPr algn="ctr"/>
                      <a:r>
                        <a:rPr sz="800" b="0" i="0">
                          <a:solidFill>
                            <a:srgbClr val="172733"/>
                          </a:solidFill>
                          <a:latin typeface="Aptos"/>
                        </a:rPr>
                        <a:t>—</a:t>
                      </a:r>
                    </a:p>
                  </a:txBody>
                  <a:tcPr marL="36576" marR="36576" marT="27432" marB="27432" anchor="ctr">
                    <a:solidFill>
                      <a:srgbClr val="FFFFFF"/>
                    </a:solidFill>
                  </a:tcPr>
                </a:tc>
                <a:tc>
                  <a:txBody>
                    <a:bodyPr/>
                    <a:lstStyle/>
                    <a:p>
                      <a:pPr algn="ctr"/>
                      <a:r>
                        <a:rPr sz="800" b="0" i="0">
                          <a:solidFill>
                            <a:srgbClr val="172733"/>
                          </a:solidFill>
                          <a:latin typeface="Aptos"/>
                        </a:rPr>
                        <a:t>—</a:t>
                      </a:r>
                    </a:p>
                  </a:txBody>
                  <a:tcPr marL="36576" marR="36576" marT="27432" marB="27432" anchor="ctr">
                    <a:solidFill>
                      <a:srgbClr val="FFFFFF"/>
                    </a:solidFill>
                  </a:tcPr>
                </a:tc>
                <a:tc>
                  <a:txBody>
                    <a:bodyPr/>
                    <a:lstStyle/>
                    <a:p>
                      <a:pPr algn="ctr"/>
                      <a:r>
                        <a:rPr sz="800" b="0" i="0">
                          <a:solidFill>
                            <a:srgbClr val="172733"/>
                          </a:solidFill>
                          <a:latin typeface="Aptos"/>
                        </a:rPr>
                        <a:t>1.9</a:t>
                      </a:r>
                    </a:p>
                  </a:txBody>
                  <a:tcPr marL="36576" marR="36576" marT="27432" marB="27432" anchor="ctr">
                    <a:solidFill>
                      <a:srgbClr val="FFFFFF"/>
                    </a:solidFill>
                  </a:tcPr>
                </a:tc>
              </a:tr>
              <a:tr h="545592">
                <a:tc>
                  <a:txBody>
                    <a:bodyPr/>
                    <a:lstStyle/>
                    <a:p>
                      <a:pPr algn="l"/>
                      <a:r>
                        <a:rPr sz="800" b="1" i="0">
                          <a:solidFill>
                            <a:srgbClr val="172733"/>
                          </a:solidFill>
                          <a:latin typeface="Aptos"/>
                        </a:rPr>
                        <a:t>LWC00</a:t>
                      </a:r>
                    </a:p>
                  </a:txBody>
                  <a:tcPr marL="36576" marR="36576" marT="27432" marB="27432" anchor="ctr">
                    <a:solidFill>
                      <a:srgbClr val="F8FAFB"/>
                    </a:solidFill>
                  </a:tcPr>
                </a:tc>
                <a:tc>
                  <a:txBody>
                    <a:bodyPr/>
                    <a:lstStyle/>
                    <a:p>
                      <a:pPr algn="ctr"/>
                      <a:r>
                        <a:rPr sz="800" b="0" i="0">
                          <a:solidFill>
                            <a:srgbClr val="172733"/>
                          </a:solidFill>
                          <a:latin typeface="Aptos"/>
                        </a:rPr>
                        <a:t>422.4</a:t>
                      </a:r>
                    </a:p>
                  </a:txBody>
                  <a:tcPr marL="36576" marR="36576" marT="27432" marB="27432" anchor="ctr">
                    <a:solidFill>
                      <a:srgbClr val="F8FAFB"/>
                    </a:solidFill>
                  </a:tcPr>
                </a:tc>
                <a:tc>
                  <a:txBody>
                    <a:bodyPr/>
                    <a:lstStyle/>
                    <a:p>
                      <a:pPr algn="ctr"/>
                      <a:r>
                        <a:rPr sz="800" b="0" i="0">
                          <a:solidFill>
                            <a:srgbClr val="172733"/>
                          </a:solidFill>
                          <a:latin typeface="Aptos"/>
                        </a:rPr>
                        <a:t>105.6</a:t>
                      </a:r>
                    </a:p>
                  </a:txBody>
                  <a:tcPr marL="36576" marR="36576" marT="27432" marB="27432" anchor="ctr">
                    <a:solidFill>
                      <a:srgbClr val="F8FAFB"/>
                    </a:solidFill>
                  </a:tcPr>
                </a:tc>
                <a:tc>
                  <a:txBody>
                    <a:bodyPr/>
                    <a:lstStyle/>
                    <a:p>
                      <a:pPr algn="ctr"/>
                      <a:r>
                        <a:rPr sz="800" b="0" i="0">
                          <a:solidFill>
                            <a:srgbClr val="172733"/>
                          </a:solidFill>
                          <a:latin typeface="Aptos"/>
                        </a:rPr>
                        <a:t>195.2</a:t>
                      </a:r>
                    </a:p>
                  </a:txBody>
                  <a:tcPr marL="36576" marR="36576" marT="27432" marB="27432" anchor="ctr">
                    <a:solidFill>
                      <a:srgbClr val="F8FAFB"/>
                    </a:solidFill>
                  </a:tcPr>
                </a:tc>
                <a:tc>
                  <a:txBody>
                    <a:bodyPr/>
                    <a:lstStyle/>
                    <a:p>
                      <a:pPr algn="ctr"/>
                      <a:r>
                        <a:rPr sz="800" b="0" i="0">
                          <a:solidFill>
                            <a:srgbClr val="172733"/>
                          </a:solidFill>
                          <a:latin typeface="Aptos"/>
                        </a:rPr>
                        <a:t>466.5</a:t>
                      </a:r>
                    </a:p>
                  </a:txBody>
                  <a:tcPr marL="36576" marR="36576" marT="27432" marB="27432" anchor="ctr">
                    <a:solidFill>
                      <a:srgbClr val="F8FAFB"/>
                    </a:solidFill>
                  </a:tcPr>
                </a:tc>
                <a:tc>
                  <a:txBody>
                    <a:bodyPr/>
                    <a:lstStyle/>
                    <a:p>
                      <a:pPr algn="ctr"/>
                      <a:r>
                        <a:rPr sz="800" b="0" i="0">
                          <a:solidFill>
                            <a:srgbClr val="172733"/>
                          </a:solidFill>
                          <a:latin typeface="Aptos"/>
                        </a:rPr>
                        <a:t>—</a:t>
                      </a:r>
                    </a:p>
                  </a:txBody>
                  <a:tcPr marL="36576" marR="36576" marT="27432" marB="27432" anchor="ctr">
                    <a:solidFill>
                      <a:srgbClr val="F8FAFB"/>
                    </a:solidFill>
                  </a:tcPr>
                </a:tc>
                <a:tc>
                  <a:txBody>
                    <a:bodyPr/>
                    <a:lstStyle/>
                    <a:p>
                      <a:pPr algn="ctr"/>
                      <a:r>
                        <a:rPr sz="800" b="0" i="0">
                          <a:solidFill>
                            <a:srgbClr val="172733"/>
                          </a:solidFill>
                          <a:latin typeface="Aptos"/>
                        </a:rPr>
                        <a:t>596.3</a:t>
                      </a:r>
                    </a:p>
                  </a:txBody>
                  <a:tcPr marL="36576" marR="36576" marT="27432" marB="27432" anchor="ctr">
                    <a:solidFill>
                      <a:srgbClr val="F8FAFB"/>
                    </a:solidFill>
                  </a:tcPr>
                </a:tc>
                <a:tc>
                  <a:txBody>
                    <a:bodyPr/>
                    <a:lstStyle/>
                    <a:p>
                      <a:pPr algn="ctr"/>
                      <a:r>
                        <a:rPr sz="800" b="0" i="0">
                          <a:solidFill>
                            <a:srgbClr val="172733"/>
                          </a:solidFill>
                          <a:latin typeface="Aptos"/>
                        </a:rPr>
                        <a:t>—</a:t>
                      </a:r>
                    </a:p>
                  </a:txBody>
                  <a:tcPr marL="36576" marR="36576" marT="27432" marB="27432" anchor="ctr">
                    <a:solidFill>
                      <a:srgbClr val="F8FAFB"/>
                    </a:solidFill>
                  </a:tcPr>
                </a:tc>
                <a:tc>
                  <a:txBody>
                    <a:bodyPr/>
                    <a:lstStyle/>
                    <a:p>
                      <a:pPr algn="ctr"/>
                      <a:r>
                        <a:rPr sz="800" b="0" i="0">
                          <a:solidFill>
                            <a:srgbClr val="172733"/>
                          </a:solidFill>
                          <a:latin typeface="Aptos"/>
                        </a:rPr>
                        <a:t>2.8</a:t>
                      </a:r>
                    </a:p>
                  </a:txBody>
                  <a:tcPr marL="36576" marR="36576" marT="27432" marB="27432" anchor="ctr">
                    <a:solidFill>
                      <a:srgbClr val="F8FAFB"/>
                    </a:solidFill>
                  </a:tcPr>
                </a:tc>
              </a:tr>
              <a:tr h="545592">
                <a:tc>
                  <a:txBody>
                    <a:bodyPr/>
                    <a:lstStyle/>
                    <a:p>
                      <a:pPr algn="l"/>
                      <a:r>
                        <a:rPr sz="800" b="1" i="0">
                          <a:solidFill>
                            <a:srgbClr val="172733"/>
                          </a:solidFill>
                          <a:latin typeface="Aptos"/>
                        </a:rPr>
                        <a:t>LWC05</a:t>
                      </a:r>
                    </a:p>
                  </a:txBody>
                  <a:tcPr marL="36576" marR="36576" marT="27432" marB="27432" anchor="ctr">
                    <a:solidFill>
                      <a:srgbClr val="FFFFFF"/>
                    </a:solidFill>
                  </a:tcPr>
                </a:tc>
                <a:tc>
                  <a:txBody>
                    <a:bodyPr/>
                    <a:lstStyle/>
                    <a:p>
                      <a:pPr algn="ctr"/>
                      <a:r>
                        <a:rPr sz="800" b="0" i="0">
                          <a:solidFill>
                            <a:srgbClr val="172733"/>
                          </a:solidFill>
                          <a:latin typeface="Aptos"/>
                        </a:rPr>
                        <a:t>422.4</a:t>
                      </a:r>
                    </a:p>
                  </a:txBody>
                  <a:tcPr marL="36576" marR="36576" marT="27432" marB="27432" anchor="ctr">
                    <a:solidFill>
                      <a:srgbClr val="FFFFFF"/>
                    </a:solidFill>
                  </a:tcPr>
                </a:tc>
                <a:tc>
                  <a:txBody>
                    <a:bodyPr/>
                    <a:lstStyle/>
                    <a:p>
                      <a:pPr algn="ctr"/>
                      <a:r>
                        <a:rPr sz="800" b="0" i="0">
                          <a:solidFill>
                            <a:srgbClr val="172733"/>
                          </a:solidFill>
                          <a:latin typeface="Aptos"/>
                        </a:rPr>
                        <a:t>105.6</a:t>
                      </a:r>
                    </a:p>
                  </a:txBody>
                  <a:tcPr marL="36576" marR="36576" marT="27432" marB="27432" anchor="ctr">
                    <a:solidFill>
                      <a:srgbClr val="FFFFFF"/>
                    </a:solidFill>
                  </a:tcPr>
                </a:tc>
                <a:tc>
                  <a:txBody>
                    <a:bodyPr/>
                    <a:lstStyle/>
                    <a:p>
                      <a:pPr algn="ctr"/>
                      <a:r>
                        <a:rPr sz="800" b="0" i="0">
                          <a:solidFill>
                            <a:srgbClr val="172733"/>
                          </a:solidFill>
                          <a:latin typeface="Aptos"/>
                        </a:rPr>
                        <a:t>195.2</a:t>
                      </a:r>
                    </a:p>
                  </a:txBody>
                  <a:tcPr marL="36576" marR="36576" marT="27432" marB="27432" anchor="ctr">
                    <a:solidFill>
                      <a:srgbClr val="FFFFFF"/>
                    </a:solidFill>
                  </a:tcPr>
                </a:tc>
                <a:tc>
                  <a:txBody>
                    <a:bodyPr/>
                    <a:lstStyle/>
                    <a:p>
                      <a:pPr algn="ctr"/>
                      <a:r>
                        <a:rPr sz="800" b="0" i="0">
                          <a:solidFill>
                            <a:srgbClr val="172733"/>
                          </a:solidFill>
                          <a:latin typeface="Aptos"/>
                        </a:rPr>
                        <a:t>466.5</a:t>
                      </a:r>
                    </a:p>
                  </a:txBody>
                  <a:tcPr marL="36576" marR="36576" marT="27432" marB="27432" anchor="ctr">
                    <a:solidFill>
                      <a:srgbClr val="FFFFFF"/>
                    </a:solidFill>
                  </a:tcPr>
                </a:tc>
                <a:tc>
                  <a:txBody>
                    <a:bodyPr/>
                    <a:lstStyle/>
                    <a:p>
                      <a:pPr algn="ctr"/>
                      <a:r>
                        <a:rPr sz="800" b="0" i="0">
                          <a:solidFill>
                            <a:srgbClr val="172733"/>
                          </a:solidFill>
                          <a:latin typeface="Aptos"/>
                        </a:rPr>
                        <a:t>—</a:t>
                      </a:r>
                    </a:p>
                  </a:txBody>
                  <a:tcPr marL="36576" marR="36576" marT="27432" marB="27432" anchor="ctr">
                    <a:solidFill>
                      <a:srgbClr val="FFFFFF"/>
                    </a:solidFill>
                  </a:tcPr>
                </a:tc>
                <a:tc>
                  <a:txBody>
                    <a:bodyPr/>
                    <a:lstStyle/>
                    <a:p>
                      <a:pPr algn="ctr"/>
                      <a:r>
                        <a:rPr sz="800" b="0" i="0">
                          <a:solidFill>
                            <a:srgbClr val="172733"/>
                          </a:solidFill>
                          <a:latin typeface="Aptos"/>
                        </a:rPr>
                        <a:t>596.3</a:t>
                      </a:r>
                    </a:p>
                  </a:txBody>
                  <a:tcPr marL="36576" marR="36576" marT="27432" marB="27432" anchor="ctr">
                    <a:solidFill>
                      <a:srgbClr val="FFFFFF"/>
                    </a:solidFill>
                  </a:tcPr>
                </a:tc>
                <a:tc>
                  <a:txBody>
                    <a:bodyPr/>
                    <a:lstStyle/>
                    <a:p>
                      <a:pPr algn="ctr"/>
                      <a:r>
                        <a:rPr sz="800" b="0" i="0">
                          <a:solidFill>
                            <a:srgbClr val="172733"/>
                          </a:solidFill>
                          <a:latin typeface="Aptos"/>
                        </a:rPr>
                        <a:t>39.2</a:t>
                      </a:r>
                    </a:p>
                  </a:txBody>
                  <a:tcPr marL="36576" marR="36576" marT="27432" marB="27432" anchor="ctr">
                    <a:solidFill>
                      <a:srgbClr val="FFFFFF"/>
                    </a:solidFill>
                  </a:tcPr>
                </a:tc>
                <a:tc>
                  <a:txBody>
                    <a:bodyPr/>
                    <a:lstStyle/>
                    <a:p>
                      <a:pPr algn="ctr"/>
                      <a:r>
                        <a:rPr sz="800" b="0" i="0">
                          <a:solidFill>
                            <a:srgbClr val="172733"/>
                          </a:solidFill>
                          <a:latin typeface="Aptos"/>
                        </a:rPr>
                        <a:t>2.8</a:t>
                      </a:r>
                    </a:p>
                  </a:txBody>
                  <a:tcPr marL="36576" marR="36576" marT="27432" marB="27432" anchor="ctr">
                    <a:solidFill>
                      <a:srgbClr val="FFFFFF"/>
                    </a:solidFill>
                  </a:tcPr>
                </a:tc>
              </a:tr>
              <a:tr h="545592">
                <a:tc>
                  <a:txBody>
                    <a:bodyPr/>
                    <a:lstStyle/>
                    <a:p>
                      <a:pPr algn="l"/>
                      <a:r>
                        <a:rPr sz="800" b="1" i="0">
                          <a:solidFill>
                            <a:srgbClr val="172733"/>
                          </a:solidFill>
                          <a:latin typeface="Aptos"/>
                        </a:rPr>
                        <a:t>LWC10</a:t>
                      </a:r>
                    </a:p>
                  </a:txBody>
                  <a:tcPr marL="36576" marR="36576" marT="27432" marB="27432" anchor="ctr">
                    <a:solidFill>
                      <a:srgbClr val="F8FAFB"/>
                    </a:solidFill>
                  </a:tcPr>
                </a:tc>
                <a:tc>
                  <a:txBody>
                    <a:bodyPr/>
                    <a:lstStyle/>
                    <a:p>
                      <a:pPr algn="ctr"/>
                      <a:r>
                        <a:rPr sz="800" b="0" i="0">
                          <a:solidFill>
                            <a:srgbClr val="172733"/>
                          </a:solidFill>
                          <a:latin typeface="Aptos"/>
                        </a:rPr>
                        <a:t>422.4</a:t>
                      </a:r>
                    </a:p>
                  </a:txBody>
                  <a:tcPr marL="36576" marR="36576" marT="27432" marB="27432" anchor="ctr">
                    <a:solidFill>
                      <a:srgbClr val="F8FAFB"/>
                    </a:solidFill>
                  </a:tcPr>
                </a:tc>
                <a:tc>
                  <a:txBody>
                    <a:bodyPr/>
                    <a:lstStyle/>
                    <a:p>
                      <a:pPr algn="ctr"/>
                      <a:r>
                        <a:rPr sz="800" b="0" i="0">
                          <a:solidFill>
                            <a:srgbClr val="172733"/>
                          </a:solidFill>
                          <a:latin typeface="Aptos"/>
                        </a:rPr>
                        <a:t>105.6</a:t>
                      </a:r>
                    </a:p>
                  </a:txBody>
                  <a:tcPr marL="36576" marR="36576" marT="27432" marB="27432" anchor="ctr">
                    <a:solidFill>
                      <a:srgbClr val="F8FAFB"/>
                    </a:solidFill>
                  </a:tcPr>
                </a:tc>
                <a:tc>
                  <a:txBody>
                    <a:bodyPr/>
                    <a:lstStyle/>
                    <a:p>
                      <a:pPr algn="ctr"/>
                      <a:r>
                        <a:rPr sz="800" b="0" i="0">
                          <a:solidFill>
                            <a:srgbClr val="172733"/>
                          </a:solidFill>
                          <a:latin typeface="Aptos"/>
                        </a:rPr>
                        <a:t>195.2</a:t>
                      </a:r>
                    </a:p>
                  </a:txBody>
                  <a:tcPr marL="36576" marR="36576" marT="27432" marB="27432" anchor="ctr">
                    <a:solidFill>
                      <a:srgbClr val="F8FAFB"/>
                    </a:solidFill>
                  </a:tcPr>
                </a:tc>
                <a:tc>
                  <a:txBody>
                    <a:bodyPr/>
                    <a:lstStyle/>
                    <a:p>
                      <a:pPr algn="ctr"/>
                      <a:r>
                        <a:rPr sz="800" b="0" i="0">
                          <a:solidFill>
                            <a:srgbClr val="172733"/>
                          </a:solidFill>
                          <a:latin typeface="Aptos"/>
                        </a:rPr>
                        <a:t>466.5</a:t>
                      </a:r>
                    </a:p>
                  </a:txBody>
                  <a:tcPr marL="36576" marR="36576" marT="27432" marB="27432" anchor="ctr">
                    <a:solidFill>
                      <a:srgbClr val="F8FAFB"/>
                    </a:solidFill>
                  </a:tcPr>
                </a:tc>
                <a:tc>
                  <a:txBody>
                    <a:bodyPr/>
                    <a:lstStyle/>
                    <a:p>
                      <a:pPr algn="ctr"/>
                      <a:r>
                        <a:rPr sz="800" b="0" i="0">
                          <a:solidFill>
                            <a:srgbClr val="172733"/>
                          </a:solidFill>
                          <a:latin typeface="Aptos"/>
                        </a:rPr>
                        <a:t>—</a:t>
                      </a:r>
                    </a:p>
                  </a:txBody>
                  <a:tcPr marL="36576" marR="36576" marT="27432" marB="27432" anchor="ctr">
                    <a:solidFill>
                      <a:srgbClr val="F8FAFB"/>
                    </a:solidFill>
                  </a:tcPr>
                </a:tc>
                <a:tc>
                  <a:txBody>
                    <a:bodyPr/>
                    <a:lstStyle/>
                    <a:p>
                      <a:pPr algn="ctr"/>
                      <a:r>
                        <a:rPr sz="800" b="0" i="0">
                          <a:solidFill>
                            <a:srgbClr val="172733"/>
                          </a:solidFill>
                          <a:latin typeface="Aptos"/>
                        </a:rPr>
                        <a:t>596.3</a:t>
                      </a:r>
                    </a:p>
                  </a:txBody>
                  <a:tcPr marL="36576" marR="36576" marT="27432" marB="27432" anchor="ctr">
                    <a:solidFill>
                      <a:srgbClr val="F8FAFB"/>
                    </a:solidFill>
                  </a:tcPr>
                </a:tc>
                <a:tc>
                  <a:txBody>
                    <a:bodyPr/>
                    <a:lstStyle/>
                    <a:p>
                      <a:pPr algn="ctr"/>
                      <a:r>
                        <a:rPr sz="800" b="0" i="0">
                          <a:solidFill>
                            <a:srgbClr val="172733"/>
                          </a:solidFill>
                          <a:latin typeface="Aptos"/>
                        </a:rPr>
                        <a:t>78.5</a:t>
                      </a:r>
                    </a:p>
                  </a:txBody>
                  <a:tcPr marL="36576" marR="36576" marT="27432" marB="27432" anchor="ctr">
                    <a:solidFill>
                      <a:srgbClr val="F8FAFB"/>
                    </a:solidFill>
                  </a:tcPr>
                </a:tc>
                <a:tc>
                  <a:txBody>
                    <a:bodyPr/>
                    <a:lstStyle/>
                    <a:p>
                      <a:pPr algn="ctr"/>
                      <a:r>
                        <a:rPr sz="800" b="0" i="0">
                          <a:solidFill>
                            <a:srgbClr val="172733"/>
                          </a:solidFill>
                          <a:latin typeface="Aptos"/>
                        </a:rPr>
                        <a:t>2.8</a:t>
                      </a:r>
                    </a:p>
                  </a:txBody>
                  <a:tcPr marL="36576" marR="36576" marT="27432" marB="27432" anchor="ctr">
                    <a:solidFill>
                      <a:srgbClr val="F8FAFB"/>
                    </a:solidFill>
                  </a:tcPr>
                </a:tc>
              </a:tr>
              <a:tr h="545592">
                <a:tc>
                  <a:txBody>
                    <a:bodyPr/>
                    <a:lstStyle/>
                    <a:p>
                      <a:pPr algn="l"/>
                      <a:r>
                        <a:rPr sz="800" b="1" i="0">
                          <a:solidFill>
                            <a:srgbClr val="172733"/>
                          </a:solidFill>
                          <a:latin typeface="Aptos"/>
                        </a:rPr>
                        <a:t>LWC15</a:t>
                      </a:r>
                    </a:p>
                  </a:txBody>
                  <a:tcPr marL="36576" marR="36576" marT="27432" marB="27432" anchor="ctr">
                    <a:solidFill>
                      <a:srgbClr val="DDF5F4"/>
                    </a:solidFill>
                  </a:tcPr>
                </a:tc>
                <a:tc>
                  <a:txBody>
                    <a:bodyPr/>
                    <a:lstStyle/>
                    <a:p>
                      <a:pPr algn="ctr"/>
                      <a:r>
                        <a:rPr sz="800" b="0" i="0">
                          <a:solidFill>
                            <a:srgbClr val="172733"/>
                          </a:solidFill>
                          <a:latin typeface="Aptos"/>
                        </a:rPr>
                        <a:t>422.4</a:t>
                      </a:r>
                    </a:p>
                  </a:txBody>
                  <a:tcPr marL="36576" marR="36576" marT="27432" marB="27432" anchor="ctr">
                    <a:solidFill>
                      <a:srgbClr val="DDF5F4"/>
                    </a:solidFill>
                  </a:tcPr>
                </a:tc>
                <a:tc>
                  <a:txBody>
                    <a:bodyPr/>
                    <a:lstStyle/>
                    <a:p>
                      <a:pPr algn="ctr"/>
                      <a:r>
                        <a:rPr sz="800" b="0" i="0">
                          <a:solidFill>
                            <a:srgbClr val="172733"/>
                          </a:solidFill>
                          <a:latin typeface="Aptos"/>
                        </a:rPr>
                        <a:t>105.6</a:t>
                      </a:r>
                    </a:p>
                  </a:txBody>
                  <a:tcPr marL="36576" marR="36576" marT="27432" marB="27432" anchor="ctr">
                    <a:solidFill>
                      <a:srgbClr val="DDF5F4"/>
                    </a:solidFill>
                  </a:tcPr>
                </a:tc>
                <a:tc>
                  <a:txBody>
                    <a:bodyPr/>
                    <a:lstStyle/>
                    <a:p>
                      <a:pPr algn="ctr"/>
                      <a:r>
                        <a:rPr sz="800" b="0" i="0">
                          <a:solidFill>
                            <a:srgbClr val="172733"/>
                          </a:solidFill>
                          <a:latin typeface="Aptos"/>
                        </a:rPr>
                        <a:t>195.2</a:t>
                      </a:r>
                    </a:p>
                  </a:txBody>
                  <a:tcPr marL="36576" marR="36576" marT="27432" marB="27432" anchor="ctr">
                    <a:solidFill>
                      <a:srgbClr val="DDF5F4"/>
                    </a:solidFill>
                  </a:tcPr>
                </a:tc>
                <a:tc>
                  <a:txBody>
                    <a:bodyPr/>
                    <a:lstStyle/>
                    <a:p>
                      <a:pPr algn="ctr"/>
                      <a:r>
                        <a:rPr sz="800" b="0" i="0">
                          <a:solidFill>
                            <a:srgbClr val="172733"/>
                          </a:solidFill>
                          <a:latin typeface="Aptos"/>
                        </a:rPr>
                        <a:t>466.5</a:t>
                      </a:r>
                    </a:p>
                  </a:txBody>
                  <a:tcPr marL="36576" marR="36576" marT="27432" marB="27432" anchor="ctr">
                    <a:solidFill>
                      <a:srgbClr val="DDF5F4"/>
                    </a:solidFill>
                  </a:tcPr>
                </a:tc>
                <a:tc>
                  <a:txBody>
                    <a:bodyPr/>
                    <a:lstStyle/>
                    <a:p>
                      <a:pPr algn="ctr"/>
                      <a:r>
                        <a:rPr sz="800" b="0" i="0">
                          <a:solidFill>
                            <a:srgbClr val="172733"/>
                          </a:solidFill>
                          <a:latin typeface="Aptos"/>
                        </a:rPr>
                        <a:t>—</a:t>
                      </a:r>
                    </a:p>
                  </a:txBody>
                  <a:tcPr marL="36576" marR="36576" marT="27432" marB="27432" anchor="ctr">
                    <a:solidFill>
                      <a:srgbClr val="DDF5F4"/>
                    </a:solidFill>
                  </a:tcPr>
                </a:tc>
                <a:tc>
                  <a:txBody>
                    <a:bodyPr/>
                    <a:lstStyle/>
                    <a:p>
                      <a:pPr algn="ctr"/>
                      <a:r>
                        <a:rPr sz="800" b="0" i="0">
                          <a:solidFill>
                            <a:srgbClr val="172733"/>
                          </a:solidFill>
                          <a:latin typeface="Aptos"/>
                        </a:rPr>
                        <a:t>596.3</a:t>
                      </a:r>
                    </a:p>
                  </a:txBody>
                  <a:tcPr marL="36576" marR="36576" marT="27432" marB="27432" anchor="ctr">
                    <a:solidFill>
                      <a:srgbClr val="DDF5F4"/>
                    </a:solidFill>
                  </a:tcPr>
                </a:tc>
                <a:tc>
                  <a:txBody>
                    <a:bodyPr/>
                    <a:lstStyle/>
                    <a:p>
                      <a:pPr algn="ctr"/>
                      <a:r>
                        <a:rPr sz="800" b="0" i="0">
                          <a:solidFill>
                            <a:srgbClr val="172733"/>
                          </a:solidFill>
                          <a:latin typeface="Aptos"/>
                        </a:rPr>
                        <a:t>117.8</a:t>
                      </a:r>
                    </a:p>
                  </a:txBody>
                  <a:tcPr marL="36576" marR="36576" marT="27432" marB="27432" anchor="ctr">
                    <a:solidFill>
                      <a:srgbClr val="DDF5F4"/>
                    </a:solidFill>
                  </a:tcPr>
                </a:tc>
                <a:tc>
                  <a:txBody>
                    <a:bodyPr/>
                    <a:lstStyle/>
                    <a:p>
                      <a:pPr algn="ctr"/>
                      <a:r>
                        <a:rPr sz="800" b="0" i="0">
                          <a:solidFill>
                            <a:srgbClr val="172733"/>
                          </a:solidFill>
                          <a:latin typeface="Aptos"/>
                        </a:rPr>
                        <a:t>2.8</a:t>
                      </a:r>
                    </a:p>
                  </a:txBody>
                  <a:tcPr marL="36576" marR="36576" marT="27432" marB="27432" anchor="ctr">
                    <a:solidFill>
                      <a:srgbClr val="DDF5F4"/>
                    </a:solidFill>
                  </a:tcPr>
                </a:tc>
              </a:tr>
            </a:tbl>
          </a:graphicData>
        </a:graphic>
      </p:graphicFrame>
      <p:sp>
        <p:nvSpPr>
          <p:cNvPr id="11" name="TextBox 10"/>
          <p:cNvSpPr txBox="1"/>
          <p:nvPr/>
        </p:nvSpPr>
        <p:spPr>
          <a:xfrm>
            <a:off x="749808" y="4553712"/>
            <a:ext cx="7818120" cy="292608"/>
          </a:xfrm>
          <a:prstGeom prst="rect">
            <a:avLst/>
          </a:prstGeom>
          <a:noFill/>
        </p:spPr>
        <p:txBody>
          <a:bodyPr wrap="square" lIns="0" rIns="0" tIns="0" bIns="0" anchor="t">
            <a:spAutoFit/>
          </a:bodyPr>
          <a:lstStyle/>
          <a:p>
            <a:pPr algn="l">
              <a:lnSpc>
                <a:spcPct val="100000"/>
              </a:lnSpc>
            </a:pPr>
            <a:r>
              <a:rPr sz="819" b="1" i="0">
                <a:solidFill>
                  <a:srgbClr val="D95D5D"/>
                </a:solidFill>
                <a:latin typeface="Aptos"/>
              </a:rPr>
              <a:t>All constituent quantities in kg/m³. Extra-water quantity intentionally omitted pending method correction.</a:t>
            </a:r>
          </a:p>
        </p:txBody>
      </p:sp>
      <p:sp>
        <p:nvSpPr>
          <p:cNvPr id="12" name="Rounded Rectangle 11"/>
          <p:cNvSpPr/>
          <p:nvPr/>
        </p:nvSpPr>
        <p:spPr>
          <a:xfrm>
            <a:off x="8942832" y="1225296"/>
            <a:ext cx="2377440" cy="4315968"/>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62288" y="1527048"/>
            <a:ext cx="1956816" cy="603504"/>
          </a:xfrm>
          <a:prstGeom prst="rect">
            <a:avLst/>
          </a:prstGeom>
          <a:noFill/>
        </p:spPr>
        <p:txBody>
          <a:bodyPr wrap="square" lIns="0" rIns="0" tIns="0" bIns="0" anchor="t">
            <a:spAutoFit/>
          </a:bodyPr>
          <a:lstStyle/>
          <a:p>
            <a:pPr algn="l">
              <a:lnSpc>
                <a:spcPct val="100000"/>
              </a:lnSpc>
            </a:pPr>
            <a:r>
              <a:rPr sz="1060" b="1" i="0">
                <a:solidFill>
                  <a:srgbClr val="22B8C7"/>
                </a:solidFill>
                <a:latin typeface="Aptos"/>
              </a:rPr>
              <a:t>SELECTED EMBODIMENT • LWC15</a:t>
            </a:r>
          </a:p>
        </p:txBody>
      </p:sp>
      <p:sp>
        <p:nvSpPr>
          <p:cNvPr id="14" name="TextBox 13"/>
          <p:cNvSpPr txBox="1"/>
          <p:nvPr/>
        </p:nvSpPr>
        <p:spPr>
          <a:xfrm>
            <a:off x="9162288" y="2322576"/>
            <a:ext cx="1920240" cy="2697480"/>
          </a:xfrm>
          <a:prstGeom prst="rect">
            <a:avLst/>
          </a:prstGeom>
          <a:noFill/>
        </p:spPr>
        <p:txBody>
          <a:bodyPr wrap="square" lIns="0" rIns="0" tIns="0" bIns="0" anchor="t">
            <a:spAutoFit/>
          </a:bodyPr>
          <a:lstStyle/>
          <a:p>
            <a:pPr algn="l">
              <a:lnSpc>
                <a:spcPct val="110000"/>
              </a:lnSpc>
            </a:pPr>
            <a:r>
              <a:rPr sz="1000" b="0" i="0">
                <a:solidFill>
                  <a:srgbClr val="FFFFFF"/>
                </a:solidFill>
                <a:latin typeface="Aptos"/>
              </a:rPr>
              <a:t>• 1.5% fibre by concrete volume
• 20% GGBS replacement of total binder
• 100% SFA substitution for natural coarse aggregate
• Hooked fibre: 30 mm × 0.5 mm; aspect ratio 60
• Reported density: 1,987 kg/m³
• 28 d compressive strength: 55.4 MPa</a:t>
            </a:r>
          </a:p>
        </p:txBody>
      </p:sp>
      <p:sp>
        <p:nvSpPr>
          <p:cNvPr id="15" name="Rounded Rectangle 14"/>
          <p:cNvSpPr/>
          <p:nvPr/>
        </p:nvSpPr>
        <p:spPr>
          <a:xfrm>
            <a:off x="9162288" y="4983480"/>
            <a:ext cx="1865376" cy="292608"/>
          </a:xfrm>
          <a:prstGeom prst="roundRect">
            <a:avLst>
              <a:gd name="adj" fmla="val 50000"/>
            </a:avLst>
          </a:prstGeom>
          <a:solidFill>
            <a:srgbClr val="173D55"/>
          </a:solidFill>
          <a:ln w="10160">
            <a:solidFill>
              <a:srgbClr val="173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98863" y="4997196"/>
            <a:ext cx="1792224" cy="246888"/>
          </a:xfrm>
          <a:prstGeom prst="rect">
            <a:avLst/>
          </a:prstGeom>
          <a:noFill/>
        </p:spPr>
        <p:txBody>
          <a:bodyPr wrap="square" lIns="0" rIns="0" tIns="0" bIns="0" anchor="ctr">
            <a:spAutoFit/>
          </a:bodyPr>
          <a:lstStyle/>
          <a:p>
            <a:pPr algn="ctr">
              <a:lnSpc>
                <a:spcPct val="100000"/>
              </a:lnSpc>
            </a:pPr>
            <a:r>
              <a:rPr sz="880" b="1" i="0">
                <a:solidFill>
                  <a:srgbClr val="22B8C7"/>
                </a:solidFill>
                <a:latin typeface="Aptos"/>
              </a:rPr>
              <a:t>SCALed barrier mix</a:t>
            </a:r>
          </a:p>
        </p:txBody>
      </p:sp>
      <p:sp>
        <p:nvSpPr>
          <p:cNvPr id="17" name="TextBox 16"/>
          <p:cNvSpPr txBox="1"/>
          <p:nvPr/>
        </p:nvSpPr>
        <p:spPr>
          <a:xfrm>
            <a:off x="676656" y="579729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MEASURED PERFORMANCE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Static performance clears the structural gate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08</a:t>
            </a:r>
          </a:p>
        </p:txBody>
      </p:sp>
      <p:graphicFrame>
        <p:nvGraphicFramePr>
          <p:cNvPr id="10" name="Chart 9"/>
          <p:cNvGraphicFramePr>
            <a:graphicFrameLocks noGrp="1"/>
          </p:cNvGraphicFramePr>
          <p:nvPr/>
        </p:nvGraphicFramePr>
        <p:xfrm>
          <a:off x="658368" y="1316736"/>
          <a:ext cx="3429000" cy="3456432"/>
        </p:xfrm>
        <a:graphic>
          <a:graphicData uri="http://schemas.openxmlformats.org/drawingml/2006/chart">
            <c:chart xmlns:c="http://schemas.openxmlformats.org/drawingml/2006/chart" r:id="rId3"/>
          </a:graphicData>
        </a:graphic>
      </p:graphicFrame>
      <p:sp>
        <p:nvSpPr>
          <p:cNvPr id="11" name="TextBox 10"/>
          <p:cNvSpPr txBox="1"/>
          <p:nvPr/>
        </p:nvSpPr>
        <p:spPr>
          <a:xfrm>
            <a:off x="704088"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Reported density</a:t>
            </a:r>
          </a:p>
        </p:txBody>
      </p:sp>
      <p:graphicFrame>
        <p:nvGraphicFramePr>
          <p:cNvPr id="12" name="Chart 11"/>
          <p:cNvGraphicFramePr>
            <a:graphicFrameLocks noGrp="1"/>
          </p:cNvGraphicFramePr>
          <p:nvPr/>
        </p:nvGraphicFramePr>
        <p:xfrm>
          <a:off x="4370832" y="1316736"/>
          <a:ext cx="3429000" cy="3456432"/>
        </p:xfrm>
        <a:graphic>
          <a:graphicData uri="http://schemas.openxmlformats.org/drawingml/2006/chart">
            <c:chart xmlns:c="http://schemas.openxmlformats.org/drawingml/2006/chart" r:id="rId4"/>
          </a:graphicData>
        </a:graphic>
      </p:graphicFrame>
      <p:sp>
        <p:nvSpPr>
          <p:cNvPr id="13" name="TextBox 12"/>
          <p:cNvSpPr txBox="1"/>
          <p:nvPr/>
        </p:nvSpPr>
        <p:spPr>
          <a:xfrm>
            <a:off x="4416552"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28 d compressive strength</a:t>
            </a:r>
          </a:p>
        </p:txBody>
      </p:sp>
      <p:graphicFrame>
        <p:nvGraphicFramePr>
          <p:cNvPr id="14" name="Chart 13"/>
          <p:cNvGraphicFramePr>
            <a:graphicFrameLocks noGrp="1"/>
          </p:cNvGraphicFramePr>
          <p:nvPr/>
        </p:nvGraphicFramePr>
        <p:xfrm>
          <a:off x="8083296" y="1316736"/>
          <a:ext cx="3429000" cy="3456432"/>
        </p:xfrm>
        <a:graphic>
          <a:graphicData uri="http://schemas.openxmlformats.org/drawingml/2006/chart">
            <c:chart xmlns:c="http://schemas.openxmlformats.org/drawingml/2006/chart" r:id="rId5"/>
          </a:graphicData>
        </a:graphic>
      </p:graphicFrame>
      <p:sp>
        <p:nvSpPr>
          <p:cNvPr id="15" name="TextBox 14"/>
          <p:cNvSpPr txBox="1"/>
          <p:nvPr/>
        </p:nvSpPr>
        <p:spPr>
          <a:xfrm>
            <a:off x="8129016"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28 d splitting tensile strength</a:t>
            </a:r>
          </a:p>
        </p:txBody>
      </p:sp>
      <p:sp>
        <p:nvSpPr>
          <p:cNvPr id="16" name="Rounded Rectangle 15"/>
          <p:cNvSpPr/>
          <p:nvPr/>
        </p:nvSpPr>
        <p:spPr>
          <a:xfrm>
            <a:off x="768096" y="5020056"/>
            <a:ext cx="2423160"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033772"/>
            <a:ext cx="2350008" cy="246888"/>
          </a:xfrm>
          <a:prstGeom prst="rect">
            <a:avLst/>
          </a:prstGeom>
          <a:noFill/>
        </p:spPr>
        <p:txBody>
          <a:bodyPr wrap="square" lIns="0" rIns="0" tIns="0" bIns="0" anchor="ctr">
            <a:spAutoFit/>
          </a:bodyPr>
          <a:lstStyle/>
          <a:p>
            <a:pPr algn="ctr">
              <a:lnSpc>
                <a:spcPct val="100000"/>
              </a:lnSpc>
            </a:pPr>
            <a:r>
              <a:rPr sz="919" b="1" i="0">
                <a:solidFill>
                  <a:srgbClr val="2B78A6"/>
                </a:solidFill>
                <a:latin typeface="Aptos"/>
              </a:rPr>
              <a:t>LWC15 density −19.4%</a:t>
            </a:r>
          </a:p>
        </p:txBody>
      </p:sp>
      <p:sp>
        <p:nvSpPr>
          <p:cNvPr id="18" name="Rounded Rectangle 17"/>
          <p:cNvSpPr/>
          <p:nvPr/>
        </p:nvSpPr>
        <p:spPr>
          <a:xfrm>
            <a:off x="4507992" y="5020056"/>
            <a:ext cx="2423160" cy="292608"/>
          </a:xfrm>
          <a:prstGeom prst="roundRect">
            <a:avLst>
              <a:gd name="adj" fmla="val 50000"/>
            </a:avLst>
          </a:prstGeom>
          <a:solidFill>
            <a:srgbClr val="E3F3EB"/>
          </a:solidFill>
          <a:ln w="10160">
            <a:solidFill>
              <a:srgbClr val="E3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44568" y="5033772"/>
            <a:ext cx="2350008" cy="246888"/>
          </a:xfrm>
          <a:prstGeom prst="rect">
            <a:avLst/>
          </a:prstGeom>
          <a:noFill/>
        </p:spPr>
        <p:txBody>
          <a:bodyPr wrap="square" lIns="0" rIns="0" tIns="0" bIns="0" anchor="ctr">
            <a:spAutoFit/>
          </a:bodyPr>
          <a:lstStyle/>
          <a:p>
            <a:pPr algn="ctr">
              <a:lnSpc>
                <a:spcPct val="100000"/>
              </a:lnSpc>
            </a:pPr>
            <a:r>
              <a:rPr sz="919" b="1" i="0">
                <a:solidFill>
                  <a:srgbClr val="2E9D69"/>
                </a:solidFill>
                <a:latin typeface="Aptos"/>
              </a:rPr>
              <a:t>LWC10 max = 56.8 MPa</a:t>
            </a:r>
          </a:p>
        </p:txBody>
      </p:sp>
      <p:sp>
        <p:nvSpPr>
          <p:cNvPr id="20" name="Rounded Rectangle 19"/>
          <p:cNvSpPr/>
          <p:nvPr/>
        </p:nvSpPr>
        <p:spPr>
          <a:xfrm>
            <a:off x="8220456" y="5020056"/>
            <a:ext cx="2423160"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1" y="5033772"/>
            <a:ext cx="2350008" cy="246888"/>
          </a:xfrm>
          <a:prstGeom prst="rect">
            <a:avLst/>
          </a:prstGeom>
          <a:noFill/>
        </p:spPr>
        <p:txBody>
          <a:bodyPr wrap="square" lIns="0" rIns="0" tIns="0" bIns="0" anchor="ctr">
            <a:spAutoFit/>
          </a:bodyPr>
          <a:lstStyle/>
          <a:p>
            <a:pPr algn="ctr">
              <a:lnSpc>
                <a:spcPct val="100000"/>
              </a:lnSpc>
            </a:pPr>
            <a:r>
              <a:rPr sz="919" b="1" i="0">
                <a:solidFill>
                  <a:srgbClr val="F39C3D"/>
                </a:solidFill>
                <a:latin typeface="Aptos"/>
              </a:rPr>
              <a:t>LWC15 tension +76%</a:t>
            </a:r>
          </a:p>
        </p:txBody>
      </p:sp>
      <p:sp>
        <p:nvSpPr>
          <p:cNvPr id="22" name="Rounded Rectangle 21"/>
          <p:cNvSpPr/>
          <p:nvPr/>
        </p:nvSpPr>
        <p:spPr>
          <a:xfrm>
            <a:off x="777240" y="5449824"/>
            <a:ext cx="10488168" cy="347472"/>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5532120"/>
            <a:ext cx="10104120" cy="192024"/>
          </a:xfrm>
          <a:prstGeom prst="rect">
            <a:avLst/>
          </a:prstGeom>
          <a:noFill/>
        </p:spPr>
        <p:txBody>
          <a:bodyPr wrap="square" lIns="0" rIns="0" tIns="0" bIns="0" anchor="t">
            <a:spAutoFit/>
          </a:bodyPr>
          <a:lstStyle/>
          <a:p>
            <a:pPr algn="l">
              <a:lnSpc>
                <a:spcPct val="100000"/>
              </a:lnSpc>
            </a:pPr>
            <a:r>
              <a:rPr sz="880" b="1" i="0">
                <a:solidFill>
                  <a:srgbClr val="D95D5D"/>
                </a:solidFill>
                <a:latin typeface="Aptos"/>
              </a:rPr>
              <a:t>Workability trade-off: slump fell from 165 mm (LWC00) to 87 mm (LWC15); fibre dispersion and compaction are scale-up control points.</a:t>
            </a:r>
          </a:p>
        </p:txBody>
      </p:sp>
      <p:sp>
        <p:nvSpPr>
          <p:cNvPr id="24" name="TextBox 23"/>
          <p:cNvSpPr txBox="1"/>
          <p:nvPr/>
        </p:nvSpPr>
        <p:spPr>
          <a:xfrm>
            <a:off x="676656" y="593445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Fig. 8 and Fig. 9 native chart caches. Values shown as supplied; no independent raw-data audit. Three cube/cylinder specimens per mix were stated in the casting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IMPACT METHODOLOGY</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Repeated-impact method captures post-cracking endurance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09</a:t>
            </a:r>
          </a:p>
        </p:txBody>
      </p:sp>
      <p:pic>
        <p:nvPicPr>
          <p:cNvPr id="10" name="Picture 9" descr="drop_weight_setup_contain.jpg"/>
          <p:cNvPicPr>
            <a:picLocks noChangeAspect="1"/>
          </p:cNvPicPr>
          <p:nvPr/>
        </p:nvPicPr>
        <p:blipFill>
          <a:blip r:embed="rId3"/>
          <a:stretch>
            <a:fillRect/>
          </a:stretch>
        </p:blipFill>
        <p:spPr>
          <a:xfrm>
            <a:off x="667512" y="1252728"/>
            <a:ext cx="4590288" cy="3401568"/>
          </a:xfrm>
          <a:prstGeom prst="rect">
            <a:avLst/>
          </a:prstGeom>
        </p:spPr>
      </p:pic>
      <p:sp>
        <p:nvSpPr>
          <p:cNvPr id="11" name="Rounded Rectangle 10"/>
          <p:cNvSpPr/>
          <p:nvPr/>
        </p:nvSpPr>
        <p:spPr>
          <a:xfrm>
            <a:off x="813816" y="4050791"/>
            <a:ext cx="4297680" cy="438912"/>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51376"/>
            <a:ext cx="3977639" cy="219456"/>
          </a:xfrm>
          <a:prstGeom prst="rect">
            <a:avLst/>
          </a:prstGeom>
          <a:noFill/>
        </p:spPr>
        <p:txBody>
          <a:bodyPr wrap="square" lIns="0" rIns="0" tIns="0" bIns="0" anchor="t">
            <a:spAutoFit/>
          </a:bodyPr>
          <a:lstStyle/>
          <a:p>
            <a:pPr algn="ctr">
              <a:lnSpc>
                <a:spcPct val="100000"/>
              </a:lnSpc>
            </a:pPr>
            <a:r>
              <a:rPr sz="910" b="1" i="0">
                <a:solidFill>
                  <a:srgbClr val="FFFFFF"/>
                </a:solidFill>
                <a:latin typeface="Aptos"/>
              </a:rPr>
              <a:t>100 × 100 × 500 mm beam  •  400 mm support span</a:t>
            </a:r>
          </a:p>
        </p:txBody>
      </p:sp>
      <p:sp>
        <p:nvSpPr>
          <p:cNvPr id="13" name="Rounded Rectangle 12"/>
          <p:cNvSpPr/>
          <p:nvPr/>
        </p:nvSpPr>
        <p:spPr>
          <a:xfrm>
            <a:off x="5541264" y="130759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05855" y="1453895"/>
            <a:ext cx="2212848" cy="438912"/>
          </a:xfrm>
          <a:prstGeom prst="rect">
            <a:avLst/>
          </a:prstGeom>
          <a:noFill/>
        </p:spPr>
        <p:txBody>
          <a:bodyPr wrap="square" lIns="0" rIns="0" tIns="0" bIns="0" anchor="ctr">
            <a:spAutoFit/>
          </a:bodyPr>
          <a:lstStyle/>
          <a:p>
            <a:pPr algn="l">
              <a:lnSpc>
                <a:spcPct val="100000"/>
              </a:lnSpc>
            </a:pPr>
            <a:r>
              <a:rPr sz="2000" b="1" i="0">
                <a:solidFill>
                  <a:srgbClr val="2B78A6"/>
                </a:solidFill>
                <a:latin typeface="Aptos Display"/>
              </a:rPr>
              <a:t>13.5 kg</a:t>
            </a:r>
          </a:p>
        </p:txBody>
      </p:sp>
      <p:sp>
        <p:nvSpPr>
          <p:cNvPr id="15" name="TextBox 14"/>
          <p:cNvSpPr txBox="1"/>
          <p:nvPr/>
        </p:nvSpPr>
        <p:spPr>
          <a:xfrm>
            <a:off x="5705855" y="1947672"/>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drop mass</a:t>
            </a:r>
          </a:p>
        </p:txBody>
      </p:sp>
      <p:sp>
        <p:nvSpPr>
          <p:cNvPr id="16" name="Rounded Rectangle 15"/>
          <p:cNvSpPr/>
          <p:nvPr/>
        </p:nvSpPr>
        <p:spPr>
          <a:xfrm>
            <a:off x="8348471" y="130759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13063" y="1453895"/>
            <a:ext cx="2212848" cy="438912"/>
          </a:xfrm>
          <a:prstGeom prst="rect">
            <a:avLst/>
          </a:prstGeom>
          <a:noFill/>
        </p:spPr>
        <p:txBody>
          <a:bodyPr wrap="square" lIns="0" rIns="0" tIns="0" bIns="0" anchor="ctr">
            <a:spAutoFit/>
          </a:bodyPr>
          <a:lstStyle/>
          <a:p>
            <a:pPr algn="l">
              <a:lnSpc>
                <a:spcPct val="100000"/>
              </a:lnSpc>
            </a:pPr>
            <a:r>
              <a:rPr sz="2000" b="1" i="0">
                <a:solidFill>
                  <a:srgbClr val="22B8C7"/>
                </a:solidFill>
                <a:latin typeface="Aptos Display"/>
              </a:rPr>
              <a:t>100 mm</a:t>
            </a:r>
          </a:p>
        </p:txBody>
      </p:sp>
      <p:sp>
        <p:nvSpPr>
          <p:cNvPr id="18" name="TextBox 17"/>
          <p:cNvSpPr txBox="1"/>
          <p:nvPr/>
        </p:nvSpPr>
        <p:spPr>
          <a:xfrm>
            <a:off x="8513063" y="1947672"/>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drop height</a:t>
            </a:r>
          </a:p>
        </p:txBody>
      </p:sp>
      <p:sp>
        <p:nvSpPr>
          <p:cNvPr id="19" name="Rounded Rectangle 18"/>
          <p:cNvSpPr/>
          <p:nvPr/>
        </p:nvSpPr>
        <p:spPr>
          <a:xfrm>
            <a:off x="5541264" y="249631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05855" y="2642616"/>
            <a:ext cx="2212848" cy="438912"/>
          </a:xfrm>
          <a:prstGeom prst="rect">
            <a:avLst/>
          </a:prstGeom>
          <a:noFill/>
        </p:spPr>
        <p:txBody>
          <a:bodyPr wrap="square" lIns="0" rIns="0" tIns="0" bIns="0" anchor="ctr">
            <a:spAutoFit/>
          </a:bodyPr>
          <a:lstStyle/>
          <a:p>
            <a:pPr algn="l">
              <a:lnSpc>
                <a:spcPct val="100000"/>
              </a:lnSpc>
            </a:pPr>
            <a:r>
              <a:rPr sz="2000" b="1" i="0">
                <a:solidFill>
                  <a:srgbClr val="F39C3D"/>
                </a:solidFill>
                <a:latin typeface="Aptos Display"/>
              </a:rPr>
              <a:t>13.24 J</a:t>
            </a:r>
          </a:p>
        </p:txBody>
      </p:sp>
      <p:sp>
        <p:nvSpPr>
          <p:cNvPr id="21" name="TextBox 20"/>
          <p:cNvSpPr txBox="1"/>
          <p:nvPr/>
        </p:nvSpPr>
        <p:spPr>
          <a:xfrm>
            <a:off x="5705855" y="3136391"/>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energy / blow</a:t>
            </a:r>
          </a:p>
        </p:txBody>
      </p:sp>
      <p:sp>
        <p:nvSpPr>
          <p:cNvPr id="22" name="Rounded Rectangle 21"/>
          <p:cNvSpPr/>
          <p:nvPr/>
        </p:nvSpPr>
        <p:spPr>
          <a:xfrm>
            <a:off x="8348471" y="249631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13063" y="2642616"/>
            <a:ext cx="2212848" cy="438912"/>
          </a:xfrm>
          <a:prstGeom prst="rect">
            <a:avLst/>
          </a:prstGeom>
          <a:noFill/>
        </p:spPr>
        <p:txBody>
          <a:bodyPr wrap="square" lIns="0" rIns="0" tIns="0" bIns="0" anchor="ctr">
            <a:spAutoFit/>
          </a:bodyPr>
          <a:lstStyle/>
          <a:p>
            <a:pPr algn="l">
              <a:lnSpc>
                <a:spcPct val="100000"/>
              </a:lnSpc>
            </a:pPr>
            <a:r>
              <a:rPr sz="2000" b="1" i="0">
                <a:solidFill>
                  <a:srgbClr val="D95D5D"/>
                </a:solidFill>
                <a:latin typeface="Aptos Display"/>
              </a:rPr>
              <a:t>N₁ / N₂</a:t>
            </a:r>
          </a:p>
        </p:txBody>
      </p:sp>
      <p:sp>
        <p:nvSpPr>
          <p:cNvPr id="24" name="TextBox 23"/>
          <p:cNvSpPr txBox="1"/>
          <p:nvPr/>
        </p:nvSpPr>
        <p:spPr>
          <a:xfrm>
            <a:off x="8513063" y="3136391"/>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first crack / failure</a:t>
            </a:r>
          </a:p>
        </p:txBody>
      </p:sp>
      <p:sp>
        <p:nvSpPr>
          <p:cNvPr id="25" name="Rounded Rectangle 24"/>
          <p:cNvSpPr/>
          <p:nvPr/>
        </p:nvSpPr>
        <p:spPr>
          <a:xfrm>
            <a:off x="5541264" y="3822191"/>
            <a:ext cx="5340096" cy="116128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4023360"/>
            <a:ext cx="1700784" cy="310896"/>
          </a:xfrm>
          <a:prstGeom prst="rect">
            <a:avLst/>
          </a:prstGeom>
          <a:noFill/>
        </p:spPr>
        <p:txBody>
          <a:bodyPr wrap="square" lIns="0" rIns="0" tIns="0" bIns="0" anchor="t">
            <a:spAutoFit/>
          </a:bodyPr>
          <a:lstStyle/>
          <a:p>
            <a:pPr algn="l">
              <a:lnSpc>
                <a:spcPct val="100000"/>
              </a:lnSpc>
            </a:pPr>
            <a:r>
              <a:rPr sz="900" b="1" i="0">
                <a:solidFill>
                  <a:srgbClr val="2B78A6"/>
                </a:solidFill>
                <a:latin typeface="Aptos"/>
              </a:rPr>
              <a:t>SIGNAL PIPELINE</a:t>
            </a:r>
          </a:p>
        </p:txBody>
      </p:sp>
      <p:sp>
        <p:nvSpPr>
          <p:cNvPr id="27" name="Rounded Rectangle 26"/>
          <p:cNvSpPr/>
          <p:nvPr/>
        </p:nvSpPr>
        <p:spPr>
          <a:xfrm>
            <a:off x="6876288"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detrend</a:t>
            </a:r>
          </a:p>
        </p:txBody>
      </p:sp>
      <p:sp>
        <p:nvSpPr>
          <p:cNvPr id="29" name="Chevron 28"/>
          <p:cNvSpPr/>
          <p:nvPr/>
        </p:nvSpPr>
        <p:spPr>
          <a:xfrm>
            <a:off x="7543800"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690104" y="3941063"/>
            <a:ext cx="676656" cy="658368"/>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17536"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4th-order zero-phase
HP filter, 3 Hz</a:t>
            </a:r>
          </a:p>
        </p:txBody>
      </p:sp>
      <p:sp>
        <p:nvSpPr>
          <p:cNvPr id="32" name="Chevron 31"/>
          <p:cNvSpPr/>
          <p:nvPr/>
        </p:nvSpPr>
        <p:spPr>
          <a:xfrm>
            <a:off x="8357616"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19"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31351"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integrate → v</a:t>
            </a:r>
          </a:p>
        </p:txBody>
      </p:sp>
      <p:sp>
        <p:nvSpPr>
          <p:cNvPr id="35" name="Chevron 34"/>
          <p:cNvSpPr/>
          <p:nvPr/>
        </p:nvSpPr>
        <p:spPr>
          <a:xfrm>
            <a:off x="9171432"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317736" y="3941063"/>
            <a:ext cx="676656" cy="658368"/>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45167"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drift correct</a:t>
            </a:r>
          </a:p>
        </p:txBody>
      </p:sp>
      <p:sp>
        <p:nvSpPr>
          <p:cNvPr id="38" name="Chevron 37"/>
          <p:cNvSpPr/>
          <p:nvPr/>
        </p:nvSpPr>
        <p:spPr>
          <a:xfrm>
            <a:off x="9985248"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131552"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58984"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integrate → x</a:t>
            </a:r>
          </a:p>
        </p:txBody>
      </p:sp>
      <p:sp>
        <p:nvSpPr>
          <p:cNvPr id="41" name="Rounded Rectangle 40"/>
          <p:cNvSpPr/>
          <p:nvPr/>
        </p:nvSpPr>
        <p:spPr>
          <a:xfrm>
            <a:off x="5541264" y="5184648"/>
            <a:ext cx="5340096" cy="457200"/>
          </a:xfrm>
          <a:prstGeom prst="roundRect">
            <a:avLst/>
          </a:prstGeom>
          <a:solidFill>
            <a:srgbClr val="FFF0DF"/>
          </a:solidFill>
          <a:ln>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33288" y="5285232"/>
            <a:ext cx="4956048" cy="237744"/>
          </a:xfrm>
          <a:prstGeom prst="rect">
            <a:avLst/>
          </a:prstGeom>
          <a:noFill/>
        </p:spPr>
        <p:txBody>
          <a:bodyPr wrap="square" lIns="0" rIns="0" tIns="0" bIns="0" anchor="t">
            <a:spAutoFit/>
          </a:bodyPr>
          <a:lstStyle/>
          <a:p>
            <a:pPr algn="l">
              <a:lnSpc>
                <a:spcPct val="100000"/>
              </a:lnSpc>
            </a:pPr>
            <a:r>
              <a:rPr sz="919" b="1" i="0">
                <a:solidFill>
                  <a:srgbClr val="172733"/>
                </a:solidFill>
                <a:latin typeface="Aptos"/>
              </a:rPr>
              <a:t>Energy metric = mgh × number of blows; repeated impact emphasizes residual toughness.</a:t>
            </a:r>
          </a:p>
        </p:txBody>
      </p:sp>
      <p:sp>
        <p:nvSpPr>
          <p:cNvPr id="43" name="TextBox 42"/>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Experimental photo: inventor-supplied manuscript Fig. 4. Method: ACI 544.2R-89 adapted to prismatic beams; manuscript Testing Methods, Eqs. 1–2 and signal-processing description.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PRISM IMPACT RESULTS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Steel fibres transform post-cracking impact endurance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10</a:t>
            </a:r>
          </a:p>
        </p:txBody>
      </p:sp>
      <p:graphicFrame>
        <p:nvGraphicFramePr>
          <p:cNvPr id="10" name="Chart 9"/>
          <p:cNvGraphicFramePr>
            <a:graphicFrameLocks noGrp="1"/>
          </p:cNvGraphicFramePr>
          <p:nvPr/>
        </p:nvGraphicFramePr>
        <p:xfrm>
          <a:off x="667512" y="1280160"/>
          <a:ext cx="5504688" cy="4160520"/>
        </p:xfrm>
        <a:graphic>
          <a:graphicData uri="http://schemas.openxmlformats.org/drawingml/2006/chart">
            <c:chart xmlns:c="http://schemas.openxmlformats.org/drawingml/2006/chart" r:id="rId3"/>
          </a:graphicData>
        </a:graphic>
      </p:graphicFrame>
      <p:sp>
        <p:nvSpPr>
          <p:cNvPr id="11" name="TextBox 10"/>
          <p:cNvSpPr txBox="1"/>
          <p:nvPr/>
        </p:nvSpPr>
        <p:spPr>
          <a:xfrm>
            <a:off x="713232" y="1298448"/>
            <a:ext cx="54132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Failure energy, E₂ (N·m)</a:t>
            </a:r>
          </a:p>
        </p:txBody>
      </p:sp>
      <p:graphicFrame>
        <p:nvGraphicFramePr>
          <p:cNvPr id="12" name="Chart 11"/>
          <p:cNvGraphicFramePr>
            <a:graphicFrameLocks noGrp="1"/>
          </p:cNvGraphicFramePr>
          <p:nvPr/>
        </p:nvGraphicFramePr>
        <p:xfrm>
          <a:off x="6446520" y="1280160"/>
          <a:ext cx="5010912" cy="4160520"/>
        </p:xfrm>
        <a:graphic>
          <a:graphicData uri="http://schemas.openxmlformats.org/drawingml/2006/chart">
            <c:chart xmlns:c="http://schemas.openxmlformats.org/drawingml/2006/chart" r:id="rId4"/>
          </a:graphicData>
        </a:graphic>
      </p:graphicFrame>
      <p:sp>
        <p:nvSpPr>
          <p:cNvPr id="13" name="TextBox 12"/>
          <p:cNvSpPr txBox="1"/>
          <p:nvPr/>
        </p:nvSpPr>
        <p:spPr>
          <a:xfrm>
            <a:off x="6492240" y="1298448"/>
            <a:ext cx="4919472"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Impact counts</a:t>
            </a:r>
          </a:p>
        </p:txBody>
      </p:sp>
      <p:sp>
        <p:nvSpPr>
          <p:cNvPr id="14" name="Rounded Rectangle 13"/>
          <p:cNvSpPr/>
          <p:nvPr/>
        </p:nvSpPr>
        <p:spPr>
          <a:xfrm>
            <a:off x="841248" y="5166360"/>
            <a:ext cx="2240280" cy="292608"/>
          </a:xfrm>
          <a:prstGeom prst="roundRect">
            <a:avLst>
              <a:gd name="adj" fmla="val 50000"/>
            </a:avLst>
          </a:prstGeom>
          <a:solidFill>
            <a:srgbClr val="FBE7E7"/>
          </a:solidFill>
          <a:ln w="10160">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5180076"/>
            <a:ext cx="2167128" cy="246888"/>
          </a:xfrm>
          <a:prstGeom prst="rect">
            <a:avLst/>
          </a:prstGeom>
          <a:noFill/>
        </p:spPr>
        <p:txBody>
          <a:bodyPr wrap="square" lIns="0" rIns="0" tIns="0" bIns="0" anchor="ctr">
            <a:spAutoFit/>
          </a:bodyPr>
          <a:lstStyle/>
          <a:p>
            <a:pPr algn="ctr">
              <a:lnSpc>
                <a:spcPct val="100000"/>
              </a:lnSpc>
            </a:pPr>
            <a:r>
              <a:rPr sz="930" b="1" i="0">
                <a:solidFill>
                  <a:srgbClr val="D95D5D"/>
                </a:solidFill>
                <a:latin typeface="Aptos"/>
              </a:rPr>
              <a:t>55.3× vs NWC</a:t>
            </a:r>
          </a:p>
        </p:txBody>
      </p:sp>
      <p:sp>
        <p:nvSpPr>
          <p:cNvPr id="16" name="Rounded Rectangle 15"/>
          <p:cNvSpPr/>
          <p:nvPr/>
        </p:nvSpPr>
        <p:spPr>
          <a:xfrm>
            <a:off x="3291840" y="5166360"/>
            <a:ext cx="2542032"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416" y="5180076"/>
            <a:ext cx="2468879" cy="246888"/>
          </a:xfrm>
          <a:prstGeom prst="rect">
            <a:avLst/>
          </a:prstGeom>
          <a:noFill/>
        </p:spPr>
        <p:txBody>
          <a:bodyPr wrap="square" lIns="0" rIns="0" tIns="0" bIns="0" anchor="ctr">
            <a:spAutoFit/>
          </a:bodyPr>
          <a:lstStyle/>
          <a:p>
            <a:pPr algn="ctr">
              <a:lnSpc>
                <a:spcPct val="100000"/>
              </a:lnSpc>
            </a:pPr>
            <a:r>
              <a:rPr sz="930" b="1" i="0">
                <a:solidFill>
                  <a:srgbClr val="F39C3D"/>
                </a:solidFill>
                <a:latin typeface="Aptos"/>
              </a:rPr>
              <a:t>110.5× vs plain LWC</a:t>
            </a:r>
          </a:p>
        </p:txBody>
      </p:sp>
      <p:sp>
        <p:nvSpPr>
          <p:cNvPr id="18" name="Rounded Rectangle 17"/>
          <p:cNvSpPr/>
          <p:nvPr/>
        </p:nvSpPr>
        <p:spPr>
          <a:xfrm>
            <a:off x="6702552" y="5166360"/>
            <a:ext cx="2029968"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39128" y="5180076"/>
            <a:ext cx="1956816" cy="246888"/>
          </a:xfrm>
          <a:prstGeom prst="rect">
            <a:avLst/>
          </a:prstGeom>
          <a:noFill/>
        </p:spPr>
        <p:txBody>
          <a:bodyPr wrap="square" lIns="0" rIns="0" tIns="0" bIns="0" anchor="ctr">
            <a:spAutoFit/>
          </a:bodyPr>
          <a:lstStyle/>
          <a:p>
            <a:pPr algn="ctr">
              <a:lnSpc>
                <a:spcPct val="100000"/>
              </a:lnSpc>
            </a:pPr>
            <a:r>
              <a:rPr sz="930" b="1" i="0">
                <a:solidFill>
                  <a:srgbClr val="2B78A6"/>
                </a:solidFill>
                <a:latin typeface="Aptos"/>
              </a:rPr>
              <a:t>N₂ = 221 blows</a:t>
            </a:r>
          </a:p>
        </p:txBody>
      </p:sp>
      <p:sp>
        <p:nvSpPr>
          <p:cNvPr id="20" name="Rounded Rectangle 19"/>
          <p:cNvSpPr/>
          <p:nvPr/>
        </p:nvSpPr>
        <p:spPr>
          <a:xfrm>
            <a:off x="8942832" y="5166360"/>
            <a:ext cx="2103120" cy="292608"/>
          </a:xfrm>
          <a:prstGeom prst="roundRect">
            <a:avLst>
              <a:gd name="adj" fmla="val 50000"/>
            </a:avLst>
          </a:prstGeom>
          <a:solidFill>
            <a:srgbClr val="DDF5F4"/>
          </a:solidFill>
          <a:ln w="10160">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79407" y="5180076"/>
            <a:ext cx="2029967" cy="246888"/>
          </a:xfrm>
          <a:prstGeom prst="rect">
            <a:avLst/>
          </a:prstGeom>
          <a:noFill/>
        </p:spPr>
        <p:txBody>
          <a:bodyPr wrap="square" lIns="0" rIns="0" tIns="0" bIns="0" anchor="ctr">
            <a:spAutoFit/>
          </a:bodyPr>
          <a:lstStyle/>
          <a:p>
            <a:pPr algn="ctr">
              <a:lnSpc>
                <a:spcPct val="100000"/>
              </a:lnSpc>
            </a:pPr>
            <a:r>
              <a:rPr sz="930" b="1" i="0">
                <a:solidFill>
                  <a:srgbClr val="178D86"/>
                </a:solidFill>
                <a:latin typeface="Aptos"/>
              </a:rPr>
              <a:t>186 post-crack blows</a:t>
            </a:r>
          </a:p>
        </p:txBody>
      </p:sp>
      <p:sp>
        <p:nvSpPr>
          <p:cNvPr id="22" name="TextBox 21"/>
          <p:cNvSpPr txBox="1"/>
          <p:nvPr/>
        </p:nvSpPr>
        <p:spPr>
          <a:xfrm>
            <a:off x="676656" y="5870448"/>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 8. E₂ = mgh × N₂. Ratios calculated from supplied values; impact-count variability/replicate distribution is not reported in the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DYNAMIC RESPONSE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Deformation reveals the transition from brittle to ductile response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11</a:t>
            </a:r>
          </a:p>
        </p:txBody>
      </p:sp>
      <p:graphicFrame>
        <p:nvGraphicFramePr>
          <p:cNvPr id="10" name="Chart 9"/>
          <p:cNvGraphicFramePr>
            <a:graphicFrameLocks noGrp="1"/>
          </p:cNvGraphicFramePr>
          <p:nvPr/>
        </p:nvGraphicFramePr>
        <p:xfrm>
          <a:off x="667512" y="1298448"/>
          <a:ext cx="4919472" cy="3977639"/>
        </p:xfrm>
        <a:graphic>
          <a:graphicData uri="http://schemas.openxmlformats.org/drawingml/2006/chart">
            <c:chart xmlns:c="http://schemas.openxmlformats.org/drawingml/2006/chart" r:id="rId3"/>
          </a:graphicData>
        </a:graphic>
      </p:graphicFrame>
      <p:sp>
        <p:nvSpPr>
          <p:cNvPr id="11" name="TextBox 10"/>
          <p:cNvSpPr txBox="1"/>
          <p:nvPr/>
        </p:nvSpPr>
        <p:spPr>
          <a:xfrm>
            <a:off x="713232" y="1316736"/>
            <a:ext cx="4828032"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Peak displacement after first impact</a:t>
            </a:r>
          </a:p>
        </p:txBody>
      </p:sp>
      <p:pic>
        <p:nvPicPr>
          <p:cNvPr id="12" name="Picture 11" descr="sfa_material.jpg"/>
          <p:cNvPicPr>
            <a:picLocks noChangeAspect="1"/>
          </p:cNvPicPr>
          <p:nvPr/>
        </p:nvPicPr>
        <p:blipFill>
          <a:blip r:embed="rId4"/>
          <a:stretch>
            <a:fillRect/>
          </a:stretch>
        </p:blipFill>
        <p:spPr>
          <a:xfrm>
            <a:off x="5870448" y="1353312"/>
            <a:ext cx="1444752" cy="1152144"/>
          </a:xfrm>
          <a:prstGeom prst="rect">
            <a:avLst/>
          </a:prstGeom>
        </p:spPr>
      </p:pic>
      <p:pic>
        <p:nvPicPr>
          <p:cNvPr id="13" name="Picture 12" descr="steel_fibre.jpg"/>
          <p:cNvPicPr>
            <a:picLocks noChangeAspect="1"/>
          </p:cNvPicPr>
          <p:nvPr/>
        </p:nvPicPr>
        <p:blipFill>
          <a:blip r:embed="rId5"/>
          <a:stretch>
            <a:fillRect/>
          </a:stretch>
        </p:blipFill>
        <p:spPr>
          <a:xfrm>
            <a:off x="7525512" y="1353312"/>
            <a:ext cx="1444752" cy="1152144"/>
          </a:xfrm>
          <a:prstGeom prst="rect">
            <a:avLst/>
          </a:prstGeom>
        </p:spPr>
      </p:pic>
      <p:pic>
        <p:nvPicPr>
          <p:cNvPr id="14" name="Picture 13" descr="split_failure_contain.jpg"/>
          <p:cNvPicPr>
            <a:picLocks noChangeAspect="1"/>
          </p:cNvPicPr>
          <p:nvPr/>
        </p:nvPicPr>
        <p:blipFill>
          <a:blip r:embed="rId6"/>
          <a:stretch>
            <a:fillRect/>
          </a:stretch>
        </p:blipFill>
        <p:spPr>
          <a:xfrm>
            <a:off x="9180576" y="1353312"/>
            <a:ext cx="1965960" cy="1152144"/>
          </a:xfrm>
          <a:prstGeom prst="rect">
            <a:avLst/>
          </a:prstGeom>
        </p:spPr>
      </p:pic>
      <p:sp>
        <p:nvSpPr>
          <p:cNvPr id="15" name="TextBox 14"/>
          <p:cNvSpPr txBox="1"/>
          <p:nvPr/>
        </p:nvSpPr>
        <p:spPr>
          <a:xfrm>
            <a:off x="5870448" y="2587752"/>
            <a:ext cx="1444752" cy="329184"/>
          </a:xfrm>
          <a:prstGeom prst="rect">
            <a:avLst/>
          </a:prstGeom>
          <a:noFill/>
        </p:spPr>
        <p:txBody>
          <a:bodyPr wrap="square" lIns="0" rIns="0" tIns="0" bIns="0" anchor="t">
            <a:spAutoFit/>
          </a:bodyPr>
          <a:lstStyle/>
          <a:p>
            <a:pPr algn="ctr">
              <a:lnSpc>
                <a:spcPct val="100000"/>
              </a:lnSpc>
            </a:pPr>
            <a:r>
              <a:rPr sz="930" b="1" i="0">
                <a:solidFill>
                  <a:srgbClr val="2B78A6"/>
                </a:solidFill>
                <a:latin typeface="Aptos"/>
              </a:rPr>
              <a:t>Porous SFA</a:t>
            </a:r>
          </a:p>
        </p:txBody>
      </p:sp>
      <p:sp>
        <p:nvSpPr>
          <p:cNvPr id="16" name="TextBox 15"/>
          <p:cNvSpPr txBox="1"/>
          <p:nvPr/>
        </p:nvSpPr>
        <p:spPr>
          <a:xfrm>
            <a:off x="7525512" y="2587752"/>
            <a:ext cx="1444752" cy="329184"/>
          </a:xfrm>
          <a:prstGeom prst="rect">
            <a:avLst/>
          </a:prstGeom>
          <a:noFill/>
        </p:spPr>
        <p:txBody>
          <a:bodyPr wrap="square" lIns="0" rIns="0" tIns="0" bIns="0" anchor="t">
            <a:spAutoFit/>
          </a:bodyPr>
          <a:lstStyle/>
          <a:p>
            <a:pPr algn="ctr">
              <a:lnSpc>
                <a:spcPct val="100000"/>
              </a:lnSpc>
            </a:pPr>
            <a:r>
              <a:rPr sz="930" b="1" i="0">
                <a:solidFill>
                  <a:srgbClr val="F39C3D"/>
                </a:solidFill>
                <a:latin typeface="Aptos"/>
              </a:rPr>
              <a:t>Hooked fibres</a:t>
            </a:r>
          </a:p>
        </p:txBody>
      </p:sp>
      <p:sp>
        <p:nvSpPr>
          <p:cNvPr id="17" name="TextBox 16"/>
          <p:cNvSpPr txBox="1"/>
          <p:nvPr/>
        </p:nvSpPr>
        <p:spPr>
          <a:xfrm>
            <a:off x="9180576" y="2587752"/>
            <a:ext cx="1965960" cy="329184"/>
          </a:xfrm>
          <a:prstGeom prst="rect">
            <a:avLst/>
          </a:prstGeom>
          <a:noFill/>
        </p:spPr>
        <p:txBody>
          <a:bodyPr wrap="square" lIns="0" rIns="0" tIns="0" bIns="0" anchor="t">
            <a:spAutoFit/>
          </a:bodyPr>
          <a:lstStyle/>
          <a:p>
            <a:pPr algn="ctr">
              <a:lnSpc>
                <a:spcPct val="100000"/>
              </a:lnSpc>
            </a:pPr>
            <a:r>
              <a:rPr sz="930" b="1" i="0">
                <a:solidFill>
                  <a:srgbClr val="178D86"/>
                </a:solidFill>
                <a:latin typeface="Aptos"/>
              </a:rPr>
              <a:t>Controlled crack path</a:t>
            </a:r>
          </a:p>
        </p:txBody>
      </p:sp>
      <p:sp>
        <p:nvSpPr>
          <p:cNvPr id="18" name="Chevron 17"/>
          <p:cNvSpPr/>
          <p:nvPr/>
        </p:nvSpPr>
        <p:spPr>
          <a:xfrm>
            <a:off x="7278624" y="1737360"/>
            <a:ext cx="219456"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evron 18"/>
          <p:cNvSpPr/>
          <p:nvPr/>
        </p:nvSpPr>
        <p:spPr>
          <a:xfrm>
            <a:off x="8933688" y="1737360"/>
            <a:ext cx="219456"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870448" y="3154680"/>
            <a:ext cx="5276088" cy="1883664"/>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44768" y="3438144"/>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CRUSH</a:t>
            </a:r>
          </a:p>
        </p:txBody>
      </p:sp>
      <p:sp>
        <p:nvSpPr>
          <p:cNvPr id="22" name="TextBox 21"/>
          <p:cNvSpPr txBox="1"/>
          <p:nvPr/>
        </p:nvSpPr>
        <p:spPr>
          <a:xfrm>
            <a:off x="6858000" y="3429000"/>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porous aggregate consumes local energy</a:t>
            </a:r>
          </a:p>
        </p:txBody>
      </p:sp>
      <p:sp>
        <p:nvSpPr>
          <p:cNvPr id="23" name="TextBox 22"/>
          <p:cNvSpPr txBox="1"/>
          <p:nvPr/>
        </p:nvSpPr>
        <p:spPr>
          <a:xfrm>
            <a:off x="8631936" y="3438144"/>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BRIDGE</a:t>
            </a:r>
          </a:p>
        </p:txBody>
      </p:sp>
      <p:sp>
        <p:nvSpPr>
          <p:cNvPr id="24" name="TextBox 23"/>
          <p:cNvSpPr txBox="1"/>
          <p:nvPr/>
        </p:nvSpPr>
        <p:spPr>
          <a:xfrm>
            <a:off x="9345167" y="3429000"/>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fibres transfer stress across opening cracks</a:t>
            </a:r>
          </a:p>
        </p:txBody>
      </p:sp>
      <p:sp>
        <p:nvSpPr>
          <p:cNvPr id="25" name="TextBox 24"/>
          <p:cNvSpPr txBox="1"/>
          <p:nvPr/>
        </p:nvSpPr>
        <p:spPr>
          <a:xfrm>
            <a:off x="6144768" y="4142231"/>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PULL OUT</a:t>
            </a:r>
          </a:p>
        </p:txBody>
      </p:sp>
      <p:sp>
        <p:nvSpPr>
          <p:cNvPr id="26" name="TextBox 25"/>
          <p:cNvSpPr txBox="1"/>
          <p:nvPr/>
        </p:nvSpPr>
        <p:spPr>
          <a:xfrm>
            <a:off x="6858000" y="4133087"/>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friction extends the failure process</a:t>
            </a:r>
          </a:p>
        </p:txBody>
      </p:sp>
      <p:sp>
        <p:nvSpPr>
          <p:cNvPr id="27" name="TextBox 26"/>
          <p:cNvSpPr txBox="1"/>
          <p:nvPr/>
        </p:nvSpPr>
        <p:spPr>
          <a:xfrm>
            <a:off x="8631936" y="4142231"/>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HOLD</a:t>
            </a:r>
          </a:p>
        </p:txBody>
      </p:sp>
      <p:sp>
        <p:nvSpPr>
          <p:cNvPr id="28" name="TextBox 27"/>
          <p:cNvSpPr txBox="1"/>
          <p:nvPr/>
        </p:nvSpPr>
        <p:spPr>
          <a:xfrm>
            <a:off x="9345167" y="4133087"/>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reinforcement restrains large fragments</a:t>
            </a:r>
          </a:p>
        </p:txBody>
      </p:sp>
      <p:sp>
        <p:nvSpPr>
          <p:cNvPr id="29" name="Rounded Rectangle 28"/>
          <p:cNvSpPr/>
          <p:nvPr/>
        </p:nvSpPr>
        <p:spPr>
          <a:xfrm>
            <a:off x="813816" y="5367528"/>
            <a:ext cx="10332720" cy="347472"/>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5449824"/>
            <a:ext cx="10021824" cy="192024"/>
          </a:xfrm>
          <a:prstGeom prst="rect">
            <a:avLst/>
          </a:prstGeom>
          <a:noFill/>
        </p:spPr>
        <p:txBody>
          <a:bodyPr wrap="square" lIns="0" rIns="0" tIns="0" bIns="0" anchor="t">
            <a:spAutoFit/>
          </a:bodyPr>
          <a:lstStyle/>
          <a:p>
            <a:pPr algn="l">
              <a:lnSpc>
                <a:spcPct val="100000"/>
              </a:lnSpc>
            </a:pPr>
            <a:r>
              <a:rPr sz="890" b="1" i="0">
                <a:solidFill>
                  <a:srgbClr val="D95D5D"/>
                </a:solidFill>
                <a:latin typeface="Aptos"/>
              </a:rPr>
              <a:t>LWC10 has the highest first-impact displacement (0.85 mm); LWC15 is slightly stiffer (0.71 mm) yet vastly more durable under repeated impact.</a:t>
            </a:r>
          </a:p>
        </p:txBody>
      </p:sp>
      <p:sp>
        <p:nvSpPr>
          <p:cNvPr id="31" name="TextBox 30"/>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 9 and material/failure photos (Figs. 2 and 10). Mechanism supported by Wang &amp; Wang (2013), Gao et al. (1997) and Sahoo et al. (2020). Error values supplied: SD 0.005–0.0686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TECHNO-ECONOMICS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The optimum is expensive per m³—but efficient per absorbed joule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12</a:t>
            </a:r>
          </a:p>
        </p:txBody>
      </p:sp>
      <p:graphicFrame>
        <p:nvGraphicFramePr>
          <p:cNvPr id="10" name="Chart 9"/>
          <p:cNvGraphicFramePr>
            <a:graphicFrameLocks noGrp="1"/>
          </p:cNvGraphicFramePr>
          <p:nvPr/>
        </p:nvGraphicFramePr>
        <p:xfrm>
          <a:off x="676656" y="1344168"/>
          <a:ext cx="5138928" cy="3886200"/>
        </p:xfrm>
        <a:graphic>
          <a:graphicData uri="http://schemas.openxmlformats.org/drawingml/2006/chart">
            <c:chart xmlns:c="http://schemas.openxmlformats.org/drawingml/2006/chart" r:id="rId3"/>
          </a:graphicData>
        </a:graphic>
      </p:graphicFrame>
      <p:sp>
        <p:nvSpPr>
          <p:cNvPr id="11" name="TextBox 10"/>
          <p:cNvSpPr txBox="1"/>
          <p:nvPr/>
        </p:nvSpPr>
        <p:spPr>
          <a:xfrm>
            <a:off x="722376" y="1362456"/>
            <a:ext cx="504748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Material cost</a:t>
            </a:r>
          </a:p>
        </p:txBody>
      </p:sp>
      <p:graphicFrame>
        <p:nvGraphicFramePr>
          <p:cNvPr id="12" name="Chart 11"/>
          <p:cNvGraphicFramePr>
            <a:graphicFrameLocks noGrp="1"/>
          </p:cNvGraphicFramePr>
          <p:nvPr/>
        </p:nvGraphicFramePr>
        <p:xfrm>
          <a:off x="6181344" y="1344168"/>
          <a:ext cx="5138928" cy="3886200"/>
        </p:xfrm>
        <a:graphic>
          <a:graphicData uri="http://schemas.openxmlformats.org/drawingml/2006/chart">
            <c:chart xmlns:c="http://schemas.openxmlformats.org/drawingml/2006/chart" r:id="rId4"/>
          </a:graphicData>
        </a:graphic>
      </p:graphicFrame>
      <p:sp>
        <p:nvSpPr>
          <p:cNvPr id="13" name="TextBox 12"/>
          <p:cNvSpPr txBox="1"/>
          <p:nvPr/>
        </p:nvSpPr>
        <p:spPr>
          <a:xfrm>
            <a:off x="6227064" y="1362456"/>
            <a:ext cx="504748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Laboratory cost / impact energy</a:t>
            </a:r>
          </a:p>
        </p:txBody>
      </p:sp>
      <p:sp>
        <p:nvSpPr>
          <p:cNvPr id="14" name="Rounded Rectangle 13"/>
          <p:cNvSpPr/>
          <p:nvPr/>
        </p:nvSpPr>
        <p:spPr>
          <a:xfrm>
            <a:off x="859536" y="5230368"/>
            <a:ext cx="2286000" cy="292608"/>
          </a:xfrm>
          <a:prstGeom prst="roundRect">
            <a:avLst>
              <a:gd name="adj" fmla="val 50000"/>
            </a:avLst>
          </a:prstGeom>
          <a:solidFill>
            <a:srgbClr val="FBE7E7"/>
          </a:solidFill>
          <a:ln w="10160">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44083"/>
            <a:ext cx="2212848" cy="246888"/>
          </a:xfrm>
          <a:prstGeom prst="rect">
            <a:avLst/>
          </a:prstGeom>
          <a:noFill/>
        </p:spPr>
        <p:txBody>
          <a:bodyPr wrap="square" lIns="0" rIns="0" tIns="0" bIns="0" anchor="ctr">
            <a:spAutoFit/>
          </a:bodyPr>
          <a:lstStyle/>
          <a:p>
            <a:pPr algn="ctr">
              <a:lnSpc>
                <a:spcPct val="100000"/>
              </a:lnSpc>
            </a:pPr>
            <a:r>
              <a:rPr sz="910" b="1" i="0">
                <a:solidFill>
                  <a:srgbClr val="D95D5D"/>
                </a:solidFill>
                <a:latin typeface="Aptos"/>
              </a:rPr>
              <a:t>LWC15 cost = 3.27× NWC</a:t>
            </a:r>
          </a:p>
        </p:txBody>
      </p:sp>
      <p:sp>
        <p:nvSpPr>
          <p:cNvPr id="16" name="Rounded Rectangle 15"/>
          <p:cNvSpPr/>
          <p:nvPr/>
        </p:nvSpPr>
        <p:spPr>
          <a:xfrm>
            <a:off x="3429000" y="5230368"/>
            <a:ext cx="2057400"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65576" y="5244083"/>
            <a:ext cx="1984248" cy="246888"/>
          </a:xfrm>
          <a:prstGeom prst="rect">
            <a:avLst/>
          </a:prstGeom>
          <a:noFill/>
        </p:spPr>
        <p:txBody>
          <a:bodyPr wrap="square" lIns="0" rIns="0" tIns="0" bIns="0" anchor="ctr">
            <a:spAutoFit/>
          </a:bodyPr>
          <a:lstStyle/>
          <a:p>
            <a:pPr algn="ctr">
              <a:lnSpc>
                <a:spcPct val="100000"/>
              </a:lnSpc>
            </a:pPr>
            <a:r>
              <a:rPr sz="910" b="1" i="0">
                <a:solidFill>
                  <a:srgbClr val="F39C3D"/>
                </a:solidFill>
                <a:latin typeface="Aptos"/>
              </a:rPr>
              <a:t>Steel fibre dominates cost</a:t>
            </a:r>
          </a:p>
        </p:txBody>
      </p:sp>
      <p:sp>
        <p:nvSpPr>
          <p:cNvPr id="18" name="Rounded Rectangle 17"/>
          <p:cNvSpPr/>
          <p:nvPr/>
        </p:nvSpPr>
        <p:spPr>
          <a:xfrm>
            <a:off x="6419088" y="5230368"/>
            <a:ext cx="2450592" cy="292608"/>
          </a:xfrm>
          <a:prstGeom prst="roundRect">
            <a:avLst>
              <a:gd name="adj" fmla="val 50000"/>
            </a:avLst>
          </a:prstGeom>
          <a:solidFill>
            <a:srgbClr val="DDF5F4"/>
          </a:solidFill>
          <a:ln w="10160">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5244083"/>
            <a:ext cx="2377440" cy="246888"/>
          </a:xfrm>
          <a:prstGeom prst="rect">
            <a:avLst/>
          </a:prstGeom>
          <a:noFill/>
        </p:spPr>
        <p:txBody>
          <a:bodyPr wrap="square" lIns="0" rIns="0" tIns="0" bIns="0" anchor="ctr">
            <a:spAutoFit/>
          </a:bodyPr>
          <a:lstStyle/>
          <a:p>
            <a:pPr algn="ctr">
              <a:lnSpc>
                <a:spcPct val="100000"/>
              </a:lnSpc>
            </a:pPr>
            <a:r>
              <a:rPr sz="910" b="1" i="0">
                <a:solidFill>
                  <a:srgbClr val="178D86"/>
                </a:solidFill>
                <a:latin typeface="Aptos"/>
              </a:rPr>
              <a:t>Unit impact value = 16.9× better</a:t>
            </a:r>
          </a:p>
        </p:txBody>
      </p:sp>
      <p:sp>
        <p:nvSpPr>
          <p:cNvPr id="20" name="Rounded Rectangle 19"/>
          <p:cNvSpPr/>
          <p:nvPr/>
        </p:nvSpPr>
        <p:spPr>
          <a:xfrm>
            <a:off x="9144000" y="5230368"/>
            <a:ext cx="1920240"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5244083"/>
            <a:ext cx="1847088" cy="246888"/>
          </a:xfrm>
          <a:prstGeom prst="rect">
            <a:avLst/>
          </a:prstGeom>
          <a:noFill/>
        </p:spPr>
        <p:txBody>
          <a:bodyPr wrap="square" lIns="0" rIns="0" tIns="0" bIns="0" anchor="ctr">
            <a:spAutoFit/>
          </a:bodyPr>
          <a:lstStyle/>
          <a:p>
            <a:pPr algn="ctr">
              <a:lnSpc>
                <a:spcPct val="100000"/>
              </a:lnSpc>
            </a:pPr>
            <a:r>
              <a:rPr sz="910" b="1" i="0">
                <a:solidFill>
                  <a:srgbClr val="2B78A6"/>
                </a:solidFill>
                <a:latin typeface="Aptos"/>
              </a:rPr>
              <a:t>₹5.53 per N·m</a:t>
            </a:r>
          </a:p>
        </p:txBody>
      </p:sp>
      <p:sp>
        <p:nvSpPr>
          <p:cNvPr id="22" name="TextBox 21"/>
          <p:cNvSpPr txBox="1"/>
          <p:nvPr/>
        </p:nvSpPr>
        <p:spPr>
          <a:xfrm>
            <a:off x="676656"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Tables 7 and 10. Local material prices × mix quantities; cost/energy uses prism E₂. Excludes labour, transport, curing, reinforcement, fabrication, repair, service life, inflation and test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SCALED VALIDATION</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Application-scale test: 1:3 New Jersey barrier under pendulum impact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13</a:t>
            </a:r>
          </a:p>
        </p:txBody>
      </p:sp>
      <p:pic>
        <p:nvPicPr>
          <p:cNvPr id="10" name="Picture 9" descr="barrier_geometry_contain.jpg"/>
          <p:cNvPicPr>
            <a:picLocks noChangeAspect="1"/>
          </p:cNvPicPr>
          <p:nvPr/>
        </p:nvPicPr>
        <p:blipFill>
          <a:blip r:embed="rId3"/>
          <a:stretch>
            <a:fillRect/>
          </a:stretch>
        </p:blipFill>
        <p:spPr>
          <a:xfrm>
            <a:off x="658368" y="1225296"/>
            <a:ext cx="5166360" cy="3493008"/>
          </a:xfrm>
          <a:prstGeom prst="rect">
            <a:avLst/>
          </a:prstGeom>
        </p:spPr>
      </p:pic>
      <p:pic>
        <p:nvPicPr>
          <p:cNvPr id="11" name="Picture 10" descr="pendulum_setup_contain.jpg"/>
          <p:cNvPicPr>
            <a:picLocks noChangeAspect="1"/>
          </p:cNvPicPr>
          <p:nvPr/>
        </p:nvPicPr>
        <p:blipFill>
          <a:blip r:embed="rId4"/>
          <a:stretch>
            <a:fillRect/>
          </a:stretch>
        </p:blipFill>
        <p:spPr>
          <a:xfrm>
            <a:off x="6099048" y="1225296"/>
            <a:ext cx="5166360" cy="3493008"/>
          </a:xfrm>
          <a:prstGeom prst="rect">
            <a:avLst/>
          </a:prstGeom>
        </p:spPr>
      </p:pic>
      <p:sp>
        <p:nvSpPr>
          <p:cNvPr id="12" name="TextBox 11"/>
          <p:cNvSpPr txBox="1"/>
          <p:nvPr/>
        </p:nvSpPr>
        <p:spPr>
          <a:xfrm>
            <a:off x="841248" y="4361688"/>
            <a:ext cx="4800600" cy="265176"/>
          </a:xfrm>
          <a:prstGeom prst="rect">
            <a:avLst/>
          </a:prstGeom>
          <a:noFill/>
        </p:spPr>
        <p:txBody>
          <a:bodyPr wrap="square" lIns="0" rIns="0" tIns="0" bIns="0" anchor="t">
            <a:spAutoFit/>
          </a:bodyPr>
          <a:lstStyle/>
          <a:p>
            <a:pPr algn="ctr">
              <a:lnSpc>
                <a:spcPct val="100000"/>
              </a:lnSpc>
            </a:pPr>
            <a:r>
              <a:rPr sz="850" b="1" i="0">
                <a:solidFill>
                  <a:srgbClr val="172733"/>
                </a:solidFill>
                <a:latin typeface="Aptos"/>
              </a:rPr>
              <a:t>Full-scale and 1:3 cross-section / reinforcement geometry</a:t>
            </a:r>
          </a:p>
        </p:txBody>
      </p:sp>
      <p:sp>
        <p:nvSpPr>
          <p:cNvPr id="13" name="TextBox 12"/>
          <p:cNvSpPr txBox="1"/>
          <p:nvPr/>
        </p:nvSpPr>
        <p:spPr>
          <a:xfrm>
            <a:off x="6281928" y="4361688"/>
            <a:ext cx="4800600" cy="265176"/>
          </a:xfrm>
          <a:prstGeom prst="rect">
            <a:avLst/>
          </a:prstGeom>
          <a:noFill/>
        </p:spPr>
        <p:txBody>
          <a:bodyPr wrap="square" lIns="0" rIns="0" tIns="0" bIns="0" anchor="t">
            <a:spAutoFit/>
          </a:bodyPr>
          <a:lstStyle/>
          <a:p>
            <a:pPr algn="ctr">
              <a:lnSpc>
                <a:spcPct val="100000"/>
              </a:lnSpc>
            </a:pPr>
            <a:r>
              <a:rPr sz="850" b="1" i="0">
                <a:solidFill>
                  <a:srgbClr val="172733"/>
                </a:solidFill>
                <a:latin typeface="Aptos"/>
              </a:rPr>
              <a:t>Pendulum rig: restrained specimen; rear-face accelerometer</a:t>
            </a:r>
          </a:p>
        </p:txBody>
      </p:sp>
      <p:sp>
        <p:nvSpPr>
          <p:cNvPr id="14" name="Rounded Rectangle 13"/>
          <p:cNvSpPr/>
          <p:nvPr/>
        </p:nvSpPr>
        <p:spPr>
          <a:xfrm>
            <a:off x="768096"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992624"/>
            <a:ext cx="2048256" cy="438912"/>
          </a:xfrm>
          <a:prstGeom prst="rect">
            <a:avLst/>
          </a:prstGeom>
          <a:noFill/>
        </p:spPr>
        <p:txBody>
          <a:bodyPr wrap="square" lIns="0" rIns="0" tIns="0" bIns="0" anchor="ctr">
            <a:spAutoFit/>
          </a:bodyPr>
          <a:lstStyle/>
          <a:p>
            <a:pPr algn="l">
              <a:lnSpc>
                <a:spcPct val="100000"/>
              </a:lnSpc>
            </a:pPr>
            <a:r>
              <a:rPr sz="1700" b="1" i="0">
                <a:solidFill>
                  <a:srgbClr val="2B78A6"/>
                </a:solidFill>
                <a:latin typeface="Aptos Display"/>
              </a:rPr>
              <a:t>40 kg</a:t>
            </a:r>
          </a:p>
        </p:txBody>
      </p:sp>
      <p:sp>
        <p:nvSpPr>
          <p:cNvPr id="16" name="TextBox 15"/>
          <p:cNvSpPr txBox="1"/>
          <p:nvPr/>
        </p:nvSpPr>
        <p:spPr>
          <a:xfrm>
            <a:off x="932688"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impactor</a:t>
            </a:r>
          </a:p>
        </p:txBody>
      </p:sp>
      <p:sp>
        <p:nvSpPr>
          <p:cNvPr id="17" name="Rounded Rectangle 16"/>
          <p:cNvSpPr/>
          <p:nvPr/>
        </p:nvSpPr>
        <p:spPr>
          <a:xfrm>
            <a:off x="3447288"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4992624"/>
            <a:ext cx="2048256" cy="438912"/>
          </a:xfrm>
          <a:prstGeom prst="rect">
            <a:avLst/>
          </a:prstGeom>
          <a:noFill/>
        </p:spPr>
        <p:txBody>
          <a:bodyPr wrap="square" lIns="0" rIns="0" tIns="0" bIns="0" anchor="ctr">
            <a:spAutoFit/>
          </a:bodyPr>
          <a:lstStyle/>
          <a:p>
            <a:pPr algn="l">
              <a:lnSpc>
                <a:spcPct val="100000"/>
              </a:lnSpc>
            </a:pPr>
            <a:r>
              <a:rPr sz="1700" b="1" i="0">
                <a:solidFill>
                  <a:srgbClr val="22B8C7"/>
                </a:solidFill>
                <a:latin typeface="Aptos Display"/>
              </a:rPr>
              <a:t>0.35 m</a:t>
            </a:r>
          </a:p>
        </p:txBody>
      </p:sp>
      <p:sp>
        <p:nvSpPr>
          <p:cNvPr id="19" name="TextBox 18"/>
          <p:cNvSpPr txBox="1"/>
          <p:nvPr/>
        </p:nvSpPr>
        <p:spPr>
          <a:xfrm>
            <a:off x="3611880"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vertical rise</a:t>
            </a:r>
          </a:p>
        </p:txBody>
      </p:sp>
      <p:sp>
        <p:nvSpPr>
          <p:cNvPr id="20" name="Rounded Rectangle 19"/>
          <p:cNvSpPr/>
          <p:nvPr/>
        </p:nvSpPr>
        <p:spPr>
          <a:xfrm>
            <a:off x="6126480"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992624"/>
            <a:ext cx="2048256" cy="438912"/>
          </a:xfrm>
          <a:prstGeom prst="rect">
            <a:avLst/>
          </a:prstGeom>
          <a:noFill/>
        </p:spPr>
        <p:txBody>
          <a:bodyPr wrap="square" lIns="0" rIns="0" tIns="0" bIns="0" anchor="ctr">
            <a:spAutoFit/>
          </a:bodyPr>
          <a:lstStyle/>
          <a:p>
            <a:pPr algn="l">
              <a:lnSpc>
                <a:spcPct val="100000"/>
              </a:lnSpc>
            </a:pPr>
            <a:r>
              <a:rPr sz="1700" b="1" i="0">
                <a:solidFill>
                  <a:srgbClr val="F39C3D"/>
                </a:solidFill>
                <a:latin typeface="Aptos Display"/>
              </a:rPr>
              <a:t>≈137.3 J</a:t>
            </a:r>
          </a:p>
        </p:txBody>
      </p:sp>
      <p:sp>
        <p:nvSpPr>
          <p:cNvPr id="22" name="TextBox 21"/>
          <p:cNvSpPr txBox="1"/>
          <p:nvPr/>
        </p:nvSpPr>
        <p:spPr>
          <a:xfrm>
            <a:off x="6291072"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energy / blow</a:t>
            </a:r>
          </a:p>
        </p:txBody>
      </p:sp>
      <p:sp>
        <p:nvSpPr>
          <p:cNvPr id="23" name="Rounded Rectangle 22"/>
          <p:cNvSpPr/>
          <p:nvPr/>
        </p:nvSpPr>
        <p:spPr>
          <a:xfrm>
            <a:off x="8805672"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70264" y="4992624"/>
            <a:ext cx="2048256" cy="438912"/>
          </a:xfrm>
          <a:prstGeom prst="rect">
            <a:avLst/>
          </a:prstGeom>
          <a:noFill/>
        </p:spPr>
        <p:txBody>
          <a:bodyPr wrap="square" lIns="0" rIns="0" tIns="0" bIns="0" anchor="ctr">
            <a:spAutoFit/>
          </a:bodyPr>
          <a:lstStyle/>
          <a:p>
            <a:pPr algn="l">
              <a:lnSpc>
                <a:spcPct val="100000"/>
              </a:lnSpc>
            </a:pPr>
            <a:r>
              <a:rPr sz="1700" b="1" i="0">
                <a:solidFill>
                  <a:srgbClr val="D95D5D"/>
                </a:solidFill>
                <a:latin typeface="Aptos Display"/>
              </a:rPr>
              <a:t>1 each</a:t>
            </a:r>
          </a:p>
        </p:txBody>
      </p:sp>
      <p:sp>
        <p:nvSpPr>
          <p:cNvPr id="25" name="TextBox 24"/>
          <p:cNvSpPr txBox="1"/>
          <p:nvPr/>
        </p:nvSpPr>
        <p:spPr>
          <a:xfrm>
            <a:off x="8970264"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barrier / mix</a:t>
            </a:r>
          </a:p>
        </p:txBody>
      </p:sp>
      <p:sp>
        <p:nvSpPr>
          <p:cNvPr id="26" name="TextBox 25"/>
          <p:cNvSpPr txBox="1"/>
          <p:nvPr/>
        </p:nvSpPr>
        <p:spPr>
          <a:xfrm>
            <a:off x="667512" y="5870448"/>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Inventor-supplied manuscript Figs. 5–7; Testing Methods. Geometry scaled 1:3 using dimensional similarity; energy per blow = 40 × 9.81 × 0.35 ≈ 137.3 J. One NWC and one LWC15 barrier were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BARRIER RESULTS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Scaled-barrier validation preserves the direction of benefit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14</a:t>
            </a:r>
          </a:p>
        </p:txBody>
      </p:sp>
      <p:pic>
        <p:nvPicPr>
          <p:cNvPr id="10" name="Picture 9" descr="barrier_failure_contain.jpg"/>
          <p:cNvPicPr>
            <a:picLocks noChangeAspect="1"/>
          </p:cNvPicPr>
          <p:nvPr/>
        </p:nvPicPr>
        <p:blipFill>
          <a:blip r:embed="rId3"/>
          <a:stretch>
            <a:fillRect/>
          </a:stretch>
        </p:blipFill>
        <p:spPr>
          <a:xfrm>
            <a:off x="658368" y="1252728"/>
            <a:ext cx="5212080" cy="4142232"/>
          </a:xfrm>
          <a:prstGeom prst="rect">
            <a:avLst/>
          </a:prstGeom>
        </p:spPr>
      </p:pic>
      <p:graphicFrame>
        <p:nvGraphicFramePr>
          <p:cNvPr id="11" name="Chart 10"/>
          <p:cNvGraphicFramePr>
            <a:graphicFrameLocks noGrp="1"/>
          </p:cNvGraphicFramePr>
          <p:nvPr/>
        </p:nvGraphicFramePr>
        <p:xfrm>
          <a:off x="6172200" y="1280160"/>
          <a:ext cx="2532888" cy="2880360"/>
        </p:xfrm>
        <a:graphic>
          <a:graphicData uri="http://schemas.openxmlformats.org/drawingml/2006/chart">
            <c:chart xmlns:c="http://schemas.openxmlformats.org/drawingml/2006/chart" r:id="rId4"/>
          </a:graphicData>
        </a:graphic>
      </p:graphicFrame>
      <p:sp>
        <p:nvSpPr>
          <p:cNvPr id="12" name="TextBox 11"/>
          <p:cNvSpPr txBox="1"/>
          <p:nvPr/>
        </p:nvSpPr>
        <p:spPr>
          <a:xfrm>
            <a:off x="6217920" y="1298448"/>
            <a:ext cx="24414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Energy to failure</a:t>
            </a:r>
          </a:p>
        </p:txBody>
      </p:sp>
      <p:graphicFrame>
        <p:nvGraphicFramePr>
          <p:cNvPr id="13" name="Chart 12"/>
          <p:cNvGraphicFramePr>
            <a:graphicFrameLocks noGrp="1"/>
          </p:cNvGraphicFramePr>
          <p:nvPr/>
        </p:nvGraphicFramePr>
        <p:xfrm>
          <a:off x="8942832" y="1280160"/>
          <a:ext cx="2532888" cy="2880360"/>
        </p:xfrm>
        <a:graphic>
          <a:graphicData uri="http://schemas.openxmlformats.org/drawingml/2006/chart">
            <c:chart xmlns:c="http://schemas.openxmlformats.org/drawingml/2006/chart" r:id="rId5"/>
          </a:graphicData>
        </a:graphic>
      </p:graphicFrame>
      <p:sp>
        <p:nvSpPr>
          <p:cNvPr id="14" name="TextBox 13"/>
          <p:cNvSpPr txBox="1"/>
          <p:nvPr/>
        </p:nvSpPr>
        <p:spPr>
          <a:xfrm>
            <a:off x="8988552" y="1298448"/>
            <a:ext cx="24414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Peak deformation</a:t>
            </a:r>
          </a:p>
        </p:txBody>
      </p:sp>
      <p:sp>
        <p:nvSpPr>
          <p:cNvPr id="15" name="Rounded Rectangle 14"/>
          <p:cNvSpPr/>
          <p:nvPr/>
        </p:nvSpPr>
        <p:spPr>
          <a:xfrm>
            <a:off x="6172200" y="4407408"/>
            <a:ext cx="162763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4553712"/>
            <a:ext cx="1298448" cy="438912"/>
          </a:xfrm>
          <a:prstGeom prst="rect">
            <a:avLst/>
          </a:prstGeom>
          <a:noFill/>
        </p:spPr>
        <p:txBody>
          <a:bodyPr wrap="square" lIns="0" rIns="0" tIns="0" bIns="0" anchor="ctr">
            <a:spAutoFit/>
          </a:bodyPr>
          <a:lstStyle/>
          <a:p>
            <a:pPr algn="l">
              <a:lnSpc>
                <a:spcPct val="100000"/>
              </a:lnSpc>
            </a:pPr>
            <a:r>
              <a:rPr sz="2000" b="1" i="0">
                <a:solidFill>
                  <a:srgbClr val="D95D5D"/>
                </a:solidFill>
                <a:latin typeface="Aptos Display"/>
              </a:rPr>
              <a:t>2.0×</a:t>
            </a:r>
          </a:p>
        </p:txBody>
      </p:sp>
      <p:sp>
        <p:nvSpPr>
          <p:cNvPr id="17" name="TextBox 16"/>
          <p:cNvSpPr txBox="1"/>
          <p:nvPr/>
        </p:nvSpPr>
        <p:spPr>
          <a:xfrm>
            <a:off x="6336792" y="5047488"/>
            <a:ext cx="12984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failure energy</a:t>
            </a:r>
          </a:p>
        </p:txBody>
      </p:sp>
      <p:sp>
        <p:nvSpPr>
          <p:cNvPr id="18" name="Rounded Rectangle 17"/>
          <p:cNvSpPr/>
          <p:nvPr/>
        </p:nvSpPr>
        <p:spPr>
          <a:xfrm>
            <a:off x="7918704" y="4407408"/>
            <a:ext cx="162763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4553712"/>
            <a:ext cx="1298448" cy="438912"/>
          </a:xfrm>
          <a:prstGeom prst="rect">
            <a:avLst/>
          </a:prstGeom>
          <a:noFill/>
        </p:spPr>
        <p:txBody>
          <a:bodyPr wrap="square" lIns="0" rIns="0" tIns="0" bIns="0" anchor="ctr">
            <a:spAutoFit/>
          </a:bodyPr>
          <a:lstStyle/>
          <a:p>
            <a:pPr algn="l">
              <a:lnSpc>
                <a:spcPct val="100000"/>
              </a:lnSpc>
            </a:pPr>
            <a:r>
              <a:rPr sz="2000" b="1" i="0">
                <a:solidFill>
                  <a:srgbClr val="F39C3D"/>
                </a:solidFill>
                <a:latin typeface="Aptos Display"/>
              </a:rPr>
              <a:t>3.01×</a:t>
            </a:r>
          </a:p>
        </p:txBody>
      </p:sp>
      <p:sp>
        <p:nvSpPr>
          <p:cNvPr id="20" name="TextBox 19"/>
          <p:cNvSpPr txBox="1"/>
          <p:nvPr/>
        </p:nvSpPr>
        <p:spPr>
          <a:xfrm>
            <a:off x="8083296" y="5047488"/>
            <a:ext cx="12984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deformation</a:t>
            </a:r>
          </a:p>
        </p:txBody>
      </p:sp>
      <p:sp>
        <p:nvSpPr>
          <p:cNvPr id="21" name="Rounded Rectangle 20"/>
          <p:cNvSpPr/>
          <p:nvPr/>
        </p:nvSpPr>
        <p:spPr>
          <a:xfrm>
            <a:off x="9665208" y="4407408"/>
            <a:ext cx="181051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29800" y="4553712"/>
            <a:ext cx="1481328" cy="438912"/>
          </a:xfrm>
          <a:prstGeom prst="rect">
            <a:avLst/>
          </a:prstGeom>
          <a:noFill/>
        </p:spPr>
        <p:txBody>
          <a:bodyPr wrap="square" lIns="0" rIns="0" tIns="0" bIns="0" anchor="ctr">
            <a:spAutoFit/>
          </a:bodyPr>
          <a:lstStyle/>
          <a:p>
            <a:pPr algn="l">
              <a:lnSpc>
                <a:spcPct val="100000"/>
              </a:lnSpc>
            </a:pPr>
            <a:r>
              <a:rPr sz="2000" b="1" i="0">
                <a:solidFill>
                  <a:srgbClr val="178D86"/>
                </a:solidFill>
                <a:latin typeface="Aptos Display"/>
              </a:rPr>
              <a:t>20 vs 10</a:t>
            </a:r>
          </a:p>
        </p:txBody>
      </p:sp>
      <p:sp>
        <p:nvSpPr>
          <p:cNvPr id="23" name="TextBox 22"/>
          <p:cNvSpPr txBox="1"/>
          <p:nvPr/>
        </p:nvSpPr>
        <p:spPr>
          <a:xfrm>
            <a:off x="9829800" y="5047488"/>
            <a:ext cx="148132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blows to failure</a:t>
            </a:r>
          </a:p>
        </p:txBody>
      </p:sp>
      <p:sp>
        <p:nvSpPr>
          <p:cNvPr id="24" name="Rounded Rectangle 23"/>
          <p:cNvSpPr/>
          <p:nvPr/>
        </p:nvSpPr>
        <p:spPr>
          <a:xfrm>
            <a:off x="749808" y="5504688"/>
            <a:ext cx="10652760" cy="320040"/>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577840"/>
            <a:ext cx="10287000" cy="182880"/>
          </a:xfrm>
          <a:prstGeom prst="rect">
            <a:avLst/>
          </a:prstGeom>
          <a:noFill/>
        </p:spPr>
        <p:txBody>
          <a:bodyPr wrap="square" lIns="0" rIns="0" tIns="0" bIns="0" anchor="t">
            <a:spAutoFit/>
          </a:bodyPr>
          <a:lstStyle/>
          <a:p>
            <a:pPr algn="l">
              <a:lnSpc>
                <a:spcPct val="100000"/>
              </a:lnSpc>
            </a:pPr>
            <a:r>
              <a:rPr sz="860" b="1" i="0">
                <a:solidFill>
                  <a:srgbClr val="D95D5D"/>
                </a:solidFill>
                <a:latin typeface="Aptos"/>
              </a:rPr>
              <a:t>Fragmentation observation is qualitative: LWC15 showed finer, more distributed debris; particle-size/mass and ejection-velocity measurements are still required.</a:t>
            </a:r>
          </a:p>
        </p:txBody>
      </p:sp>
      <p:sp>
        <p:nvSpPr>
          <p:cNvPr id="26" name="TextBox 25"/>
          <p:cNvSpPr txBox="1"/>
          <p:nvPr/>
        </p:nvSpPr>
        <p:spPr>
          <a:xfrm>
            <a:off x="667512" y="589788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Tables 11–12 and Fig. 16. NWC: N₂=10, E₂=1,373 N·m, 4.22 mm; LWC15: N₂=20, E₂=2,746 N·m, 12.70 mm. n=1 barrier per mix.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IP EVIDENCE MAP</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Measured evidence maps to a layered patent strategy</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15</a:t>
            </a:r>
          </a:p>
        </p:txBody>
      </p:sp>
      <p:graphicFrame>
        <p:nvGraphicFramePr>
          <p:cNvPr id="10" name="Table 9"/>
          <p:cNvGraphicFramePr>
            <a:graphicFrameLocks noGrp="1"/>
          </p:cNvGraphicFramePr>
          <p:nvPr/>
        </p:nvGraphicFramePr>
        <p:xfrm>
          <a:off x="658368" y="1207008"/>
          <a:ext cx="6812277" cy="4251960"/>
        </p:xfrm>
        <a:graphic>
          <a:graphicData uri="http://schemas.openxmlformats.org/drawingml/2006/table">
            <a:tbl>
              <a:tblPr firstRow="1" bandRow="1">
                <a:tableStyleId>{5C22544A-7EE6-4342-B048-85BDC9FD1C3A}</a:tableStyleId>
              </a:tblPr>
              <a:tblGrid>
                <a:gridCol w="1487187"/>
                <a:gridCol w="2254768"/>
                <a:gridCol w="2062873"/>
                <a:gridCol w="1007449"/>
              </a:tblGrid>
              <a:tr h="607422">
                <a:tc>
                  <a:txBody>
                    <a:bodyPr/>
                    <a:lstStyle/>
                    <a:p>
                      <a:pPr algn="l"/>
                      <a:r>
                        <a:rPr sz="840" b="1" i="0">
                          <a:solidFill>
                            <a:srgbClr val="FFFFFF"/>
                          </a:solidFill>
                          <a:latin typeface="Aptos"/>
                        </a:rPr>
                        <a:t>Evidence</a:t>
                      </a:r>
                    </a:p>
                  </a:txBody>
                  <a:tcPr marL="36576" marR="36576" marT="27432" marB="27432" anchor="ctr">
                    <a:solidFill>
                      <a:srgbClr val="08243A"/>
                    </a:solidFill>
                  </a:tcPr>
                </a:tc>
                <a:tc>
                  <a:txBody>
                    <a:bodyPr/>
                    <a:lstStyle/>
                    <a:p>
                      <a:pPr algn="ctr"/>
                      <a:r>
                        <a:rPr sz="840" b="1" i="0">
                          <a:solidFill>
                            <a:srgbClr val="FFFFFF"/>
                          </a:solidFill>
                          <a:latin typeface="Aptos"/>
                        </a:rPr>
                        <a:t>Observed LWC15 result</a:t>
                      </a:r>
                    </a:p>
                  </a:txBody>
                  <a:tcPr marL="36576" marR="36576" marT="27432" marB="27432" anchor="ctr">
                    <a:solidFill>
                      <a:srgbClr val="08243A"/>
                    </a:solidFill>
                  </a:tcPr>
                </a:tc>
                <a:tc>
                  <a:txBody>
                    <a:bodyPr/>
                    <a:lstStyle/>
                    <a:p>
                      <a:pPr algn="ctr"/>
                      <a:r>
                        <a:rPr sz="840" b="1" i="0">
                          <a:solidFill>
                            <a:srgbClr val="FFFFFF"/>
                          </a:solidFill>
                          <a:latin typeface="Aptos"/>
                        </a:rPr>
                        <a:t>Supports</a:t>
                      </a:r>
                    </a:p>
                  </a:txBody>
                  <a:tcPr marL="36576" marR="36576" marT="27432" marB="27432" anchor="ctr">
                    <a:solidFill>
                      <a:srgbClr val="08243A"/>
                    </a:solidFill>
                  </a:tcPr>
                </a:tc>
                <a:tc>
                  <a:txBody>
                    <a:bodyPr/>
                    <a:lstStyle/>
                    <a:p>
                      <a:pPr algn="ctr"/>
                      <a:r>
                        <a:rPr sz="840" b="1" i="0">
                          <a:solidFill>
                            <a:srgbClr val="FFFFFF"/>
                          </a:solidFill>
                          <a:latin typeface="Aptos"/>
                        </a:rPr>
                        <a:t>Confidence</a:t>
                      </a:r>
                    </a:p>
                  </a:txBody>
                  <a:tcPr marL="36576" marR="36576" marT="27432" marB="27432" anchor="ctr">
                    <a:solidFill>
                      <a:srgbClr val="08243A"/>
                    </a:solidFill>
                  </a:tcPr>
                </a:tc>
              </a:tr>
              <a:tr h="607422">
                <a:tc>
                  <a:txBody>
                    <a:bodyPr/>
                    <a:lstStyle/>
                    <a:p>
                      <a:pPr algn="l"/>
                      <a:r>
                        <a:rPr sz="860" b="1" i="0">
                          <a:solidFill>
                            <a:srgbClr val="172733"/>
                          </a:solidFill>
                          <a:latin typeface="Aptos"/>
                        </a:rPr>
                        <a:t>Reported density</a:t>
                      </a:r>
                    </a:p>
                  </a:txBody>
                  <a:tcPr marL="36576" marR="36576" marT="27432" marB="27432" anchor="ctr">
                    <a:solidFill>
                      <a:srgbClr val="FFFFFF"/>
                    </a:solidFill>
                  </a:tcPr>
                </a:tc>
                <a:tc>
                  <a:txBody>
                    <a:bodyPr/>
                    <a:lstStyle/>
                    <a:p>
                      <a:pPr algn="ctr"/>
                      <a:r>
                        <a:rPr sz="860" b="0" i="0">
                          <a:solidFill>
                            <a:srgbClr val="172733"/>
                          </a:solidFill>
                          <a:latin typeface="Aptos"/>
                        </a:rPr>
                        <a:t>1,987 kg/m³; −19.4% vs NWC</a:t>
                      </a:r>
                    </a:p>
                  </a:txBody>
                  <a:tcPr marL="36576" marR="36576" marT="27432" marB="27432" anchor="ctr">
                    <a:solidFill>
                      <a:srgbClr val="FFFFFF"/>
                    </a:solidFill>
                  </a:tcPr>
                </a:tc>
                <a:tc>
                  <a:txBody>
                    <a:bodyPr/>
                    <a:lstStyle/>
                    <a:p>
                      <a:pPr algn="ctr"/>
                      <a:r>
                        <a:rPr sz="860" b="0" i="0">
                          <a:solidFill>
                            <a:srgbClr val="172733"/>
                          </a:solidFill>
                          <a:latin typeface="Aptos"/>
                        </a:rPr>
                        <a:t>Lightweight article / transport value</a:t>
                      </a:r>
                    </a:p>
                  </a:txBody>
                  <a:tcPr marL="36576" marR="36576" marT="27432" marB="27432" anchor="ctr">
                    <a:solidFill>
                      <a:srgbClr val="FFFFFF"/>
                    </a:solidFill>
                  </a:tcPr>
                </a:tc>
                <a:tc>
                  <a:txBody>
                    <a:bodyPr/>
                    <a:lstStyle/>
                    <a:p>
                      <a:pPr algn="ctr"/>
                      <a:r>
                        <a:rPr sz="860" b="0" i="0">
                          <a:solidFill>
                            <a:srgbClr val="172733"/>
                          </a:solidFill>
                          <a:latin typeface="Aptos"/>
                        </a:rPr>
                        <a:t>Medium*</a:t>
                      </a:r>
                    </a:p>
                  </a:txBody>
                  <a:tcPr marL="36576" marR="36576" marT="27432" marB="27432" anchor="ctr">
                    <a:solidFill>
                      <a:srgbClr val="FFFFFF"/>
                    </a:solidFill>
                  </a:tcPr>
                </a:tc>
              </a:tr>
              <a:tr h="607422">
                <a:tc>
                  <a:txBody>
                    <a:bodyPr/>
                    <a:lstStyle/>
                    <a:p>
                      <a:pPr algn="l"/>
                      <a:r>
                        <a:rPr sz="860" b="1" i="0">
                          <a:solidFill>
                            <a:srgbClr val="172733"/>
                          </a:solidFill>
                          <a:latin typeface="Aptos"/>
                        </a:rPr>
                        <a:t>Compressive strength</a:t>
                      </a:r>
                    </a:p>
                  </a:txBody>
                  <a:tcPr marL="36576" marR="36576" marT="27432" marB="27432" anchor="ctr">
                    <a:solidFill>
                      <a:srgbClr val="F8FAFB"/>
                    </a:solidFill>
                  </a:tcPr>
                </a:tc>
                <a:tc>
                  <a:txBody>
                    <a:bodyPr/>
                    <a:lstStyle/>
                    <a:p>
                      <a:pPr algn="ctr"/>
                      <a:r>
                        <a:rPr sz="860" b="0" i="0">
                          <a:solidFill>
                            <a:srgbClr val="172733"/>
                          </a:solidFill>
                          <a:latin typeface="Aptos"/>
                        </a:rPr>
                        <a:t>55.4 MPa; M40+</a:t>
                      </a:r>
                    </a:p>
                  </a:txBody>
                  <a:tcPr marL="36576" marR="36576" marT="27432" marB="27432" anchor="ctr">
                    <a:solidFill>
                      <a:srgbClr val="F8FAFB"/>
                    </a:solidFill>
                  </a:tcPr>
                </a:tc>
                <a:tc>
                  <a:txBody>
                    <a:bodyPr/>
                    <a:lstStyle/>
                    <a:p>
                      <a:pPr algn="ctr"/>
                      <a:r>
                        <a:rPr sz="860" b="0" i="0">
                          <a:solidFill>
                            <a:srgbClr val="172733"/>
                          </a:solidFill>
                          <a:latin typeface="Aptos"/>
                        </a:rPr>
                        <a:t>Structural-use enablement</a:t>
                      </a:r>
                    </a:p>
                  </a:txBody>
                  <a:tcPr marL="36576" marR="36576" marT="27432" marB="27432" anchor="ctr">
                    <a:solidFill>
                      <a:srgbClr val="F8FAFB"/>
                    </a:solidFill>
                  </a:tcPr>
                </a:tc>
                <a:tc>
                  <a:txBody>
                    <a:bodyPr/>
                    <a:lstStyle/>
                    <a:p>
                      <a:pPr algn="ctr"/>
                      <a:r>
                        <a:rPr sz="860" b="0" i="0">
                          <a:solidFill>
                            <a:srgbClr val="172733"/>
                          </a:solidFill>
                          <a:latin typeface="Aptos"/>
                        </a:rPr>
                        <a:t>High</a:t>
                      </a:r>
                    </a:p>
                  </a:txBody>
                  <a:tcPr marL="36576" marR="36576" marT="27432" marB="27432" anchor="ctr">
                    <a:solidFill>
                      <a:srgbClr val="F8FAFB"/>
                    </a:solidFill>
                  </a:tcPr>
                </a:tc>
              </a:tr>
              <a:tr h="607422">
                <a:tc>
                  <a:txBody>
                    <a:bodyPr/>
                    <a:lstStyle/>
                    <a:p>
                      <a:pPr algn="l"/>
                      <a:r>
                        <a:rPr sz="860" b="1" i="0">
                          <a:solidFill>
                            <a:srgbClr val="172733"/>
                          </a:solidFill>
                          <a:latin typeface="Aptos"/>
                        </a:rPr>
                        <a:t>Split tensile</a:t>
                      </a:r>
                    </a:p>
                  </a:txBody>
                  <a:tcPr marL="36576" marR="36576" marT="27432" marB="27432" anchor="ctr">
                    <a:solidFill>
                      <a:srgbClr val="FFFFFF"/>
                    </a:solidFill>
                  </a:tcPr>
                </a:tc>
                <a:tc>
                  <a:txBody>
                    <a:bodyPr/>
                    <a:lstStyle/>
                    <a:p>
                      <a:pPr algn="ctr"/>
                      <a:r>
                        <a:rPr sz="860" b="0" i="0">
                          <a:solidFill>
                            <a:srgbClr val="172733"/>
                          </a:solidFill>
                          <a:latin typeface="Aptos"/>
                        </a:rPr>
                        <a:t>7.60 MPa; +76%</a:t>
                      </a:r>
                    </a:p>
                  </a:txBody>
                  <a:tcPr marL="36576" marR="36576" marT="27432" marB="27432" anchor="ctr">
                    <a:solidFill>
                      <a:srgbClr val="FFFFFF"/>
                    </a:solidFill>
                  </a:tcPr>
                </a:tc>
                <a:tc>
                  <a:txBody>
                    <a:bodyPr/>
                    <a:lstStyle/>
                    <a:p>
                      <a:pPr algn="ctr"/>
                      <a:r>
                        <a:rPr sz="860" b="0" i="0">
                          <a:solidFill>
                            <a:srgbClr val="172733"/>
                          </a:solidFill>
                          <a:latin typeface="Aptos"/>
                        </a:rPr>
                        <a:t>Fibre-bridging function</a:t>
                      </a:r>
                    </a:p>
                  </a:txBody>
                  <a:tcPr marL="36576" marR="36576" marT="27432" marB="27432" anchor="ctr">
                    <a:solidFill>
                      <a:srgbClr val="FFFFFF"/>
                    </a:solidFill>
                  </a:tcPr>
                </a:tc>
                <a:tc>
                  <a:txBody>
                    <a:bodyPr/>
                    <a:lstStyle/>
                    <a:p>
                      <a:pPr algn="ctr"/>
                      <a:r>
                        <a:rPr sz="860" b="0" i="0">
                          <a:solidFill>
                            <a:srgbClr val="172733"/>
                          </a:solidFill>
                          <a:latin typeface="Aptos"/>
                        </a:rPr>
                        <a:t>High</a:t>
                      </a:r>
                    </a:p>
                  </a:txBody>
                  <a:tcPr marL="36576" marR="36576" marT="27432" marB="27432" anchor="ctr">
                    <a:solidFill>
                      <a:srgbClr val="FFFFFF"/>
                    </a:solidFill>
                  </a:tcPr>
                </a:tc>
              </a:tr>
              <a:tr h="607422">
                <a:tc>
                  <a:txBody>
                    <a:bodyPr/>
                    <a:lstStyle/>
                    <a:p>
                      <a:pPr algn="l"/>
                      <a:r>
                        <a:rPr sz="860" b="1" i="0">
                          <a:solidFill>
                            <a:srgbClr val="172733"/>
                          </a:solidFill>
                          <a:latin typeface="Aptos"/>
                        </a:rPr>
                        <a:t>Prism failure energy</a:t>
                      </a:r>
                    </a:p>
                  </a:txBody>
                  <a:tcPr marL="36576" marR="36576" marT="27432" marB="27432" anchor="ctr">
                    <a:solidFill>
                      <a:srgbClr val="FFF0DF"/>
                    </a:solidFill>
                  </a:tcPr>
                </a:tc>
                <a:tc>
                  <a:txBody>
                    <a:bodyPr/>
                    <a:lstStyle/>
                    <a:p>
                      <a:pPr algn="ctr"/>
                      <a:r>
                        <a:rPr sz="860" b="0" i="0">
                          <a:solidFill>
                            <a:srgbClr val="172733"/>
                          </a:solidFill>
                          <a:latin typeface="Aptos"/>
                        </a:rPr>
                        <a:t>2,927.8 N·m; 55.3× NWC</a:t>
                      </a:r>
                    </a:p>
                  </a:txBody>
                  <a:tcPr marL="36576" marR="36576" marT="27432" marB="27432" anchor="ctr">
                    <a:solidFill>
                      <a:srgbClr val="FFF0DF"/>
                    </a:solidFill>
                  </a:tcPr>
                </a:tc>
                <a:tc>
                  <a:txBody>
                    <a:bodyPr/>
                    <a:lstStyle/>
                    <a:p>
                      <a:pPr algn="ctr"/>
                      <a:r>
                        <a:rPr sz="860" b="0" i="0">
                          <a:solidFill>
                            <a:srgbClr val="172733"/>
                          </a:solidFill>
                          <a:latin typeface="Aptos"/>
                        </a:rPr>
                        <a:t>Unexpected technical effect</a:t>
                      </a:r>
                    </a:p>
                  </a:txBody>
                  <a:tcPr marL="36576" marR="36576" marT="27432" marB="27432" anchor="ctr">
                    <a:solidFill>
                      <a:srgbClr val="FFF0DF"/>
                    </a:solidFill>
                  </a:tcPr>
                </a:tc>
                <a:tc>
                  <a:txBody>
                    <a:bodyPr/>
                    <a:lstStyle/>
                    <a:p>
                      <a:pPr algn="ctr"/>
                      <a:r>
                        <a:rPr sz="860" b="0" i="0">
                          <a:solidFill>
                            <a:srgbClr val="172733"/>
                          </a:solidFill>
                          <a:latin typeface="Aptos"/>
                        </a:rPr>
                        <a:t>Medium</a:t>
                      </a:r>
                    </a:p>
                  </a:txBody>
                  <a:tcPr marL="36576" marR="36576" marT="27432" marB="27432" anchor="ctr">
                    <a:solidFill>
                      <a:srgbClr val="FFF0DF"/>
                    </a:solidFill>
                  </a:tcPr>
                </a:tc>
              </a:tr>
              <a:tr h="607422">
                <a:tc>
                  <a:txBody>
                    <a:bodyPr/>
                    <a:lstStyle/>
                    <a:p>
                      <a:pPr algn="l"/>
                      <a:r>
                        <a:rPr sz="860" b="1" i="0">
                          <a:solidFill>
                            <a:srgbClr val="172733"/>
                          </a:solidFill>
                          <a:latin typeface="Aptos"/>
                        </a:rPr>
                        <a:t>Scaled barrier</a:t>
                      </a:r>
                    </a:p>
                  </a:txBody>
                  <a:tcPr marL="36576" marR="36576" marT="27432" marB="27432" anchor="ctr">
                    <a:solidFill>
                      <a:srgbClr val="DDF5F4"/>
                    </a:solidFill>
                  </a:tcPr>
                </a:tc>
                <a:tc>
                  <a:txBody>
                    <a:bodyPr/>
                    <a:lstStyle/>
                    <a:p>
                      <a:pPr algn="ctr"/>
                      <a:r>
                        <a:rPr sz="860" b="0" i="0">
                          <a:solidFill>
                            <a:srgbClr val="172733"/>
                          </a:solidFill>
                          <a:latin typeface="Aptos"/>
                        </a:rPr>
                        <a:t>2,746 N·m; 2.0× NWC</a:t>
                      </a:r>
                    </a:p>
                  </a:txBody>
                  <a:tcPr marL="36576" marR="36576" marT="27432" marB="27432" anchor="ctr">
                    <a:solidFill>
                      <a:srgbClr val="DDF5F4"/>
                    </a:solidFill>
                  </a:tcPr>
                </a:tc>
                <a:tc>
                  <a:txBody>
                    <a:bodyPr/>
                    <a:lstStyle/>
                    <a:p>
                      <a:pPr algn="ctr"/>
                      <a:r>
                        <a:rPr sz="860" b="0" i="0">
                          <a:solidFill>
                            <a:srgbClr val="172733"/>
                          </a:solidFill>
                          <a:latin typeface="Aptos"/>
                        </a:rPr>
                        <a:t>Barrier-use embodiment</a:t>
                      </a:r>
                    </a:p>
                  </a:txBody>
                  <a:tcPr marL="36576" marR="36576" marT="27432" marB="27432" anchor="ctr">
                    <a:solidFill>
                      <a:srgbClr val="DDF5F4"/>
                    </a:solidFill>
                  </a:tcPr>
                </a:tc>
                <a:tc>
                  <a:txBody>
                    <a:bodyPr/>
                    <a:lstStyle/>
                    <a:p>
                      <a:pPr algn="ctr"/>
                      <a:r>
                        <a:rPr sz="860" b="0" i="0">
                          <a:solidFill>
                            <a:srgbClr val="172733"/>
                          </a:solidFill>
                          <a:latin typeface="Aptos"/>
                        </a:rPr>
                        <a:t>Preliminary</a:t>
                      </a:r>
                    </a:p>
                  </a:txBody>
                  <a:tcPr marL="36576" marR="36576" marT="27432" marB="27432" anchor="ctr">
                    <a:solidFill>
                      <a:srgbClr val="DDF5F4"/>
                    </a:solidFill>
                  </a:tcPr>
                </a:tc>
              </a:tr>
              <a:tr h="607428">
                <a:tc>
                  <a:txBody>
                    <a:bodyPr/>
                    <a:lstStyle/>
                    <a:p>
                      <a:pPr algn="l"/>
                      <a:r>
                        <a:rPr sz="860" b="1" i="0">
                          <a:solidFill>
                            <a:srgbClr val="172733"/>
                          </a:solidFill>
                          <a:latin typeface="Aptos"/>
                        </a:rPr>
                        <a:t>Fragmentation</a:t>
                      </a:r>
                    </a:p>
                  </a:txBody>
                  <a:tcPr marL="36576" marR="36576" marT="27432" marB="27432" anchor="ctr">
                    <a:solidFill>
                      <a:srgbClr val="F8FAFB"/>
                    </a:solidFill>
                  </a:tcPr>
                </a:tc>
                <a:tc>
                  <a:txBody>
                    <a:bodyPr/>
                    <a:lstStyle/>
                    <a:p>
                      <a:pPr algn="ctr"/>
                      <a:r>
                        <a:rPr sz="860" b="0" i="0">
                          <a:solidFill>
                            <a:srgbClr val="172733"/>
                          </a:solidFill>
                          <a:latin typeface="Aptos"/>
                        </a:rPr>
                        <a:t>Finer / distributed debris observed</a:t>
                      </a:r>
                    </a:p>
                  </a:txBody>
                  <a:tcPr marL="36576" marR="36576" marT="27432" marB="27432" anchor="ctr">
                    <a:solidFill>
                      <a:srgbClr val="F8FAFB"/>
                    </a:solidFill>
                  </a:tcPr>
                </a:tc>
                <a:tc>
                  <a:txBody>
                    <a:bodyPr/>
                    <a:lstStyle/>
                    <a:p>
                      <a:pPr algn="ctr"/>
                      <a:r>
                        <a:rPr sz="860" b="0" i="0">
                          <a:solidFill>
                            <a:srgbClr val="172733"/>
                          </a:solidFill>
                          <a:latin typeface="Aptos"/>
                        </a:rPr>
                        <a:t>Controlled-damage function</a:t>
                      </a:r>
                    </a:p>
                  </a:txBody>
                  <a:tcPr marL="36576" marR="36576" marT="27432" marB="27432" anchor="ctr">
                    <a:solidFill>
                      <a:srgbClr val="F8FAFB"/>
                    </a:solidFill>
                  </a:tcPr>
                </a:tc>
                <a:tc>
                  <a:txBody>
                    <a:bodyPr/>
                    <a:lstStyle/>
                    <a:p>
                      <a:pPr algn="ctr"/>
                      <a:r>
                        <a:rPr sz="860" b="0" i="0">
                          <a:solidFill>
                            <a:srgbClr val="172733"/>
                          </a:solidFill>
                          <a:latin typeface="Aptos"/>
                        </a:rPr>
                        <a:t>Preliminary</a:t>
                      </a:r>
                    </a:p>
                  </a:txBody>
                  <a:tcPr marL="36576" marR="36576" marT="27432" marB="27432" anchor="ctr">
                    <a:solidFill>
                      <a:srgbClr val="F8FAFB"/>
                    </a:solidFill>
                  </a:tcPr>
                </a:tc>
              </a:tr>
            </a:tbl>
          </a:graphicData>
        </a:graphic>
      </p:graphicFrame>
      <p:sp>
        <p:nvSpPr>
          <p:cNvPr id="11" name="Rounded Rectangle 10"/>
          <p:cNvSpPr/>
          <p:nvPr/>
        </p:nvSpPr>
        <p:spPr>
          <a:xfrm>
            <a:off x="7744968" y="1216152"/>
            <a:ext cx="3584448" cy="4251960"/>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1490472"/>
            <a:ext cx="2999232" cy="365760"/>
          </a:xfrm>
          <a:prstGeom prst="rect">
            <a:avLst/>
          </a:prstGeom>
          <a:noFill/>
        </p:spPr>
        <p:txBody>
          <a:bodyPr wrap="square" lIns="0" rIns="0" tIns="0" bIns="0" anchor="t">
            <a:spAutoFit/>
          </a:bodyPr>
          <a:lstStyle/>
          <a:p>
            <a:pPr algn="l">
              <a:lnSpc>
                <a:spcPct val="100000"/>
              </a:lnSpc>
            </a:pPr>
            <a:r>
              <a:rPr sz="1019" b="1" i="0">
                <a:solidFill>
                  <a:srgbClr val="22B8C7"/>
                </a:solidFill>
                <a:latin typeface="Aptos"/>
              </a:rPr>
              <a:t>ILLUSTRATIVE CLAIM STACK</a:t>
            </a:r>
          </a:p>
        </p:txBody>
      </p:sp>
      <p:sp>
        <p:nvSpPr>
          <p:cNvPr id="13" name="Oval 12"/>
          <p:cNvSpPr/>
          <p:nvPr/>
        </p:nvSpPr>
        <p:spPr>
          <a:xfrm>
            <a:off x="8046720" y="2002536"/>
            <a:ext cx="347472" cy="347472"/>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2002536"/>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A</a:t>
            </a:r>
          </a:p>
        </p:txBody>
      </p:sp>
      <p:sp>
        <p:nvSpPr>
          <p:cNvPr id="15" name="TextBox 14"/>
          <p:cNvSpPr txBox="1"/>
          <p:nvPr/>
        </p:nvSpPr>
        <p:spPr>
          <a:xfrm>
            <a:off x="8503920" y="1993392"/>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Composition</a:t>
            </a:r>
          </a:p>
        </p:txBody>
      </p:sp>
      <p:sp>
        <p:nvSpPr>
          <p:cNvPr id="16" name="TextBox 15"/>
          <p:cNvSpPr txBox="1"/>
          <p:nvPr/>
        </p:nvSpPr>
        <p:spPr>
          <a:xfrm>
            <a:off x="9537192" y="1975104"/>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OPC / GGBS / SFA / hooked-fibre ranges</a:t>
            </a:r>
          </a:p>
        </p:txBody>
      </p:sp>
      <p:sp>
        <p:nvSpPr>
          <p:cNvPr id="17" name="Oval 16"/>
          <p:cNvSpPr/>
          <p:nvPr/>
        </p:nvSpPr>
        <p:spPr>
          <a:xfrm>
            <a:off x="8046720" y="2615184"/>
            <a:ext cx="347472" cy="347472"/>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2615184"/>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B</a:t>
            </a:r>
          </a:p>
        </p:txBody>
      </p:sp>
      <p:sp>
        <p:nvSpPr>
          <p:cNvPr id="19" name="TextBox 18"/>
          <p:cNvSpPr txBox="1"/>
          <p:nvPr/>
        </p:nvSpPr>
        <p:spPr>
          <a:xfrm>
            <a:off x="8503920" y="2606040"/>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Process</a:t>
            </a:r>
          </a:p>
        </p:txBody>
      </p:sp>
      <p:sp>
        <p:nvSpPr>
          <p:cNvPr id="20" name="TextBox 19"/>
          <p:cNvSpPr txBox="1"/>
          <p:nvPr/>
        </p:nvSpPr>
        <p:spPr>
          <a:xfrm>
            <a:off x="9537192" y="2587752"/>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conditioning, sequence, dispersion and QC</a:t>
            </a:r>
          </a:p>
        </p:txBody>
      </p:sp>
      <p:sp>
        <p:nvSpPr>
          <p:cNvPr id="21" name="Oval 20"/>
          <p:cNvSpPr/>
          <p:nvPr/>
        </p:nvSpPr>
        <p:spPr>
          <a:xfrm>
            <a:off x="8046720" y="3227832"/>
            <a:ext cx="347472" cy="347472"/>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0" y="3227832"/>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C</a:t>
            </a:r>
          </a:p>
        </p:txBody>
      </p:sp>
      <p:sp>
        <p:nvSpPr>
          <p:cNvPr id="23" name="TextBox 22"/>
          <p:cNvSpPr txBox="1"/>
          <p:nvPr/>
        </p:nvSpPr>
        <p:spPr>
          <a:xfrm>
            <a:off x="8503920" y="3218688"/>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Barrier article</a:t>
            </a:r>
          </a:p>
        </p:txBody>
      </p:sp>
      <p:sp>
        <p:nvSpPr>
          <p:cNvPr id="24" name="TextBox 23"/>
          <p:cNvSpPr txBox="1"/>
          <p:nvPr/>
        </p:nvSpPr>
        <p:spPr>
          <a:xfrm>
            <a:off x="9537192" y="3200400"/>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profile + reinforcement + invented concrete</a:t>
            </a:r>
          </a:p>
        </p:txBody>
      </p:sp>
      <p:sp>
        <p:nvSpPr>
          <p:cNvPr id="25" name="Oval 24"/>
          <p:cNvSpPr/>
          <p:nvPr/>
        </p:nvSpPr>
        <p:spPr>
          <a:xfrm>
            <a:off x="8046720" y="3840480"/>
            <a:ext cx="347472" cy="347472"/>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3840480"/>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D</a:t>
            </a:r>
          </a:p>
        </p:txBody>
      </p:sp>
      <p:sp>
        <p:nvSpPr>
          <p:cNvPr id="27" name="TextBox 26"/>
          <p:cNvSpPr txBox="1"/>
          <p:nvPr/>
        </p:nvSpPr>
        <p:spPr>
          <a:xfrm>
            <a:off x="8503920" y="3831336"/>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Performance</a:t>
            </a:r>
          </a:p>
        </p:txBody>
      </p:sp>
      <p:sp>
        <p:nvSpPr>
          <p:cNvPr id="28" name="TextBox 27"/>
          <p:cNvSpPr txBox="1"/>
          <p:nvPr/>
        </p:nvSpPr>
        <p:spPr>
          <a:xfrm>
            <a:off x="9537192" y="3813048"/>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density / strength / impact / damage envelope</a:t>
            </a:r>
          </a:p>
        </p:txBody>
      </p:sp>
      <p:sp>
        <p:nvSpPr>
          <p:cNvPr id="29" name="Oval 28"/>
          <p:cNvSpPr/>
          <p:nvPr/>
        </p:nvSpPr>
        <p:spPr>
          <a:xfrm>
            <a:off x="8046720" y="4453128"/>
            <a:ext cx="347472" cy="34747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0" y="4453128"/>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E</a:t>
            </a:r>
          </a:p>
        </p:txBody>
      </p:sp>
      <p:sp>
        <p:nvSpPr>
          <p:cNvPr id="31" name="TextBox 30"/>
          <p:cNvSpPr txBox="1"/>
          <p:nvPr/>
        </p:nvSpPr>
        <p:spPr>
          <a:xfrm>
            <a:off x="8503920" y="4443984"/>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System use</a:t>
            </a:r>
          </a:p>
        </p:txBody>
      </p:sp>
      <p:sp>
        <p:nvSpPr>
          <p:cNvPr id="32" name="TextBox 31"/>
          <p:cNvSpPr txBox="1"/>
          <p:nvPr/>
        </p:nvSpPr>
        <p:spPr>
          <a:xfrm>
            <a:off x="9537192" y="4425696"/>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precast transport-safety applications</a:t>
            </a:r>
          </a:p>
        </p:txBody>
      </p:sp>
      <p:sp>
        <p:nvSpPr>
          <p:cNvPr id="33" name="TextBox 32"/>
          <p:cNvSpPr txBox="1"/>
          <p:nvPr/>
        </p:nvSpPr>
        <p:spPr>
          <a:xfrm>
            <a:off x="8028431" y="5084064"/>
            <a:ext cx="2971800" cy="274320"/>
          </a:xfrm>
          <a:prstGeom prst="rect">
            <a:avLst/>
          </a:prstGeom>
          <a:noFill/>
        </p:spPr>
        <p:txBody>
          <a:bodyPr wrap="square" lIns="0" rIns="0" tIns="0" bIns="0" anchor="t">
            <a:spAutoFit/>
          </a:bodyPr>
          <a:lstStyle/>
          <a:p>
            <a:pPr algn="l">
              <a:lnSpc>
                <a:spcPct val="100000"/>
              </a:lnSpc>
            </a:pPr>
            <a:r>
              <a:rPr sz="780" b="1" i="0">
                <a:solidFill>
                  <a:srgbClr val="F39C3D"/>
                </a:solidFill>
                <a:latin typeface="Aptos"/>
              </a:rPr>
              <a:t>* Density basis must be corrected.</a:t>
            </a:r>
          </a:p>
        </p:txBody>
      </p:sp>
      <p:sp>
        <p:nvSpPr>
          <p:cNvPr id="34" name="TextBox 33"/>
          <p:cNvSpPr txBox="1"/>
          <p:nvPr/>
        </p:nvSpPr>
        <p:spPr>
          <a:xfrm>
            <a:off x="667512" y="580644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Evidence: inventor dataset. Claim structure is a technical drafting aid only—not legal advice. Patentability/FTO requires professional searching, claim construction and jurisdiction-specific counsel.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TRANSLATION ROADMAP</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De-risking plan: convert a laboratory signal into a certifiable product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16</a:t>
            </a:r>
          </a:p>
        </p:txBody>
      </p:sp>
      <p:sp>
        <p:nvSpPr>
          <p:cNvPr id="10" name="TextBox 9"/>
          <p:cNvSpPr txBox="1"/>
          <p:nvPr/>
        </p:nvSpPr>
        <p:spPr>
          <a:xfrm>
            <a:off x="667512" y="1243584"/>
            <a:ext cx="1938528" cy="256032"/>
          </a:xfrm>
          <a:prstGeom prst="rect">
            <a:avLst/>
          </a:prstGeom>
          <a:noFill/>
        </p:spPr>
        <p:txBody>
          <a:bodyPr wrap="square" lIns="0" rIns="0" tIns="0" bIns="0" anchor="t">
            <a:spAutoFit/>
          </a:bodyPr>
          <a:lstStyle/>
          <a:p>
            <a:pPr algn="ctr">
              <a:lnSpc>
                <a:spcPct val="100000"/>
              </a:lnSpc>
            </a:pPr>
            <a:r>
              <a:rPr sz="880" b="1" i="0">
                <a:solidFill>
                  <a:srgbClr val="2B78A6"/>
                </a:solidFill>
                <a:latin typeface="Aptos"/>
              </a:rPr>
              <a:t>NOW</a:t>
            </a:r>
          </a:p>
        </p:txBody>
      </p:sp>
      <p:sp>
        <p:nvSpPr>
          <p:cNvPr id="11" name="Oval 10"/>
          <p:cNvSpPr/>
          <p:nvPr/>
        </p:nvSpPr>
        <p:spPr>
          <a:xfrm>
            <a:off x="1399032" y="1600200"/>
            <a:ext cx="475488" cy="475488"/>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99032"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1</a:t>
            </a:r>
          </a:p>
        </p:txBody>
      </p:sp>
      <p:cxnSp>
        <p:nvCxnSpPr>
          <p:cNvPr id="13" name="Connector 12"/>
          <p:cNvCxnSpPr/>
          <p:nvPr/>
        </p:nvCxnSpPr>
        <p:spPr>
          <a:xfrm>
            <a:off x="1874519" y="1837943"/>
            <a:ext cx="1051561"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7512"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Protect</a:t>
            </a:r>
          </a:p>
        </p:txBody>
      </p:sp>
      <p:sp>
        <p:nvSpPr>
          <p:cNvPr id="15" name="TextBox 14"/>
          <p:cNvSpPr txBox="1"/>
          <p:nvPr/>
        </p:nvSpPr>
        <p:spPr>
          <a:xfrm>
            <a:off x="722376"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File before disclosure; professional search; lock data provenance</a:t>
            </a:r>
          </a:p>
        </p:txBody>
      </p:sp>
      <p:sp>
        <p:nvSpPr>
          <p:cNvPr id="16" name="TextBox 15"/>
          <p:cNvSpPr txBox="1"/>
          <p:nvPr/>
        </p:nvSpPr>
        <p:spPr>
          <a:xfrm>
            <a:off x="2916936" y="1243584"/>
            <a:ext cx="1938528" cy="256032"/>
          </a:xfrm>
          <a:prstGeom prst="rect">
            <a:avLst/>
          </a:prstGeom>
          <a:noFill/>
        </p:spPr>
        <p:txBody>
          <a:bodyPr wrap="square" lIns="0" rIns="0" tIns="0" bIns="0" anchor="t">
            <a:spAutoFit/>
          </a:bodyPr>
          <a:lstStyle/>
          <a:p>
            <a:pPr algn="ctr">
              <a:lnSpc>
                <a:spcPct val="100000"/>
              </a:lnSpc>
            </a:pPr>
            <a:r>
              <a:rPr sz="880" b="1" i="0">
                <a:solidFill>
                  <a:srgbClr val="22B8C7"/>
                </a:solidFill>
                <a:latin typeface="Aptos"/>
              </a:rPr>
              <a:t>0–6 m</a:t>
            </a:r>
          </a:p>
        </p:txBody>
      </p:sp>
      <p:sp>
        <p:nvSpPr>
          <p:cNvPr id="17" name="Oval 16"/>
          <p:cNvSpPr/>
          <p:nvPr/>
        </p:nvSpPr>
        <p:spPr>
          <a:xfrm>
            <a:off x="3648456" y="1600200"/>
            <a:ext cx="475488" cy="475488"/>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8456"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2</a:t>
            </a:r>
          </a:p>
        </p:txBody>
      </p:sp>
      <p:cxnSp>
        <p:nvCxnSpPr>
          <p:cNvPr id="19" name="Connector 18"/>
          <p:cNvCxnSpPr/>
          <p:nvPr/>
        </p:nvCxnSpPr>
        <p:spPr>
          <a:xfrm>
            <a:off x="4123944"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916936"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Reproduce</a:t>
            </a:r>
          </a:p>
        </p:txBody>
      </p:sp>
      <p:sp>
        <p:nvSpPr>
          <p:cNvPr id="21" name="TextBox 20"/>
          <p:cNvSpPr txBox="1"/>
          <p:nvPr/>
        </p:nvSpPr>
        <p:spPr>
          <a:xfrm>
            <a:off x="2971800"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Resolve method conflicts; replicate barrier tests; quantify debris</a:t>
            </a:r>
          </a:p>
        </p:txBody>
      </p:sp>
      <p:sp>
        <p:nvSpPr>
          <p:cNvPr id="22" name="TextBox 21"/>
          <p:cNvSpPr txBox="1"/>
          <p:nvPr/>
        </p:nvSpPr>
        <p:spPr>
          <a:xfrm>
            <a:off x="5166360" y="1243584"/>
            <a:ext cx="1938528" cy="256032"/>
          </a:xfrm>
          <a:prstGeom prst="rect">
            <a:avLst/>
          </a:prstGeom>
          <a:noFill/>
        </p:spPr>
        <p:txBody>
          <a:bodyPr wrap="square" lIns="0" rIns="0" tIns="0" bIns="0" anchor="t">
            <a:spAutoFit/>
          </a:bodyPr>
          <a:lstStyle/>
          <a:p>
            <a:pPr algn="ctr">
              <a:lnSpc>
                <a:spcPct val="100000"/>
              </a:lnSpc>
            </a:pPr>
            <a:r>
              <a:rPr sz="880" b="1" i="0">
                <a:solidFill>
                  <a:srgbClr val="178D86"/>
                </a:solidFill>
                <a:latin typeface="Aptos"/>
              </a:rPr>
              <a:t>6–12 m</a:t>
            </a:r>
          </a:p>
        </p:txBody>
      </p:sp>
      <p:sp>
        <p:nvSpPr>
          <p:cNvPr id="23" name="Oval 22"/>
          <p:cNvSpPr/>
          <p:nvPr/>
        </p:nvSpPr>
        <p:spPr>
          <a:xfrm>
            <a:off x="5897880" y="1600200"/>
            <a:ext cx="475488" cy="475488"/>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97880"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3</a:t>
            </a:r>
          </a:p>
        </p:txBody>
      </p:sp>
      <p:cxnSp>
        <p:nvCxnSpPr>
          <p:cNvPr id="25" name="Connector 24"/>
          <p:cNvCxnSpPr/>
          <p:nvPr/>
        </p:nvCxnSpPr>
        <p:spPr>
          <a:xfrm>
            <a:off x="6373368"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166360"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Model + age</a:t>
            </a:r>
          </a:p>
        </p:txBody>
      </p:sp>
      <p:sp>
        <p:nvSpPr>
          <p:cNvPr id="27" name="TextBox 26"/>
          <p:cNvSpPr txBox="1"/>
          <p:nvPr/>
        </p:nvSpPr>
        <p:spPr>
          <a:xfrm>
            <a:off x="5221224"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Calibrate FE; fatigue/repeat impact; chloride, fire and weather</a:t>
            </a:r>
          </a:p>
        </p:txBody>
      </p:sp>
      <p:sp>
        <p:nvSpPr>
          <p:cNvPr id="28" name="TextBox 27"/>
          <p:cNvSpPr txBox="1"/>
          <p:nvPr/>
        </p:nvSpPr>
        <p:spPr>
          <a:xfrm>
            <a:off x="7415783" y="1243584"/>
            <a:ext cx="1938528" cy="256032"/>
          </a:xfrm>
          <a:prstGeom prst="rect">
            <a:avLst/>
          </a:prstGeom>
          <a:noFill/>
        </p:spPr>
        <p:txBody>
          <a:bodyPr wrap="square" lIns="0" rIns="0" tIns="0" bIns="0" anchor="t">
            <a:spAutoFit/>
          </a:bodyPr>
          <a:lstStyle/>
          <a:p>
            <a:pPr algn="ctr">
              <a:lnSpc>
                <a:spcPct val="100000"/>
              </a:lnSpc>
            </a:pPr>
            <a:r>
              <a:rPr sz="880" b="1" i="0">
                <a:solidFill>
                  <a:srgbClr val="F39C3D"/>
                </a:solidFill>
                <a:latin typeface="Aptos"/>
              </a:rPr>
              <a:t>12–24 m</a:t>
            </a:r>
          </a:p>
        </p:txBody>
      </p:sp>
      <p:sp>
        <p:nvSpPr>
          <p:cNvPr id="29" name="Oval 28"/>
          <p:cNvSpPr/>
          <p:nvPr/>
        </p:nvSpPr>
        <p:spPr>
          <a:xfrm>
            <a:off x="8147304" y="1600200"/>
            <a:ext cx="475488" cy="475488"/>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47304"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4</a:t>
            </a:r>
          </a:p>
        </p:txBody>
      </p:sp>
      <p:cxnSp>
        <p:nvCxnSpPr>
          <p:cNvPr id="31" name="Connector 30"/>
          <p:cNvCxnSpPr/>
          <p:nvPr/>
        </p:nvCxnSpPr>
        <p:spPr>
          <a:xfrm>
            <a:off x="8622792"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15783"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Full-scale certify</a:t>
            </a:r>
          </a:p>
        </p:txBody>
      </p:sp>
      <p:sp>
        <p:nvSpPr>
          <p:cNvPr id="33" name="TextBox 32"/>
          <p:cNvSpPr txBox="1"/>
          <p:nvPr/>
        </p:nvSpPr>
        <p:spPr>
          <a:xfrm>
            <a:off x="7470648"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Vehicle crash: containment, redirection, ASI/THIV and debris</a:t>
            </a:r>
          </a:p>
        </p:txBody>
      </p:sp>
      <p:sp>
        <p:nvSpPr>
          <p:cNvPr id="34" name="TextBox 33"/>
          <p:cNvSpPr txBox="1"/>
          <p:nvPr/>
        </p:nvSpPr>
        <p:spPr>
          <a:xfrm>
            <a:off x="9665208" y="1243584"/>
            <a:ext cx="1938528" cy="256032"/>
          </a:xfrm>
          <a:prstGeom prst="rect">
            <a:avLst/>
          </a:prstGeom>
          <a:noFill/>
        </p:spPr>
        <p:txBody>
          <a:bodyPr wrap="square" lIns="0" rIns="0" tIns="0" bIns="0" anchor="t">
            <a:spAutoFit/>
          </a:bodyPr>
          <a:lstStyle/>
          <a:p>
            <a:pPr algn="ctr">
              <a:lnSpc>
                <a:spcPct val="100000"/>
              </a:lnSpc>
            </a:pPr>
            <a:r>
              <a:rPr sz="880" b="1" i="0">
                <a:solidFill>
                  <a:srgbClr val="D95D5D"/>
                </a:solidFill>
                <a:latin typeface="Aptos"/>
              </a:rPr>
              <a:t>24–36 m</a:t>
            </a:r>
          </a:p>
        </p:txBody>
      </p:sp>
      <p:sp>
        <p:nvSpPr>
          <p:cNvPr id="35" name="Oval 34"/>
          <p:cNvSpPr/>
          <p:nvPr/>
        </p:nvSpPr>
        <p:spPr>
          <a:xfrm>
            <a:off x="10396728" y="1600200"/>
            <a:ext cx="475488" cy="475488"/>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96728"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5</a:t>
            </a:r>
          </a:p>
        </p:txBody>
      </p:sp>
      <p:sp>
        <p:nvSpPr>
          <p:cNvPr id="37" name="TextBox 36"/>
          <p:cNvSpPr txBox="1"/>
          <p:nvPr/>
        </p:nvSpPr>
        <p:spPr>
          <a:xfrm>
            <a:off x="9665208"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Pilot + license</a:t>
            </a:r>
          </a:p>
        </p:txBody>
      </p:sp>
      <p:sp>
        <p:nvSpPr>
          <p:cNvPr id="38" name="TextBox 37"/>
          <p:cNvSpPr txBox="1"/>
          <p:nvPr/>
        </p:nvSpPr>
        <p:spPr>
          <a:xfrm>
            <a:off x="9720072"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Precast QA, field demonstration, LCA/TEA and partner transfer</a:t>
            </a:r>
          </a:p>
        </p:txBody>
      </p:sp>
      <p:sp>
        <p:nvSpPr>
          <p:cNvPr id="39" name="Rounded Rectangle 38"/>
          <p:cNvSpPr/>
          <p:nvPr/>
        </p:nvSpPr>
        <p:spPr>
          <a:xfrm>
            <a:off x="685800" y="4133087"/>
            <a:ext cx="10808208" cy="1353312"/>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 y="4389120"/>
            <a:ext cx="1143000" cy="274320"/>
          </a:xfrm>
          <a:prstGeom prst="rect">
            <a:avLst/>
          </a:prstGeom>
          <a:noFill/>
        </p:spPr>
        <p:txBody>
          <a:bodyPr wrap="square" lIns="0" rIns="0" tIns="0" bIns="0" anchor="t">
            <a:spAutoFit/>
          </a:bodyPr>
          <a:lstStyle/>
          <a:p>
            <a:pPr algn="l">
              <a:lnSpc>
                <a:spcPct val="100000"/>
              </a:lnSpc>
            </a:pPr>
            <a:r>
              <a:rPr sz="919" b="1" i="0">
                <a:solidFill>
                  <a:srgbClr val="22B8C7"/>
                </a:solidFill>
                <a:latin typeface="Aptos"/>
              </a:rPr>
              <a:t>TOP RISKS</a:t>
            </a:r>
          </a:p>
        </p:txBody>
      </p:sp>
      <p:sp>
        <p:nvSpPr>
          <p:cNvPr id="41" name="Oval 40"/>
          <p:cNvSpPr/>
          <p:nvPr/>
        </p:nvSpPr>
        <p:spPr>
          <a:xfrm>
            <a:off x="2066543"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066543"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3" name="TextBox 42"/>
          <p:cNvSpPr txBox="1"/>
          <p:nvPr/>
        </p:nvSpPr>
        <p:spPr>
          <a:xfrm>
            <a:off x="2423160"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Full-scale vehicle response</a:t>
            </a:r>
          </a:p>
        </p:txBody>
      </p:sp>
      <p:sp>
        <p:nvSpPr>
          <p:cNvPr id="44" name="Oval 43"/>
          <p:cNvSpPr/>
          <p:nvPr/>
        </p:nvSpPr>
        <p:spPr>
          <a:xfrm>
            <a:off x="5074920"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74920"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6" name="TextBox 45"/>
          <p:cNvSpPr txBox="1"/>
          <p:nvPr/>
        </p:nvSpPr>
        <p:spPr>
          <a:xfrm>
            <a:off x="5431536"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Fibre workability / balling</a:t>
            </a:r>
          </a:p>
        </p:txBody>
      </p:sp>
      <p:sp>
        <p:nvSpPr>
          <p:cNvPr id="47" name="Oval 46"/>
          <p:cNvSpPr/>
          <p:nvPr/>
        </p:nvSpPr>
        <p:spPr>
          <a:xfrm>
            <a:off x="8083296"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3296"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9" name="TextBox 48"/>
          <p:cNvSpPr txBox="1"/>
          <p:nvPr/>
        </p:nvSpPr>
        <p:spPr>
          <a:xfrm>
            <a:off x="8439912"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SFA moisture + variability</a:t>
            </a:r>
          </a:p>
        </p:txBody>
      </p:sp>
      <p:sp>
        <p:nvSpPr>
          <p:cNvPr id="50" name="Oval 49"/>
          <p:cNvSpPr/>
          <p:nvPr/>
        </p:nvSpPr>
        <p:spPr>
          <a:xfrm>
            <a:off x="2066543"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66543"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2" name="TextBox 51"/>
          <p:cNvSpPr txBox="1"/>
          <p:nvPr/>
        </p:nvSpPr>
        <p:spPr>
          <a:xfrm>
            <a:off x="2423160"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Durability / corrosion</a:t>
            </a:r>
          </a:p>
        </p:txBody>
      </p:sp>
      <p:sp>
        <p:nvSpPr>
          <p:cNvPr id="53" name="Oval 52"/>
          <p:cNvSpPr/>
          <p:nvPr/>
        </p:nvSpPr>
        <p:spPr>
          <a:xfrm>
            <a:off x="5074920"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74920"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5" name="TextBox 54"/>
          <p:cNvSpPr txBox="1"/>
          <p:nvPr/>
        </p:nvSpPr>
        <p:spPr>
          <a:xfrm>
            <a:off x="5431536"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Installed-system cost</a:t>
            </a:r>
          </a:p>
        </p:txBody>
      </p:sp>
      <p:sp>
        <p:nvSpPr>
          <p:cNvPr id="56" name="Oval 55"/>
          <p:cNvSpPr/>
          <p:nvPr/>
        </p:nvSpPr>
        <p:spPr>
          <a:xfrm>
            <a:off x="8083296"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83296"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8" name="TextBox 57"/>
          <p:cNvSpPr txBox="1"/>
          <p:nvPr/>
        </p:nvSpPr>
        <p:spPr>
          <a:xfrm>
            <a:off x="8439912"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Patent landscape / disclosure timing</a:t>
            </a:r>
          </a:p>
        </p:txBody>
      </p:sp>
      <p:sp>
        <p:nvSpPr>
          <p:cNvPr id="59" name="TextBox 58"/>
          <p:cNvSpPr txBox="1"/>
          <p:nvPr/>
        </p:nvSpPr>
        <p:spPr>
          <a:xfrm>
            <a:off x="667512" y="579729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Roadmap synthesizes inventor questionnaire/technology profile and validation gaps against IRC:119-2015, EN 1317/MASH-style evaluation principles, and peer-reviewed barrier crash-test literature. Indicative timing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61B2C"/>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2B8C7"/>
                </a:solidFill>
                <a:latin typeface="Aptos"/>
              </a:rPr>
              <a:t>RECOMMENDATION</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FFFFFF"/>
                </a:solidFill>
                <a:latin typeface="Aptos Display"/>
              </a:rPr>
              <a:t>Decision proposition: protect the platform, fund the validation</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284A6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284A6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AEC0CA"/>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AEC0CA"/>
                </a:solidFill>
                <a:latin typeface="Aptos"/>
              </a:rPr>
              <a:t>17</a:t>
            </a:r>
          </a:p>
        </p:txBody>
      </p:sp>
      <p:sp>
        <p:nvSpPr>
          <p:cNvPr id="10" name="TextBox 9"/>
          <p:cNvSpPr txBox="1"/>
          <p:nvPr/>
        </p:nvSpPr>
        <p:spPr>
          <a:xfrm>
            <a:off x="685800" y="1243584"/>
            <a:ext cx="6995160" cy="868680"/>
          </a:xfrm>
          <a:prstGeom prst="rect">
            <a:avLst/>
          </a:prstGeom>
          <a:noFill/>
        </p:spPr>
        <p:txBody>
          <a:bodyPr wrap="square" lIns="0" rIns="0" tIns="0" bIns="0" anchor="t">
            <a:spAutoFit/>
          </a:bodyPr>
          <a:lstStyle/>
          <a:p>
            <a:pPr algn="l">
              <a:lnSpc>
                <a:spcPct val="93000"/>
              </a:lnSpc>
            </a:pPr>
            <a:r>
              <a:rPr sz="2300" b="1" i="0">
                <a:solidFill>
                  <a:srgbClr val="FFFFFF"/>
                </a:solidFill>
                <a:latin typeface="Aptos Display"/>
              </a:rPr>
              <a:t>The evidence is sufficient to justify a focused patent filing—
not yet sufficient to claim certified occupant-safety benefit.</a:t>
            </a:r>
          </a:p>
        </p:txBody>
      </p:sp>
      <p:sp>
        <p:nvSpPr>
          <p:cNvPr id="11" name="Rounded Rectangle 10"/>
          <p:cNvSpPr/>
          <p:nvPr/>
        </p:nvSpPr>
        <p:spPr>
          <a:xfrm>
            <a:off x="731520"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606040"/>
            <a:ext cx="1773936" cy="402336"/>
          </a:xfrm>
          <a:prstGeom prst="rect">
            <a:avLst/>
          </a:prstGeom>
          <a:noFill/>
        </p:spPr>
        <p:txBody>
          <a:bodyPr wrap="square" lIns="0" rIns="0" tIns="0" bIns="0" anchor="t">
            <a:spAutoFit/>
          </a:bodyPr>
          <a:lstStyle/>
          <a:p>
            <a:pPr algn="ctr">
              <a:lnSpc>
                <a:spcPct val="100000"/>
              </a:lnSpc>
            </a:pPr>
            <a:r>
              <a:rPr sz="2400" b="1" i="0">
                <a:solidFill>
                  <a:srgbClr val="F39C3D"/>
                </a:solidFill>
                <a:latin typeface="Aptos Display"/>
              </a:rPr>
              <a:t>55.3×</a:t>
            </a:r>
          </a:p>
        </p:txBody>
      </p:sp>
      <p:sp>
        <p:nvSpPr>
          <p:cNvPr id="13" name="TextBox 12"/>
          <p:cNvSpPr txBox="1"/>
          <p:nvPr/>
        </p:nvSpPr>
        <p:spPr>
          <a:xfrm>
            <a:off x="886968"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prism E₂ vs NWC</a:t>
            </a:r>
          </a:p>
        </p:txBody>
      </p:sp>
      <p:sp>
        <p:nvSpPr>
          <p:cNvPr id="14" name="Rounded Rectangle 13"/>
          <p:cNvSpPr/>
          <p:nvPr/>
        </p:nvSpPr>
        <p:spPr>
          <a:xfrm>
            <a:off x="3063239"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7" y="2606040"/>
            <a:ext cx="1773936" cy="402336"/>
          </a:xfrm>
          <a:prstGeom prst="rect">
            <a:avLst/>
          </a:prstGeom>
          <a:noFill/>
        </p:spPr>
        <p:txBody>
          <a:bodyPr wrap="square" lIns="0" rIns="0" tIns="0" bIns="0" anchor="t">
            <a:spAutoFit/>
          </a:bodyPr>
          <a:lstStyle/>
          <a:p>
            <a:pPr algn="ctr">
              <a:lnSpc>
                <a:spcPct val="100000"/>
              </a:lnSpc>
            </a:pPr>
            <a:r>
              <a:rPr sz="2400" b="1" i="0">
                <a:solidFill>
                  <a:srgbClr val="D95D5D"/>
                </a:solidFill>
                <a:latin typeface="Aptos Display"/>
              </a:rPr>
              <a:t>2.0×</a:t>
            </a:r>
          </a:p>
        </p:txBody>
      </p:sp>
      <p:sp>
        <p:nvSpPr>
          <p:cNvPr id="16" name="TextBox 15"/>
          <p:cNvSpPr txBox="1"/>
          <p:nvPr/>
        </p:nvSpPr>
        <p:spPr>
          <a:xfrm>
            <a:off x="3218687"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scaled barrier E₂</a:t>
            </a:r>
          </a:p>
        </p:txBody>
      </p:sp>
      <p:sp>
        <p:nvSpPr>
          <p:cNvPr id="17" name="Rounded Rectangle 16"/>
          <p:cNvSpPr/>
          <p:nvPr/>
        </p:nvSpPr>
        <p:spPr>
          <a:xfrm>
            <a:off x="5394959"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50407" y="2606040"/>
            <a:ext cx="1773936" cy="402336"/>
          </a:xfrm>
          <a:prstGeom prst="rect">
            <a:avLst/>
          </a:prstGeom>
          <a:noFill/>
        </p:spPr>
        <p:txBody>
          <a:bodyPr wrap="square" lIns="0" rIns="0" tIns="0" bIns="0" anchor="t">
            <a:spAutoFit/>
          </a:bodyPr>
          <a:lstStyle/>
          <a:p>
            <a:pPr algn="ctr">
              <a:lnSpc>
                <a:spcPct val="100000"/>
              </a:lnSpc>
            </a:pPr>
            <a:r>
              <a:rPr sz="2400" b="1" i="0">
                <a:solidFill>
                  <a:srgbClr val="22B8C7"/>
                </a:solidFill>
                <a:latin typeface="Aptos Display"/>
              </a:rPr>
              <a:t>16.9×</a:t>
            </a:r>
          </a:p>
        </p:txBody>
      </p:sp>
      <p:sp>
        <p:nvSpPr>
          <p:cNvPr id="19" name="TextBox 18"/>
          <p:cNvSpPr txBox="1"/>
          <p:nvPr/>
        </p:nvSpPr>
        <p:spPr>
          <a:xfrm>
            <a:off x="5550407"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lab unit-impact value</a:t>
            </a:r>
          </a:p>
        </p:txBody>
      </p:sp>
      <p:sp>
        <p:nvSpPr>
          <p:cNvPr id="20" name="Rounded Rectangle 19"/>
          <p:cNvSpPr/>
          <p:nvPr/>
        </p:nvSpPr>
        <p:spPr>
          <a:xfrm>
            <a:off x="8028431" y="1243584"/>
            <a:ext cx="3346704" cy="4453128"/>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572768"/>
            <a:ext cx="2743200" cy="365760"/>
          </a:xfrm>
          <a:prstGeom prst="rect">
            <a:avLst/>
          </a:prstGeom>
          <a:noFill/>
        </p:spPr>
        <p:txBody>
          <a:bodyPr wrap="square" lIns="0" rIns="0" tIns="0" bIns="0" anchor="t">
            <a:spAutoFit/>
          </a:bodyPr>
          <a:lstStyle/>
          <a:p>
            <a:pPr algn="l">
              <a:lnSpc>
                <a:spcPct val="100000"/>
              </a:lnSpc>
            </a:pPr>
            <a:r>
              <a:rPr sz="1019" b="1" i="0">
                <a:solidFill>
                  <a:srgbClr val="2B78A6"/>
                </a:solidFill>
                <a:latin typeface="Aptos"/>
              </a:rPr>
              <a:t>APPROVALS REQUESTED</a:t>
            </a:r>
          </a:p>
        </p:txBody>
      </p:sp>
      <p:sp>
        <p:nvSpPr>
          <p:cNvPr id="22" name="Oval 21"/>
          <p:cNvSpPr/>
          <p:nvPr/>
        </p:nvSpPr>
        <p:spPr>
          <a:xfrm>
            <a:off x="8321040" y="2112264"/>
            <a:ext cx="384048" cy="384048"/>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2112264"/>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1</a:t>
            </a:r>
          </a:p>
        </p:txBody>
      </p:sp>
      <p:sp>
        <p:nvSpPr>
          <p:cNvPr id="24" name="TextBox 23"/>
          <p:cNvSpPr txBox="1"/>
          <p:nvPr/>
        </p:nvSpPr>
        <p:spPr>
          <a:xfrm>
            <a:off x="8833104" y="2093976"/>
            <a:ext cx="2011680" cy="256032"/>
          </a:xfrm>
          <a:prstGeom prst="rect">
            <a:avLst/>
          </a:prstGeom>
          <a:noFill/>
        </p:spPr>
        <p:txBody>
          <a:bodyPr wrap="square" lIns="0" rIns="0" tIns="0" bIns="0" anchor="t">
            <a:spAutoFit/>
          </a:bodyPr>
          <a:lstStyle/>
          <a:p>
            <a:pPr algn="l">
              <a:lnSpc>
                <a:spcPct val="100000"/>
              </a:lnSpc>
            </a:pPr>
            <a:r>
              <a:rPr sz="980" b="1" i="0">
                <a:solidFill>
                  <a:srgbClr val="172733"/>
                </a:solidFill>
                <a:latin typeface="Aptos"/>
              </a:rPr>
              <a:t>Authorize patent drafting</a:t>
            </a:r>
          </a:p>
        </p:txBody>
      </p:sp>
      <p:sp>
        <p:nvSpPr>
          <p:cNvPr id="25" name="TextBox 24"/>
          <p:cNvSpPr txBox="1"/>
          <p:nvPr/>
        </p:nvSpPr>
        <p:spPr>
          <a:xfrm>
            <a:off x="8833104" y="2386584"/>
            <a:ext cx="2039112" cy="365760"/>
          </a:xfrm>
          <a:prstGeom prst="rect">
            <a:avLst/>
          </a:prstGeom>
          <a:noFill/>
        </p:spPr>
        <p:txBody>
          <a:bodyPr wrap="square" lIns="0" rIns="0" tIns="0" bIns="0" anchor="t">
            <a:spAutoFit/>
          </a:bodyPr>
          <a:lstStyle/>
          <a:p>
            <a:pPr algn="l">
              <a:lnSpc>
                <a:spcPct val="100000"/>
              </a:lnSpc>
            </a:pPr>
            <a:r>
              <a:rPr sz="810" b="0" i="0">
                <a:solidFill>
                  <a:srgbClr val="596C78"/>
                </a:solidFill>
                <a:latin typeface="Aptos"/>
              </a:rPr>
              <a:t>Composition + process + barrier + use claims</a:t>
            </a:r>
          </a:p>
        </p:txBody>
      </p:sp>
      <p:sp>
        <p:nvSpPr>
          <p:cNvPr id="26" name="Oval 25"/>
          <p:cNvSpPr/>
          <p:nvPr/>
        </p:nvSpPr>
        <p:spPr>
          <a:xfrm>
            <a:off x="8321040" y="2944368"/>
            <a:ext cx="384048" cy="384048"/>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2944368"/>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2</a:t>
            </a:r>
          </a:p>
        </p:txBody>
      </p:sp>
      <p:sp>
        <p:nvSpPr>
          <p:cNvPr id="28" name="TextBox 27"/>
          <p:cNvSpPr txBox="1"/>
          <p:nvPr/>
        </p:nvSpPr>
        <p:spPr>
          <a:xfrm>
            <a:off x="8833104" y="2926080"/>
            <a:ext cx="2011680" cy="256032"/>
          </a:xfrm>
          <a:prstGeom prst="rect">
            <a:avLst/>
          </a:prstGeom>
          <a:noFill/>
        </p:spPr>
        <p:txBody>
          <a:bodyPr wrap="square" lIns="0" rIns="0" tIns="0" bIns="0" anchor="t">
            <a:spAutoFit/>
          </a:bodyPr>
          <a:lstStyle/>
          <a:p>
            <a:pPr algn="l">
              <a:lnSpc>
                <a:spcPct val="100000"/>
              </a:lnSpc>
            </a:pPr>
            <a:r>
              <a:rPr sz="980" b="1" i="0">
                <a:solidFill>
                  <a:srgbClr val="172733"/>
                </a:solidFill>
                <a:latin typeface="Aptos"/>
              </a:rPr>
              <a:t>Freeze public disclosure</a:t>
            </a:r>
          </a:p>
        </p:txBody>
      </p:sp>
      <p:sp>
        <p:nvSpPr>
          <p:cNvPr id="29" name="TextBox 28"/>
          <p:cNvSpPr txBox="1"/>
          <p:nvPr/>
        </p:nvSpPr>
        <p:spPr>
          <a:xfrm>
            <a:off x="8833104" y="3218688"/>
            <a:ext cx="2039112" cy="365760"/>
          </a:xfrm>
          <a:prstGeom prst="rect">
            <a:avLst/>
          </a:prstGeom>
          <a:noFill/>
        </p:spPr>
        <p:txBody>
          <a:bodyPr wrap="square" lIns="0" rIns="0" tIns="0" bIns="0" anchor="t">
            <a:spAutoFit/>
          </a:bodyPr>
          <a:lstStyle/>
          <a:p>
            <a:pPr algn="l">
              <a:lnSpc>
                <a:spcPct val="100000"/>
              </a:lnSpc>
            </a:pPr>
            <a:r>
              <a:rPr sz="810" b="0" i="0">
                <a:solidFill>
                  <a:srgbClr val="596C78"/>
                </a:solidFill>
                <a:latin typeface="Aptos"/>
              </a:rPr>
              <a:t>Coordinate manuscript timing with filing</a:t>
            </a:r>
          </a:p>
        </p:txBody>
      </p:sp>
      <p:sp>
        <p:nvSpPr>
          <p:cNvPr id="30" name="Oval 29"/>
          <p:cNvSpPr/>
          <p:nvPr/>
        </p:nvSpPr>
        <p:spPr>
          <a:xfrm>
            <a:off x="8321040" y="3776472"/>
            <a:ext cx="384048" cy="384048"/>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3776472"/>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3</a:t>
            </a:r>
          </a:p>
        </p:txBody>
      </p:sp>
      <p:sp>
        <p:nvSpPr>
          <p:cNvPr id="32" name="TextBox 31"/>
          <p:cNvSpPr txBox="1"/>
          <p:nvPr/>
        </p:nvSpPr>
        <p:spPr>
          <a:xfrm>
            <a:off x="8833104" y="3758184"/>
            <a:ext cx="2011680" cy="256032"/>
          </a:xfrm>
          <a:prstGeom prst="rect">
            <a:avLst/>
          </a:prstGeom>
          <a:noFill/>
        </p:spPr>
        <p:txBody>
          <a:bodyPr wrap="square" lIns="0" rIns="0" tIns="0" bIns="0" anchor="t">
            <a:spAutoFit/>
          </a:bodyPr>
          <a:lstStyle/>
          <a:p>
            <a:pPr algn="l">
              <a:lnSpc>
                <a:spcPct val="100000"/>
              </a:lnSpc>
            </a:pPr>
            <a:r>
              <a:rPr sz="980" b="1" i="0">
                <a:solidFill>
                  <a:srgbClr val="172733"/>
                </a:solidFill>
                <a:latin typeface="Aptos"/>
              </a:rPr>
              <a:t>Fund validation gate</a:t>
            </a:r>
          </a:p>
        </p:txBody>
      </p:sp>
      <p:sp>
        <p:nvSpPr>
          <p:cNvPr id="33" name="TextBox 32"/>
          <p:cNvSpPr txBox="1"/>
          <p:nvPr/>
        </p:nvSpPr>
        <p:spPr>
          <a:xfrm>
            <a:off x="8833104" y="4050791"/>
            <a:ext cx="2039112" cy="365760"/>
          </a:xfrm>
          <a:prstGeom prst="rect">
            <a:avLst/>
          </a:prstGeom>
          <a:noFill/>
        </p:spPr>
        <p:txBody>
          <a:bodyPr wrap="square" lIns="0" rIns="0" tIns="0" bIns="0" anchor="t">
            <a:spAutoFit/>
          </a:bodyPr>
          <a:lstStyle/>
          <a:p>
            <a:pPr algn="l">
              <a:lnSpc>
                <a:spcPct val="100000"/>
              </a:lnSpc>
            </a:pPr>
            <a:r>
              <a:rPr sz="810" b="0" i="0">
                <a:solidFill>
                  <a:srgbClr val="596C78"/>
                </a:solidFill>
                <a:latin typeface="Aptos"/>
              </a:rPr>
              <a:t>Replicates, debris metrics, FE and full-scale crash</a:t>
            </a:r>
          </a:p>
        </p:txBody>
      </p:sp>
      <p:sp>
        <p:nvSpPr>
          <p:cNvPr id="34" name="Oval 33"/>
          <p:cNvSpPr/>
          <p:nvPr/>
        </p:nvSpPr>
        <p:spPr>
          <a:xfrm>
            <a:off x="8321040" y="4608576"/>
            <a:ext cx="384048" cy="384048"/>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4608576"/>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4</a:t>
            </a:r>
          </a:p>
        </p:txBody>
      </p:sp>
      <p:sp>
        <p:nvSpPr>
          <p:cNvPr id="36" name="TextBox 35"/>
          <p:cNvSpPr txBox="1"/>
          <p:nvPr/>
        </p:nvSpPr>
        <p:spPr>
          <a:xfrm>
            <a:off x="8833104" y="4590288"/>
            <a:ext cx="2011680" cy="256032"/>
          </a:xfrm>
          <a:prstGeom prst="rect">
            <a:avLst/>
          </a:prstGeom>
          <a:noFill/>
        </p:spPr>
        <p:txBody>
          <a:bodyPr wrap="square" lIns="0" rIns="0" tIns="0" bIns="0" anchor="t">
            <a:spAutoFit/>
          </a:bodyPr>
          <a:lstStyle/>
          <a:p>
            <a:pPr algn="l">
              <a:lnSpc>
                <a:spcPct val="100000"/>
              </a:lnSpc>
            </a:pPr>
            <a:r>
              <a:rPr sz="980" b="1" i="0">
                <a:solidFill>
                  <a:srgbClr val="172733"/>
                </a:solidFill>
                <a:latin typeface="Aptos"/>
              </a:rPr>
              <a:t>Open partner pathway</a:t>
            </a:r>
          </a:p>
        </p:txBody>
      </p:sp>
      <p:sp>
        <p:nvSpPr>
          <p:cNvPr id="37" name="TextBox 36"/>
          <p:cNvSpPr txBox="1"/>
          <p:nvPr/>
        </p:nvSpPr>
        <p:spPr>
          <a:xfrm>
            <a:off x="8833104" y="4882896"/>
            <a:ext cx="2039112" cy="365760"/>
          </a:xfrm>
          <a:prstGeom prst="rect">
            <a:avLst/>
          </a:prstGeom>
          <a:noFill/>
        </p:spPr>
        <p:txBody>
          <a:bodyPr wrap="square" lIns="0" rIns="0" tIns="0" bIns="0" anchor="t">
            <a:spAutoFit/>
          </a:bodyPr>
          <a:lstStyle/>
          <a:p>
            <a:pPr algn="l">
              <a:lnSpc>
                <a:spcPct val="100000"/>
              </a:lnSpc>
            </a:pPr>
            <a:r>
              <a:rPr sz="810" b="0" i="0">
                <a:solidFill>
                  <a:srgbClr val="596C78"/>
                </a:solidFill>
                <a:latin typeface="Aptos"/>
              </a:rPr>
              <a:t>CRRI / NHAI / precast / barrier manufacturer</a:t>
            </a:r>
          </a:p>
        </p:txBody>
      </p:sp>
      <p:sp>
        <p:nvSpPr>
          <p:cNvPr id="38" name="Rounded Rectangle 37"/>
          <p:cNvSpPr/>
          <p:nvPr/>
        </p:nvSpPr>
        <p:spPr>
          <a:xfrm>
            <a:off x="731520" y="4041648"/>
            <a:ext cx="6839712" cy="1170432"/>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9264" y="4297680"/>
            <a:ext cx="1097280" cy="274320"/>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BOTTOM LINE</a:t>
            </a:r>
          </a:p>
        </p:txBody>
      </p:sp>
      <p:sp>
        <p:nvSpPr>
          <p:cNvPr id="40" name="TextBox 39"/>
          <p:cNvSpPr txBox="1"/>
          <p:nvPr/>
        </p:nvSpPr>
        <p:spPr>
          <a:xfrm>
            <a:off x="2029968" y="4215384"/>
            <a:ext cx="5257800" cy="585216"/>
          </a:xfrm>
          <a:prstGeom prst="rect">
            <a:avLst/>
          </a:prstGeom>
          <a:noFill/>
        </p:spPr>
        <p:txBody>
          <a:bodyPr wrap="square" lIns="0" rIns="0" tIns="0" bIns="0" anchor="t">
            <a:spAutoFit/>
          </a:bodyPr>
          <a:lstStyle/>
          <a:p>
            <a:pPr algn="l">
              <a:lnSpc>
                <a:spcPct val="100000"/>
              </a:lnSpc>
            </a:pPr>
            <a:r>
              <a:rPr sz="1220" b="1" i="0">
                <a:solidFill>
                  <a:srgbClr val="FFFFFF"/>
                </a:solidFill>
                <a:latin typeface="Aptos"/>
              </a:rPr>
              <a:t>Protect the integrated material–mechanism–barrier platform now; make full-scale occupant-risk validation the commercial release gate.</a:t>
            </a:r>
          </a:p>
        </p:txBody>
      </p:sp>
      <p:sp>
        <p:nvSpPr>
          <p:cNvPr id="41" name="TextBox 40"/>
          <p:cNvSpPr txBox="1"/>
          <p:nvPr/>
        </p:nvSpPr>
        <p:spPr>
          <a:xfrm>
            <a:off x="731520" y="5888736"/>
            <a:ext cx="10607040" cy="256032"/>
          </a:xfrm>
          <a:prstGeom prst="rect">
            <a:avLst/>
          </a:prstGeom>
          <a:noFill/>
        </p:spPr>
        <p:txBody>
          <a:bodyPr wrap="square" lIns="0" rIns="0" tIns="0" bIns="0" anchor="ctr">
            <a:spAutoFit/>
          </a:bodyPr>
          <a:lstStyle/>
          <a:p>
            <a:pPr algn="l">
              <a:lnSpc>
                <a:spcPct val="100000"/>
              </a:lnSpc>
            </a:pPr>
            <a:r>
              <a:rPr sz="700" b="0" i="0">
                <a:solidFill>
                  <a:srgbClr val="A9BBC4"/>
                </a:solidFill>
                <a:latin typeface="Aptos"/>
              </a:rPr>
              <a:t>Source: Recommendation based on inventor-supplied evidence and disclosed patent status as of 16 Jul 2026. No legal, safety-certification or investment assurance is implied.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SOURCES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References &amp; primary sources (1/2)</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18</a:t>
            </a:r>
          </a:p>
        </p:txBody>
      </p:sp>
      <p:sp>
        <p:nvSpPr>
          <p:cNvPr id="10" name="Rounded Rectangle 9"/>
          <p:cNvSpPr/>
          <p:nvPr/>
        </p:nvSpPr>
        <p:spPr>
          <a:xfrm>
            <a:off x="667512"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17320"/>
            <a:ext cx="4919472" cy="841248"/>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  Al-Amir, H.; Kanungo, P.; Chandrappa, A.K.; Pasla, D. (2026). Novel Steel-Fiber Reinforced Sintered Fly Ash Light Weight Aggregate Concrete for Crash Barrier Applications. Inventor-supplied manuscript; submitted 18 Jul 2026.</a:t>
            </a:r>
          </a:p>
        </p:txBody>
      </p:sp>
      <p:sp>
        <p:nvSpPr>
          <p:cNvPr id="12" name="TextBox 11"/>
          <p:cNvSpPr txBox="1"/>
          <p:nvPr/>
        </p:nvSpPr>
        <p:spPr>
          <a:xfrm>
            <a:off x="868680" y="2331720"/>
            <a:ext cx="4919472" cy="841248"/>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2  IIT Bhubaneswar invention team (2026). Invention and Technology Disclosure Form: Novel Concrete Composition for Impact Energy Dissipating Crash Barriers, dated 16 Jul 2026; Questionnaire; Technology Profile.</a:t>
            </a:r>
          </a:p>
        </p:txBody>
      </p:sp>
      <p:sp>
        <p:nvSpPr>
          <p:cNvPr id="13" name="TextBox 12"/>
          <p:cNvSpPr txBox="1"/>
          <p:nvPr/>
        </p:nvSpPr>
        <p:spPr>
          <a:xfrm>
            <a:off x="868680" y="324612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3  World Health Organization (2023). Global Status Report on Road Safety 2023. https://www.who.int/publications/i/item/9789240086517</a:t>
            </a:r>
          </a:p>
        </p:txBody>
      </p:sp>
      <p:sp>
        <p:nvSpPr>
          <p:cNvPr id="14" name="TextBox 13"/>
          <p:cNvSpPr txBox="1"/>
          <p:nvPr/>
        </p:nvSpPr>
        <p:spPr>
          <a:xfrm>
            <a:off x="868680" y="4014215"/>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4  UNEP (2022). Sand and Sustainability: 10 Strategic Recommendations to Avert a Crisis. https://wedocs.unep.org/20.500.11822/38362</a:t>
            </a:r>
          </a:p>
        </p:txBody>
      </p:sp>
      <p:sp>
        <p:nvSpPr>
          <p:cNvPr id="15" name="TextBox 14"/>
          <p:cNvSpPr txBox="1"/>
          <p:nvPr/>
        </p:nvSpPr>
        <p:spPr>
          <a:xfrm>
            <a:off x="868680" y="4782312"/>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5  U.S. Geological Survey (2025). Mineral Commodity Summaries 2025—Cement. https://pubs.usgs.gov/periodicals/mcs2025/mcs2025-cement.pdf</a:t>
            </a:r>
          </a:p>
        </p:txBody>
      </p:sp>
      <p:sp>
        <p:nvSpPr>
          <p:cNvPr id="16" name="TextBox 15"/>
          <p:cNvSpPr txBox="1"/>
          <p:nvPr/>
        </p:nvSpPr>
        <p:spPr>
          <a:xfrm>
            <a:off x="868680" y="5550407"/>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6  International Energy Agency (2023). Cement—Tracking Clean Energy Progress. https://www.iea.org/energy-system/industry/cement</a:t>
            </a:r>
          </a:p>
        </p:txBody>
      </p:sp>
      <p:sp>
        <p:nvSpPr>
          <p:cNvPr id="17" name="Rounded Rectangle 16"/>
          <p:cNvSpPr/>
          <p:nvPr/>
        </p:nvSpPr>
        <p:spPr>
          <a:xfrm>
            <a:off x="6172200"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41732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7  Reid, I.; Carpenter, A.M.; Masili, A. (2020). Beneficial Uses of Coal Fly Ash. IEA Clean Coal Centre, CCC/303, ISBN 978-92-9029-626-3.</a:t>
            </a:r>
          </a:p>
        </p:txBody>
      </p:sp>
      <p:sp>
        <p:nvSpPr>
          <p:cNvPr id="19" name="TextBox 18"/>
          <p:cNvSpPr txBox="1"/>
          <p:nvPr/>
        </p:nvSpPr>
        <p:spPr>
          <a:xfrm>
            <a:off x="6373368" y="2185416"/>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8  IRC:119-2015. Guidelines for Traffic Safety Barriers. Indian Roads Congress, New Delhi.</a:t>
            </a:r>
          </a:p>
        </p:txBody>
      </p:sp>
      <p:sp>
        <p:nvSpPr>
          <p:cNvPr id="20" name="TextBox 19"/>
          <p:cNvSpPr txBox="1"/>
          <p:nvPr/>
        </p:nvSpPr>
        <p:spPr>
          <a:xfrm>
            <a:off x="6373368" y="2953512"/>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9  IRC:6-2016. Standard Specifications and Code of Practice for Road Bridges. Indian Roads Congress.</a:t>
            </a:r>
          </a:p>
        </p:txBody>
      </p:sp>
      <p:sp>
        <p:nvSpPr>
          <p:cNvPr id="21" name="TextBox 20"/>
          <p:cNvSpPr txBox="1"/>
          <p:nvPr/>
        </p:nvSpPr>
        <p:spPr>
          <a:xfrm>
            <a:off x="6373368" y="3721608"/>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10 ACI 211.2-98. Standard Practice for Selecting Proportions for Structural Lightweight Concrete. American Concrete Institute.</a:t>
            </a:r>
          </a:p>
        </p:txBody>
      </p:sp>
      <p:sp>
        <p:nvSpPr>
          <p:cNvPr id="22" name="TextBox 21"/>
          <p:cNvSpPr txBox="1"/>
          <p:nvPr/>
        </p:nvSpPr>
        <p:spPr>
          <a:xfrm>
            <a:off x="6373368" y="4489704"/>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11 ACI 544.2R-89. Measurement of Properties of Fiber Reinforced Concrete. American Concrete Institute.</a:t>
            </a:r>
          </a:p>
        </p:txBody>
      </p:sp>
      <p:sp>
        <p:nvSpPr>
          <p:cNvPr id="23" name="TextBox 22"/>
          <p:cNvSpPr txBox="1"/>
          <p:nvPr/>
        </p:nvSpPr>
        <p:spPr>
          <a:xfrm>
            <a:off x="6373368" y="525780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12 IS 9142 (Part 2):2018. Artificial Lightweight Aggregates—Sintered Fly Ash Aggregate. Bureau of Indian Standards.</a:t>
            </a:r>
          </a:p>
        </p:txBody>
      </p:sp>
      <p:sp>
        <p:nvSpPr>
          <p:cNvPr id="24" name="TextBox 23"/>
          <p:cNvSpPr txBox="1"/>
          <p:nvPr/>
        </p:nvSpPr>
        <p:spPr>
          <a:xfrm>
            <a:off x="6373368" y="6025896"/>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13 IIT Bhubaneswar visual identity/logo: https://www.iitbbs.ac.in/ (accessed Aug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SOURCES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Peer-reviewed literature &amp; proceedings (2/2)</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CONFIDENTIAL • NOT FILED AS OF SUPPLIED DISCLOSURE (16 JUL 2026) • INTERNAL IP EVALUATION ONLY</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19</a:t>
            </a:r>
          </a:p>
        </p:txBody>
      </p:sp>
      <p:sp>
        <p:nvSpPr>
          <p:cNvPr id="10" name="Rounded Rectangle 9"/>
          <p:cNvSpPr/>
          <p:nvPr/>
        </p:nvSpPr>
        <p:spPr>
          <a:xfrm>
            <a:off x="667512"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3898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14 Raj, A.; Nagarajan, P.; Pallikkara, S.A. (2020). Application of Fiber-Reinforced Rubcrete for Crash Barriers. J. Mater. Civ. Eng. 32(12), 04020358. doi:10.1061/(ASCE)MT.1943-5533.0003454.</a:t>
            </a:r>
          </a:p>
        </p:txBody>
      </p:sp>
      <p:sp>
        <p:nvSpPr>
          <p:cNvPr id="12" name="TextBox 11"/>
          <p:cNvSpPr txBox="1"/>
          <p:nvPr/>
        </p:nvSpPr>
        <p:spPr>
          <a:xfrm>
            <a:off x="868680" y="209854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15 Shen, W. et al. (2014). Investigation on the safety concrete for highway crash barrier. Constr. Build. Mater. 70, 394–398. doi:10.1016/j.conbuildmat.2014.07.060.</a:t>
            </a:r>
          </a:p>
        </p:txBody>
      </p:sp>
      <p:sp>
        <p:nvSpPr>
          <p:cNvPr id="13" name="TextBox 12"/>
          <p:cNvSpPr txBox="1"/>
          <p:nvPr/>
        </p:nvSpPr>
        <p:spPr>
          <a:xfrm>
            <a:off x="868680" y="280720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16 Zain, M.F.M.; Mohammed, H.J. (2015). Concrete road barriers subjected to impact loads: an overview. Lat. Am. J. Solids Struct. 12, 1824–1858. doi:10.1590/1679-78251783.</a:t>
            </a:r>
          </a:p>
        </p:txBody>
      </p:sp>
      <p:sp>
        <p:nvSpPr>
          <p:cNvPr id="14" name="TextBox 13"/>
          <p:cNvSpPr txBox="1"/>
          <p:nvPr/>
        </p:nvSpPr>
        <p:spPr>
          <a:xfrm>
            <a:off x="868680" y="351586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17 Wang, H.T.; Wang, L.C. (2013). Static and dynamic properties of steel fiber reinforced lightweight aggregate concrete. Constr. Build. Mater. 38, 1146–1151. doi:10.1016/j.conbuildmat.2012.09.016.</a:t>
            </a:r>
          </a:p>
        </p:txBody>
      </p:sp>
      <p:sp>
        <p:nvSpPr>
          <p:cNvPr id="15" name="TextBox 14"/>
          <p:cNvSpPr txBox="1"/>
          <p:nvPr/>
        </p:nvSpPr>
        <p:spPr>
          <a:xfrm>
            <a:off x="868680" y="42245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18 Sahoo, S.; Selvaraju, A.K.; Suriya Prakash, S. (2020). Mechanical characterization of structural lightweight aggregate concrete made with SFA and synthetic fibres. Cem. Concr. Compos. 113, 103712. doi:10.1016/j.cemconcomp.2020.103712.</a:t>
            </a:r>
          </a:p>
        </p:txBody>
      </p:sp>
      <p:sp>
        <p:nvSpPr>
          <p:cNvPr id="16" name="TextBox 15"/>
          <p:cNvSpPr txBox="1"/>
          <p:nvPr/>
        </p:nvSpPr>
        <p:spPr>
          <a:xfrm>
            <a:off x="868680" y="50246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19 Nadesan, M.S.; Dinakar, P. (2017). Mix design and properties of fly ash waste lightweight aggregates in structural lightweight concrete. Case Stud. Constr. Mater. 7, 336–347. doi:10.1016/j.cscm.2017.09.005.</a:t>
            </a:r>
          </a:p>
        </p:txBody>
      </p:sp>
      <p:sp>
        <p:nvSpPr>
          <p:cNvPr id="17" name="TextBox 16"/>
          <p:cNvSpPr txBox="1"/>
          <p:nvPr/>
        </p:nvSpPr>
        <p:spPr>
          <a:xfrm>
            <a:off x="868680" y="582472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20 Kim, W. et al. (2019). Evaluation of concrete barriers with novel shock absorbers subjected to impact loading. Arch. Civ. Mech. Eng. 19, 657–671. doi:10.1016/j.acme.2019.01.004.</a:t>
            </a:r>
          </a:p>
        </p:txBody>
      </p:sp>
      <p:sp>
        <p:nvSpPr>
          <p:cNvPr id="18" name="Rounded Rectangle 17"/>
          <p:cNvSpPr/>
          <p:nvPr/>
        </p:nvSpPr>
        <p:spPr>
          <a:xfrm>
            <a:off x="6172200"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13898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21 Yang, J. et al. (2019). Crash performance evaluation of a new movable median guardrail. Eng. Struct. 182, 459–472. doi:10.1016/j.engstruct.2018.12.090.</a:t>
            </a:r>
          </a:p>
        </p:txBody>
      </p:sp>
      <p:sp>
        <p:nvSpPr>
          <p:cNvPr id="20" name="TextBox 19"/>
          <p:cNvSpPr txBox="1"/>
          <p:nvPr/>
        </p:nvSpPr>
        <p:spPr>
          <a:xfrm>
            <a:off x="6373368" y="209854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22 Abid, S.R. et al. (2020). Repeated drop-weight impact tests on self-compacting concrete reinforced with microsteel fiber. Heliyon 6, e03198. doi:10.1016/j.heliyon.2020.e03198.</a:t>
            </a:r>
          </a:p>
        </p:txBody>
      </p:sp>
      <p:sp>
        <p:nvSpPr>
          <p:cNvPr id="21" name="TextBox 20"/>
          <p:cNvSpPr txBox="1"/>
          <p:nvPr/>
        </p:nvSpPr>
        <p:spPr>
          <a:xfrm>
            <a:off x="6373368" y="280720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23 Li, N.; Park, B.B.; Lambert, J.H. (2018). Effect of guardrail on reducing fatal and severe injuries on freeways. J. Transp. Saf. Secur. 10(5), 455–470. doi:10.1080/19439962.2017.1297970.</a:t>
            </a:r>
          </a:p>
        </p:txBody>
      </p:sp>
      <p:sp>
        <p:nvSpPr>
          <p:cNvPr id="22" name="TextBox 21"/>
          <p:cNvSpPr txBox="1"/>
          <p:nvPr/>
        </p:nvSpPr>
        <p:spPr>
          <a:xfrm>
            <a:off x="6373368" y="351586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24 Grzebieta, R.H. et al. (2005). Roadside Hazard and Barrier Crashworthiness Issues. Proc. 19th Int’l Technical Conf. on Enhanced Safety of Vehicles, Paper 05-0149-O, NHTSA.</a:t>
            </a:r>
          </a:p>
        </p:txBody>
      </p:sp>
      <p:sp>
        <p:nvSpPr>
          <p:cNvPr id="23" name="TextBox 22"/>
          <p:cNvSpPr txBox="1"/>
          <p:nvPr/>
        </p:nvSpPr>
        <p:spPr>
          <a:xfrm>
            <a:off x="6373368" y="42245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25 Bonin, G.; Cantisani, G.; Loprencipe, G.; Ranzo, A. (2004). Road safety barriers with short elements of lightweight concrete. Proc. II Int’l Congress SIIV—New Technologies and Modelling Tools for Roads.</a:t>
            </a:r>
          </a:p>
        </p:txBody>
      </p:sp>
      <p:sp>
        <p:nvSpPr>
          <p:cNvPr id="24" name="TextBox 23"/>
          <p:cNvSpPr txBox="1"/>
          <p:nvPr/>
        </p:nvSpPr>
        <p:spPr>
          <a:xfrm>
            <a:off x="6373368" y="502462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26 Iqbal, M. (2011). Vehicular Impact Loading and Barrier Design. ACI Symposium Publication SP-281, 1–16. doi:10.14359/51683612.</a:t>
            </a:r>
          </a:p>
        </p:txBody>
      </p:sp>
      <p:sp>
        <p:nvSpPr>
          <p:cNvPr id="25" name="TextBox 24"/>
          <p:cNvSpPr txBox="1"/>
          <p:nvPr/>
        </p:nvSpPr>
        <p:spPr>
          <a:xfrm>
            <a:off x="6373368" y="57332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27 Pachocki, Ł.; Bruski, D. (2020). Modeling, simulation and validation of a TB41 concrete restraint-system crash test. Arch. Civ. Mech. Eng. doi:10.1007/s43452-020-00065-7.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internal confidential patent-value presentation with experimental evidence and references</dc:subject>
  <dc:creator>IIT Bhubaneswar invention team</dc:creator>
  <cp:keywords>crash barrier, lightweight concrete, impact energy, patent, IIT Bhubaneswar</cp:keywords>
  <dc:description>Generated from inventor-supplied documents. Claims and certification statements are evidence-qualified.</dc:description>
  <cp:lastModifiedBy>Steve Canny</cp:lastModifiedBy>
  <cp:revision>1</cp:revision>
  <dcterms:created xsi:type="dcterms:W3CDTF">2013-01-27T09:14:16Z</dcterms:created>
  <dcterms:modified xsi:type="dcterms:W3CDTF">2013-01-27T09:15:58Z</dcterms:modified>
  <cp:category/>
</cp:coreProperties>
</file>