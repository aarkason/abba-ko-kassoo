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26"/>
    <p:sldId id="258" r:id="rId4"/>
    <p:sldId id="259" r:id="rId5"/>
    <p:sldId id="260" r:id="rId6"/>
    <p:sldId id="261" r:id="rId7"/>
    <p:sldId id="262" r:id="rId8"/>
    <p:sldId id="263" r:id="rId9"/>
    <p:sldId id="264" r:id="rId10"/>
    <p:sldId id="265" r:id="rId11"/>
    <p:sldId id="266" r:id="rId12"/>
    <p:sldId id="267" r:id="rId13"/>
    <p:sldId id="268" r:id="rId14"/>
    <p:sldId id="269" r:id="rId15"/>
    <p:sldId id="257" r:id="rId3"/>
    <p:sldId id="270" r:id="rId16"/>
    <p:sldId id="276" r:id="rId27"/>
    <p:sldId id="277" r:id="rId28"/>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6089" autoAdjust="0"/>
  </p:normalViewPr>
  <p:slideViewPr>
    <p:cSldViewPr snapToGrid="0" snapToObjects="1">
      <p:cViewPr varScale="1">
        <p:scale>
          <a:sx n="54" d="100"/>
          <a:sy n="54" d="100"/>
        </p:scale>
        <p:origin x="267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pt idx="0">
                  <c:v>Share</c:v>
                </c:pt>
              </c:strCache>
            </c:strRef>
          </c:tx>
          <c:spPr>
            <a:ln>
              <a:solidFill>
                <a:srgbClr val="0077B6"/>
              </a:solidFill>
            </a:ln>
          </c:spPr>
          <c:dPt>
            <c:idx val="0"/>
            <c:bubble3D val="0"/>
            <c:spPr>
              <a:pattFill prst="wdDnDiag">
                <a:fgClr>
                  <a:srgbClr val="0077B6"/>
                </a:fgClr>
                <a:bgClr>
                  <a:srgbClr val="FFFFFF"/>
                </a:bgClr>
              </a:pattFill>
              <a:ln>
                <a:solidFill>
                  <a:srgbClr val="0077B6"/>
                </a:solidFill>
              </a:ln>
            </c:spPr>
            <c:extLst>
              <c:ext xmlns:c16="http://schemas.microsoft.com/office/drawing/2014/chart" uri="{C3380CC4-5D6E-409C-BE32-E72D297353CC}">
                <c16:uniqueId val="{00000001-8B85-452D-8D2C-1B21F2B4C740}"/>
              </c:ext>
            </c:extLst>
          </c:dPt>
          <c:dPt>
            <c:idx val="1"/>
            <c:bubble3D val="0"/>
            <c:spPr>
              <a:pattFill prst="wdUpDiag">
                <a:fgClr>
                  <a:srgbClr val="00A6C8"/>
                </a:fgClr>
                <a:bgClr>
                  <a:srgbClr val="FFFFFF"/>
                </a:bgClr>
              </a:pattFill>
              <a:ln>
                <a:solidFill>
                  <a:srgbClr val="00A6C8"/>
                </a:solidFill>
              </a:ln>
            </c:spPr>
            <c:extLst>
              <c:ext xmlns:c16="http://schemas.microsoft.com/office/drawing/2014/chart" uri="{C3380CC4-5D6E-409C-BE32-E72D297353CC}">
                <c16:uniqueId val="{00000003-8B85-452D-8D2C-1B21F2B4C740}"/>
              </c:ext>
            </c:extLst>
          </c:dPt>
          <c:dPt>
            <c:idx val="2"/>
            <c:bubble3D val="0"/>
            <c:spPr>
              <a:pattFill prst="dashDnDiag">
                <a:fgClr>
                  <a:srgbClr val="2A9D8F"/>
                </a:fgClr>
                <a:bgClr>
                  <a:srgbClr val="FFFFFF"/>
                </a:bgClr>
              </a:pattFill>
              <a:ln>
                <a:solidFill>
                  <a:srgbClr val="2A9D8F"/>
                </a:solidFill>
              </a:ln>
            </c:spPr>
            <c:extLst>
              <c:ext xmlns:c16="http://schemas.microsoft.com/office/drawing/2014/chart" uri="{C3380CC4-5D6E-409C-BE32-E72D297353CC}">
                <c16:uniqueId val="{00000005-8B85-452D-8D2C-1B21F2B4C740}"/>
              </c:ext>
            </c:extLst>
          </c:dPt>
          <c:dPt>
            <c:idx val="3"/>
            <c:bubble3D val="0"/>
            <c:spPr>
              <a:pattFill prst="diagCross">
                <a:fgClr>
                  <a:srgbClr val="F4A261"/>
                </a:fgClr>
                <a:bgClr>
                  <a:srgbClr val="FFFFFF"/>
                </a:bgClr>
              </a:pattFill>
              <a:ln>
                <a:solidFill>
                  <a:srgbClr val="F4A261"/>
                </a:solidFill>
              </a:ln>
            </c:spPr>
            <c:extLst>
              <c:ext xmlns:c16="http://schemas.microsoft.com/office/drawing/2014/chart" uri="{C3380CC4-5D6E-409C-BE32-E72D297353CC}">
                <c16:uniqueId val="{00000007-8B85-452D-8D2C-1B21F2B4C740}"/>
              </c:ext>
            </c:extLst>
          </c:dPt>
          <c:cat>
            <c:strRef>
              <c:f>Sheet1!$A$2:$A$5</c:f>
              <c:strCache>
                <c:ptCount val="4"/>
                <c:pt idx="0">
                  <c:v>Upper-middle</c:v>
                </c:pt>
                <c:pt idx="1">
                  <c:v>Lower-middle</c:v>
                </c:pt>
                <c:pt idx="2">
                  <c:v>Low</c:v>
                </c:pt>
                <c:pt idx="3">
                  <c:v>High</c:v>
                </c:pt>
              </c:strCache>
            </c:strRef>
          </c:cat>
          <c:val>
            <c:numRef>
              <c:f>Sheet1!$B$2:$B$5</c:f>
              <c:numCache>
                <c:formatCode>General</c:formatCode>
                <c:ptCount val="4"/>
                <c:pt idx="0">
                  <c:v>35</c:v>
                </c:pt>
                <c:pt idx="1">
                  <c:v>44</c:v>
                </c:pt>
                <c:pt idx="2">
                  <c:v>13</c:v>
                </c:pt>
                <c:pt idx="3">
                  <c:v>8</c:v>
                </c:pt>
              </c:numCache>
            </c:numRef>
          </c:val>
          <c:extLst>
            <c:ext xmlns:c16="http://schemas.microsoft.com/office/drawing/2014/chart" uri="{C3380CC4-5D6E-409C-BE32-E72D297353CC}">
              <c16:uniqueId val="{00000008-8B85-452D-8D2C-1B21F2B4C740}"/>
            </c:ext>
          </c:extLst>
        </c:ser>
        <c:dLbls>
          <c:txPr>
            <a:bodyPr/>
            <a:lstStyle/>
            <a:p>
              <a:pPr>
                <a:defRPr sz="1100" b="1">
                  <a:solidFill>
                    <a:srgbClr val="000000"/>
                  </a:solidFill>
                  <a:latin typeface="Tahoma"/>
                </a:defRPr>
              </a:pPr>
            </a:p>
          </c:txPr>
          <c:showLegendKey val="0"/>
          <c:showVal val="1"/>
          <c:showCatName val="0"/>
          <c:showSerName val="0"/>
          <c:showPercent val="0"/>
          <c:showBubbleSize val="0"/>
          <c:showLeaderLines val="1"/>
        </c:dLbls>
        <c:firstSliceAng val="0"/>
        <c:holeSize val="50"/>
      </c:doughnutChart>
    </c:plotArea>
    <c:legend>
      <c:legendPos val="b"/>
      <c:overlay val="0"/>
      <c:txPr>
        <a:bodyPr/>
        <a:lstStyle/>
        <a:p>
          <a:pPr>
            <a:defRPr sz="1000">
              <a:solidFill>
                <a:srgbClr val="000000"/>
              </a:solidFill>
              <a:latin typeface="Tahoma"/>
            </a:defRPr>
          </a:pPr>
          <a:endParaRPr lang="en-US"/>
        </a:p>
      </c:txPr>
    </c:legend>
    <c:plotVisOnly val="1"/>
    <c:dispBlanksAs val="gap"/>
    <c:showDLblsOverMax val="0"/>
  </c:chart>
  <c:txPr>
    <a:bodyPr/>
    <a:lstStyle/>
    <a:p>
      <a:pPr>
        <a:defRPr sz="1000">
          <a:solidFill>
            <a:srgbClr val="000000"/>
          </a:solidFill>
          <a:latin typeface="Tahom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2E6F9E"/>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2466</c:v>
                </c:pt>
                <c:pt idx="1">
                  <c:v>1885</c:v>
                </c:pt>
                <c:pt idx="2">
                  <c:v>1923</c:v>
                </c:pt>
                <c:pt idx="3">
                  <c:v>1951</c:v>
                </c:pt>
                <c:pt idx="4">
                  <c:v>1987</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E6F9E"/>
                    </a:solidFill>
                  </a:ln>
                </c14:spPr>
              </c14:invertSolidFillFmt>
            </c:ext>
            <c:ext xmlns:c16="http://schemas.microsoft.com/office/drawing/2014/chart" uri="{C3380CC4-5D6E-409C-BE32-E72D297353CC}">
              <c16:uniqueId val="{00000000-2048-4CA5-9520-19B038C80DC3}"/>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2700"/>
          <c:min val="0"/>
        </c:scaling>
        <c:delete val="0"/>
        <c:axPos val="l"/>
        <c:majorGridlines>
          <c:spPr>
            <a:ln>
              <a:solidFill>
                <a:srgbClr val="CCD6DE"/>
              </a:solidFill>
            </a:ln>
          </c:spPr>
        </c:majorGridlines>
        <c:title>
          <c:tx>
            <c:rich>
              <a:bodyPr/>
              <a:lstStyle/>
              <a:p>
                <a:r>
                  <a:rPr lang="en-IN" sz="1100">
                    <a:solidFill>
                      <a:srgbClr val="000000"/>
                    </a:solidFill>
                    <a:latin typeface="Tahoma"/>
                  </a:rPr>
                  <a:t>kg/m³</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3F7E73"/>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49.62</c:v>
                </c:pt>
                <c:pt idx="1">
                  <c:v>51.1</c:v>
                </c:pt>
                <c:pt idx="2">
                  <c:v>53.7</c:v>
                </c:pt>
                <c:pt idx="3">
                  <c:v>56.8</c:v>
                </c:pt>
                <c:pt idx="4">
                  <c:v>55.4</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3F7E73"/>
                    </a:solidFill>
                  </a:ln>
                </c14:spPr>
              </c14:invertSolidFillFmt>
            </c:ext>
            <c:ext xmlns:c16="http://schemas.microsoft.com/office/drawing/2014/chart" uri="{C3380CC4-5D6E-409C-BE32-E72D297353CC}">
              <c16:uniqueId val="{00000000-FB4A-4A76-B712-D6B094C50742}"/>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65"/>
          <c:min val="0"/>
        </c:scaling>
        <c:delete val="0"/>
        <c:axPos val="l"/>
        <c:majorGridlines>
          <c:spPr>
            <a:ln>
              <a:solidFill>
                <a:srgbClr val="CCD6DE"/>
              </a:solidFill>
            </a:ln>
          </c:spPr>
        </c:majorGridlines>
        <c:title>
          <c:tx>
            <c:rich>
              <a:bodyPr/>
              <a:lstStyle/>
              <a:p>
                <a:r>
                  <a:rPr lang="en-IN" sz="1100">
                    <a:solidFill>
                      <a:srgbClr val="000000"/>
                    </a:solidFill>
                    <a:latin typeface="Tahoma"/>
                  </a:rPr>
                  <a:t>MPa</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4.32</c:v>
                </c:pt>
                <c:pt idx="1">
                  <c:v>3.36</c:v>
                </c:pt>
                <c:pt idx="2">
                  <c:v>4.7699999999999996</c:v>
                </c:pt>
                <c:pt idx="3">
                  <c:v>5.92</c:v>
                </c:pt>
                <c:pt idx="4">
                  <c:v>7.6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6CB2-49CB-B48C-569AFA3817DF}"/>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9"/>
          <c:min val="0"/>
        </c:scaling>
        <c:delete val="0"/>
        <c:axPos val="l"/>
        <c:majorGridlines>
          <c:spPr>
            <a:ln>
              <a:solidFill>
                <a:srgbClr val="CCD6DE"/>
              </a:solidFill>
            </a:ln>
          </c:spPr>
        </c:majorGridlines>
        <c:title>
          <c:tx>
            <c:rich>
              <a:bodyPr/>
              <a:lstStyle/>
              <a:p>
                <a:r>
                  <a:rPr lang="en-IN" sz="1100">
                    <a:solidFill>
                      <a:srgbClr val="000000"/>
                    </a:solidFill>
                    <a:latin typeface="Tahoma"/>
                  </a:rPr>
                  <a:t>MPa</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bar"/>
        <c:grouping val="clustered"/>
        <c:varyColors val="1"/>
        <c:ser>
          <c:idx val="0"/>
          <c:order val="0"/>
          <c:tx>
            <c:strRef>
              <c:f>Sheet1!$B$1</c:f>
              <c:strCache>
                <c:ptCount val="1"/>
              </c:strCache>
            </c:strRef>
          </c:tx>
          <c:spPr>
            <a:solidFill>
              <a:srgbClr val="2E6F9E"/>
            </a:solidFill>
            <a:ln>
              <a:solidFill>
                <a:srgbClr val="0077B6"/>
              </a:solidFill>
            </a:ln>
          </c:spPr>
          <c:invertIfNegative val="1"/>
          <c:dPt>
            <c:idx val="0"/>
            <c:invertIfNegative val="1"/>
            <c:bubble3D val="0"/>
            <c:spPr>
              <a:pattFill prst="wdDnDiag">
                <a:fgClr>
                  <a:srgbClr val="0077B6"/>
                </a:fgClr>
                <a:bgClr>
                  <a:srgbClr val="FFFFFF"/>
                </a:bgClr>
              </a:pattFill>
              <a:ln>
                <a:solidFill>
                  <a:srgbClr val="0077B6"/>
                </a:solidFill>
              </a:ln>
            </c:spPr>
            <c:extLst>
              <c:ext xmlns:c16="http://schemas.microsoft.com/office/drawing/2014/chart" uri="{C3380CC4-5D6E-409C-BE32-E72D297353CC}">
                <c16:uniqueId val="{00000001-16F7-4C09-906B-C4AB44F6F5F6}"/>
              </c:ext>
            </c:extLst>
          </c:dPt>
          <c:dPt>
            <c:idx val="1"/>
            <c:invertIfNegative val="1"/>
            <c:bubble3D val="0"/>
            <c:spPr>
              <a:pattFill prst="wdUpDiag">
                <a:fgClr>
                  <a:srgbClr val="00A6C8"/>
                </a:fgClr>
                <a:bgClr>
                  <a:srgbClr val="FFFFFF"/>
                </a:bgClr>
              </a:pattFill>
              <a:ln>
                <a:solidFill>
                  <a:srgbClr val="00A6C8"/>
                </a:solidFill>
              </a:ln>
            </c:spPr>
            <c:extLst>
              <c:ext xmlns:c16="http://schemas.microsoft.com/office/drawing/2014/chart" uri="{C3380CC4-5D6E-409C-BE32-E72D297353CC}">
                <c16:uniqueId val="{00000003-16F7-4C09-906B-C4AB44F6F5F6}"/>
              </c:ext>
            </c:extLst>
          </c:dPt>
          <c:dPt>
            <c:idx val="2"/>
            <c:invertIfNegative val="1"/>
            <c:bubble3D val="0"/>
            <c:spPr>
              <a:pattFill prst="dashDnDiag">
                <a:fgClr>
                  <a:srgbClr val="2A9D8F"/>
                </a:fgClr>
                <a:bgClr>
                  <a:srgbClr val="FFFFFF"/>
                </a:bgClr>
              </a:pattFill>
              <a:ln>
                <a:solidFill>
                  <a:srgbClr val="2A9D8F"/>
                </a:solidFill>
              </a:ln>
            </c:spPr>
            <c:extLst>
              <c:ext xmlns:c16="http://schemas.microsoft.com/office/drawing/2014/chart" uri="{C3380CC4-5D6E-409C-BE32-E72D297353CC}">
                <c16:uniqueId val="{00000005-16F7-4C09-906B-C4AB44F6F5F6}"/>
              </c:ext>
            </c:extLst>
          </c:dPt>
          <c:dPt>
            <c:idx val="3"/>
            <c:invertIfNegative val="1"/>
            <c:bubble3D val="0"/>
            <c:spPr>
              <a:pattFill prst="diagCross">
                <a:fgClr>
                  <a:srgbClr val="F4A261"/>
                </a:fgClr>
                <a:bgClr>
                  <a:srgbClr val="FFFFFF"/>
                </a:bgClr>
              </a:pattFill>
              <a:ln>
                <a:solidFill>
                  <a:srgbClr val="F4A261"/>
                </a:solidFill>
              </a:ln>
            </c:spPr>
            <c:extLst>
              <c:ext xmlns:c16="http://schemas.microsoft.com/office/drawing/2014/chart" uri="{C3380CC4-5D6E-409C-BE32-E72D297353CC}">
                <c16:uniqueId val="{00000007-16F7-4C09-906B-C4AB44F6F5F6}"/>
              </c:ext>
            </c:extLst>
          </c:dPt>
          <c:dPt>
            <c:idx val="4"/>
            <c:invertIfNegative val="1"/>
            <c:bubble3D val="0"/>
            <c:spPr>
              <a:pattFill prst="dkUpDiag">
                <a:fgClr>
                  <a:srgbClr val="E76F51"/>
                </a:fgClr>
                <a:bgClr>
                  <a:srgbClr val="FFFFFF"/>
                </a:bgClr>
              </a:pattFill>
              <a:ln>
                <a:solidFill>
                  <a:srgbClr val="E76F51"/>
                </a:solidFill>
              </a:ln>
            </c:spPr>
            <c:extLst>
              <c:ext xmlns:c16="http://schemas.microsoft.com/office/drawing/2014/chart" uri="{C3380CC4-5D6E-409C-BE32-E72D297353CC}">
                <c16:uniqueId val="{00000009-16F7-4C09-906B-C4AB44F6F5F6}"/>
              </c:ext>
            </c:extLst>
          </c:dPt>
          <c:dLbls>
            <c:numFmt formatCode="0" sourceLinked="0"/>
            <c:spPr>
              <a:noFill/>
              <a:ln>
                <a:noFill/>
              </a:ln>
              <a:effectLst/>
            </c:spPr>
            <c:txPr>
              <a:bodyPr/>
              <a:lstStyle/>
              <a:p>
                <a:pPr>
                  <a:defRPr sz="80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52.97</c:v>
                </c:pt>
                <c:pt idx="1">
                  <c:v>26.49</c:v>
                </c:pt>
                <c:pt idx="2">
                  <c:v>264.87</c:v>
                </c:pt>
                <c:pt idx="3">
                  <c:v>595.96</c:v>
                </c:pt>
                <c:pt idx="4">
                  <c:v>2927.81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E6F9E"/>
                    </a:solidFill>
                  </a:ln>
                </c14:spPr>
              </c14:invertSolidFillFmt>
            </c:ext>
            <c:ext xmlns:c16="http://schemas.microsoft.com/office/drawing/2014/chart" uri="{C3380CC4-5D6E-409C-BE32-E72D297353CC}">
              <c16:uniqueId val="{0000000A-16F7-4C09-906B-C4AB44F6F5F6}"/>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58"/>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3300"/>
          <c:min val="0"/>
        </c:scaling>
        <c:delete val="0"/>
        <c:axPos val="t"/>
        <c:majorGridlines>
          <c:spPr>
            <a:ln>
              <a:solidFill>
                <a:srgbClr val="CCD6DE"/>
              </a:solidFill>
            </a:ln>
          </c:spPr>
        </c:majorGridlines>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0.1105896491496957"/>
          <c:y val="6.1050061050061048E-2"/>
          <c:w val="0.86153119432151271"/>
          <c:h val="0.80787858248488165"/>
        </c:manualLayout>
      </c:layout>
      <c:barChart>
        <c:barDir val="col"/>
        <c:grouping val="clustered"/>
        <c:varyColors val="1"/>
        <c:ser>
          <c:idx val="0"/>
          <c:order val="0"/>
          <c:tx>
            <c:strRef>
              <c:f>Sheet1!$B$1</c:f>
              <c:strCache>
                <c:ptCount val="1"/>
                <c:pt idx="0">
                  <c:v>First crack N₁</c:v>
                </c:pt>
              </c:strCache>
            </c:strRef>
          </c:tx>
          <c:spPr>
            <a:solidFill>
              <a:srgbClr val="4A89A3"/>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1.6666666666666667</c:v>
                </c:pt>
                <c:pt idx="1">
                  <c:v>0.6666666666666666</c:v>
                </c:pt>
                <c:pt idx="2">
                  <c:v>4.666666666666667</c:v>
                </c:pt>
                <c:pt idx="3">
                  <c:v>15</c:v>
                </c:pt>
                <c:pt idx="4">
                  <c:v>35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4A89A3"/>
                    </a:solidFill>
                  </a:ln>
                </c14:spPr>
              </c14:invertSolidFillFmt>
            </c:ext>
            <c:ext xmlns:c16="http://schemas.microsoft.com/office/drawing/2014/chart" uri="{C3380CC4-5D6E-409C-BE32-E72D297353CC}">
              <c16:uniqueId val="{00000000-56B7-4FC1-9014-7C3C5B2C8270}"/>
            </c:ext>
          </c:extLst>
        </c:ser>
        <c:ser>
          <c:idx val="1"/>
          <c:order val="1"/>
          <c:tx>
            <c:strRef>
              <c:f>Sheet1!$C$1</c:f>
              <c:strCache>
                <c:ptCount val="1"/>
                <c:pt idx="0">
                  <c:v>Failure N₂</c:v>
                </c:pt>
              </c:strCache>
            </c:strRef>
          </c:tx>
          <c:spPr>
            <a:solidFill>
              <a:srgbClr val="17365D"/>
            </a:solidFill>
            <a:ln>
              <a:solidFill>
                <a:srgbClr val="00A6C8"/>
              </a:solidFill>
            </a:ln>
          </c:spPr>
          <c:invertIfNegative val="1"/>
          <c:dPt>
            <c:idx val="0"/>
            <c:spPr>
              <a:pattFill prst="wdUpDiag">
                <a:fgClr>
                  <a:srgbClr val="2A9D8F"/>
                </a:fgClr>
                <a:bgClr>
                  <a:srgbClr val="FFFFFF"/>
                </a:bgClr>
              </a:pattFill>
              <a:ln>
                <a:solidFill>
                  <a:srgbClr val="2A9D8F"/>
                </a:solidFill>
              </a:ln>
            </c:spPr>
          </c:dPt>
          <c:dPt>
            <c:idx val="1"/>
            <c:spPr>
              <a:pattFill prst="dashDnDiag">
                <a:fgClr>
                  <a:srgbClr val="F4A261"/>
                </a:fgClr>
                <a:bgClr>
                  <a:srgbClr val="FFFFFF"/>
                </a:bgClr>
              </a:pattFill>
              <a:ln>
                <a:solidFill>
                  <a:srgbClr val="F4A261"/>
                </a:solidFill>
              </a:ln>
            </c:spPr>
          </c:dPt>
          <c:dPt>
            <c:idx val="2"/>
            <c:spPr>
              <a:pattFill prst="diagCross">
                <a:fgClr>
                  <a:srgbClr val="E76F51"/>
                </a:fgClr>
                <a:bgClr>
                  <a:srgbClr val="FFFFFF"/>
                </a:bgClr>
              </a:pattFill>
              <a:ln>
                <a:solidFill>
                  <a:srgbClr val="E76F51"/>
                </a:solidFill>
              </a:ln>
            </c:spPr>
          </c:dPt>
          <c:dPt>
            <c:idx val="3"/>
            <c:spPr>
              <a:pattFill prst="dkUpDiag">
                <a:fgClr>
                  <a:srgbClr val="0077B6"/>
                </a:fgClr>
                <a:bgClr>
                  <a:srgbClr val="FFFFFF"/>
                </a:bgClr>
              </a:pattFill>
              <a:ln>
                <a:solidFill>
                  <a:srgbClr val="0077B6"/>
                </a:solidFill>
              </a:ln>
            </c:spPr>
          </c:dPt>
          <c:dPt>
            <c:idx val="4"/>
            <c:spPr>
              <a:pattFill prst="wdDnDiag">
                <a:fgClr>
                  <a:srgbClr val="00A6C8"/>
                </a:fgClr>
                <a:bgClr>
                  <a:srgbClr val="FFFFFF"/>
                </a:bgClr>
              </a:pattFill>
              <a:ln>
                <a:solidFill>
                  <a:srgbClr val="00A6C8"/>
                </a:solidFill>
              </a:ln>
            </c:spPr>
          </c:dPt>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Sheet1!$C$2:$C$6</c:f>
              <c:numCache>
                <c:formatCode>General</c:formatCode>
                <c:ptCount val="5"/>
                <c:pt idx="0">
                  <c:v>3.6666666666666665</c:v>
                </c:pt>
                <c:pt idx="1">
                  <c:v>1.6666666666666667</c:v>
                </c:pt>
                <c:pt idx="2">
                  <c:v>20</c:v>
                </c:pt>
                <c:pt idx="3">
                  <c:v>44.666666666666664</c:v>
                </c:pt>
                <c:pt idx="4">
                  <c:v>221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7365D"/>
                    </a:solidFill>
                  </a:ln>
                </c14:spPr>
              </c14:invertSolidFillFmt>
            </c:ext>
            <c:ext xmlns:c16="http://schemas.microsoft.com/office/drawing/2014/chart" uri="{C3380CC4-5D6E-409C-BE32-E72D297353CC}">
              <c16:uniqueId val="{00000001-56B7-4FC1-9014-7C3C5B2C8270}"/>
            </c:ext>
          </c:extLst>
        </c:ser>
        <c:dLbls>
          <c:numFmt formatCode="0.0" sourceLinked="0"/>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250"/>
          <c:min val="0"/>
        </c:scaling>
        <c:delete val="0"/>
        <c:axPos val="l"/>
        <c:majorGridlines>
          <c:spPr>
            <a:ln>
              <a:solidFill>
                <a:srgbClr val="CCD6DE"/>
              </a:solidFill>
            </a:ln>
          </c:spPr>
        </c:majorGridlines>
        <c:title>
          <c:tx>
            <c:rich>
              <a:bodyPr/>
              <a:lstStyle/>
              <a:p>
                <a:r>
                  <a:rPr lang="en-IN" sz="1100">
                    <a:solidFill>
                      <a:srgbClr val="000000"/>
                    </a:solidFill>
                    <a:latin typeface="Tahoma"/>
                  </a:rPr>
                  <a:t>blows</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legend>
      <c:legendPos val="b"/>
      <c:overlay val="0"/>
      <c:txPr>
        <a:bodyPr/>
        <a:lstStyle/>
        <a:p>
          <a:pPr>
            <a:defRPr sz="1000">
              <a:solidFill>
                <a:srgbClr val="000000"/>
              </a:solidFill>
              <a:latin typeface="Tahoma"/>
            </a:defRPr>
          </a:pPr>
          <a:endParaRPr lang="en-US"/>
        </a:p>
      </c:txPr>
    </c:legend>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0.28000000000000003</c:v>
                </c:pt>
                <c:pt idx="1">
                  <c:v>0.08</c:v>
                </c:pt>
                <c:pt idx="2">
                  <c:v>0.14000000000000001</c:v>
                </c:pt>
                <c:pt idx="3">
                  <c:v>0.85</c:v>
                </c:pt>
                <c:pt idx="4">
                  <c:v>0.71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B375-4C95-94C2-8D94017BE3FA}"/>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CCD6DE"/>
              </a:solidFill>
            </a:ln>
          </c:spPr>
        </c:majorGridlines>
        <c:title>
          <c:tx>
            <c:rich>
              <a:bodyPr/>
              <a:lstStyle/>
              <a:p>
                <a:r>
                  <a:rPr lang="en-IN" sz="1100">
                    <a:solidFill>
                      <a:srgbClr val="000000"/>
                    </a:solidFill>
                    <a:latin typeface="Tahoma"/>
                  </a:rPr>
                  <a:t>mm</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17365D"/>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4945.24</c:v>
                </c:pt>
                <c:pt idx="1">
                  <c:v>4411.62</c:v>
                </c:pt>
                <c:pt idx="2">
                  <c:v>8336.6200000000008</c:v>
                </c:pt>
                <c:pt idx="3">
                  <c:v>12261.62</c:v>
                </c:pt>
                <c:pt idx="4">
                  <c:v>16191.62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7365D"/>
                    </a:solidFill>
                  </a:ln>
                </c14:spPr>
              </c14:invertSolidFillFmt>
            </c:ext>
            <c:ext xmlns:c16="http://schemas.microsoft.com/office/drawing/2014/chart" uri="{C3380CC4-5D6E-409C-BE32-E72D297353CC}">
              <c16:uniqueId val="{00000000-7194-4381-A2CC-E099D8318A92}"/>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5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18000"/>
          <c:min val="0"/>
        </c:scaling>
        <c:delete val="0"/>
        <c:axPos val="l"/>
        <c:majorGridlines>
          <c:spPr>
            <a:ln>
              <a:solidFill>
                <a:srgbClr val="CCD6DE"/>
              </a:solidFill>
            </a:ln>
          </c:spPr>
        </c:majorGridlines>
        <c:title>
          <c:tx>
            <c:rich>
              <a:bodyPr/>
              <a:lstStyle/>
              <a:p>
                <a:r>
                  <a:rPr lang="en-IN" sz="1100">
                    <a:solidFill>
                      <a:srgbClr val="000000"/>
                    </a:solidFill>
                    <a:latin typeface="Tahoma"/>
                  </a:rPr>
                  <a:t>₹/m³</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Pt>
            <c:idx val="2"/>
            <c:spPr>
              <a:pattFill prst="dashDnDiag">
                <a:fgClr>
                  <a:srgbClr val="2A9D8F"/>
                </a:fgClr>
                <a:bgClr>
                  <a:srgbClr val="FFFFFF"/>
                </a:bgClr>
              </a:pattFill>
              <a:ln>
                <a:solidFill>
                  <a:srgbClr val="2A9D8F"/>
                </a:solidFill>
              </a:ln>
            </c:spPr>
          </c:dPt>
          <c:dPt>
            <c:idx val="3"/>
            <c:spPr>
              <a:pattFill prst="diagCross">
                <a:fgClr>
                  <a:srgbClr val="F4A261"/>
                </a:fgClr>
                <a:bgClr>
                  <a:srgbClr val="FFFFFF"/>
                </a:bgClr>
              </a:pattFill>
              <a:ln>
                <a:solidFill>
                  <a:srgbClr val="F4A261"/>
                </a:solidFill>
              </a:ln>
            </c:spPr>
          </c:dPt>
          <c:dPt>
            <c:idx val="4"/>
            <c:spPr>
              <a:pattFill prst="dkUpDiag">
                <a:fgClr>
                  <a:srgbClr val="E76F51"/>
                </a:fgClr>
                <a:bgClr>
                  <a:srgbClr val="FFFFFF"/>
                </a:bgClr>
              </a:pattFill>
              <a:ln>
                <a:solidFill>
                  <a:srgbClr val="E76F51"/>
                </a:solidFill>
              </a:ln>
            </c:spPr>
          </c:dPt>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93.36</c:v>
                </c:pt>
                <c:pt idx="1">
                  <c:v>166.54</c:v>
                </c:pt>
                <c:pt idx="2">
                  <c:v>31.47</c:v>
                </c:pt>
                <c:pt idx="3">
                  <c:v>20.57</c:v>
                </c:pt>
                <c:pt idx="4">
                  <c:v>5.53</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934F-40B2-B163-6E9B1BA3E2C9}"/>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5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185"/>
          <c:min val="0"/>
        </c:scaling>
        <c:delete val="0"/>
        <c:axPos val="l"/>
        <c:majorGridlines>
          <c:spPr>
            <a:ln>
              <a:solidFill>
                <a:srgbClr val="CCD6DE"/>
              </a:solidFill>
            </a:ln>
          </c:spPr>
        </c:majorGridlines>
        <c:title>
          <c:tx>
            <c:rich>
              <a:bodyPr/>
              <a:lstStyle/>
              <a:p>
                <a:r>
                  <a:rPr lang="en-IN" sz="1100">
                    <a:solidFill>
                      <a:srgbClr val="000000"/>
                    </a:solidFill>
                    <a:latin typeface="Tahoma"/>
                  </a:rPr>
                  <a:t>₹/(N·m)</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9A4651"/>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Lbls>
            <c:numFmt formatCode="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NWC</c:v>
                </c:pt>
                <c:pt idx="1">
                  <c:v>LWC15</c:v>
                </c:pt>
              </c:strCache>
            </c:strRef>
          </c:cat>
          <c:val>
            <c:numRef>
              <c:f>Sheet1!$B$2:$B$3</c:f>
              <c:numCache>
                <c:formatCode>General</c:formatCode>
                <c:ptCount val="2"/>
                <c:pt idx="0">
                  <c:v>1373</c:v>
                </c:pt>
                <c:pt idx="1">
                  <c:v>2746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9A4651"/>
                    </a:solidFill>
                  </a:ln>
                </c14:spPr>
              </c14:invertSolidFillFmt>
            </c:ext>
            <c:ext xmlns:c16="http://schemas.microsoft.com/office/drawing/2014/chart" uri="{C3380CC4-5D6E-409C-BE32-E72D297353CC}">
              <c16:uniqueId val="{00000000-57B5-4632-ADA3-785B176EA9FC}"/>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3100"/>
          <c:min val="0"/>
        </c:scaling>
        <c:delete val="0"/>
        <c:axPos val="l"/>
        <c:majorGridlines>
          <c:spPr>
            <a:ln>
              <a:solidFill>
                <a:srgbClr val="CCD6DE"/>
              </a:solidFill>
            </a:ln>
          </c:spPr>
        </c:majorGridlines>
        <c:title>
          <c:tx>
            <c:rich>
              <a:bodyPr/>
              <a:lstStyle/>
              <a:p>
                <a:r>
                  <a:rPr lang="en-IN" sz="1100">
                    <a:solidFill>
                      <a:srgbClr val="000000"/>
                    </a:solidFill>
                    <a:latin typeface="Tahoma"/>
                  </a:rPr>
                  <a:t>N·m</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strCache>
            </c:strRef>
          </c:tx>
          <c:spPr>
            <a:solidFill>
              <a:srgbClr val="B37A30"/>
            </a:solidFill>
            <a:ln>
              <a:solidFill>
                <a:srgbClr val="0077B6"/>
              </a:solidFill>
            </a:ln>
          </c:spPr>
          <c:invertIfNegative val="1"/>
          <c:dPt>
            <c:idx val="0"/>
            <c:spPr>
              <a:pattFill prst="wdDnDiag">
                <a:fgClr>
                  <a:srgbClr val="0077B6"/>
                </a:fgClr>
                <a:bgClr>
                  <a:srgbClr val="FFFFFF"/>
                </a:bgClr>
              </a:pattFill>
              <a:ln>
                <a:solidFill>
                  <a:srgbClr val="0077B6"/>
                </a:solidFill>
              </a:ln>
            </c:spPr>
          </c:dPt>
          <c:dPt>
            <c:idx val="1"/>
            <c:spPr>
              <a:pattFill prst="wdUpDiag">
                <a:fgClr>
                  <a:srgbClr val="00A6C8"/>
                </a:fgClr>
                <a:bgClr>
                  <a:srgbClr val="FFFFFF"/>
                </a:bgClr>
              </a:pattFill>
              <a:ln>
                <a:solidFill>
                  <a:srgbClr val="00A6C8"/>
                </a:solidFill>
              </a:ln>
            </c:spPr>
          </c:dPt>
          <c:dLbls>
            <c:numFmt formatCode="0.00" sourceLinked="0"/>
            <c:spPr>
              <a:noFill/>
              <a:ln>
                <a:noFill/>
              </a:ln>
              <a:effectLst/>
            </c:spPr>
            <c:txPr>
              <a:bodyPr/>
              <a:lstStyle/>
              <a:p>
                <a:pPr>
                  <a:defRPr sz="750">
                    <a:solidFill>
                      <a:srgbClr val="202B33"/>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NWC</c:v>
                </c:pt>
                <c:pt idx="1">
                  <c:v>LWC15</c:v>
                </c:pt>
              </c:strCache>
            </c:strRef>
          </c:cat>
          <c:val>
            <c:numRef>
              <c:f>Sheet1!$B$2:$B$3</c:f>
              <c:numCache>
                <c:formatCode>General</c:formatCode>
                <c:ptCount val="2"/>
                <c:pt idx="0">
                  <c:v>4.22</c:v>
                </c:pt>
                <c:pt idx="1">
                  <c:v>12.7</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B37A30"/>
                    </a:solidFill>
                  </a:ln>
                </c14:spPr>
              </c14:invertSolidFillFmt>
            </c:ext>
            <c:ext xmlns:c16="http://schemas.microsoft.com/office/drawing/2014/chart" uri="{C3380CC4-5D6E-409C-BE32-E72D297353CC}">
              <c16:uniqueId val="{00000000-B8C4-4B82-B2EE-5EA7DED5F035}"/>
            </c:ext>
          </c:extLst>
        </c:ser>
        <c:dLbls>
          <c:txPr>
            <a:bodyPr/>
            <a:lstStyle/>
            <a:p>
              <a:pPr>
                <a:defRPr sz="1100" b="1">
                  <a:solidFill>
                    <a:srgbClr val="000000"/>
                  </a:solidFill>
                  <a:latin typeface="Tahoma"/>
                </a:defRPr>
              </a:pPr>
            </a:p>
          </c:txPr>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CCD6DE"/>
              </a:solidFill>
            </a:ln>
          </c:spPr>
        </c:majorGridlines>
        <c:title>
          <c:tx>
            <c:rich>
              <a:bodyPr/>
              <a:lstStyle/>
              <a:p>
                <a:r>
                  <a:rPr lang="en-IN" sz="1100">
                    <a:solidFill>
                      <a:srgbClr val="000000"/>
                    </a:solidFill>
                    <a:latin typeface="Tahoma"/>
                  </a:rPr>
                  <a:t>mm</a:t>
                </a:r>
              </a:p>
            </c:rich>
          </c:tx>
          <c:overlay val="0"/>
        </c:title>
        <c:numFmt formatCode="General" sourceLinked="1"/>
        <c:majorTickMark val="out"/>
        <c:minorTickMark val="none"/>
        <c:tickLblPos val="nextTo"/>
        <c:spPr>
          <a:ln>
            <a:solidFill>
              <a:srgbClr val="CCD6DE"/>
            </a:solidFill>
          </a:ln>
        </c:spPr>
        <c:txPr>
          <a:bodyPr/>
          <a:lstStyle/>
          <a:p>
            <a:pPr>
              <a:defRPr sz="1000">
                <a:solidFill>
                  <a:srgbClr val="000000"/>
                </a:solidFill>
                <a:latin typeface="Tahoma"/>
              </a:defRPr>
            </a:pPr>
            <a:endParaRPr lang="en-US"/>
          </a:p>
        </c:txPr>
        <c:crossAx val="-2068027336"/>
        <c:crosses val="autoZero"/>
        <c:crossBetween val="between"/>
      </c:valAx>
    </c:plotArea>
    <c:plotVisOnly val="1"/>
    <c:dispBlanksAs val="gap"/>
    <c:showDLblsOverMax val="1"/>
  </c:chart>
  <c:txPr>
    <a:bodyPr/>
    <a:lstStyle/>
    <a:p>
      <a:pPr>
        <a:defRPr sz="1000">
          <a:solidFill>
            <a:srgbClr val="000000"/>
          </a:solidFill>
          <a:latin typeface="Tahom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991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Lead with the evidence: relative to normal-weight concrete, the selected lightweight mixture has 19.4% lower reported density and 75.9% higher splitting tensile strength. In the repeated drop-weight prism test</a:t>
            </a:r>
            <a:r>
              <a:rPr lang="en-US" sz="1200" b="0" i="0" dirty="0">
                <a:solidFill>
                  <a:srgbClr val="202B33"/>
                </a:solidFill>
                <a:latin typeface="Tahoma"/>
              </a:rPr>
              <a:t>,</a:t>
            </a:r>
            <a:r>
              <a:rPr sz="1200" b="0" i="0" dirty="0">
                <a:solidFill>
                  <a:srgbClr val="202B33"/>
                </a:solidFill>
                <a:latin typeface="Tahoma"/>
              </a:rPr>
              <a:t> it absorbed 55.3 times the failure energy of NWC.</a:t>
            </a:r>
          </a:p>
          <a:p>
            <a:r>
              <a:rPr sz="1200" b="0" i="0" dirty="0">
                <a:solidFill>
                  <a:srgbClr val="202B33"/>
                </a:solidFill>
                <a:latin typeface="Tahoma"/>
              </a:rPr>
              <a:t>• At the barrier scale, the one-third model absorbed twice the cumulative pendulum energy before failure and deformed approximately three times as much as the NWC model. That is the most application-relevant result, but it is preliminary because only one barrier per mix was tested.</a:t>
            </a:r>
          </a:p>
          <a:p>
            <a:r>
              <a:rPr sz="1200" b="0" i="0" dirty="0">
                <a:solidFill>
                  <a:srgbClr val="202B33"/>
                </a:solidFill>
                <a:latin typeface="Tahoma"/>
              </a:rPr>
              <a:t>• The patent thesis should not be “steel </a:t>
            </a:r>
            <a:r>
              <a:rPr sz="1200" b="0" i="0" dirty="0" err="1">
                <a:solidFill>
                  <a:srgbClr val="202B33"/>
                </a:solidFill>
                <a:latin typeface="Tahoma"/>
              </a:rPr>
              <a:t>fibre</a:t>
            </a:r>
            <a:r>
              <a:rPr sz="1200" b="0" i="0" dirty="0">
                <a:solidFill>
                  <a:srgbClr val="202B33"/>
                </a:solidFill>
                <a:latin typeface="Tahoma"/>
              </a:rPr>
              <a:t> is useful” or “lightweight aggregate is useful”; both are known. The potentially protectable value is the integrated composition, the use of SFA and hooked-end </a:t>
            </a:r>
            <a:r>
              <a:rPr sz="1200" b="0" i="0" dirty="0" err="1">
                <a:solidFill>
                  <a:srgbClr val="202B33"/>
                </a:solidFill>
                <a:latin typeface="Tahoma"/>
              </a:rPr>
              <a:t>fibres</a:t>
            </a:r>
            <a:r>
              <a:rPr sz="1200" b="0" i="0" dirty="0">
                <a:solidFill>
                  <a:srgbClr val="202B33"/>
                </a:solidFill>
                <a:latin typeface="Tahoma"/>
              </a:rPr>
              <a:t> in a crash-barrier system, the dual energy-dissipation mechanism, and the demonstrated performance combination.</a:t>
            </a:r>
          </a:p>
          <a:p>
            <a:r>
              <a:rPr sz="1200" b="0" i="0" dirty="0">
                <a:solidFill>
                  <a:srgbClr val="202B33"/>
                </a:solidFill>
                <a:latin typeface="Tahoma"/>
              </a:rPr>
              <a:t>• Commercially, the material can </a:t>
            </a:r>
            <a:r>
              <a:rPr lang="en-US" sz="1200" b="0" i="0" dirty="0">
                <a:solidFill>
                  <a:srgbClr val="202B33"/>
                </a:solidFill>
                <a:latin typeface="Tahoma"/>
              </a:rPr>
              <a:t>be used with</a:t>
            </a:r>
            <a:r>
              <a:rPr sz="1200" b="0" i="0" dirty="0">
                <a:solidFill>
                  <a:srgbClr val="202B33"/>
                </a:solidFill>
                <a:latin typeface="Tahoma"/>
              </a:rPr>
              <a:t> conventional concrete/precast infrastructure. The cost per unit of laboratory impact energy is favourable, but no lifecycle cost analysis or environmental life-cycle assessment has yet been performed.</a:t>
            </a:r>
          </a:p>
          <a:p>
            <a:r>
              <a:rPr sz="1200" b="0" i="0" dirty="0">
                <a:solidFill>
                  <a:srgbClr val="202B33"/>
                </a:solidFill>
                <a:latin typeface="Tahoma"/>
              </a:rPr>
              <a:t>• Do not state that occupant injury has been reduced. Say that the measured deformation and energy absorption support a hypothesis of lower force transmission that must be tested at full scale.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global road-safety burden is about 1.19 million deaths annually. WHO estimates that 92% occur in low- and middle-income countries. The pie chart is </a:t>
            </a:r>
            <a:r>
              <a:rPr lang="en-US" sz="1200" b="0" i="0" dirty="0">
                <a:solidFill>
                  <a:srgbClr val="202B33"/>
                </a:solidFill>
                <a:latin typeface="Tahoma"/>
              </a:rPr>
              <a:t>based on a global dataset: 35% upper-middle, 44% lower-middle, 13% low-income,</a:t>
            </a:r>
            <a:r>
              <a:rPr sz="1200" b="0" i="0" dirty="0">
                <a:solidFill>
                  <a:srgbClr val="202B33"/>
                </a:solidFill>
                <a:latin typeface="Tahoma"/>
              </a:rPr>
              <a:t> and 8% high-income countries.</a:t>
            </a:r>
          </a:p>
          <a:p>
            <a:r>
              <a:rPr sz="1200" b="0" i="0" dirty="0">
                <a:solidFill>
                  <a:srgbClr val="202B33"/>
                </a:solidFill>
                <a:latin typeface="Tahoma"/>
              </a:rPr>
              <a:t>• At the same time, construction operates at planetary material scale: UNEP estimates 50 billion </a:t>
            </a:r>
            <a:r>
              <a:rPr sz="1200" b="0" i="0" dirty="0" err="1">
                <a:solidFill>
                  <a:srgbClr val="202B33"/>
                </a:solidFill>
                <a:latin typeface="Tahoma"/>
              </a:rPr>
              <a:t>tonnes</a:t>
            </a:r>
            <a:r>
              <a:rPr sz="1200" b="0" i="0" dirty="0">
                <a:solidFill>
                  <a:srgbClr val="202B33"/>
                </a:solidFill>
                <a:latin typeface="Tahoma"/>
              </a:rPr>
              <a:t> of sand and gravel are used each year; USGS estimates about 4.0 billion </a:t>
            </a:r>
            <a:r>
              <a:rPr sz="1200" b="0" i="0" dirty="0" err="1">
                <a:solidFill>
                  <a:srgbClr val="202B33"/>
                </a:solidFill>
                <a:latin typeface="Tahoma"/>
              </a:rPr>
              <a:t>tonnes</a:t>
            </a:r>
            <a:r>
              <a:rPr sz="1200" b="0" i="0" dirty="0">
                <a:solidFill>
                  <a:srgbClr val="202B33"/>
                </a:solidFill>
                <a:latin typeface="Tahoma"/>
              </a:rPr>
              <a:t> of cement were produced in 2024, while IEA reports direct cement-emissions intensity just under 0.6 </a:t>
            </a:r>
            <a:r>
              <a:rPr sz="1200" b="0" i="0" dirty="0" err="1">
                <a:solidFill>
                  <a:srgbClr val="202B33"/>
                </a:solidFill>
                <a:latin typeface="Tahoma"/>
              </a:rPr>
              <a:t>tonnes</a:t>
            </a:r>
            <a:r>
              <a:rPr sz="1200" b="0" i="0" dirty="0">
                <a:solidFill>
                  <a:srgbClr val="202B33"/>
                </a:solidFill>
                <a:latin typeface="Tahoma"/>
              </a:rPr>
              <a:t> of CO₂ per </a:t>
            </a:r>
            <a:r>
              <a:rPr sz="1200" b="0" i="0" dirty="0" err="1">
                <a:solidFill>
                  <a:srgbClr val="202B33"/>
                </a:solidFill>
                <a:latin typeface="Tahoma"/>
              </a:rPr>
              <a:t>tonne</a:t>
            </a:r>
            <a:r>
              <a:rPr sz="1200" b="0" i="0" dirty="0">
                <a:solidFill>
                  <a:srgbClr val="202B33"/>
                </a:solidFill>
                <a:latin typeface="Tahoma"/>
              </a:rPr>
              <a:t>.</a:t>
            </a:r>
          </a:p>
          <a:p>
            <a:r>
              <a:rPr sz="1200" b="0" i="0" dirty="0">
                <a:solidFill>
                  <a:srgbClr val="202B33"/>
                </a:solidFill>
                <a:latin typeface="Tahoma"/>
              </a:rPr>
              <a:t>• Coal combustion also generates more than one billion </a:t>
            </a:r>
            <a:r>
              <a:rPr sz="1200" b="0" i="0" dirty="0" err="1">
                <a:solidFill>
                  <a:srgbClr val="202B33"/>
                </a:solidFill>
                <a:latin typeface="Tahoma"/>
              </a:rPr>
              <a:t>tonnes</a:t>
            </a:r>
            <a:r>
              <a:rPr sz="1200" b="0" i="0" dirty="0">
                <a:solidFill>
                  <a:srgbClr val="202B33"/>
                </a:solidFill>
                <a:latin typeface="Tahoma"/>
              </a:rPr>
              <a:t> of fly ash annually by order of magnitude. Availability and specification vary regionally, so this figure supports the resource opportunity—not a guaranteed feedstock claim.</a:t>
            </a:r>
          </a:p>
          <a:p>
            <a:r>
              <a:rPr sz="1200" b="0" i="0" dirty="0">
                <a:solidFill>
                  <a:srgbClr val="202B33"/>
                </a:solidFill>
                <a:latin typeface="Tahoma"/>
              </a:rPr>
              <a:t>• The invention sits at the intersection of three needs: safer roadside infrastructure, lower self-weight and virgin-aggregate demand, and productive use of industrial by-products.</a:t>
            </a:r>
          </a:p>
          <a:p>
            <a:r>
              <a:rPr sz="1200" b="0" i="0" dirty="0">
                <a:solidFill>
                  <a:srgbClr val="202B33"/>
                </a:solidFill>
                <a:latin typeface="Tahoma"/>
              </a:rPr>
              <a:t>• Be explicit about the environmental boundary. The mix uses GGBS and sintered fly ash aggregate, but sintering consumes energy and the high steel-</a:t>
            </a:r>
            <a:r>
              <a:rPr sz="1200" b="0" i="0" dirty="0" err="1">
                <a:solidFill>
                  <a:srgbClr val="202B33"/>
                </a:solidFill>
                <a:latin typeface="Tahoma"/>
              </a:rPr>
              <a:t>fibre</a:t>
            </a:r>
            <a:r>
              <a:rPr sz="1200" b="0" i="0" dirty="0">
                <a:solidFill>
                  <a:srgbClr val="202B33"/>
                </a:solidFill>
                <a:latin typeface="Tahoma"/>
              </a:rPr>
              <a:t> dosage has embodied impacts. A comparative, region-specific LCA is required before claiming a net carbon reduction.</a:t>
            </a:r>
          </a:p>
          <a:p>
            <a:r>
              <a:rPr sz="1200" b="0" i="0" dirty="0">
                <a:solidFill>
                  <a:srgbClr val="202B33"/>
                </a:solidFill>
                <a:latin typeface="Tahoma"/>
              </a:rPr>
              <a:t>• Transition: global need alone does not establish novelty. The next slide maps the prior-art trade space.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Conventional rigid concrete barriers are mature and effective for containment, but their low deflection can create a severe vehicle pulse, and brittle damage can generate debris under severe impact.</a:t>
            </a:r>
          </a:p>
          <a:p>
            <a:r>
              <a:rPr sz="1200" b="0" i="0" dirty="0">
                <a:solidFill>
                  <a:srgbClr val="202B33"/>
                </a:solidFill>
                <a:latin typeface="Tahoma"/>
              </a:rPr>
              <a:t>• Flexible and semi-rigid systems dissipate energy through global deflection, but require working width and post-impact repair. </a:t>
            </a:r>
            <a:r>
              <a:rPr sz="1200" b="0" i="0" dirty="0" err="1">
                <a:solidFill>
                  <a:srgbClr val="202B33"/>
                </a:solidFill>
                <a:latin typeface="Tahoma"/>
              </a:rPr>
              <a:t>Rubberised</a:t>
            </a:r>
            <a:r>
              <a:rPr sz="1200" b="0" i="0" dirty="0">
                <a:solidFill>
                  <a:srgbClr val="202B33"/>
                </a:solidFill>
                <a:latin typeface="Tahoma"/>
              </a:rPr>
              <a:t>, UHPC and ECC concepts each solve part of the problem, while introducing strength, cost, stiffness or processing trade-offs.</a:t>
            </a:r>
          </a:p>
          <a:p>
            <a:r>
              <a:rPr sz="1200" b="0" i="0" dirty="0">
                <a:solidFill>
                  <a:srgbClr val="202B33"/>
                </a:solidFill>
                <a:latin typeface="Tahoma"/>
              </a:rPr>
              <a:t>• A critical patentability point: prior conference literature includes lightweight concrete road-safety barrier concepts—for example Bonin and co-authors at the 2004 SIIV congress. Therefore, do not rely on a sweeping “first lightweight barrier” proposition.</a:t>
            </a:r>
          </a:p>
          <a:p>
            <a:r>
              <a:rPr sz="1200" b="0" i="0" dirty="0">
                <a:solidFill>
                  <a:srgbClr val="202B33"/>
                </a:solidFill>
                <a:latin typeface="Tahoma"/>
              </a:rPr>
              <a:t>• The narrower and more defensible thesis is the integrated OPC/GGBS/SFA/hooked-end-</a:t>
            </a:r>
            <a:r>
              <a:rPr sz="1200" b="0" i="0" dirty="0" err="1">
                <a:solidFill>
                  <a:srgbClr val="202B33"/>
                </a:solidFill>
                <a:latin typeface="Tahoma"/>
              </a:rPr>
              <a:t>fibre</a:t>
            </a:r>
            <a:r>
              <a:rPr sz="1200" b="0" i="0" dirty="0">
                <a:solidFill>
                  <a:srgbClr val="202B33"/>
                </a:solidFill>
                <a:latin typeface="Tahoma"/>
              </a:rPr>
              <a:t> composition, its use as the load-bearing crash-barrier material, and the observed synergy: structural strength, lower reported density, major post-cracking impact resistance and controlled fragmentation.</a:t>
            </a:r>
          </a:p>
          <a:p>
            <a:r>
              <a:rPr sz="1200" b="0" i="0" dirty="0">
                <a:solidFill>
                  <a:srgbClr val="202B33"/>
                </a:solidFill>
                <a:latin typeface="Tahoma"/>
              </a:rPr>
              <a:t>• The literature and patent searches documented by the inventors are preliminary. A professional claim-by-claim patentability and freedom-to-operate search is still required, including composition ranges, SFA manufacture/specification, </a:t>
            </a:r>
            <a:r>
              <a:rPr sz="1200" b="0" i="0" dirty="0" err="1">
                <a:solidFill>
                  <a:srgbClr val="202B33"/>
                </a:solidFill>
                <a:latin typeface="Tahoma"/>
              </a:rPr>
              <a:t>fibre</a:t>
            </a:r>
            <a:r>
              <a:rPr sz="1200" b="0" i="0" dirty="0">
                <a:solidFill>
                  <a:srgbClr val="202B33"/>
                </a:solidFill>
                <a:latin typeface="Tahoma"/>
              </a:rPr>
              <a:t> geometry and barrier-system claims.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concept intentionally combines three functions. First, the porous SFA can crush locally and contribute internal damping. Second, hooked-end steel </a:t>
            </a:r>
            <a:r>
              <a:rPr sz="1200" b="0" i="0" dirty="0" err="1">
                <a:solidFill>
                  <a:srgbClr val="202B33"/>
                </a:solidFill>
                <a:latin typeface="Tahoma"/>
              </a:rPr>
              <a:t>fibres</a:t>
            </a:r>
            <a:r>
              <a:rPr sz="1200" b="0" i="0" dirty="0">
                <a:solidFill>
                  <a:srgbClr val="202B33"/>
                </a:solidFill>
                <a:latin typeface="Tahoma"/>
              </a:rPr>
              <a:t> bridge cracks and dissipate energy through progressive debonding, friction and pull-out. Third, the cement–GGBS matrix provides the structural-grade load path and transfers stress into the aggregate and </a:t>
            </a:r>
            <a:r>
              <a:rPr sz="1200" b="0" i="0" dirty="0" err="1">
                <a:solidFill>
                  <a:srgbClr val="202B33"/>
                </a:solidFill>
                <a:latin typeface="Tahoma"/>
              </a:rPr>
              <a:t>fibres</a:t>
            </a:r>
            <a:r>
              <a:rPr sz="1200" b="0" i="0" dirty="0">
                <a:solidFill>
                  <a:srgbClr val="202B33"/>
                </a:solidFill>
                <a:latin typeface="Tahoma"/>
              </a:rPr>
              <a:t>.</a:t>
            </a:r>
          </a:p>
          <a:p>
            <a:r>
              <a:rPr sz="1200" b="0" i="0" dirty="0">
                <a:solidFill>
                  <a:srgbClr val="202B33"/>
                </a:solidFill>
                <a:latin typeface="Tahoma"/>
              </a:rPr>
              <a:t>• The expected sequence is crack initiation, distributed bridging and controlled deformation, followed by progressive internal energy dissipation and improved residual integrity.</a:t>
            </a:r>
          </a:p>
          <a:p>
            <a:r>
              <a:rPr sz="1200" b="0" i="0" dirty="0">
                <a:solidFill>
                  <a:srgbClr val="202B33"/>
                </a:solidFill>
                <a:latin typeface="Tahoma"/>
              </a:rPr>
              <a:t>• This mechanism is consistent with published composite-material literature, but the invention’s value proposition is the protected integration and crash-barrier application supported by the experimental results.</a:t>
            </a:r>
          </a:p>
          <a:p>
            <a:r>
              <a:rPr sz="1200" b="0" i="0" dirty="0">
                <a:solidFill>
                  <a:srgbClr val="202B33"/>
                </a:solidFill>
                <a:latin typeface="Tahoma"/>
              </a:rPr>
              <a:t>• Phrase the final outcome carefully. The experiments demonstrate increased specimen deformation and cumulative absorbed energy. They do not directly demonstrate a lower peak vehicle force, reduced ASI or reduced occupant injury. Those remain mechanistically plausible validation targets.</a:t>
            </a:r>
          </a:p>
          <a:p>
            <a:r>
              <a:rPr sz="1200" b="0" i="0" dirty="0">
                <a:solidFill>
                  <a:srgbClr val="202B33"/>
                </a:solidFill>
                <a:latin typeface="Tahoma"/>
              </a:rPr>
              <a:t>• For claim drafting, consider separate families covering composition ranges, mixing/conditioning controls, a barrier article made from the composition, and functionally linked performance features where legally supportable.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evidence was built in five layers: constituent characterization, mixture screening, static mechanical tests, repeated drop-weight impact testing and a one-third-scale barrier comparison.</a:t>
            </a:r>
          </a:p>
          <a:p>
            <a:r>
              <a:rPr sz="1200" b="0" i="0" dirty="0">
                <a:solidFill>
                  <a:srgbClr val="202B33"/>
                </a:solidFill>
                <a:latin typeface="Tahoma"/>
              </a:rPr>
              <a:t>• Four lightweight mixtures were evaluated with </a:t>
            </a:r>
            <a:r>
              <a:rPr sz="1200" b="0" i="0" dirty="0" err="1">
                <a:solidFill>
                  <a:srgbClr val="202B33"/>
                </a:solidFill>
                <a:latin typeface="Tahoma"/>
              </a:rPr>
              <a:t>fibre</a:t>
            </a:r>
            <a:r>
              <a:rPr sz="1200" b="0" i="0" dirty="0">
                <a:solidFill>
                  <a:srgbClr val="202B33"/>
                </a:solidFill>
                <a:latin typeface="Tahoma"/>
              </a:rPr>
              <a:t> volume increasing from zero to 1.5%, alongside an M40 normal-weight reference.</a:t>
            </a:r>
          </a:p>
          <a:p>
            <a:r>
              <a:rPr sz="1200" b="0" i="0" dirty="0">
                <a:solidFill>
                  <a:srgbClr val="202B33"/>
                </a:solidFill>
                <a:latin typeface="Tahoma"/>
              </a:rPr>
              <a:t>• Static tests provide the strength and density boundary. The repeated impact test provides the key post-cracking energy evidence. Acceleration signals were processed to derive displacement. The selected highest-performing mixture was then used in a New Jersey barrier model and compared with NWC.</a:t>
            </a:r>
          </a:p>
          <a:p>
            <a:r>
              <a:rPr sz="1200" b="0" i="0" dirty="0">
                <a:solidFill>
                  <a:srgbClr val="202B33"/>
                </a:solidFill>
                <a:latin typeface="Tahoma"/>
              </a:rPr>
              <a:t>• This is a coherent reduction-to-practice chain and is valuable for enablement. However, the uncertainty reporting is incomplete. The article states that three cubes, three cylinders and four beams were cast per mix, but the impact result tables do not provide N1/N2 dispersion. Only one NWC and one selected lightweight barrier were cast.</a:t>
            </a:r>
          </a:p>
          <a:p>
            <a:r>
              <a:rPr sz="1200" b="0" i="0" dirty="0">
                <a:solidFill>
                  <a:srgbClr val="202B33"/>
                </a:solidFill>
                <a:latin typeface="Tahoma"/>
              </a:rPr>
              <a:t>• The deck therefore uses measured ratios as experimental observations—not as statistically generalized performance guarantees.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experimental </a:t>
            </a:r>
            <a:r>
              <a:rPr sz="1200" b="0" i="0" dirty="0" err="1">
                <a:solidFill>
                  <a:srgbClr val="202B33"/>
                </a:solidFill>
                <a:latin typeface="Tahoma"/>
              </a:rPr>
              <a:t>programme</a:t>
            </a:r>
            <a:r>
              <a:rPr sz="1200" b="0" i="0" dirty="0">
                <a:solidFill>
                  <a:srgbClr val="202B33"/>
                </a:solidFill>
                <a:latin typeface="Tahoma"/>
              </a:rPr>
              <a:t> isolates the effect of the lightweight aggregate and the progressive addition of crack-bridging reinforcement.</a:t>
            </a:r>
          </a:p>
          <a:p>
            <a:r>
              <a:rPr sz="1200" b="0" i="0" dirty="0">
                <a:solidFill>
                  <a:srgbClr val="202B33"/>
                </a:solidFill>
                <a:latin typeface="Tahoma"/>
              </a:rPr>
              <a:t>• NWC is the structural reference. LWC00 establishes what the porous lightweight aggregate does without </a:t>
            </a:r>
            <a:r>
              <a:rPr sz="1200" b="0" i="0" dirty="0" err="1">
                <a:solidFill>
                  <a:srgbClr val="202B33"/>
                </a:solidFill>
                <a:latin typeface="Tahoma"/>
              </a:rPr>
              <a:t>fibre</a:t>
            </a:r>
            <a:r>
              <a:rPr sz="1200" b="0" i="0" dirty="0">
                <a:solidFill>
                  <a:srgbClr val="202B33"/>
                </a:solidFill>
                <a:latin typeface="Tahoma"/>
              </a:rPr>
              <a:t>. LWC05, LWC10 and LWC15 then trace the </a:t>
            </a:r>
            <a:r>
              <a:rPr sz="1200" b="0" i="0" dirty="0" err="1">
                <a:solidFill>
                  <a:srgbClr val="202B33"/>
                </a:solidFill>
                <a:latin typeface="Tahoma"/>
              </a:rPr>
              <a:t>fibre</a:t>
            </a:r>
            <a:r>
              <a:rPr sz="1200" b="0" i="0" dirty="0">
                <a:solidFill>
                  <a:srgbClr val="202B33"/>
                </a:solidFill>
                <a:latin typeface="Tahoma"/>
              </a:rPr>
              <a:t>-content response.</a:t>
            </a:r>
          </a:p>
          <a:p>
            <a:r>
              <a:rPr sz="1200" b="0" i="0" dirty="0">
                <a:solidFill>
                  <a:srgbClr val="202B33"/>
                </a:solidFill>
                <a:latin typeface="Tahoma"/>
              </a:rPr>
              <a:t>• LWC15 was selected for the barrier comparison because it maximized repeated-impact endurance and cost per unit of absorbed impact energy while maintaining strength above the M40 requirement.</a:t>
            </a:r>
          </a:p>
          <a:p>
            <a:r>
              <a:rPr sz="1200" b="0" i="0" dirty="0">
                <a:solidFill>
                  <a:srgbClr val="202B33"/>
                </a:solidFill>
                <a:latin typeface="Tahoma"/>
              </a:rPr>
              <a:t>• The source document contains an unresolved method inconsistency: one passage states that compensation water was added, another says it was not added directly, and the final table lists an extra-water quantity. At the user’s direction, this deck omits that quantity rather than silently choosing one version.</a:t>
            </a:r>
          </a:p>
          <a:p>
            <a:r>
              <a:rPr sz="1200" b="0" i="0" dirty="0">
                <a:solidFill>
                  <a:srgbClr val="202B33"/>
                </a:solidFill>
                <a:latin typeface="Tahoma"/>
              </a:rPr>
              <a:t>• The source also alternates between “wet” and “dry” density. Accordingly, the deck uses the neutral term “reported density.” Confirm the measurement basis before patent examples, specifications or publications are finalized.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material clears the first gate: all mixtures are reported above the M40 target used for rigid crash barriers in the source.</a:t>
            </a:r>
          </a:p>
          <a:p>
            <a:r>
              <a:rPr sz="1200" b="0" i="0" dirty="0">
                <a:solidFill>
                  <a:srgbClr val="202B33"/>
                </a:solidFill>
                <a:latin typeface="Tahoma"/>
              </a:rPr>
              <a:t>• The selected LWC15 mixture has a reported density of 1,987 kg per cubic </a:t>
            </a:r>
            <a:r>
              <a:rPr sz="1200" b="0" i="0" dirty="0" err="1">
                <a:solidFill>
                  <a:srgbClr val="202B33"/>
                </a:solidFill>
                <a:latin typeface="Tahoma"/>
              </a:rPr>
              <a:t>metre</a:t>
            </a:r>
            <a:r>
              <a:rPr sz="1200" b="0" i="0" dirty="0">
                <a:solidFill>
                  <a:srgbClr val="202B33"/>
                </a:solidFill>
                <a:latin typeface="Tahoma"/>
              </a:rPr>
              <a:t> versus 2,466 for NWC—a 19.4% reduction. Because the manuscript alternates between wet and dry density, describe this as the reported value until the test basis is confirmed.</a:t>
            </a:r>
          </a:p>
          <a:p>
            <a:r>
              <a:rPr sz="1200" b="0" i="0" dirty="0">
                <a:solidFill>
                  <a:srgbClr val="202B33"/>
                </a:solidFill>
                <a:latin typeface="Tahoma"/>
              </a:rPr>
              <a:t>• Compressive strength is not the main source of the impact benefit, but it is preserved. LWC10 has the maximum measured value at 56.8 MPa; LWC15 remains at 55.4 MPa, 11.7% above NWC.</a:t>
            </a:r>
          </a:p>
          <a:p>
            <a:r>
              <a:rPr sz="1200" b="0" i="0" dirty="0">
                <a:solidFill>
                  <a:srgbClr val="202B33"/>
                </a:solidFill>
                <a:latin typeface="Tahoma"/>
              </a:rPr>
              <a:t>• The more important shift is tensile: LWC15 reaches 7.60 MPa versus 4.32 MPa for NWC, a 75.9% increase. This supports crack bridging and post-cracking integrity.</a:t>
            </a:r>
          </a:p>
          <a:p>
            <a:r>
              <a:rPr sz="1200" b="0" i="0" dirty="0">
                <a:solidFill>
                  <a:srgbClr val="202B33"/>
                </a:solidFill>
                <a:latin typeface="Tahoma"/>
              </a:rPr>
              <a:t>• The manufacturing trade-off is workability. Slump decreases to 87 mm at the highest </a:t>
            </a:r>
            <a:r>
              <a:rPr sz="1200" b="0" i="0" dirty="0" err="1">
                <a:solidFill>
                  <a:srgbClr val="202B33"/>
                </a:solidFill>
                <a:latin typeface="Tahoma"/>
              </a:rPr>
              <a:t>fibre</a:t>
            </a:r>
            <a:r>
              <a:rPr sz="1200" b="0" i="0" dirty="0">
                <a:solidFill>
                  <a:srgbClr val="202B33"/>
                </a:solidFill>
                <a:latin typeface="Tahoma"/>
              </a:rPr>
              <a:t> content. Mixing energy, </a:t>
            </a:r>
            <a:r>
              <a:rPr sz="1200" b="0" i="0" dirty="0" err="1">
                <a:solidFill>
                  <a:srgbClr val="202B33"/>
                </a:solidFill>
                <a:latin typeface="Tahoma"/>
              </a:rPr>
              <a:t>fibre</a:t>
            </a:r>
            <a:r>
              <a:rPr sz="1200" b="0" i="0" dirty="0">
                <a:solidFill>
                  <a:srgbClr val="202B33"/>
                </a:solidFill>
                <a:latin typeface="Tahoma"/>
              </a:rPr>
              <a:t> addition rate, moisture condition and compaction therefore belong in the process know-how and quality-control package.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prism test uses a 13.5-kilogram hammer dropped 100 </a:t>
            </a:r>
            <a:r>
              <a:rPr sz="1200" b="0" i="0" dirty="0" err="1">
                <a:solidFill>
                  <a:srgbClr val="202B33"/>
                </a:solidFill>
                <a:latin typeface="Tahoma"/>
              </a:rPr>
              <a:t>millimetres</a:t>
            </a:r>
            <a:r>
              <a:rPr sz="1200" b="0" i="0" dirty="0">
                <a:solidFill>
                  <a:srgbClr val="202B33"/>
                </a:solidFill>
                <a:latin typeface="Tahoma"/>
              </a:rPr>
              <a:t> onto a simply supported 100-by-100-by-500-millimetre beam. Each impact supplies approximately 13.24 joules.</a:t>
            </a:r>
          </a:p>
          <a:p>
            <a:r>
              <a:rPr sz="1200" b="0" i="0" dirty="0">
                <a:solidFill>
                  <a:srgbClr val="202B33"/>
                </a:solidFill>
                <a:latin typeface="Tahoma"/>
              </a:rPr>
              <a:t>• N1 is the number of blows to the first visible crack; N2 is the number to complete failure. Multiplying the counts by mgh gives first-crack and failure energy.</a:t>
            </a:r>
          </a:p>
          <a:p>
            <a:r>
              <a:rPr sz="1200" b="0" i="0" dirty="0">
                <a:solidFill>
                  <a:srgbClr val="202B33"/>
                </a:solidFill>
                <a:latin typeface="Tahoma"/>
              </a:rPr>
              <a:t>• This test is especially useful for the invention because the differentiating mechanism is expected after cracking. The gap N2 minus N1 is a direct, if simplified, indicator of residual post-cracking endurance.</a:t>
            </a:r>
          </a:p>
          <a:p>
            <a:r>
              <a:rPr sz="1200" b="0" i="0" dirty="0">
                <a:solidFill>
                  <a:srgbClr val="202B33"/>
                </a:solidFill>
                <a:latin typeface="Tahoma"/>
              </a:rPr>
              <a:t>• An accelerometer recorded the first-impact response. The manuscript describes linear detrending, a fourth-order zero-phase Butterworth high-pass filter at 3 hertz, trapezoidal integration, drift correction and a second integration to derive displacement.</a:t>
            </a:r>
          </a:p>
          <a:p>
            <a:r>
              <a:rPr sz="1200" b="0" i="0" dirty="0">
                <a:solidFill>
                  <a:srgbClr val="202B33"/>
                </a:solidFill>
                <a:latin typeface="Tahoma"/>
              </a:rPr>
              <a:t>• This is technically stronger than relying only on compressive strength. However, repeated low-velocity drop-weight tests are screening tests—not a substitute for a full-scale oblique vehicle–barrier crash under MASH, EN 1317 or the applicable IRC protocol.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Plain lightweight concrete is more brittle than NWC in this test: LWC00 fails after two blows and absorbs 26.49 newton-</a:t>
            </a:r>
            <a:r>
              <a:rPr sz="1200" b="0" i="0" dirty="0" err="1">
                <a:solidFill>
                  <a:srgbClr val="202B33"/>
                </a:solidFill>
                <a:latin typeface="Tahoma"/>
              </a:rPr>
              <a:t>metres</a:t>
            </a:r>
            <a:r>
              <a:rPr sz="1200" b="0" i="0" dirty="0">
                <a:solidFill>
                  <a:srgbClr val="202B33"/>
                </a:solidFill>
                <a:latin typeface="Tahoma"/>
              </a:rPr>
              <a:t>.</a:t>
            </a:r>
          </a:p>
          <a:p>
            <a:r>
              <a:rPr sz="1200" b="0" i="0" dirty="0">
                <a:solidFill>
                  <a:srgbClr val="202B33"/>
                </a:solidFill>
                <a:latin typeface="Tahoma"/>
              </a:rPr>
              <a:t>• Progressive crack-bridging reinforcement changes the response nonlinearly. The three reinforced variants reach 264.9, 596.0 and 2,927.8 newton-</a:t>
            </a:r>
            <a:r>
              <a:rPr sz="1200" b="0" i="0" dirty="0" err="1">
                <a:solidFill>
                  <a:srgbClr val="202B33"/>
                </a:solidFill>
                <a:latin typeface="Tahoma"/>
              </a:rPr>
              <a:t>metres</a:t>
            </a:r>
            <a:r>
              <a:rPr sz="1200" b="0" i="0" dirty="0">
                <a:solidFill>
                  <a:srgbClr val="202B33"/>
                </a:solidFill>
                <a:latin typeface="Tahoma"/>
              </a:rPr>
              <a:t> at failure, respectively.</a:t>
            </a:r>
          </a:p>
          <a:p>
            <a:r>
              <a:rPr sz="1200" b="0" i="0" dirty="0">
                <a:solidFill>
                  <a:srgbClr val="202B33"/>
                </a:solidFill>
                <a:latin typeface="Tahoma"/>
              </a:rPr>
              <a:t>• Relative to NWC, LWC15 absorbs 55.3 times the cumulative failure energy. Relative to the plain lightweight control, the factor is 110.5. These very large ratios are driven by post-cracking endurance rather than a comparable increase in compressive strength.</a:t>
            </a:r>
          </a:p>
          <a:p>
            <a:r>
              <a:rPr sz="1200" b="0" i="0" dirty="0">
                <a:solidFill>
                  <a:srgbClr val="202B33"/>
                </a:solidFill>
                <a:latin typeface="Tahoma"/>
              </a:rPr>
              <a:t>• LWC15 cracks after 35 blows but does not fail until 221 blows, leaving 186 blows in the post-cracking phase. This directly supports the crack-bridging and </a:t>
            </a:r>
            <a:r>
              <a:rPr sz="1200" b="0" i="0" dirty="0" err="1">
                <a:solidFill>
                  <a:srgbClr val="202B33"/>
                </a:solidFill>
                <a:latin typeface="Tahoma"/>
              </a:rPr>
              <a:t>fibre</a:t>
            </a:r>
            <a:r>
              <a:rPr sz="1200" b="0" i="0" dirty="0">
                <a:solidFill>
                  <a:srgbClr val="202B33"/>
                </a:solidFill>
                <a:latin typeface="Tahoma"/>
              </a:rPr>
              <a:t> pull-out mechanism.</a:t>
            </a:r>
          </a:p>
          <a:p>
            <a:r>
              <a:rPr sz="1200" b="0" i="0" dirty="0">
                <a:solidFill>
                  <a:srgbClr val="202B33"/>
                </a:solidFill>
                <a:latin typeface="Tahoma"/>
              </a:rPr>
              <a:t>• Use the magnitude as strong experimental evidence, but avoid implying a universal material factor. The table does not report dispersion for N1 and N2, and drop-weight impact counts often show high variability. Repeat testing with raw specimen-level data and a suitable statistical model should be a next-step validation task.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Peak displacement after the first impact rises sharply with reinforcement. The intermediate high-reinforcement variant reaches 0.85 </a:t>
            </a:r>
            <a:r>
              <a:rPr sz="1200" b="0" i="0" dirty="0" err="1">
                <a:solidFill>
                  <a:srgbClr val="202B33"/>
                </a:solidFill>
                <a:latin typeface="Tahoma"/>
              </a:rPr>
              <a:t>millimetres</a:t>
            </a:r>
            <a:r>
              <a:rPr sz="1200" b="0" i="0" dirty="0">
                <a:solidFill>
                  <a:srgbClr val="202B33"/>
                </a:solidFill>
                <a:latin typeface="Tahoma"/>
              </a:rPr>
              <a:t> and the selected variant reaches 0.71, compared with 0.28 for NWC and only 0.08 for plain LWC.</a:t>
            </a:r>
          </a:p>
          <a:p>
            <a:r>
              <a:rPr sz="1200" b="0" i="0" dirty="0">
                <a:solidFill>
                  <a:srgbClr val="202B33"/>
                </a:solidFill>
                <a:latin typeface="Tahoma"/>
              </a:rPr>
              <a:t>• The lower displacement of plain LWC should not be interpreted as superior stiffness. In the context of its immediate failure, it indicates a brittle, low-deformation response.</a:t>
            </a:r>
          </a:p>
          <a:p>
            <a:r>
              <a:rPr sz="1200" b="0" i="0" dirty="0">
                <a:solidFill>
                  <a:srgbClr val="202B33"/>
                </a:solidFill>
                <a:latin typeface="Tahoma"/>
              </a:rPr>
              <a:t>• The selected variant is slightly less deformable than the preceding variant on the first impact, plausibly because the denser reinforcement network increases stiffness. Yet it has vastly greater repeated-impact endurance. First-impact displacement and cumulative post-cracking toughness are different response dimensions.</a:t>
            </a:r>
          </a:p>
          <a:p>
            <a:r>
              <a:rPr sz="1200" b="0" i="0" dirty="0">
                <a:solidFill>
                  <a:srgbClr val="202B33"/>
                </a:solidFill>
                <a:latin typeface="Tahoma"/>
              </a:rPr>
              <a:t>• The material mechanism is a coupled sequence: SFA crushing, </a:t>
            </a:r>
            <a:r>
              <a:rPr sz="1200" b="0" i="0" dirty="0" err="1">
                <a:solidFill>
                  <a:srgbClr val="202B33"/>
                </a:solidFill>
                <a:latin typeface="Tahoma"/>
              </a:rPr>
              <a:t>fibre</a:t>
            </a:r>
            <a:r>
              <a:rPr sz="1200" b="0" i="0" dirty="0">
                <a:solidFill>
                  <a:srgbClr val="202B33"/>
                </a:solidFill>
                <a:latin typeface="Tahoma"/>
              </a:rPr>
              <a:t> bridging, debonding and frictional pull-out, followed by restraint of large fragments.</a:t>
            </a:r>
          </a:p>
          <a:p>
            <a:r>
              <a:rPr sz="1200" b="0" i="0" dirty="0">
                <a:solidFill>
                  <a:srgbClr val="202B33"/>
                </a:solidFill>
                <a:latin typeface="Tahoma"/>
              </a:rPr>
              <a:t>• The source supplies standard deviations for displacement; a future analysis should present full time histories, filtering sensitivity, uncertainty bands and independent displacement verification, because double integration of acceleration is sensitive to drift and cutoff selection.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selected lightweight variant is not the cheapest concrete. Its inventor-estimated material cost is about 16,192 rupees per cubic </a:t>
            </a:r>
            <a:r>
              <a:rPr sz="1200" b="0" i="0" dirty="0" err="1">
                <a:solidFill>
                  <a:srgbClr val="202B33"/>
                </a:solidFill>
                <a:latin typeface="Tahoma"/>
              </a:rPr>
              <a:t>metre</a:t>
            </a:r>
            <a:r>
              <a:rPr sz="1200" b="0" i="0" dirty="0">
                <a:solidFill>
                  <a:srgbClr val="202B33"/>
                </a:solidFill>
                <a:latin typeface="Tahoma"/>
              </a:rPr>
              <a:t>, 3.27 times NWC, primarily because of the high steel-</a:t>
            </a:r>
            <a:r>
              <a:rPr sz="1200" b="0" i="0" dirty="0" err="1">
                <a:solidFill>
                  <a:srgbClr val="202B33"/>
                </a:solidFill>
                <a:latin typeface="Tahoma"/>
              </a:rPr>
              <a:t>fibre</a:t>
            </a:r>
            <a:r>
              <a:rPr sz="1200" b="0" i="0" dirty="0">
                <a:solidFill>
                  <a:srgbClr val="202B33"/>
                </a:solidFill>
                <a:latin typeface="Tahoma"/>
              </a:rPr>
              <a:t> dosage.</a:t>
            </a:r>
          </a:p>
          <a:p>
            <a:r>
              <a:rPr sz="1200" b="0" i="0" dirty="0">
                <a:solidFill>
                  <a:srgbClr val="202B33"/>
                </a:solidFill>
                <a:latin typeface="Tahoma"/>
              </a:rPr>
              <a:t>• The relevant engineering denominator is failure energy. When the reported prism impact capacity is included, LWC15 costs 5.53 rupees per newton-</a:t>
            </a:r>
            <a:r>
              <a:rPr sz="1200" b="0" i="0" dirty="0" err="1">
                <a:solidFill>
                  <a:srgbClr val="202B33"/>
                </a:solidFill>
                <a:latin typeface="Tahoma"/>
              </a:rPr>
              <a:t>metre</a:t>
            </a:r>
            <a:r>
              <a:rPr sz="1200" b="0" i="0" dirty="0">
                <a:solidFill>
                  <a:srgbClr val="202B33"/>
                </a:solidFill>
                <a:latin typeface="Tahoma"/>
              </a:rPr>
              <a:t> versus 93.36 for NWC—about 16.9 times better on this laboratory metric.</a:t>
            </a:r>
          </a:p>
          <a:p>
            <a:r>
              <a:rPr sz="1200" b="0" i="0" dirty="0">
                <a:solidFill>
                  <a:srgbClr val="202B33"/>
                </a:solidFill>
                <a:latin typeface="Tahoma"/>
              </a:rPr>
              <a:t>• This supports selection of LWC15 for the barrier test and creates a compelling value narrative: pay more per unit volume, receive substantially more post-cracking impact capacity.</a:t>
            </a:r>
          </a:p>
          <a:p>
            <a:r>
              <a:rPr sz="1200" b="0" i="0" dirty="0">
                <a:solidFill>
                  <a:srgbClr val="202B33"/>
                </a:solidFill>
                <a:latin typeface="Tahoma"/>
              </a:rPr>
              <a:t>• Keep the boundary explicit. This is not a full barrier cost, lifecycle cost or cost-benefit analysis. It omits reinforcement, formwork, </a:t>
            </a:r>
            <a:r>
              <a:rPr sz="1200" b="0" i="0" dirty="0" err="1">
                <a:solidFill>
                  <a:srgbClr val="202B33"/>
                </a:solidFill>
                <a:latin typeface="Tahoma"/>
              </a:rPr>
              <a:t>labour</a:t>
            </a:r>
            <a:r>
              <a:rPr sz="1200" b="0" i="0" dirty="0">
                <a:solidFill>
                  <a:srgbClr val="202B33"/>
                </a:solidFill>
                <a:latin typeface="Tahoma"/>
              </a:rPr>
              <a:t>, transport, curing, installation, repair frequency, downtime and uncertainty. Prices are local and time-specific.</a:t>
            </a:r>
          </a:p>
          <a:p>
            <a:r>
              <a:rPr sz="1200" b="0" i="0" dirty="0">
                <a:solidFill>
                  <a:srgbClr val="202B33"/>
                </a:solidFill>
                <a:latin typeface="Tahoma"/>
              </a:rPr>
              <a:t>• The commercial study should therefore compare complete installed systems and include lower transport mass, bridge-deck dead load, expected repair after impact, quality-control cost, industrial-aggregate logistics and any savings from modular precast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To move beyond material coupons, the team fabricated one-third-scale New Jersey-profile barriers using NWC and the selected LWC15 mixture.</a:t>
            </a:r>
          </a:p>
          <a:p>
            <a:r>
              <a:rPr sz="1200" b="0" i="0" dirty="0">
                <a:solidFill>
                  <a:srgbClr val="202B33"/>
                </a:solidFill>
                <a:latin typeface="Tahoma"/>
              </a:rPr>
              <a:t>• The dimensions were reduced by a factor of three, and a pendulum rig applied repeated impact at mid-height. The impactor mass was 40 kilograms, the vertical rise 0.35 </a:t>
            </a:r>
            <a:r>
              <a:rPr sz="1200" b="0" i="0" dirty="0" err="1">
                <a:solidFill>
                  <a:srgbClr val="202B33"/>
                </a:solidFill>
                <a:latin typeface="Tahoma"/>
              </a:rPr>
              <a:t>metres</a:t>
            </a:r>
            <a:r>
              <a:rPr sz="1200" b="0" i="0" dirty="0">
                <a:solidFill>
                  <a:srgbClr val="202B33"/>
                </a:solidFill>
                <a:latin typeface="Tahoma"/>
              </a:rPr>
              <a:t> and the energy approximately 137.3 joules per blow.</a:t>
            </a:r>
          </a:p>
          <a:p>
            <a:r>
              <a:rPr sz="1200" b="0" i="0" dirty="0">
                <a:solidFill>
                  <a:srgbClr val="202B33"/>
                </a:solidFill>
                <a:latin typeface="Tahoma"/>
              </a:rPr>
              <a:t>• An accelerometer on the rear face captured the response for the same filtering and integration workflow used in the beam tests.</a:t>
            </a:r>
          </a:p>
          <a:p>
            <a:r>
              <a:rPr sz="1200" b="0" i="0" dirty="0">
                <a:solidFill>
                  <a:srgbClr val="202B33"/>
                </a:solidFill>
                <a:latin typeface="Tahoma"/>
              </a:rPr>
              <a:t>• This experiment is valuable as an application-scale proof of concept and supports reduction to practice. It also provides comparative failure patterns and cumulative impact energy.</a:t>
            </a:r>
          </a:p>
          <a:p>
            <a:r>
              <a:rPr sz="1200" b="0" i="0" dirty="0">
                <a:solidFill>
                  <a:srgbClr val="202B33"/>
                </a:solidFill>
                <a:latin typeface="Tahoma"/>
              </a:rPr>
              <a:t>• It is not a standards-compliant crash test. Geometric similarity alone does not guarantee similitude of strain rate, fracture, reinforcement bond, contact, mass, velocity and gravity effects. The specimen was restrained, and there was no vehicle to evaluate containment, redirection, wheel climb, rollover, occupant compartment intrusion, ASI or THIV.</a:t>
            </a:r>
          </a:p>
          <a:p>
            <a:r>
              <a:rPr sz="1200" b="0" i="0" dirty="0">
                <a:solidFill>
                  <a:srgbClr val="202B33"/>
                </a:solidFill>
                <a:latin typeface="Tahoma"/>
              </a:rPr>
              <a:t>• Also note the sample size: one barrier per material. Treat the result as preliminary but decision-relevant.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application-scale result points in the same direction as the prism tests. The NWC barrier failed after 10 blows and 1,373 newton-</a:t>
            </a:r>
            <a:r>
              <a:rPr sz="1200" b="0" i="0" dirty="0" err="1">
                <a:solidFill>
                  <a:srgbClr val="202B33"/>
                </a:solidFill>
                <a:latin typeface="Tahoma"/>
              </a:rPr>
              <a:t>metres</a:t>
            </a:r>
            <a:r>
              <a:rPr sz="1200" b="0" i="0" dirty="0">
                <a:solidFill>
                  <a:srgbClr val="202B33"/>
                </a:solidFill>
                <a:latin typeface="Tahoma"/>
              </a:rPr>
              <a:t>; LWC15 reached 20 blows and 2,746 newton-</a:t>
            </a:r>
            <a:r>
              <a:rPr sz="1200" b="0" i="0" dirty="0" err="1">
                <a:solidFill>
                  <a:srgbClr val="202B33"/>
                </a:solidFill>
                <a:latin typeface="Tahoma"/>
              </a:rPr>
              <a:t>metres</a:t>
            </a:r>
            <a:r>
              <a:rPr sz="1200" b="0" i="0" dirty="0">
                <a:solidFill>
                  <a:srgbClr val="202B33"/>
                </a:solidFill>
                <a:latin typeface="Tahoma"/>
              </a:rPr>
              <a:t>—exactly twice the cumulative impact energy in the reported setup.</a:t>
            </a:r>
          </a:p>
          <a:p>
            <a:r>
              <a:rPr sz="1200" b="0" i="0" dirty="0">
                <a:solidFill>
                  <a:srgbClr val="202B33"/>
                </a:solidFill>
                <a:latin typeface="Tahoma"/>
              </a:rPr>
              <a:t>• Peak deformation increased from 4.22 to 12.70 </a:t>
            </a:r>
            <a:r>
              <a:rPr sz="1200" b="0" i="0" dirty="0" err="1">
                <a:solidFill>
                  <a:srgbClr val="202B33"/>
                </a:solidFill>
                <a:latin typeface="Tahoma"/>
              </a:rPr>
              <a:t>millimetres</a:t>
            </a:r>
            <a:r>
              <a:rPr sz="1200" b="0" i="0" dirty="0">
                <a:solidFill>
                  <a:srgbClr val="202B33"/>
                </a:solidFill>
                <a:latin typeface="Tahoma"/>
              </a:rPr>
              <a:t>, a factor of approximately 3.01. Controlled deformation is consistent with the intended energy-dissipation philosophy.</a:t>
            </a:r>
          </a:p>
          <a:p>
            <a:r>
              <a:rPr sz="1200" b="0" i="0" dirty="0">
                <a:solidFill>
                  <a:srgbClr val="202B33"/>
                </a:solidFill>
                <a:latin typeface="Tahoma"/>
              </a:rPr>
              <a:t>• The failure photographs show a broader, more brittle crack and large localized fragments in NWC, while LWC15 exhibits a narrower crack path and finer, more distributed debris after more impacts.</a:t>
            </a:r>
          </a:p>
          <a:p>
            <a:r>
              <a:rPr sz="1200" b="0" i="0" dirty="0">
                <a:solidFill>
                  <a:srgbClr val="202B33"/>
                </a:solidFill>
                <a:latin typeface="Tahoma"/>
              </a:rPr>
              <a:t>• That fragmentation finding is qualitative. A stronger patent and commercialization evidence package should sieve and weigh debris, map crack width and density, measure ejection velocity, and assess residual load capacity after prescribed impacts.</a:t>
            </a:r>
          </a:p>
          <a:p>
            <a:r>
              <a:rPr sz="1200" b="0" i="0" dirty="0">
                <a:solidFill>
                  <a:srgbClr val="202B33"/>
                </a:solidFill>
                <a:latin typeface="Tahoma"/>
              </a:rPr>
              <a:t>• Because n equals one per mix, do not attach confidence intervals or claim a guaranteed two-times product performance. State that the single comparative barrier experiment reproduced the direction of the material-level benefit and justifies replicated/full-scale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This slide separates what is measured from what it may support in a patent application.</a:t>
            </a:r>
          </a:p>
          <a:p>
            <a:r>
              <a:rPr sz="1200" b="0" i="0" dirty="0">
                <a:solidFill>
                  <a:srgbClr val="202B33"/>
                </a:solidFill>
                <a:latin typeface="Tahoma"/>
              </a:rPr>
              <a:t>• Strength and splitting tensile data provide the strongest conventional evidence. The repeated-impact result may support an unexpected technical effect, but its uncertainty and test adaptation should be disclosed accurately.</a:t>
            </a:r>
          </a:p>
          <a:p>
            <a:r>
              <a:rPr sz="1200" b="0" i="0" dirty="0">
                <a:solidFill>
                  <a:srgbClr val="202B33"/>
                </a:solidFill>
                <a:latin typeface="Tahoma"/>
              </a:rPr>
              <a:t>• The barrier-scale result supports an article-of-manufacture embodiment and utility, while remaining preliminary due to n equals one and the absence of a standards-compliant vehicle test.</a:t>
            </a:r>
          </a:p>
          <a:p>
            <a:r>
              <a:rPr sz="1200" b="0" i="0" dirty="0">
                <a:solidFill>
                  <a:srgbClr val="202B33"/>
                </a:solidFill>
                <a:latin typeface="Tahoma"/>
              </a:rPr>
              <a:t>• A layered filing strategy can include: composition ranges; a process claim around moisture conditioning, mixing sequence, </a:t>
            </a:r>
            <a:r>
              <a:rPr sz="1200" b="0" i="0" dirty="0" err="1">
                <a:solidFill>
                  <a:srgbClr val="202B33"/>
                </a:solidFill>
                <a:latin typeface="Tahoma"/>
              </a:rPr>
              <a:t>fibre</a:t>
            </a:r>
            <a:r>
              <a:rPr sz="1200" b="0" i="0" dirty="0">
                <a:solidFill>
                  <a:srgbClr val="202B33"/>
                </a:solidFill>
                <a:latin typeface="Tahoma"/>
              </a:rPr>
              <a:t> dispersion and quality control; a barrier article made from the material; and carefully drafted functional/performance limitations where enabled.</a:t>
            </a:r>
          </a:p>
          <a:p>
            <a:r>
              <a:rPr sz="1200" b="0" i="0" dirty="0">
                <a:solidFill>
                  <a:srgbClr val="202B33"/>
                </a:solidFill>
                <a:latin typeface="Tahoma"/>
              </a:rPr>
              <a:t>• Avoid relying only on a narrow point recipe; include supported ranges and fallback positions around binder fraction, SFA substitution, </a:t>
            </a:r>
            <a:r>
              <a:rPr sz="1200" b="0" i="0" dirty="0" err="1">
                <a:solidFill>
                  <a:srgbClr val="202B33"/>
                </a:solidFill>
                <a:latin typeface="Tahoma"/>
              </a:rPr>
              <a:t>fibre</a:t>
            </a:r>
            <a:r>
              <a:rPr sz="1200" b="0" i="0" dirty="0">
                <a:solidFill>
                  <a:srgbClr val="202B33"/>
                </a:solidFill>
                <a:latin typeface="Tahoma"/>
              </a:rPr>
              <a:t> geometry/dosage and performance windows. Do not invent ranges not supported by the notebooks and experiments.</a:t>
            </a:r>
          </a:p>
          <a:p>
            <a:r>
              <a:rPr sz="1200" b="0" i="0" dirty="0">
                <a:solidFill>
                  <a:srgbClr val="202B33"/>
                </a:solidFill>
                <a:latin typeface="Tahoma"/>
              </a:rPr>
              <a:t>• Before filing, reconcile the water protocol and density terminology, preserve raw data and notebooks, and complete a professional patentability/FTO search. This slide is a technical aid and not legal advice.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a:p>
            <a:r>
              <a:rPr sz="1200" b="0" i="0" dirty="0">
                <a:solidFill>
                  <a:srgbClr val="202B33"/>
                </a:solidFill>
                <a:latin typeface="Tahoma"/>
              </a:rPr>
              <a:t>• The immediate action is protection: reconcile the technical record, complete professional searching and file before any publication, conference presentation, industry pitch or external distribution.</a:t>
            </a:r>
          </a:p>
          <a:p>
            <a:r>
              <a:rPr sz="1200" b="0" i="0" dirty="0">
                <a:solidFill>
                  <a:srgbClr val="202B33"/>
                </a:solidFill>
                <a:latin typeface="Tahoma"/>
              </a:rPr>
              <a:t>• In the first six months, repeat the key tests with specimen-level data, quantify uncertainty, resolve the method and density conflicts, replicate barrier specimens and turn fragmentation into a measured particle-size, mass and velocity dataset.</a:t>
            </a:r>
          </a:p>
          <a:p>
            <a:r>
              <a:rPr sz="1200" b="0" i="0" dirty="0">
                <a:solidFill>
                  <a:srgbClr val="202B33"/>
                </a:solidFill>
                <a:latin typeface="Tahoma"/>
              </a:rPr>
              <a:t>• In parallel, calibrate an LS-DYNA or ABAQUS vehicle–barrier model against the experiments, and add durability, corrosion, environmental exposure, repeated-impact and repairability studies.</a:t>
            </a:r>
          </a:p>
          <a:p>
            <a:r>
              <a:rPr sz="1200" b="0" i="0" dirty="0">
                <a:solidFill>
                  <a:srgbClr val="202B33"/>
                </a:solidFill>
                <a:latin typeface="Tahoma"/>
              </a:rPr>
              <a:t>• The decisive commercialization gate is a full-scale vehicle crash conducted to the required jurisdictional standard. It must evaluate containment, redirection, stability, debris, occupant compartment performance and occupant-risk measures such as ASI or THIV where applicable.</a:t>
            </a:r>
          </a:p>
          <a:p>
            <a:r>
              <a:rPr sz="1200" b="0" i="0" dirty="0">
                <a:solidFill>
                  <a:srgbClr val="202B33"/>
                </a:solidFill>
                <a:latin typeface="Tahoma"/>
              </a:rPr>
              <a:t>• A pilot then needs precast quality controls, </a:t>
            </a:r>
            <a:r>
              <a:rPr sz="1200" b="0" i="0" dirty="0" err="1">
                <a:solidFill>
                  <a:srgbClr val="202B33"/>
                </a:solidFill>
                <a:latin typeface="Tahoma"/>
              </a:rPr>
              <a:t>fibre</a:t>
            </a:r>
            <a:r>
              <a:rPr sz="1200" b="0" i="0" dirty="0">
                <a:solidFill>
                  <a:srgbClr val="202B33"/>
                </a:solidFill>
                <a:latin typeface="Tahoma"/>
              </a:rPr>
              <a:t>-dispersion inspection, SFA moisture/specification limits, a full installed-system cost model and comparative LCA.</a:t>
            </a:r>
          </a:p>
          <a:p>
            <a:r>
              <a:rPr sz="1200" b="0" i="0" dirty="0">
                <a:solidFill>
                  <a:srgbClr val="202B33"/>
                </a:solidFill>
                <a:latin typeface="Tahoma"/>
              </a:rPr>
              <a:t>• Candidate partners listed by the inventors include CRRI, MoRTH/NHAI, state PWDs, precast manufacturers, barrier suppliers and major infrastructure contractors.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000">
                <a:solidFill/>
                <a:latin typeface="Tahoma"/>
              </a:rPr>
              <a:t>• The recommendation to the IIT Bhubaneswar IPR section is to approve proceeding with a focused patent filing. The team has reduced the concept to practice and demonstrated a distinctive combination of lower reported density, retained structural strength, major repeated-impact endurance and a positive one-third-scale barrier result.</a:t>
            </a:r>
          </a:p>
          <a:p>
            <a:r>
              <a:rPr sz="1000">
                <a:solidFill/>
                <a:latin typeface="Tahoma"/>
              </a:rPr>
              <a:t>• The evidence does not yet support a certified occupant-safety claim. The commercial release gate must be a full-scale standards-compliant vehicle test with occupant-risk, containment, redirection, stability and debris criteria.</a:t>
            </a:r>
          </a:p>
          <a:p>
            <a:r>
              <a:rPr sz="1000">
                <a:solidFill/>
                <a:latin typeface="Tahoma"/>
              </a:rPr>
              <a:t>• Four IPR decisions are requested: approve professional prior-art searching, drafting and filing; maintain confidentiality and coordinate manuscript release; endorse a staged validation programme; and enable controlled engagement with crash-test and precast partners.</a:t>
            </a:r>
          </a:p>
          <a:p>
            <a:r>
              <a:rPr sz="1000">
                <a:solidFill/>
                <a:latin typeface="Tahoma"/>
              </a:rPr>
              <a:t>• The claim strategy should protect the integrated platform rather than a single recipe: material composition and ranges, process controls, a barrier article, and the use/performance relationship where legally enabled.</a:t>
            </a:r>
          </a:p>
          <a:p>
            <a:r>
              <a:rPr sz="1000">
                <a:solidFill/>
                <a:latin typeface="Tahoma"/>
              </a:rPr>
              <a:t>• Final line: approve protection now, validate the occupant benefit next, and commercialize only after the full-scale safety gate is passed.</a:t>
            </a:r>
          </a:p>
          <a:p/>
          <a:p>
            <a:r>
              <a:rPr sz="1000">
                <a:solidFill/>
                <a:latin typeface="Tahoma"/>
              </a:rPr>
              <a:t>IPR DECISION TABLE — DETAILED REASONING</a:t>
            </a:r>
          </a:p>
          <a:p/>
          <a:p>
            <a:r>
              <a:rPr sz="1000">
                <a:solidFill/>
                <a:latin typeface="Tahoma"/>
              </a:rPr>
              <a:t>1. APPROVE PATENT FILING</a:t>
            </a:r>
          </a:p>
          <a:p>
            <a:r>
              <a:rPr sz="1000">
                <a:solidFill/>
                <a:latin typeface="Tahoma"/>
              </a:rPr>
              <a:t>Requirement: authorize a professional patentability/FTO search, claim drafting and filing before further disclosure.</a:t>
            </a:r>
          </a:p>
          <a:p>
            <a:r>
              <a:rPr sz="1000">
                <a:solidFill/>
                <a:latin typeface="Tahoma"/>
              </a:rPr>
              <a:t>Reason: the present record contains a specific composition, three reinforced embodiments, an unexpected repeated-impact response and a barrier-scale reduction to practice. Approval does not certify commercial safety; it preserves the opportunity to protect the integrated composition–process–barrier concept.</a:t>
            </a:r>
          </a:p>
          <a:p/>
          <a:p>
            <a:r>
              <a:rPr sz="1000">
                <a:solidFill/>
                <a:latin typeface="Tahoma"/>
              </a:rPr>
              <a:t>2. MAINTAIN CONFIDENTIALITY</a:t>
            </a:r>
          </a:p>
          <a:p>
            <a:r>
              <a:rPr sz="1000">
                <a:solidFill/>
                <a:latin typeface="Tahoma"/>
              </a:rPr>
              <a:t>Requirement: coordinate the submitted manuscript, presentations, industry discussions and data sharing with the IPR section until filing.</a:t>
            </a:r>
          </a:p>
          <a:p>
            <a:r>
              <a:rPr sz="1000">
                <a:solidFill/>
                <a:latin typeface="Tahoma"/>
              </a:rPr>
              <a:t>Reason: no patent has yet been filed. Public enabling disclosure may prejudice novelty in some jurisdictions. Exact formulations, process controls and claim ranges should therefore be shared externally only under IPR-approved conditions.</a:t>
            </a:r>
          </a:p>
          <a:p/>
          <a:p>
            <a:r>
              <a:rPr sz="1000">
                <a:solidFill/>
                <a:latin typeface="Tahoma"/>
              </a:rPr>
              <a:t>3. ENDORSE STAGED VALIDATION</a:t>
            </a:r>
          </a:p>
          <a:p>
            <a:r>
              <a:rPr sz="1000">
                <a:solidFill/>
                <a:latin typeface="Tahoma"/>
              </a:rPr>
              <a:t>Requirement: support replicated barrier tests, specimen-level uncertainty analysis, quantitative debris assessment, calibrated FE modelling and a standards-compliant full-scale crash programme.</a:t>
            </a:r>
          </a:p>
          <a:p>
            <a:r>
              <a:rPr sz="1000">
                <a:solidFill/>
                <a:latin typeface="Tahoma"/>
              </a:rPr>
              <a:t>Reason: material-level results are strong, but the barrier comparison uses one specimen per mix and does not measure vehicle containment, redirection, ASI or THIV. These tests are needed for certification and commercialization, not necessarily to establish initial patent utility.</a:t>
            </a:r>
          </a:p>
          <a:p/>
          <a:p>
            <a:r>
              <a:rPr sz="1000">
                <a:solidFill/>
                <a:latin typeface="Tahoma"/>
              </a:rPr>
              <a:t>4. ENABLE CONTROLLED TECHNOLOGY TRANSFER</a:t>
            </a:r>
          </a:p>
          <a:p>
            <a:r>
              <a:rPr sz="1000">
                <a:solidFill/>
                <a:latin typeface="Tahoma"/>
              </a:rPr>
              <a:t>Requirement: permit engagement with CRRI/NHAI, accredited crash-test facilities, precast producers and barrier manufacturers after filing or under appropriate confidentiality controls.</a:t>
            </a:r>
          </a:p>
          <a:p>
            <a:r>
              <a:rPr sz="1000">
                <a:solidFill/>
                <a:latin typeface="Tahoma"/>
              </a:rPr>
              <a:t>Reason: external partners provide facilities, manufacturing QA and field-validation capability unavailable at laboratory scale. Controlled engagement converts protected know-how into a certifiable product without premature disclosure.</a:t>
            </a:r>
          </a:p>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sz="1200" b="0" i="0" dirty="0">
              <a:solidFill>
                <a:srgbClr val="202B33"/>
              </a:solidFill>
              <a:latin typeface="Aptos"/>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sz="1000">
                <a:solidFill/>
                <a:latin typeface="Tahoma"/>
              </a:rPr>
              <a:t>BACKGROUND — speaking points</a:t>
            </a:r>
          </a:p>
          <a:p/>
          <a:p>
            <a:r>
              <a:rPr sz="1000">
                <a:solidFill/>
                <a:latin typeface="Tahoma"/>
              </a:rPr>
              <a:t>• Crash barriers are flexible, semi-rigid or rigid according to their working width and energy-management mechanism. Cable systems dissipate energy through large movement; W-beams combine deformation and redirection; concrete barriers are selected where working width is restricted and durable containment is needed.</a:t>
            </a:r>
          </a:p>
          <a:p>
            <a:r>
              <a:rPr sz="1000">
                <a:solidFill/>
                <a:latin typeface="Tahoma"/>
              </a:rPr>
              <a:t>• Commercial concrete barriers are strong and low-maintenance, but their high stiffness means that collision energy is largely managed by vehicle deformation and local concrete fracture. The proposed material adds internal dissipation through porous aggregate crushing and fibre pull-out while retaining M40-plus strength.</a:t>
            </a:r>
          </a:p>
          <a:p>
            <a:r>
              <a:rPr sz="1000">
                <a:solidFill/>
                <a:latin typeface="Tahoma"/>
              </a:rPr>
              <a:t>• SFA has approximately half the specific gravity of crushed stone, which supports lower self-weight. Its 18% absorption and higher aggregate-impact value are not pure advantages: they demand moisture conditioning, workability control and quality assurance.</a:t>
            </a:r>
          </a:p>
          <a:p>
            <a:r>
              <a:rPr sz="1000">
                <a:solidFill/>
                <a:latin typeface="Tahoma"/>
              </a:rPr>
              <a:t>• Geopolymer concrete is shown only as wider low-carbon background. Turner and Collins found a 9% CO2-equivalent reduction in a comprehensive case, while other studies vary substantially. Our tested patent embodiment contains OPC and GGBS and must not be called geopolymer concrete. Its environmental claim requires a product-specific LCA.</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sz="1000">
                <a:solidFill/>
                <a:latin typeface="Tahoma"/>
              </a:rPr>
              <a:t>PROPOSED EXPERIMENTAL CLAIM WINDOW — speaking points</a:t>
            </a:r>
          </a:p>
          <a:p/>
          <a:p>
            <a:r>
              <a:rPr sz="1000">
                <a:solidFill/>
                <a:latin typeface="Tahoma"/>
              </a:rPr>
              <a:t>• This window is derived only from LWC05, LWC10 and LWC15; NWC and unreinforced LWC00 are deliberately excluded from the proposed reinforced-product range.</a:t>
            </a:r>
          </a:p>
          <a:p>
            <a:r>
              <a:rPr sz="1000">
                <a:solidFill/>
                <a:latin typeface="Tahoma"/>
              </a:rPr>
              <a:t>• The constant matrix contains 422.4 kg/m3 OPC, 105.6 kg/m3 GGBS, 596.31 kg/m3 SFA and 466.46 kg/m3 fine aggregate. The experimentally varied parameter is hooked steel fibre from 0.5 to 1.5 percent by concrete volume.</a:t>
            </a:r>
          </a:p>
          <a:p>
            <a:r>
              <a:rPr sz="1000">
                <a:solidFill/>
                <a:latin typeface="Tahoma"/>
              </a:rPr>
              <a:t>• The three tested embodiments preserve compressive strength above M40 while producing a tunable impact-energy range from about 265 to 2,928 N-m.</a:t>
            </a:r>
          </a:p>
          <a:p>
            <a:r>
              <a:rPr sz="1000">
                <a:solidFill/>
                <a:latin typeface="Tahoma"/>
              </a:rPr>
              <a:t>• This is an evidence-support map, not final legal claim language. Counsel must determine defensible endpoints and fallback positions. Intermediate dosages were not separately tested, and the water/density records must be corrected before filing.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sz="1000">
                <a:solidFill/>
                <a:latin typeface="Tahoma"/>
              </a:rPr>
              <a:t>COMPARATIVE CLAIMS — speaking points</a:t>
            </a:r>
          </a:p>
          <a:p/>
          <a:p>
            <a:r>
              <a:rPr sz="1000">
                <a:solidFill/>
                <a:latin typeface="Tahoma"/>
              </a:rPr>
              <a:t>• The primary claim supported by our own data is a tunable reinforced lightweight-concrete product family. LWC05, LWC10 and LWC15 all retain M40-plus strength, but span progressively higher repeated-impact energy and lower cost per absorbed N-m.</a:t>
            </a:r>
          </a:p>
          <a:p>
            <a:r>
              <a:rPr sz="1000">
                <a:solidFill/>
                <a:latin typeface="Tahoma"/>
              </a:rPr>
              <a:t>• LWC05 is the moderate-impact option, LWC10 provides the highest compressive strength and a balanced impact tier, and LWC15 is the highest tested energy-absorption option.</a:t>
            </a:r>
          </a:p>
          <a:p>
            <a:r>
              <a:rPr sz="1000">
                <a:solidFill/>
                <a:latin typeface="Tahoma"/>
              </a:rPr>
              <a:t>• Published rubcrete work reported up to three times conventional impact energy. Our within-study prism ratios are larger, but no direct cross-paper superiority claim should be made because test configurations differ.</a:t>
            </a:r>
          </a:p>
          <a:p>
            <a:r>
              <a:rPr sz="1000">
                <a:solidFill/>
                <a:latin typeface="Tahoma"/>
              </a:rPr>
              <a:t>• Shen's safety concrete achieved energy absorption at around 20 MPa. Our specific distinction is structural-grade strength together with impact endurance, a defined composition window and scaled-barrier validation.</a:t>
            </a:r>
          </a:p>
          <a:p>
            <a:r>
              <a:rPr sz="1000">
                <a:solidFill/>
                <a:latin typeface="Tahoma"/>
              </a:rPr>
              <a:t>• The cost-to-impact metric converts the materials premium into engineering utility: LWC15 costs more per cubic metre, yet has the lowest tested cost per unit of absorbed prism energy.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image" Target="../media/image14.jpg"/><Relationship Id="rId8"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chart" Target="../charts/chart5.xml"/><Relationship Id="rId5"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chart" Target="../charts/chart7.xml"/><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chart" Target="../charts/chart8.xml"/><Relationship Id="rId5" Type="http://schemas.openxmlformats.org/officeDocument/2006/relationships/chart" Target="../charts/char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jpg"/><Relationship Id="rId5"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9.jpg"/><Relationship Id="rId5" Type="http://schemas.openxmlformats.org/officeDocument/2006/relationships/chart" Target="../charts/chart10.xml"/><Relationship Id="rId6" Type="http://schemas.openxmlformats.org/officeDocument/2006/relationships/chart" Target="../charts/char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itbbs_logo_official.png"/>
          <p:cNvPicPr>
            <a:picLocks noChangeAspect="1"/>
          </p:cNvPicPr>
          <p:nvPr/>
        </p:nvPicPr>
        <p:blipFill>
          <a:blip r:embed="rId3"/>
          <a:stretch>
            <a:fillRect/>
          </a:stretch>
        </p:blipFill>
        <p:spPr>
          <a:xfrm>
            <a:off x="11283696" y="164592"/>
            <a:ext cx="530352" cy="493776"/>
          </a:xfrm>
          <a:prstGeom prst="rect">
            <a:avLst/>
          </a:prstGeom>
        </p:spPr>
      </p:pic>
      <p:sp>
        <p:nvSpPr>
          <p:cNvPr id="5" name="TextBox 4"/>
          <p:cNvSpPr txBox="1"/>
          <p:nvPr/>
        </p:nvSpPr>
        <p:spPr>
          <a:xfrm>
            <a:off x="713232" y="438912"/>
            <a:ext cx="4572000" cy="256032"/>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IIT BHUBANESWAR • SCHOOL OF INFRASTRUCTURE</a:t>
            </a:r>
          </a:p>
        </p:txBody>
      </p:sp>
      <p:sp>
        <p:nvSpPr>
          <p:cNvPr id="6" name="TextBox 5"/>
          <p:cNvSpPr txBox="1"/>
          <p:nvPr/>
        </p:nvSpPr>
        <p:spPr>
          <a:xfrm>
            <a:off x="713232" y="768096"/>
            <a:ext cx="457200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PRE-FILING IPR COMMITTEE PRESENTATION</a:t>
            </a:r>
          </a:p>
        </p:txBody>
      </p:sp>
      <p:sp>
        <p:nvSpPr>
          <p:cNvPr id="7" name="TextBox 6"/>
          <p:cNvSpPr txBox="1"/>
          <p:nvPr/>
        </p:nvSpPr>
        <p:spPr>
          <a:xfrm>
            <a:off x="713232" y="1298448"/>
            <a:ext cx="5715000" cy="1627632"/>
          </a:xfrm>
          <a:prstGeom prst="rect">
            <a:avLst/>
          </a:prstGeom>
          <a:noFill/>
        </p:spPr>
        <p:txBody>
          <a:bodyPr wrap="square" lIns="0" tIns="0" rIns="0" bIns="0" anchor="t">
            <a:spAutoFit/>
          </a:bodyPr>
          <a:lstStyle/>
          <a:p>
            <a:pPr algn="l">
              <a:lnSpc>
                <a:spcPct val="94000"/>
              </a:lnSpc>
            </a:pPr>
            <a:r>
              <a:rPr sz="2700" b="1" i="0" dirty="0">
                <a:solidFill>
                  <a:srgbClr val="17365D"/>
                </a:solidFill>
                <a:latin typeface="Tahoma"/>
              </a:rPr>
              <a:t>Novel concrete composition for
impact-energy-dissipating crash barriers</a:t>
            </a:r>
          </a:p>
        </p:txBody>
      </p:sp>
      <p:sp>
        <p:nvSpPr>
          <p:cNvPr id="8" name="TextBox 7"/>
          <p:cNvSpPr txBox="1"/>
          <p:nvPr/>
        </p:nvSpPr>
        <p:spPr>
          <a:xfrm>
            <a:off x="731520" y="2990088"/>
            <a:ext cx="5669280" cy="245260"/>
          </a:xfrm>
          <a:prstGeom prst="rect">
            <a:avLst/>
          </a:prstGeom>
          <a:noFill/>
        </p:spPr>
        <p:txBody>
          <a:bodyPr wrap="square" lIns="0" tIns="0" rIns="0" bIns="0" anchor="t">
            <a:spAutoFit/>
          </a:bodyPr>
          <a:lstStyle/>
          <a:p>
            <a:pPr algn="l">
              <a:lnSpc>
                <a:spcPct val="102000"/>
              </a:lnSpc>
            </a:pPr>
            <a:r>
              <a:rPr sz="1600" b="0" i="0" dirty="0">
                <a:solidFill>
                  <a:srgbClr val="202B33"/>
                </a:solidFill>
                <a:latin typeface="Tahoma"/>
              </a:rPr>
              <a:t>Steel-</a:t>
            </a:r>
            <a:r>
              <a:rPr sz="1600" b="0" i="0" dirty="0" err="1">
                <a:solidFill>
                  <a:srgbClr val="202B33"/>
                </a:solidFill>
                <a:latin typeface="Tahoma"/>
              </a:rPr>
              <a:t>fibre</a:t>
            </a:r>
            <a:r>
              <a:rPr sz="1600" b="0" i="0" dirty="0">
                <a:solidFill>
                  <a:srgbClr val="202B33"/>
                </a:solidFill>
                <a:latin typeface="Tahoma"/>
              </a:rPr>
              <a:t>-reinforced sintered-fly-ash lightweight aggregate concrete</a:t>
            </a:r>
          </a:p>
        </p:txBody>
      </p:sp>
      <p:cxnSp>
        <p:nvCxnSpPr>
          <p:cNvPr id="9" name="Connector 8"/>
          <p:cNvCxnSpPr/>
          <p:nvPr/>
        </p:nvCxnSpPr>
        <p:spPr>
          <a:xfrm>
            <a:off x="731520" y="3730752"/>
            <a:ext cx="5577840" cy="0"/>
          </a:xfrm>
          <a:prstGeom prst="line">
            <a:avLst/>
          </a:prstGeom>
          <a:ln w="13970">
            <a:solidFill>
              <a:srgbClr val="2E6F9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968496"/>
            <a:ext cx="5715000" cy="184666"/>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Tahoma"/>
              </a:rPr>
              <a:t>Haruna Al-Amir Saleh  •  Pratik Kanungo  •  Anush K. Chandrappa  •  Dinakar Pasla</a:t>
            </a:r>
          </a:p>
        </p:txBody>
      </p:sp>
      <p:sp>
        <p:nvSpPr>
          <p:cNvPr id="11" name="TextBox 10"/>
          <p:cNvSpPr txBox="1"/>
          <p:nvPr/>
        </p:nvSpPr>
        <p:spPr>
          <a:xfrm>
            <a:off x="731520" y="4498848"/>
            <a:ext cx="5715000" cy="369332"/>
          </a:xfrm>
          <a:prstGeom prst="rect">
            <a:avLst/>
          </a:prstGeom>
          <a:noFill/>
        </p:spPr>
        <p:txBody>
          <a:bodyPr wrap="square" lIns="0" tIns="0" rIns="0" bIns="0" anchor="t">
            <a:spAutoFit/>
          </a:bodyPr>
          <a:lstStyle/>
          <a:p>
            <a:pPr algn="l">
              <a:lnSpc>
                <a:spcPct val="100000"/>
              </a:lnSpc>
            </a:pPr>
            <a:r>
              <a:rPr sz="1200" b="0" i="0" dirty="0">
                <a:solidFill/>
                <a:latin typeface="Tahoma"/>
              </a:rPr>
              <a:t>School of Infrastructure, Indian Institute of Technology Bhubaneswar
Odisha, India  •  14 August 2026</a:t>
            </a:r>
          </a:p>
        </p:txBody>
      </p:sp>
      <p:sp>
        <p:nvSpPr>
          <p:cNvPr id="12" name="Rectangle 11"/>
          <p:cNvSpPr/>
          <p:nvPr/>
        </p:nvSpPr>
        <p:spPr>
          <a:xfrm>
            <a:off x="731520" y="5230368"/>
            <a:ext cx="6839712" cy="566928"/>
          </a:xfrm>
          <a:prstGeom prst="rect">
            <a:avLst/>
          </a:prstGeom>
          <a:solidFill>
            <a:srgbClr val="F6EAEC"/>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376672"/>
            <a:ext cx="5285232" cy="274320"/>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Status: not yet filed  |  Purpose: IPR approval to proceed with patent filing</a:t>
            </a:r>
          </a:p>
        </p:txBody>
      </p:sp>
      <p:cxnSp>
        <p:nvCxnSpPr>
          <p:cNvPr id="18" name="Connector 1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20" name="TextBox 1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01</a:t>
            </a:r>
          </a:p>
        </p:txBody>
      </p:sp>
      <p:sp>
        <p:nvSpPr>
          <p:cNvPr id="21" name="Rectangle 20"/>
          <p:cNvSpPr/>
          <p:nvPr/>
        </p:nvSpPr>
        <p:spPr>
          <a:xfrm>
            <a:off x="6656832" y="1298448"/>
            <a:ext cx="4992624" cy="2852928"/>
          </a:xfrm>
          <a:prstGeom prst="rect">
            <a:avLst/>
          </a:prstGeom>
          <a:solidFill>
            <a:srgbClr val="FFFFFF"/>
          </a:solidFill>
          <a:ln w="1016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ero_cropped.jpg"/>
          <p:cNvPicPr>
            <a:picLocks noChangeAspect="1"/>
          </p:cNvPicPr>
          <p:nvPr/>
        </p:nvPicPr>
        <p:blipFill>
          <a:blip r:embed="rId5"/>
          <a:stretch>
            <a:fillRect/>
          </a:stretch>
        </p:blipFill>
        <p:spPr>
          <a:xfrm>
            <a:off x="6748272" y="1389888"/>
            <a:ext cx="4809744" cy="2670048"/>
          </a:xfrm>
          <a:prstGeom prst="rect">
            <a:avLst/>
          </a:prstGeom>
        </p:spPr>
      </p:pic>
      <p:sp>
        <p:nvSpPr>
          <p:cNvPr id="23" name="TextBox 22"/>
          <p:cNvSpPr txBox="1"/>
          <p:nvPr/>
        </p:nvSpPr>
        <p:spPr>
          <a:xfrm>
            <a:off x="6748272" y="4261104"/>
            <a:ext cx="4809744" cy="237744"/>
          </a:xfrm>
          <a:prstGeom prst="rect">
            <a:avLst/>
          </a:prstGeom>
          <a:noFill/>
        </p:spPr>
        <p:txBody>
          <a:bodyPr wrap="square" lIns="0" rIns="0" tIns="0" bIns="0" anchor="t">
            <a:spAutoFit/>
          </a:bodyPr>
          <a:lstStyle/>
          <a:p>
            <a:pPr algn="ctr">
              <a:lnSpc>
                <a:spcPct val="100000"/>
              </a:lnSpc>
            </a:pPr>
            <a:r>
              <a:rPr sz="1000" b="1" i="0">
                <a:solidFill>
                  <a:srgbClr val="000000"/>
                </a:solidFill>
                <a:latin typeface="Tahoma"/>
              </a:rPr>
              <a:t>AI-generated concept visualization: containment • internal dissipation • controlled damage</a:t>
            </a:r>
          </a:p>
        </p:txBody>
      </p:sp>
      <p:sp>
        <p:nvSpPr>
          <p:cNvPr id="24" name="Rectangle 23"/>
          <p:cNvSpPr/>
          <p:nvPr/>
        </p:nvSpPr>
        <p:spPr>
          <a:xfrm>
            <a:off x="6748272" y="4617720"/>
            <a:ext cx="4809744" cy="713232"/>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31152" y="4754880"/>
            <a:ext cx="4443984" cy="457200"/>
          </a:xfrm>
          <a:prstGeom prst="rect">
            <a:avLst/>
          </a:prstGeom>
          <a:noFill/>
        </p:spPr>
        <p:txBody>
          <a:bodyPr wrap="square" lIns="0" rIns="0" tIns="0" bIns="0" anchor="t">
            <a:spAutoFit/>
          </a:bodyPr>
          <a:lstStyle/>
          <a:p>
            <a:pPr algn="ctr">
              <a:lnSpc>
                <a:spcPct val="100000"/>
              </a:lnSpc>
            </a:pPr>
            <a:r>
              <a:rPr sz="1000" b="1" i="0">
                <a:solidFill>
                  <a:srgbClr val="17365D"/>
                </a:solidFill>
                <a:latin typeface="Tahoma"/>
              </a:rPr>
              <a:t>Design hypothesis
Porous aggregate crushing + hooked-fibre pull-out → higher impact-energy dissipation</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Arrow: Pentagon 19">
            <a:extLst>
              <a:ext uri="{FF2B5EF4-FFF2-40B4-BE49-F238E27FC236}">
                <a16:creationId xmlns:a16="http://schemas.microsoft.com/office/drawing/2014/main" id="{A4ED926E-CEE9-7DB4-190B-E7B8A29A5BC8}"/>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STUDY SYNOPSIS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Research contribution and quantitative evidence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15</a:t>
            </a:r>
          </a:p>
        </p:txBody>
      </p:sp>
      <p:sp>
        <p:nvSpPr>
          <p:cNvPr id="11" name="Rectangle 10"/>
          <p:cNvSpPr/>
          <p:nvPr/>
        </p:nvSpPr>
        <p:spPr>
          <a:xfrm>
            <a:off x="658368" y="1188720"/>
            <a:ext cx="10863072" cy="566928"/>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1251738"/>
            <a:ext cx="10460736" cy="430887"/>
          </a:xfrm>
          <a:prstGeom prst="rect">
            <a:avLst/>
          </a:prstGeom>
          <a:noFill/>
        </p:spPr>
        <p:txBody>
          <a:bodyPr wrap="square" lIns="0" tIns="0" rIns="0" bIns="0" anchor="t">
            <a:spAutoFit/>
          </a:bodyPr>
          <a:lstStyle/>
          <a:p>
            <a:pPr algn="l">
              <a:lnSpc>
                <a:spcPct val="100000"/>
              </a:lnSpc>
            </a:pPr>
            <a:r>
              <a:rPr sz="1400" b="1" i="0" dirty="0">
                <a:solidFill>
                  <a:srgbClr val="17365D"/>
                </a:solidFill>
                <a:latin typeface="Tahoma"/>
              </a:rPr>
              <a:t>Research question: </a:t>
            </a:r>
            <a:r>
              <a:rPr lang="en-US" sz="1400" b="1" i="0" dirty="0">
                <a:solidFill>
                  <a:srgbClr val="17365D"/>
                </a:solidFill>
                <a:latin typeface="Tahoma"/>
              </a:rPr>
              <a:t>Can</a:t>
            </a:r>
            <a:r>
              <a:rPr sz="1400" b="1" i="0" dirty="0">
                <a:solidFill>
                  <a:srgbClr val="17365D"/>
                </a:solidFill>
                <a:latin typeface="Tahoma"/>
              </a:rPr>
              <a:t> structural lightweight concrete dissipate impact energy while retaining M40-class strength and post-cracking integrity?</a:t>
            </a:r>
          </a:p>
        </p:txBody>
      </p:sp>
      <p:graphicFrame>
        <p:nvGraphicFramePr>
          <p:cNvPr id="13" name="Table 12"/>
          <p:cNvGraphicFramePr>
            <a:graphicFrameLocks noGrp="1"/>
          </p:cNvGraphicFramePr>
          <p:nvPr>
            <p:extLst>
              <p:ext uri="{D42A27DB-BD31-4B8C-83A1-F6EECF244321}">
                <p14:modId xmlns:p14="http://schemas.microsoft.com/office/powerpoint/2010/main" val="3551651945"/>
              </p:ext>
            </p:extLst>
          </p:nvPr>
        </p:nvGraphicFramePr>
        <p:xfrm>
          <a:off x="658368" y="1938528"/>
          <a:ext cx="10863070" cy="3063240"/>
        </p:xfrm>
        <a:graphic>
          <a:graphicData uri="http://schemas.openxmlformats.org/drawingml/2006/table">
            <a:tbl>
              <a:tblPr firstRow="1" bandRow="1">
                <a:tableStyleId>{5C22544A-7EE6-4342-B048-85BDC9FD1C3A}</a:tableStyleId>
              </a:tblPr>
              <a:tblGrid>
                <a:gridCol w="2614108">
                  <a:extLst>
                    <a:ext uri="{9D8B030D-6E8A-4147-A177-3AD203B41FA5}">
                      <a16:colId xmlns:a16="http://schemas.microsoft.com/office/drawing/2014/main" val="20000"/>
                    </a:ext>
                  </a:extLst>
                </a:gridCol>
                <a:gridCol w="1800830">
                  <a:extLst>
                    <a:ext uri="{9D8B030D-6E8A-4147-A177-3AD203B41FA5}">
                      <a16:colId xmlns:a16="http://schemas.microsoft.com/office/drawing/2014/main" val="20001"/>
                    </a:ext>
                  </a:extLst>
                </a:gridCol>
                <a:gridCol w="1917012">
                  <a:extLst>
                    <a:ext uri="{9D8B030D-6E8A-4147-A177-3AD203B41FA5}">
                      <a16:colId xmlns:a16="http://schemas.microsoft.com/office/drawing/2014/main" val="20002"/>
                    </a:ext>
                  </a:extLst>
                </a:gridCol>
                <a:gridCol w="1568464">
                  <a:extLst>
                    <a:ext uri="{9D8B030D-6E8A-4147-A177-3AD203B41FA5}">
                      <a16:colId xmlns:a16="http://schemas.microsoft.com/office/drawing/2014/main" val="20003"/>
                    </a:ext>
                  </a:extLst>
                </a:gridCol>
                <a:gridCol w="2962656">
                  <a:extLst>
                    <a:ext uri="{9D8B030D-6E8A-4147-A177-3AD203B41FA5}">
                      <a16:colId xmlns:a16="http://schemas.microsoft.com/office/drawing/2014/main" val="20004"/>
                    </a:ext>
                  </a:extLst>
                </a:gridCol>
              </a:tblGrid>
              <a:tr h="437605">
                <a:tc>
                  <a:txBody>
                    <a:bodyPr/>
                    <a:lstStyle/>
                    <a:p>
                      <a:pPr algn="l"/>
                      <a:r>
                        <a:rPr sz="1200" b="1" i="0" dirty="0">
                          <a:solidFill>
                            <a:srgbClr val="FFFFFF"/>
                          </a:solidFill>
                          <a:latin typeface="Tahoma"/>
                        </a:rPr>
                        <a:t>Response</a:t>
                      </a:r>
                    </a:p>
                  </a:txBody>
                  <a:tcPr marL="36576" marR="36576" marT="27432" marB="27432" anchor="ctr">
                    <a:solidFill>
                      <a:srgbClr val="17365D"/>
                    </a:solidFill>
                  </a:tcPr>
                </a:tc>
                <a:tc>
                  <a:txBody>
                    <a:bodyPr/>
                    <a:lstStyle/>
                    <a:p>
                      <a:pPr algn="ctr"/>
                      <a:r>
                        <a:rPr sz="1200" b="1" i="0">
                          <a:solidFill>
                            <a:srgbClr val="FFFFFF"/>
                          </a:solidFill>
                          <a:latin typeface="Tahoma"/>
                        </a:rPr>
                        <a:t>NWC reference</a:t>
                      </a:r>
                    </a:p>
                  </a:txBody>
                  <a:tcPr marL="36576" marR="36576" marT="27432" marB="27432" anchor="ctr">
                    <a:solidFill>
                      <a:srgbClr val="17365D"/>
                    </a:solidFill>
                  </a:tcPr>
                </a:tc>
                <a:tc>
                  <a:txBody>
                    <a:bodyPr/>
                    <a:lstStyle/>
                    <a:p>
                      <a:pPr algn="ctr"/>
                      <a:r>
                        <a:rPr sz="1200" b="1" i="0">
                          <a:solidFill>
                            <a:srgbClr val="FFFFFF"/>
                          </a:solidFill>
                          <a:latin typeface="Tahoma"/>
                        </a:rPr>
                        <a:t>LWC15</a:t>
                      </a:r>
                    </a:p>
                  </a:txBody>
                  <a:tcPr marL="36576" marR="36576" marT="27432" marB="27432" anchor="ctr">
                    <a:solidFill>
                      <a:srgbClr val="17365D"/>
                    </a:solidFill>
                  </a:tcPr>
                </a:tc>
                <a:tc>
                  <a:txBody>
                    <a:bodyPr/>
                    <a:lstStyle/>
                    <a:p>
                      <a:pPr algn="ctr"/>
                      <a:r>
                        <a:rPr sz="1200" b="1" i="0">
                          <a:solidFill>
                            <a:srgbClr val="FFFFFF"/>
                          </a:solidFill>
                          <a:latin typeface="Tahoma"/>
                        </a:rPr>
                        <a:t>Relative effect</a:t>
                      </a:r>
                    </a:p>
                  </a:txBody>
                  <a:tcPr marL="36576" marR="36576" marT="27432" marB="27432" anchor="ctr">
                    <a:solidFill>
                      <a:srgbClr val="17365D"/>
                    </a:solidFill>
                  </a:tcPr>
                </a:tc>
                <a:tc>
                  <a:txBody>
                    <a:bodyPr/>
                    <a:lstStyle/>
                    <a:p>
                      <a:pPr algn="ctr"/>
                      <a:r>
                        <a:rPr sz="1200" b="1" i="0">
                          <a:solidFill>
                            <a:srgbClr val="FFFFFF"/>
                          </a:solidFill>
                          <a:latin typeface="Tahoma"/>
                        </a:rPr>
                        <a:t>Evidence / scope</a:t>
                      </a:r>
                    </a:p>
                  </a:txBody>
                  <a:tcPr marL="36576" marR="36576" marT="27432" marB="27432" anchor="ctr">
                    <a:solidFill>
                      <a:srgbClr val="17365D"/>
                    </a:solidFill>
                  </a:tcPr>
                </a:tc>
                <a:extLst>
                  <a:ext uri="{0D108BD9-81ED-4DB2-BD59-A6C34878D82A}">
                    <a16:rowId xmlns:a16="http://schemas.microsoft.com/office/drawing/2014/main" val="10000"/>
                  </a:ext>
                </a:extLst>
              </a:tr>
              <a:tr h="437605">
                <a:tc>
                  <a:txBody>
                    <a:bodyPr/>
                    <a:lstStyle/>
                    <a:p>
                      <a:pPr algn="l"/>
                      <a:r>
                        <a:rPr sz="1200" b="1" i="0">
                          <a:solidFill>
                            <a:srgbClr val="202B33"/>
                          </a:solidFill>
                          <a:latin typeface="Tahoma"/>
                        </a:rPr>
                        <a:t>Reported density</a:t>
                      </a:r>
                    </a:p>
                  </a:txBody>
                  <a:tcPr marL="36576" marR="36576" marT="27432" marB="27432" anchor="ctr">
                    <a:solidFill>
                      <a:srgbClr val="FFFFFF"/>
                    </a:solidFill>
                  </a:tcPr>
                </a:tc>
                <a:tc>
                  <a:txBody>
                    <a:bodyPr/>
                    <a:lstStyle/>
                    <a:p>
                      <a:pPr algn="ctr"/>
                      <a:r>
                        <a:rPr sz="1200" b="0" i="0">
                          <a:solidFill>
                            <a:srgbClr val="202B33"/>
                          </a:solidFill>
                          <a:latin typeface="Tahoma"/>
                        </a:rPr>
                        <a:t>2,466 kg/m³</a:t>
                      </a:r>
                    </a:p>
                  </a:txBody>
                  <a:tcPr marL="36576" marR="36576" marT="27432" marB="27432" anchor="ctr">
                    <a:solidFill>
                      <a:srgbClr val="FFFFFF"/>
                    </a:solidFill>
                  </a:tcPr>
                </a:tc>
                <a:tc>
                  <a:txBody>
                    <a:bodyPr/>
                    <a:lstStyle/>
                    <a:p>
                      <a:pPr algn="ctr"/>
                      <a:r>
                        <a:rPr sz="1200" b="0" i="0">
                          <a:solidFill>
                            <a:srgbClr val="202B33"/>
                          </a:solidFill>
                          <a:latin typeface="Tahoma"/>
                        </a:rPr>
                        <a:t>1,987 kg/m³</a:t>
                      </a:r>
                    </a:p>
                  </a:txBody>
                  <a:tcPr marL="36576" marR="36576" marT="27432" marB="27432" anchor="ctr">
                    <a:solidFill>
                      <a:srgbClr val="FFFFFF"/>
                    </a:solidFill>
                  </a:tcPr>
                </a:tc>
                <a:tc>
                  <a:txBody>
                    <a:bodyPr/>
                    <a:lstStyle/>
                    <a:p>
                      <a:pPr algn="ctr"/>
                      <a:r>
                        <a:rPr sz="1200" b="0" i="0">
                          <a:solidFill>
                            <a:srgbClr val="202B33"/>
                          </a:solidFill>
                          <a:latin typeface="Tahoma"/>
                        </a:rPr>
                        <a:t>−19.4%</a:t>
                      </a:r>
                    </a:p>
                  </a:txBody>
                  <a:tcPr marL="36576" marR="36576" marT="27432" marB="27432" anchor="ctr">
                    <a:solidFill>
                      <a:srgbClr val="FFFFFF"/>
                    </a:solidFill>
                  </a:tcPr>
                </a:tc>
                <a:tc>
                  <a:txBody>
                    <a:bodyPr/>
                    <a:lstStyle/>
                    <a:p>
                      <a:pPr algn="ctr"/>
                      <a:r>
                        <a:rPr sz="1200" b="0" i="0">
                          <a:solidFill>
                            <a:srgbClr val="202B33"/>
                          </a:solidFill>
                          <a:latin typeface="Tahoma"/>
                        </a:rPr>
                        <a:t>Measured; basis to verify</a:t>
                      </a:r>
                    </a:p>
                  </a:txBody>
                  <a:tcPr marL="36576" marR="36576" marT="27432" marB="27432" anchor="ctr">
                    <a:solidFill>
                      <a:srgbClr val="FFFFFF"/>
                    </a:solidFill>
                  </a:tcPr>
                </a:tc>
                <a:extLst>
                  <a:ext uri="{0D108BD9-81ED-4DB2-BD59-A6C34878D82A}">
                    <a16:rowId xmlns:a16="http://schemas.microsoft.com/office/drawing/2014/main" val="10001"/>
                  </a:ext>
                </a:extLst>
              </a:tr>
              <a:tr h="437605">
                <a:tc>
                  <a:txBody>
                    <a:bodyPr/>
                    <a:lstStyle/>
                    <a:p>
                      <a:pPr algn="l"/>
                      <a:r>
                        <a:rPr sz="1200" b="1" i="0">
                          <a:solidFill>
                            <a:srgbClr val="202B33"/>
                          </a:solidFill>
                          <a:latin typeface="Tahoma"/>
                        </a:rPr>
                        <a:t>28 d compression</a:t>
                      </a:r>
                    </a:p>
                  </a:txBody>
                  <a:tcPr marL="36576" marR="36576" marT="27432" marB="27432" anchor="ctr">
                    <a:solidFill>
                      <a:srgbClr val="F8FAFB"/>
                    </a:solidFill>
                  </a:tcPr>
                </a:tc>
                <a:tc>
                  <a:txBody>
                    <a:bodyPr/>
                    <a:lstStyle/>
                    <a:p>
                      <a:pPr algn="ctr"/>
                      <a:r>
                        <a:rPr sz="1200" b="0" i="0">
                          <a:solidFill>
                            <a:srgbClr val="202B33"/>
                          </a:solidFill>
                          <a:latin typeface="Tahoma"/>
                        </a:rPr>
                        <a:t>49.62 MPa</a:t>
                      </a:r>
                    </a:p>
                  </a:txBody>
                  <a:tcPr marL="36576" marR="36576" marT="27432" marB="27432" anchor="ctr">
                    <a:solidFill>
                      <a:srgbClr val="F8FAFB"/>
                    </a:solidFill>
                  </a:tcPr>
                </a:tc>
                <a:tc>
                  <a:txBody>
                    <a:bodyPr/>
                    <a:lstStyle/>
                    <a:p>
                      <a:pPr algn="ctr"/>
                      <a:r>
                        <a:rPr sz="1200" b="0" i="0">
                          <a:solidFill>
                            <a:srgbClr val="202B33"/>
                          </a:solidFill>
                          <a:latin typeface="Tahoma"/>
                        </a:rPr>
                        <a:t>55.40 MPa</a:t>
                      </a:r>
                    </a:p>
                  </a:txBody>
                  <a:tcPr marL="36576" marR="36576" marT="27432" marB="27432" anchor="ctr">
                    <a:solidFill>
                      <a:srgbClr val="F8FAFB"/>
                    </a:solidFill>
                  </a:tcPr>
                </a:tc>
                <a:tc>
                  <a:txBody>
                    <a:bodyPr/>
                    <a:lstStyle/>
                    <a:p>
                      <a:pPr algn="ctr"/>
                      <a:r>
                        <a:rPr sz="1200" b="0" i="0">
                          <a:solidFill>
                            <a:srgbClr val="202B33"/>
                          </a:solidFill>
                          <a:latin typeface="Tahoma"/>
                        </a:rPr>
                        <a:t>+11.6%</a:t>
                      </a:r>
                    </a:p>
                  </a:txBody>
                  <a:tcPr marL="36576" marR="36576" marT="27432" marB="27432" anchor="ctr">
                    <a:solidFill>
                      <a:srgbClr val="F8FAFB"/>
                    </a:solidFill>
                  </a:tcPr>
                </a:tc>
                <a:tc>
                  <a:txBody>
                    <a:bodyPr/>
                    <a:lstStyle/>
                    <a:p>
                      <a:pPr algn="ctr"/>
                      <a:r>
                        <a:rPr sz="1200" b="0" i="0">
                          <a:solidFill>
                            <a:srgbClr val="202B33"/>
                          </a:solidFill>
                          <a:latin typeface="Tahoma"/>
                        </a:rPr>
                        <a:t>3 cubes per mix stated</a:t>
                      </a:r>
                    </a:p>
                  </a:txBody>
                  <a:tcPr marL="36576" marR="36576" marT="27432" marB="27432" anchor="ctr">
                    <a:solidFill>
                      <a:srgbClr val="F8FAFB"/>
                    </a:solidFill>
                  </a:tcPr>
                </a:tc>
                <a:extLst>
                  <a:ext uri="{0D108BD9-81ED-4DB2-BD59-A6C34878D82A}">
                    <a16:rowId xmlns:a16="http://schemas.microsoft.com/office/drawing/2014/main" val="10002"/>
                  </a:ext>
                </a:extLst>
              </a:tr>
              <a:tr h="437605">
                <a:tc>
                  <a:txBody>
                    <a:bodyPr/>
                    <a:lstStyle/>
                    <a:p>
                      <a:pPr algn="l"/>
                      <a:r>
                        <a:rPr sz="1200" b="1" i="0">
                          <a:solidFill>
                            <a:srgbClr val="202B33"/>
                          </a:solidFill>
                          <a:latin typeface="Tahoma"/>
                        </a:rPr>
                        <a:t>28 d split tension</a:t>
                      </a:r>
                    </a:p>
                  </a:txBody>
                  <a:tcPr marL="36576" marR="36576" marT="27432" marB="27432" anchor="ctr">
                    <a:solidFill>
                      <a:srgbClr val="FFFFFF"/>
                    </a:solidFill>
                  </a:tcPr>
                </a:tc>
                <a:tc>
                  <a:txBody>
                    <a:bodyPr/>
                    <a:lstStyle/>
                    <a:p>
                      <a:pPr algn="ctr"/>
                      <a:r>
                        <a:rPr sz="1200" b="0" i="0">
                          <a:solidFill>
                            <a:srgbClr val="202B33"/>
                          </a:solidFill>
                          <a:latin typeface="Tahoma"/>
                        </a:rPr>
                        <a:t>4.32 MPa</a:t>
                      </a:r>
                    </a:p>
                  </a:txBody>
                  <a:tcPr marL="36576" marR="36576" marT="27432" marB="27432" anchor="ctr">
                    <a:solidFill>
                      <a:srgbClr val="FFFFFF"/>
                    </a:solidFill>
                  </a:tcPr>
                </a:tc>
                <a:tc>
                  <a:txBody>
                    <a:bodyPr/>
                    <a:lstStyle/>
                    <a:p>
                      <a:pPr algn="ctr"/>
                      <a:r>
                        <a:rPr sz="1200" b="0" i="0">
                          <a:solidFill>
                            <a:srgbClr val="202B33"/>
                          </a:solidFill>
                          <a:latin typeface="Tahoma"/>
                        </a:rPr>
                        <a:t>7.60 MPa</a:t>
                      </a:r>
                    </a:p>
                  </a:txBody>
                  <a:tcPr marL="36576" marR="36576" marT="27432" marB="27432" anchor="ctr">
                    <a:solidFill>
                      <a:srgbClr val="FFFFFF"/>
                    </a:solidFill>
                  </a:tcPr>
                </a:tc>
                <a:tc>
                  <a:txBody>
                    <a:bodyPr/>
                    <a:lstStyle/>
                    <a:p>
                      <a:pPr algn="ctr"/>
                      <a:r>
                        <a:rPr sz="1200" b="0" i="0">
                          <a:solidFill>
                            <a:srgbClr val="202B33"/>
                          </a:solidFill>
                          <a:latin typeface="Tahoma"/>
                        </a:rPr>
                        <a:t>+75.9%</a:t>
                      </a:r>
                    </a:p>
                  </a:txBody>
                  <a:tcPr marL="36576" marR="36576" marT="27432" marB="27432" anchor="ctr">
                    <a:solidFill>
                      <a:srgbClr val="FFFFFF"/>
                    </a:solidFill>
                  </a:tcPr>
                </a:tc>
                <a:tc>
                  <a:txBody>
                    <a:bodyPr/>
                    <a:lstStyle/>
                    <a:p>
                      <a:pPr algn="ctr"/>
                      <a:r>
                        <a:rPr sz="1200" b="0" i="0">
                          <a:solidFill>
                            <a:srgbClr val="202B33"/>
                          </a:solidFill>
                          <a:latin typeface="Tahoma"/>
                        </a:rPr>
                        <a:t>3 cylinders per mix stated</a:t>
                      </a:r>
                    </a:p>
                  </a:txBody>
                  <a:tcPr marL="36576" marR="36576" marT="27432" marB="27432" anchor="ctr">
                    <a:solidFill>
                      <a:srgbClr val="FFFFFF"/>
                    </a:solidFill>
                  </a:tcPr>
                </a:tc>
                <a:extLst>
                  <a:ext uri="{0D108BD9-81ED-4DB2-BD59-A6C34878D82A}">
                    <a16:rowId xmlns:a16="http://schemas.microsoft.com/office/drawing/2014/main" val="10003"/>
                  </a:ext>
                </a:extLst>
              </a:tr>
              <a:tr h="437605">
                <a:tc>
                  <a:txBody>
                    <a:bodyPr/>
                    <a:lstStyle/>
                    <a:p>
                      <a:pPr algn="l"/>
                      <a:r>
                        <a:rPr sz="1200" b="1" i="0">
                          <a:solidFill>
                            <a:srgbClr val="202B33"/>
                          </a:solidFill>
                          <a:latin typeface="Tahoma"/>
                        </a:rPr>
                        <a:t>Prism failure energy, E₂</a:t>
                      </a:r>
                    </a:p>
                  </a:txBody>
                  <a:tcPr marL="36576" marR="36576" marT="27432" marB="27432" anchor="ctr">
                    <a:solidFill>
                      <a:srgbClr val="F6EFE4"/>
                    </a:solidFill>
                  </a:tcPr>
                </a:tc>
                <a:tc>
                  <a:txBody>
                    <a:bodyPr/>
                    <a:lstStyle/>
                    <a:p>
                      <a:pPr algn="ctr"/>
                      <a:r>
                        <a:rPr sz="1200" b="0" i="0">
                          <a:solidFill>
                            <a:srgbClr val="202B33"/>
                          </a:solidFill>
                          <a:latin typeface="Tahoma"/>
                        </a:rPr>
                        <a:t>52.97 N·m</a:t>
                      </a:r>
                    </a:p>
                  </a:txBody>
                  <a:tcPr marL="36576" marR="36576" marT="27432" marB="27432" anchor="ctr">
                    <a:solidFill>
                      <a:srgbClr val="F6EFE4"/>
                    </a:solidFill>
                  </a:tcPr>
                </a:tc>
                <a:tc>
                  <a:txBody>
                    <a:bodyPr/>
                    <a:lstStyle/>
                    <a:p>
                      <a:pPr algn="ctr"/>
                      <a:r>
                        <a:rPr sz="1200" b="0" i="0">
                          <a:solidFill>
                            <a:srgbClr val="202B33"/>
                          </a:solidFill>
                          <a:latin typeface="Tahoma"/>
                        </a:rPr>
                        <a:t>2,927.81 N·m</a:t>
                      </a:r>
                    </a:p>
                  </a:txBody>
                  <a:tcPr marL="36576" marR="36576" marT="27432" marB="27432" anchor="ctr">
                    <a:solidFill>
                      <a:srgbClr val="F6EFE4"/>
                    </a:solidFill>
                  </a:tcPr>
                </a:tc>
                <a:tc>
                  <a:txBody>
                    <a:bodyPr/>
                    <a:lstStyle/>
                    <a:p>
                      <a:pPr algn="ctr"/>
                      <a:r>
                        <a:rPr sz="1200" b="0" i="0">
                          <a:solidFill>
                            <a:srgbClr val="202B33"/>
                          </a:solidFill>
                          <a:latin typeface="Tahoma"/>
                        </a:rPr>
                        <a:t>55.3×</a:t>
                      </a:r>
                    </a:p>
                  </a:txBody>
                  <a:tcPr marL="36576" marR="36576" marT="27432" marB="27432" anchor="ctr">
                    <a:solidFill>
                      <a:srgbClr val="F6EFE4"/>
                    </a:solidFill>
                  </a:tcPr>
                </a:tc>
                <a:tc>
                  <a:txBody>
                    <a:bodyPr/>
                    <a:lstStyle/>
                    <a:p>
                      <a:pPr algn="ctr"/>
                      <a:r>
                        <a:rPr sz="1200" b="0" i="0">
                          <a:solidFill>
                            <a:srgbClr val="202B33"/>
                          </a:solidFill>
                          <a:latin typeface="Tahoma"/>
                        </a:rPr>
                        <a:t>Repeated-impact screen</a:t>
                      </a:r>
                    </a:p>
                  </a:txBody>
                  <a:tcPr marL="36576" marR="36576" marT="27432" marB="27432" anchor="ctr">
                    <a:solidFill>
                      <a:srgbClr val="F6EFE4"/>
                    </a:solidFill>
                  </a:tcPr>
                </a:tc>
                <a:extLst>
                  <a:ext uri="{0D108BD9-81ED-4DB2-BD59-A6C34878D82A}">
                    <a16:rowId xmlns:a16="http://schemas.microsoft.com/office/drawing/2014/main" val="10004"/>
                  </a:ext>
                </a:extLst>
              </a:tr>
              <a:tr h="437605">
                <a:tc>
                  <a:txBody>
                    <a:bodyPr/>
                    <a:lstStyle/>
                    <a:p>
                      <a:pPr algn="l"/>
                      <a:r>
                        <a:rPr sz="1200" b="1" i="0">
                          <a:solidFill>
                            <a:srgbClr val="202B33"/>
                          </a:solidFill>
                          <a:latin typeface="Tahoma"/>
                        </a:rPr>
                        <a:t>Scaled-barrier E₂</a:t>
                      </a:r>
                    </a:p>
                  </a:txBody>
                  <a:tcPr marL="36576" marR="36576" marT="27432" marB="27432" anchor="ctr">
                    <a:solidFill>
                      <a:srgbClr val="EAF2F3"/>
                    </a:solidFill>
                  </a:tcPr>
                </a:tc>
                <a:tc>
                  <a:txBody>
                    <a:bodyPr/>
                    <a:lstStyle/>
                    <a:p>
                      <a:pPr algn="ctr"/>
                      <a:r>
                        <a:rPr sz="1200" b="0" i="0">
                          <a:solidFill>
                            <a:srgbClr val="202B33"/>
                          </a:solidFill>
                          <a:latin typeface="Tahoma"/>
                        </a:rPr>
                        <a:t>1,373 N·m</a:t>
                      </a:r>
                    </a:p>
                  </a:txBody>
                  <a:tcPr marL="36576" marR="36576" marT="27432" marB="27432" anchor="ctr">
                    <a:solidFill>
                      <a:srgbClr val="EAF2F3"/>
                    </a:solidFill>
                  </a:tcPr>
                </a:tc>
                <a:tc>
                  <a:txBody>
                    <a:bodyPr/>
                    <a:lstStyle/>
                    <a:p>
                      <a:pPr algn="ctr"/>
                      <a:r>
                        <a:rPr sz="1200" b="0" i="0">
                          <a:solidFill>
                            <a:srgbClr val="202B33"/>
                          </a:solidFill>
                          <a:latin typeface="Tahoma"/>
                        </a:rPr>
                        <a:t>2,746 N·m</a:t>
                      </a:r>
                    </a:p>
                  </a:txBody>
                  <a:tcPr marL="36576" marR="36576" marT="27432" marB="27432" anchor="ctr">
                    <a:solidFill>
                      <a:srgbClr val="EAF2F3"/>
                    </a:solidFill>
                  </a:tcPr>
                </a:tc>
                <a:tc>
                  <a:txBody>
                    <a:bodyPr/>
                    <a:lstStyle/>
                    <a:p>
                      <a:pPr algn="ctr"/>
                      <a:r>
                        <a:rPr sz="1200" b="0" i="0">
                          <a:solidFill>
                            <a:srgbClr val="202B33"/>
                          </a:solidFill>
                          <a:latin typeface="Tahoma"/>
                        </a:rPr>
                        <a:t>2.0×</a:t>
                      </a:r>
                    </a:p>
                  </a:txBody>
                  <a:tcPr marL="36576" marR="36576" marT="27432" marB="27432" anchor="ctr">
                    <a:solidFill>
                      <a:srgbClr val="EAF2F3"/>
                    </a:solidFill>
                  </a:tcPr>
                </a:tc>
                <a:tc>
                  <a:txBody>
                    <a:bodyPr/>
                    <a:lstStyle/>
                    <a:p>
                      <a:pPr algn="ctr"/>
                      <a:r>
                        <a:rPr sz="1200" b="0" i="0">
                          <a:solidFill>
                            <a:srgbClr val="202B33"/>
                          </a:solidFill>
                          <a:latin typeface="Tahoma"/>
                        </a:rPr>
                        <a:t>n = 1 barrier per mix</a:t>
                      </a:r>
                    </a:p>
                  </a:txBody>
                  <a:tcPr marL="36576" marR="36576" marT="27432" marB="27432" anchor="ctr">
                    <a:solidFill>
                      <a:srgbClr val="EAF2F3"/>
                    </a:solidFill>
                  </a:tcPr>
                </a:tc>
                <a:extLst>
                  <a:ext uri="{0D108BD9-81ED-4DB2-BD59-A6C34878D82A}">
                    <a16:rowId xmlns:a16="http://schemas.microsoft.com/office/drawing/2014/main" val="10005"/>
                  </a:ext>
                </a:extLst>
              </a:tr>
              <a:tr h="437610">
                <a:tc>
                  <a:txBody>
                    <a:bodyPr/>
                    <a:lstStyle/>
                    <a:p>
                      <a:pPr algn="l"/>
                      <a:r>
                        <a:rPr sz="1200" b="1" i="0">
                          <a:solidFill>
                            <a:srgbClr val="202B33"/>
                          </a:solidFill>
                          <a:latin typeface="Tahoma"/>
                        </a:rPr>
                        <a:t>Scaled-barrier deformation</a:t>
                      </a:r>
                    </a:p>
                  </a:txBody>
                  <a:tcPr marL="36576" marR="36576" marT="27432" marB="27432" anchor="ctr">
                    <a:solidFill>
                      <a:srgbClr val="EAF2F3"/>
                    </a:solidFill>
                  </a:tcPr>
                </a:tc>
                <a:tc>
                  <a:txBody>
                    <a:bodyPr/>
                    <a:lstStyle/>
                    <a:p>
                      <a:pPr algn="ctr"/>
                      <a:r>
                        <a:rPr sz="1200" b="0" i="0">
                          <a:solidFill>
                            <a:srgbClr val="202B33"/>
                          </a:solidFill>
                          <a:latin typeface="Tahoma"/>
                        </a:rPr>
                        <a:t>4.22 mm</a:t>
                      </a:r>
                    </a:p>
                  </a:txBody>
                  <a:tcPr marL="36576" marR="36576" marT="27432" marB="27432" anchor="ctr">
                    <a:solidFill>
                      <a:srgbClr val="EAF2F3"/>
                    </a:solidFill>
                  </a:tcPr>
                </a:tc>
                <a:tc>
                  <a:txBody>
                    <a:bodyPr/>
                    <a:lstStyle/>
                    <a:p>
                      <a:pPr algn="ctr"/>
                      <a:r>
                        <a:rPr sz="1200" b="0" i="0">
                          <a:solidFill>
                            <a:srgbClr val="202B33"/>
                          </a:solidFill>
                          <a:latin typeface="Tahoma"/>
                        </a:rPr>
                        <a:t>12.70 mm</a:t>
                      </a:r>
                    </a:p>
                  </a:txBody>
                  <a:tcPr marL="36576" marR="36576" marT="27432" marB="27432" anchor="ctr">
                    <a:solidFill>
                      <a:srgbClr val="EAF2F3"/>
                    </a:solidFill>
                  </a:tcPr>
                </a:tc>
                <a:tc>
                  <a:txBody>
                    <a:bodyPr/>
                    <a:lstStyle/>
                    <a:p>
                      <a:pPr algn="ctr"/>
                      <a:r>
                        <a:rPr sz="1200" b="0" i="0">
                          <a:solidFill>
                            <a:srgbClr val="202B33"/>
                          </a:solidFill>
                          <a:latin typeface="Tahoma"/>
                        </a:rPr>
                        <a:t>3.01×</a:t>
                      </a:r>
                    </a:p>
                  </a:txBody>
                  <a:tcPr marL="36576" marR="36576" marT="27432" marB="27432" anchor="ctr">
                    <a:solidFill>
                      <a:srgbClr val="EAF2F3"/>
                    </a:solidFill>
                  </a:tcPr>
                </a:tc>
                <a:tc>
                  <a:txBody>
                    <a:bodyPr/>
                    <a:lstStyle/>
                    <a:p>
                      <a:pPr algn="ctr"/>
                      <a:r>
                        <a:rPr sz="1200" b="0" i="0" dirty="0">
                          <a:solidFill>
                            <a:srgbClr val="202B33"/>
                          </a:solidFill>
                          <a:latin typeface="Tahoma"/>
                        </a:rPr>
                        <a:t>n = 1 barrier per mix</a:t>
                      </a:r>
                    </a:p>
                  </a:txBody>
                  <a:tcPr marL="36576" marR="36576" marT="27432" marB="27432" anchor="ctr">
                    <a:solidFill>
                      <a:srgbClr val="EAF2F3"/>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658368" y="5230368"/>
            <a:ext cx="5266944" cy="585216"/>
          </a:xfrm>
          <a:prstGeom prst="rect">
            <a:avLst/>
          </a:prstGeom>
          <a:solidFill>
            <a:srgbClr val="FFFFFF"/>
          </a:solidFill>
          <a:ln w="1016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 y="5358384"/>
            <a:ext cx="4919472" cy="369332"/>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Tahoma"/>
              </a:rPr>
              <a:t>Interpretation: </a:t>
            </a:r>
            <a:r>
              <a:rPr lang="en-US" sz="1200" b="1" i="0" dirty="0">
                <a:solidFill>
                  <a:srgbClr val="17365D"/>
                </a:solidFill>
                <a:latin typeface="Tahoma"/>
              </a:rPr>
              <a:t>S</a:t>
            </a:r>
            <a:r>
              <a:rPr sz="1200" b="1" i="0" dirty="0">
                <a:solidFill>
                  <a:srgbClr val="17365D"/>
                </a:solidFill>
                <a:latin typeface="Tahoma"/>
              </a:rPr>
              <a:t>trongest contribution is post-cracking impact endurance, not simply compressive strength.</a:t>
            </a:r>
          </a:p>
        </p:txBody>
      </p:sp>
      <p:sp>
        <p:nvSpPr>
          <p:cNvPr id="16" name="Rectangle 15"/>
          <p:cNvSpPr/>
          <p:nvPr/>
        </p:nvSpPr>
        <p:spPr>
          <a:xfrm>
            <a:off x="6144768" y="5230368"/>
            <a:ext cx="5376672" cy="585216"/>
          </a:xfrm>
          <a:prstGeom prst="rect">
            <a:avLst/>
          </a:prstGeom>
          <a:solidFill>
            <a:srgbClr val="FFFFFF"/>
          </a:solidFill>
          <a:ln w="1016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5358384"/>
            <a:ext cx="5029200" cy="369332"/>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Boundary: occupant-risk reduction and standards compliance require full-scale vehicle testing.</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Arrow: Pentagon 19">
            <a:extLst>
              <a:ext uri="{FF2B5EF4-FFF2-40B4-BE49-F238E27FC236}">
                <a16:creationId xmlns:a16="http://schemas.microsoft.com/office/drawing/2014/main" id="{FB708B44-9FED-B27B-0BF3-E978B68FC2A4}"/>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GLOBAL EVIDENCE</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Global context: road safety, material demand and circularity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03</a:t>
            </a:r>
          </a:p>
        </p:txBody>
      </p:sp>
      <p:graphicFrame>
        <p:nvGraphicFramePr>
          <p:cNvPr id="11" name="Chart 10"/>
          <p:cNvGraphicFramePr>
            <a:graphicFrameLocks noGrp="1"/>
          </p:cNvGraphicFramePr>
          <p:nvPr/>
        </p:nvGraphicFramePr>
        <p:xfrm>
          <a:off x="658368" y="1225296"/>
          <a:ext cx="370332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1847088" y="2331720"/>
            <a:ext cx="1371600" cy="640080"/>
          </a:xfrm>
          <a:prstGeom prst="rect">
            <a:avLst/>
          </a:prstGeom>
          <a:noFill/>
        </p:spPr>
        <p:txBody>
          <a:bodyPr wrap="square" lIns="0" tIns="0" rIns="0" bIns="0" anchor="ctr">
            <a:spAutoFit/>
          </a:bodyPr>
          <a:lstStyle/>
          <a:p>
            <a:pPr algn="ctr">
              <a:lnSpc>
                <a:spcPct val="100000"/>
              </a:lnSpc>
            </a:pPr>
            <a:r>
              <a:rPr sz="2600" b="1" i="0" dirty="0">
                <a:solidFill>
                  <a:srgbClr val="17365D"/>
                </a:solidFill>
                <a:latin typeface="Tahoma"/>
              </a:rPr>
              <a:t>92%</a:t>
            </a:r>
          </a:p>
        </p:txBody>
      </p:sp>
      <p:sp>
        <p:nvSpPr>
          <p:cNvPr id="13" name="TextBox 12"/>
          <p:cNvSpPr txBox="1"/>
          <p:nvPr/>
        </p:nvSpPr>
        <p:spPr>
          <a:xfrm>
            <a:off x="768096" y="4169663"/>
            <a:ext cx="3502152" cy="307777"/>
          </a:xfrm>
          <a:prstGeom prst="rect">
            <a:avLst/>
          </a:prstGeom>
          <a:noFill/>
        </p:spPr>
        <p:txBody>
          <a:bodyPr wrap="square" lIns="0" tIns="0" rIns="0" bIns="0" anchor="t">
            <a:spAutoFit/>
          </a:bodyPr>
          <a:lstStyle/>
          <a:p>
            <a:pPr algn="ctr">
              <a:lnSpc>
                <a:spcPct val="100000"/>
              </a:lnSpc>
            </a:pPr>
            <a:r>
              <a:rPr sz="1000" b="1" i="0" dirty="0">
                <a:solidFill>
                  <a:srgbClr val="17365D"/>
                </a:solidFill>
                <a:latin typeface="Tahoma"/>
              </a:rPr>
              <a:t>Figure 1. Global road-traffic deaths by country income group (2021)</a:t>
            </a:r>
          </a:p>
        </p:txBody>
      </p:sp>
      <p:graphicFrame>
        <p:nvGraphicFramePr>
          <p:cNvPr id="14" name="Table 13"/>
          <p:cNvGraphicFramePr>
            <a:graphicFrameLocks noGrp="1"/>
          </p:cNvGraphicFramePr>
          <p:nvPr>
            <p:extLst>
              <p:ext uri="{D42A27DB-BD31-4B8C-83A1-F6EECF244321}">
                <p14:modId xmlns:p14="http://schemas.microsoft.com/office/powerpoint/2010/main" val="2260845618"/>
              </p:ext>
            </p:extLst>
          </p:nvPr>
        </p:nvGraphicFramePr>
        <p:xfrm>
          <a:off x="4617720" y="1261872"/>
          <a:ext cx="6903718" cy="3346704"/>
        </p:xfrm>
        <a:graphic>
          <a:graphicData uri="http://schemas.openxmlformats.org/drawingml/2006/table">
            <a:tbl>
              <a:tblPr firstRow="1" bandRow="1">
                <a:tableStyleId>{5C22544A-7EE6-4342-B048-85BDC9FD1C3A}</a:tableStyleId>
              </a:tblPr>
              <a:tblGrid>
                <a:gridCol w="1582102">
                  <a:extLst>
                    <a:ext uri="{9D8B030D-6E8A-4147-A177-3AD203B41FA5}">
                      <a16:colId xmlns:a16="http://schemas.microsoft.com/office/drawing/2014/main" val="20000"/>
                    </a:ext>
                  </a:extLst>
                </a:gridCol>
                <a:gridCol w="1390332">
                  <a:extLst>
                    <a:ext uri="{9D8B030D-6E8A-4147-A177-3AD203B41FA5}">
                      <a16:colId xmlns:a16="http://schemas.microsoft.com/office/drawing/2014/main" val="20001"/>
                    </a:ext>
                  </a:extLst>
                </a:gridCol>
                <a:gridCol w="2540952">
                  <a:extLst>
                    <a:ext uri="{9D8B030D-6E8A-4147-A177-3AD203B41FA5}">
                      <a16:colId xmlns:a16="http://schemas.microsoft.com/office/drawing/2014/main" val="20002"/>
                    </a:ext>
                  </a:extLst>
                </a:gridCol>
                <a:gridCol w="1390332">
                  <a:extLst>
                    <a:ext uri="{9D8B030D-6E8A-4147-A177-3AD203B41FA5}">
                      <a16:colId xmlns:a16="http://schemas.microsoft.com/office/drawing/2014/main" val="20003"/>
                    </a:ext>
                  </a:extLst>
                </a:gridCol>
              </a:tblGrid>
              <a:tr h="557784">
                <a:tc>
                  <a:txBody>
                    <a:bodyPr/>
                    <a:lstStyle/>
                    <a:p>
                      <a:pPr algn="l"/>
                      <a:r>
                        <a:rPr sz="1200" b="1" i="0">
                          <a:solidFill>
                            <a:srgbClr val="FFFFFF"/>
                          </a:solidFill>
                          <a:latin typeface="Tahoma"/>
                        </a:rPr>
                        <a:t>Indicator</a:t>
                      </a:r>
                    </a:p>
                  </a:txBody>
                  <a:tcPr marL="36576" marR="36576" marT="27432" marB="27432" anchor="ctr">
                    <a:solidFill>
                      <a:srgbClr val="17365D"/>
                    </a:solidFill>
                  </a:tcPr>
                </a:tc>
                <a:tc>
                  <a:txBody>
                    <a:bodyPr/>
                    <a:lstStyle/>
                    <a:p>
                      <a:pPr algn="ctr"/>
                      <a:r>
                        <a:rPr sz="1200" b="1" i="0">
                          <a:solidFill>
                            <a:srgbClr val="FFFFFF"/>
                          </a:solidFill>
                          <a:latin typeface="Tahoma"/>
                        </a:rPr>
                        <a:t>Global estimate</a:t>
                      </a:r>
                    </a:p>
                  </a:txBody>
                  <a:tcPr marL="36576" marR="36576" marT="27432" marB="27432" anchor="ctr">
                    <a:solidFill>
                      <a:srgbClr val="17365D"/>
                    </a:solidFill>
                  </a:tcPr>
                </a:tc>
                <a:tc>
                  <a:txBody>
                    <a:bodyPr/>
                    <a:lstStyle/>
                    <a:p>
                      <a:pPr algn="ctr"/>
                      <a:r>
                        <a:rPr sz="1200" b="1" i="0">
                          <a:solidFill>
                            <a:srgbClr val="FFFFFF"/>
                          </a:solidFill>
                          <a:latin typeface="Tahoma"/>
                        </a:rPr>
                        <a:t>Research relevance</a:t>
                      </a:r>
                    </a:p>
                  </a:txBody>
                  <a:tcPr marL="36576" marR="36576" marT="27432" marB="27432" anchor="ctr">
                    <a:solidFill>
                      <a:srgbClr val="17365D"/>
                    </a:solidFill>
                  </a:tcPr>
                </a:tc>
                <a:tc>
                  <a:txBody>
                    <a:bodyPr/>
                    <a:lstStyle/>
                    <a:p>
                      <a:pPr algn="ctr"/>
                      <a:r>
                        <a:rPr sz="1200" b="1" i="0">
                          <a:solidFill>
                            <a:srgbClr val="FFFFFF"/>
                          </a:solidFill>
                          <a:latin typeface="Tahoma"/>
                        </a:rPr>
                        <a:t>Primary source</a:t>
                      </a:r>
                    </a:p>
                  </a:txBody>
                  <a:tcPr marL="36576" marR="36576" marT="27432" marB="27432" anchor="ctr">
                    <a:solidFill>
                      <a:srgbClr val="17365D"/>
                    </a:solidFill>
                  </a:tcPr>
                </a:tc>
                <a:extLst>
                  <a:ext uri="{0D108BD9-81ED-4DB2-BD59-A6C34878D82A}">
                    <a16:rowId xmlns:a16="http://schemas.microsoft.com/office/drawing/2014/main" val="10000"/>
                  </a:ext>
                </a:extLst>
              </a:tr>
              <a:tr h="557784">
                <a:tc>
                  <a:txBody>
                    <a:bodyPr/>
                    <a:lstStyle/>
                    <a:p>
                      <a:pPr algn="l"/>
                      <a:r>
                        <a:rPr sz="1200" b="1" i="0">
                          <a:solidFill>
                            <a:srgbClr val="202B33"/>
                          </a:solidFill>
                          <a:latin typeface="Tahoma"/>
                        </a:rPr>
                        <a:t>Road-traffic mortality</a:t>
                      </a:r>
                    </a:p>
                  </a:txBody>
                  <a:tcPr marL="36576" marR="36576" marT="27432" marB="27432" anchor="ctr">
                    <a:solidFill>
                      <a:srgbClr val="FFFFFF"/>
                    </a:solidFill>
                  </a:tcPr>
                </a:tc>
                <a:tc>
                  <a:txBody>
                    <a:bodyPr/>
                    <a:lstStyle/>
                    <a:p>
                      <a:pPr algn="ctr"/>
                      <a:r>
                        <a:rPr sz="1200" b="0" i="0">
                          <a:solidFill>
                            <a:srgbClr val="202B33"/>
                          </a:solidFill>
                          <a:latin typeface="Tahoma"/>
                        </a:rPr>
                        <a:t>1.19 million y⁻¹</a:t>
                      </a:r>
                    </a:p>
                  </a:txBody>
                  <a:tcPr marL="36576" marR="36576" marT="27432" marB="27432" anchor="ctr">
                    <a:solidFill>
                      <a:srgbClr val="FFFFFF"/>
                    </a:solidFill>
                  </a:tcPr>
                </a:tc>
                <a:tc>
                  <a:txBody>
                    <a:bodyPr/>
                    <a:lstStyle/>
                    <a:p>
                      <a:pPr algn="ctr"/>
                      <a:r>
                        <a:rPr sz="1200" b="0" i="0">
                          <a:solidFill>
                            <a:srgbClr val="202B33"/>
                          </a:solidFill>
                          <a:latin typeface="Tahoma"/>
                        </a:rPr>
                        <a:t>Need to reduce crash severity</a:t>
                      </a:r>
                    </a:p>
                  </a:txBody>
                  <a:tcPr marL="36576" marR="36576" marT="27432" marB="27432" anchor="ctr">
                    <a:solidFill>
                      <a:srgbClr val="FFFFFF"/>
                    </a:solidFill>
                  </a:tcPr>
                </a:tc>
                <a:tc>
                  <a:txBody>
                    <a:bodyPr/>
                    <a:lstStyle/>
                    <a:p>
                      <a:pPr algn="ctr"/>
                      <a:r>
                        <a:rPr sz="1200" b="0" i="0">
                          <a:solidFill>
                            <a:srgbClr val="202B33"/>
                          </a:solidFill>
                          <a:latin typeface="Tahoma"/>
                        </a:rPr>
                        <a:t>WHO (2023)</a:t>
                      </a:r>
                    </a:p>
                  </a:txBody>
                  <a:tcPr marL="36576" marR="36576" marT="27432" marB="27432" anchor="ctr">
                    <a:solidFill>
                      <a:srgbClr val="FFFFFF"/>
                    </a:solidFill>
                  </a:tcPr>
                </a:tc>
                <a:extLst>
                  <a:ext uri="{0D108BD9-81ED-4DB2-BD59-A6C34878D82A}">
                    <a16:rowId xmlns:a16="http://schemas.microsoft.com/office/drawing/2014/main" val="10001"/>
                  </a:ext>
                </a:extLst>
              </a:tr>
              <a:tr h="557784">
                <a:tc>
                  <a:txBody>
                    <a:bodyPr/>
                    <a:lstStyle/>
                    <a:p>
                      <a:pPr algn="l"/>
                      <a:r>
                        <a:rPr sz="1200" b="1" i="0">
                          <a:solidFill>
                            <a:srgbClr val="202B33"/>
                          </a:solidFill>
                          <a:latin typeface="Tahoma"/>
                        </a:rPr>
                        <a:t>Sand + gravel use</a:t>
                      </a:r>
                    </a:p>
                  </a:txBody>
                  <a:tcPr marL="36576" marR="36576" marT="27432" marB="27432" anchor="ctr">
                    <a:solidFill>
                      <a:srgbClr val="F8FAFB"/>
                    </a:solidFill>
                  </a:tcPr>
                </a:tc>
                <a:tc>
                  <a:txBody>
                    <a:bodyPr/>
                    <a:lstStyle/>
                    <a:p>
                      <a:pPr algn="ctr"/>
                      <a:r>
                        <a:rPr sz="1200" b="0" i="0">
                          <a:solidFill>
                            <a:srgbClr val="202B33"/>
                          </a:solidFill>
                          <a:latin typeface="Tahoma"/>
                        </a:rPr>
                        <a:t>≈50 Gt y⁻¹</a:t>
                      </a:r>
                    </a:p>
                  </a:txBody>
                  <a:tcPr marL="36576" marR="36576" marT="27432" marB="27432" anchor="ctr">
                    <a:solidFill>
                      <a:srgbClr val="F8FAFB"/>
                    </a:solidFill>
                  </a:tcPr>
                </a:tc>
                <a:tc>
                  <a:txBody>
                    <a:bodyPr/>
                    <a:lstStyle/>
                    <a:p>
                      <a:pPr algn="ctr"/>
                      <a:r>
                        <a:rPr sz="1200" b="0" i="0">
                          <a:solidFill>
                            <a:srgbClr val="202B33"/>
                          </a:solidFill>
                          <a:latin typeface="Tahoma"/>
                        </a:rPr>
                        <a:t>Pressure on natural aggregate</a:t>
                      </a:r>
                    </a:p>
                  </a:txBody>
                  <a:tcPr marL="36576" marR="36576" marT="27432" marB="27432" anchor="ctr">
                    <a:solidFill>
                      <a:srgbClr val="F8FAFB"/>
                    </a:solidFill>
                  </a:tcPr>
                </a:tc>
                <a:tc>
                  <a:txBody>
                    <a:bodyPr/>
                    <a:lstStyle/>
                    <a:p>
                      <a:pPr algn="ctr"/>
                      <a:r>
                        <a:rPr sz="1200" b="0" i="0">
                          <a:solidFill>
                            <a:srgbClr val="202B33"/>
                          </a:solidFill>
                          <a:latin typeface="Tahoma"/>
                        </a:rPr>
                        <a:t>UNEP (2022)</a:t>
                      </a:r>
                    </a:p>
                  </a:txBody>
                  <a:tcPr marL="36576" marR="36576" marT="27432" marB="27432" anchor="ctr">
                    <a:solidFill>
                      <a:srgbClr val="F8FAFB"/>
                    </a:solidFill>
                  </a:tcPr>
                </a:tc>
                <a:extLst>
                  <a:ext uri="{0D108BD9-81ED-4DB2-BD59-A6C34878D82A}">
                    <a16:rowId xmlns:a16="http://schemas.microsoft.com/office/drawing/2014/main" val="10002"/>
                  </a:ext>
                </a:extLst>
              </a:tr>
              <a:tr h="557784">
                <a:tc>
                  <a:txBody>
                    <a:bodyPr/>
                    <a:lstStyle/>
                    <a:p>
                      <a:pPr algn="l"/>
                      <a:r>
                        <a:rPr sz="1200" b="1" i="0">
                          <a:solidFill>
                            <a:srgbClr val="202B33"/>
                          </a:solidFill>
                          <a:latin typeface="Tahoma"/>
                        </a:rPr>
                        <a:t>Cement production</a:t>
                      </a:r>
                    </a:p>
                  </a:txBody>
                  <a:tcPr marL="36576" marR="36576" marT="27432" marB="27432" anchor="ctr">
                    <a:solidFill>
                      <a:srgbClr val="FFFFFF"/>
                    </a:solidFill>
                  </a:tcPr>
                </a:tc>
                <a:tc>
                  <a:txBody>
                    <a:bodyPr/>
                    <a:lstStyle/>
                    <a:p>
                      <a:pPr algn="ctr"/>
                      <a:r>
                        <a:rPr sz="1200" b="0" i="0">
                          <a:solidFill>
                            <a:srgbClr val="202B33"/>
                          </a:solidFill>
                          <a:latin typeface="Tahoma"/>
                        </a:rPr>
                        <a:t>≈4.0 Gt (2024)</a:t>
                      </a:r>
                    </a:p>
                  </a:txBody>
                  <a:tcPr marL="36576" marR="36576" marT="27432" marB="27432" anchor="ctr">
                    <a:solidFill>
                      <a:srgbClr val="FFFFFF"/>
                    </a:solidFill>
                  </a:tcPr>
                </a:tc>
                <a:tc>
                  <a:txBody>
                    <a:bodyPr/>
                    <a:lstStyle/>
                    <a:p>
                      <a:pPr algn="ctr"/>
                      <a:r>
                        <a:rPr sz="1200" b="0" i="0">
                          <a:solidFill>
                            <a:srgbClr val="202B33"/>
                          </a:solidFill>
                          <a:latin typeface="Tahoma"/>
                        </a:rPr>
                        <a:t>Large infrastructure material flow</a:t>
                      </a:r>
                    </a:p>
                  </a:txBody>
                  <a:tcPr marL="36576" marR="36576" marT="27432" marB="27432" anchor="ctr">
                    <a:solidFill>
                      <a:srgbClr val="FFFFFF"/>
                    </a:solidFill>
                  </a:tcPr>
                </a:tc>
                <a:tc>
                  <a:txBody>
                    <a:bodyPr/>
                    <a:lstStyle/>
                    <a:p>
                      <a:pPr algn="ctr"/>
                      <a:r>
                        <a:rPr sz="1200" b="0" i="0">
                          <a:solidFill>
                            <a:srgbClr val="202B33"/>
                          </a:solidFill>
                          <a:latin typeface="Tahoma"/>
                        </a:rPr>
                        <a:t>USGS (2025)</a:t>
                      </a:r>
                    </a:p>
                  </a:txBody>
                  <a:tcPr marL="36576" marR="36576" marT="27432" marB="27432" anchor="ctr">
                    <a:solidFill>
                      <a:srgbClr val="FFFFFF"/>
                    </a:solidFill>
                  </a:tcPr>
                </a:tc>
                <a:extLst>
                  <a:ext uri="{0D108BD9-81ED-4DB2-BD59-A6C34878D82A}">
                    <a16:rowId xmlns:a16="http://schemas.microsoft.com/office/drawing/2014/main" val="10003"/>
                  </a:ext>
                </a:extLst>
              </a:tr>
              <a:tr h="557784">
                <a:tc>
                  <a:txBody>
                    <a:bodyPr/>
                    <a:lstStyle/>
                    <a:p>
                      <a:pPr algn="l"/>
                      <a:r>
                        <a:rPr sz="1200" b="1" i="0">
                          <a:solidFill>
                            <a:srgbClr val="202B33"/>
                          </a:solidFill>
                          <a:latin typeface="Tahoma"/>
                        </a:rPr>
                        <a:t>Cement CO₂ intensity</a:t>
                      </a:r>
                    </a:p>
                  </a:txBody>
                  <a:tcPr marL="36576" marR="36576" marT="27432" marB="27432" anchor="ctr">
                    <a:solidFill>
                      <a:srgbClr val="F8FAFB"/>
                    </a:solidFill>
                  </a:tcPr>
                </a:tc>
                <a:tc>
                  <a:txBody>
                    <a:bodyPr/>
                    <a:lstStyle/>
                    <a:p>
                      <a:pPr algn="ctr"/>
                      <a:r>
                        <a:rPr sz="1200" b="0" i="0">
                          <a:solidFill>
                            <a:srgbClr val="202B33"/>
                          </a:solidFill>
                          <a:latin typeface="Tahoma"/>
                        </a:rPr>
                        <a:t>just under 0.6 t/t</a:t>
                      </a:r>
                    </a:p>
                  </a:txBody>
                  <a:tcPr marL="36576" marR="36576" marT="27432" marB="27432" anchor="ctr">
                    <a:solidFill>
                      <a:srgbClr val="F8FAFB"/>
                    </a:solidFill>
                  </a:tcPr>
                </a:tc>
                <a:tc>
                  <a:txBody>
                    <a:bodyPr/>
                    <a:lstStyle/>
                    <a:p>
                      <a:pPr algn="ctr"/>
                      <a:r>
                        <a:rPr sz="1200" b="0" i="0">
                          <a:solidFill>
                            <a:srgbClr val="202B33"/>
                          </a:solidFill>
                          <a:latin typeface="Tahoma"/>
                        </a:rPr>
                        <a:t>Binder decarbonisation pressure</a:t>
                      </a:r>
                    </a:p>
                  </a:txBody>
                  <a:tcPr marL="36576" marR="36576" marT="27432" marB="27432" anchor="ctr">
                    <a:solidFill>
                      <a:srgbClr val="F8FAFB"/>
                    </a:solidFill>
                  </a:tcPr>
                </a:tc>
                <a:tc>
                  <a:txBody>
                    <a:bodyPr/>
                    <a:lstStyle/>
                    <a:p>
                      <a:pPr algn="ctr"/>
                      <a:r>
                        <a:rPr sz="1200" b="0" i="0">
                          <a:solidFill>
                            <a:srgbClr val="202B33"/>
                          </a:solidFill>
                          <a:latin typeface="Tahoma"/>
                        </a:rPr>
                        <a:t>IEA (2023)</a:t>
                      </a:r>
                    </a:p>
                  </a:txBody>
                  <a:tcPr marL="36576" marR="36576" marT="27432" marB="27432" anchor="ctr">
                    <a:solidFill>
                      <a:srgbClr val="F8FAFB"/>
                    </a:solidFill>
                  </a:tcPr>
                </a:tc>
                <a:extLst>
                  <a:ext uri="{0D108BD9-81ED-4DB2-BD59-A6C34878D82A}">
                    <a16:rowId xmlns:a16="http://schemas.microsoft.com/office/drawing/2014/main" val="10004"/>
                  </a:ext>
                </a:extLst>
              </a:tr>
              <a:tr h="557784">
                <a:tc>
                  <a:txBody>
                    <a:bodyPr/>
                    <a:lstStyle/>
                    <a:p>
                      <a:pPr algn="l"/>
                      <a:r>
                        <a:rPr sz="1200" b="1" i="0">
                          <a:solidFill>
                            <a:srgbClr val="202B33"/>
                          </a:solidFill>
                          <a:latin typeface="Tahoma"/>
                        </a:rPr>
                        <a:t>Coal fly ash</a:t>
                      </a:r>
                    </a:p>
                  </a:txBody>
                  <a:tcPr marL="36576" marR="36576" marT="27432" marB="27432" anchor="ctr">
                    <a:solidFill>
                      <a:srgbClr val="FFFFFF"/>
                    </a:solidFill>
                  </a:tcPr>
                </a:tc>
                <a:tc>
                  <a:txBody>
                    <a:bodyPr/>
                    <a:lstStyle/>
                    <a:p>
                      <a:pPr algn="ctr"/>
                      <a:r>
                        <a:rPr sz="1200" b="0" i="0">
                          <a:solidFill>
                            <a:srgbClr val="202B33"/>
                          </a:solidFill>
                          <a:latin typeface="Tahoma"/>
                        </a:rPr>
                        <a:t>&gt;1 Gt y⁻¹ (order)</a:t>
                      </a:r>
                    </a:p>
                  </a:txBody>
                  <a:tcPr marL="36576" marR="36576" marT="27432" marB="27432" anchor="ctr">
                    <a:solidFill>
                      <a:srgbClr val="FFFFFF"/>
                    </a:solidFill>
                  </a:tcPr>
                </a:tc>
                <a:tc>
                  <a:txBody>
                    <a:bodyPr/>
                    <a:lstStyle/>
                    <a:p>
                      <a:pPr algn="ctr"/>
                      <a:r>
                        <a:rPr sz="1200" b="0" i="0">
                          <a:solidFill>
                            <a:srgbClr val="202B33"/>
                          </a:solidFill>
                          <a:latin typeface="Tahoma"/>
                        </a:rPr>
                        <a:t>Potential circular feedstock</a:t>
                      </a:r>
                    </a:p>
                  </a:txBody>
                  <a:tcPr marL="36576" marR="36576" marT="27432" marB="27432" anchor="ctr">
                    <a:solidFill>
                      <a:srgbClr val="FFFFFF"/>
                    </a:solidFill>
                  </a:tcPr>
                </a:tc>
                <a:tc>
                  <a:txBody>
                    <a:bodyPr/>
                    <a:lstStyle/>
                    <a:p>
                      <a:pPr algn="ctr"/>
                      <a:r>
                        <a:rPr sz="1200" b="0" i="0" dirty="0">
                          <a:solidFill>
                            <a:srgbClr val="202B33"/>
                          </a:solidFill>
                          <a:latin typeface="Tahoma"/>
                        </a:rPr>
                        <a:t>Reid et al. (2020)</a:t>
                      </a:r>
                    </a:p>
                  </a:txBody>
                  <a:tcPr marL="36576" marR="36576"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749808" y="4901184"/>
            <a:ext cx="10698480" cy="457200"/>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5010912"/>
            <a:ext cx="10332720" cy="184666"/>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Tahoma"/>
              </a:rPr>
              <a:t>Research relevance: the proposed barrier material links impact-energy management with reduced self-weight and industrial by-product </a:t>
            </a:r>
            <a:r>
              <a:rPr sz="1200" b="1" i="0" dirty="0" err="1">
                <a:solidFill>
                  <a:srgbClr val="17365D"/>
                </a:solidFill>
                <a:latin typeface="Tahoma"/>
              </a:rPr>
              <a:t>utilisation</a:t>
            </a:r>
            <a:r>
              <a:rPr sz="1200" b="1" i="0" dirty="0">
                <a:solidFill>
                  <a:srgbClr val="17365D"/>
                </a:solidFill>
                <a:latin typeface="Tahoma"/>
              </a:rPr>
              <a:t>.</a:t>
            </a:r>
          </a:p>
        </p:txBody>
      </p:sp>
      <p:sp>
        <p:nvSpPr>
          <p:cNvPr id="17" name="Rectangle 16"/>
          <p:cNvSpPr/>
          <p:nvPr/>
        </p:nvSpPr>
        <p:spPr>
          <a:xfrm>
            <a:off x="749808" y="5449824"/>
            <a:ext cx="10698480" cy="420624"/>
          </a:xfrm>
          <a:prstGeom prst="rect">
            <a:avLst/>
          </a:prstGeom>
          <a:solidFill>
            <a:srgbClr val="FFFFFF"/>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5550408"/>
            <a:ext cx="1033272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Evidence boundary: no product-level LCA or full-scale vehicle crash test has yet been completed.</a:t>
            </a:r>
          </a:p>
        </p:txBody>
      </p:sp>
      <p:sp>
        <p:nvSpPr>
          <p:cNvPr id="19" name="TextBox 18"/>
          <p:cNvSpPr txBox="1"/>
          <p:nvPr/>
        </p:nvSpPr>
        <p:spPr>
          <a:xfrm>
            <a:off x="667512" y="6123678"/>
            <a:ext cx="10881360" cy="153888"/>
          </a:xfrm>
          <a:prstGeom prst="rect">
            <a:avLst/>
          </a:prstGeom>
          <a:noFill/>
        </p:spPr>
        <p:txBody>
          <a:bodyPr wrap="square" lIns="0" tIns="0" rIns="0" bIns="0" anchor="ctr">
            <a:spAutoFit/>
          </a:bodyPr>
          <a:lstStyle/>
          <a:p>
            <a:pPr algn="l">
              <a:lnSpc>
                <a:spcPct val="100000"/>
              </a:lnSpc>
            </a:pPr>
            <a:r>
              <a:rPr sz="1000" b="0" i="0" dirty="0">
                <a:solidFill/>
                <a:latin typeface="Tahoma"/>
              </a:rPr>
              <a:t>Source: WHO (2023), pp. 4, 14; UNEP (2022); USGS MCS—Cement (2025); IEA Cement (2023); Reid, Carpenter &amp; </a:t>
            </a:r>
            <a:r>
              <a:rPr sz="1000" b="0" i="0" dirty="0" err="1">
                <a:solidFill/>
                <a:latin typeface="Tahoma"/>
              </a:rPr>
              <a:t>Masili</a:t>
            </a:r>
            <a:r>
              <a:rPr sz="1000" b="0" i="0" dirty="0">
                <a:solidFill/>
                <a:latin typeface="Tahoma"/>
              </a:rPr>
              <a:t>, IEA CCC/303 (2020).</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Arrow: Pentagon 16">
            <a:extLst>
              <a:ext uri="{FF2B5EF4-FFF2-40B4-BE49-F238E27FC236}">
                <a16:creationId xmlns:a16="http://schemas.microsoft.com/office/drawing/2014/main" id="{307F1956-ACE0-D281-5BE0-1E1840F39D6B}"/>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RESEARCH GAP</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Literature and prior-art synthesis</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04</a:t>
            </a:r>
          </a:p>
        </p:txBody>
      </p:sp>
      <p:graphicFrame>
        <p:nvGraphicFramePr>
          <p:cNvPr id="11" name="Table 10"/>
          <p:cNvGraphicFramePr>
            <a:graphicFrameLocks noGrp="1"/>
          </p:cNvGraphicFramePr>
          <p:nvPr>
            <p:extLst>
              <p:ext uri="{D42A27DB-BD31-4B8C-83A1-F6EECF244321}">
                <p14:modId xmlns:p14="http://schemas.microsoft.com/office/powerpoint/2010/main" val="2456807475"/>
              </p:ext>
            </p:extLst>
          </p:nvPr>
        </p:nvGraphicFramePr>
        <p:xfrm>
          <a:off x="658368" y="1234440"/>
          <a:ext cx="10881357" cy="3456432"/>
        </p:xfrm>
        <a:graphic>
          <a:graphicData uri="http://schemas.openxmlformats.org/drawingml/2006/table">
            <a:tbl>
              <a:tblPr firstRow="1" bandRow="1">
                <a:tableStyleId>{5C22544A-7EE6-4342-B048-85BDC9FD1C3A}</a:tableStyleId>
              </a:tblPr>
              <a:tblGrid>
                <a:gridCol w="1967905">
                  <a:extLst>
                    <a:ext uri="{9D8B030D-6E8A-4147-A177-3AD203B41FA5}">
                      <a16:colId xmlns:a16="http://schemas.microsoft.com/office/drawing/2014/main" val="20000"/>
                    </a:ext>
                  </a:extLst>
                </a:gridCol>
                <a:gridCol w="1562748">
                  <a:extLst>
                    <a:ext uri="{9D8B030D-6E8A-4147-A177-3AD203B41FA5}">
                      <a16:colId xmlns:a16="http://schemas.microsoft.com/office/drawing/2014/main" val="20001"/>
                    </a:ext>
                  </a:extLst>
                </a:gridCol>
                <a:gridCol w="1562748">
                  <a:extLst>
                    <a:ext uri="{9D8B030D-6E8A-4147-A177-3AD203B41FA5}">
                      <a16:colId xmlns:a16="http://schemas.microsoft.com/office/drawing/2014/main" val="20002"/>
                    </a:ext>
                  </a:extLst>
                </a:gridCol>
                <a:gridCol w="1678507">
                  <a:extLst>
                    <a:ext uri="{9D8B030D-6E8A-4147-A177-3AD203B41FA5}">
                      <a16:colId xmlns:a16="http://schemas.microsoft.com/office/drawing/2014/main" val="20003"/>
                    </a:ext>
                  </a:extLst>
                </a:gridCol>
                <a:gridCol w="1678507">
                  <a:extLst>
                    <a:ext uri="{9D8B030D-6E8A-4147-A177-3AD203B41FA5}">
                      <a16:colId xmlns:a16="http://schemas.microsoft.com/office/drawing/2014/main" val="20004"/>
                    </a:ext>
                  </a:extLst>
                </a:gridCol>
                <a:gridCol w="2430942">
                  <a:extLst>
                    <a:ext uri="{9D8B030D-6E8A-4147-A177-3AD203B41FA5}">
                      <a16:colId xmlns:a16="http://schemas.microsoft.com/office/drawing/2014/main" val="20005"/>
                    </a:ext>
                  </a:extLst>
                </a:gridCol>
              </a:tblGrid>
              <a:tr h="493776">
                <a:tc>
                  <a:txBody>
                    <a:bodyPr/>
                    <a:lstStyle/>
                    <a:p>
                      <a:pPr algn="l"/>
                      <a:r>
                        <a:rPr sz="1200" b="1" i="0">
                          <a:solidFill>
                            <a:srgbClr val="FFFFFF"/>
                          </a:solidFill>
                          <a:latin typeface="Tahoma"/>
                        </a:rPr>
                        <a:t>Approach</a:t>
                      </a:r>
                    </a:p>
                  </a:txBody>
                  <a:tcPr marL="36576" marR="36576" marT="27432" marB="27432" anchor="ctr">
                    <a:solidFill>
                      <a:srgbClr val="17365D"/>
                    </a:solidFill>
                  </a:tcPr>
                </a:tc>
                <a:tc>
                  <a:txBody>
                    <a:bodyPr/>
                    <a:lstStyle/>
                    <a:p>
                      <a:pPr algn="ctr"/>
                      <a:r>
                        <a:rPr sz="1200" b="1" i="0">
                          <a:solidFill>
                            <a:srgbClr val="FFFFFF"/>
                          </a:solidFill>
                          <a:latin typeface="Tahoma"/>
                        </a:rPr>
                        <a:t>Containment / strength</a:t>
                      </a:r>
                    </a:p>
                  </a:txBody>
                  <a:tcPr marL="36576" marR="36576" marT="27432" marB="27432" anchor="ctr">
                    <a:solidFill>
                      <a:srgbClr val="17365D"/>
                    </a:solidFill>
                  </a:tcPr>
                </a:tc>
                <a:tc>
                  <a:txBody>
                    <a:bodyPr/>
                    <a:lstStyle/>
                    <a:p>
                      <a:pPr algn="ctr"/>
                      <a:r>
                        <a:rPr sz="1200" b="1" i="0">
                          <a:solidFill>
                            <a:srgbClr val="FFFFFF"/>
                          </a:solidFill>
                          <a:latin typeface="Tahoma"/>
                        </a:rPr>
                        <a:t>Energy dissipation</a:t>
                      </a:r>
                    </a:p>
                  </a:txBody>
                  <a:tcPr marL="36576" marR="36576" marT="27432" marB="27432" anchor="ctr">
                    <a:solidFill>
                      <a:srgbClr val="17365D"/>
                    </a:solidFill>
                  </a:tcPr>
                </a:tc>
                <a:tc>
                  <a:txBody>
                    <a:bodyPr/>
                    <a:lstStyle/>
                    <a:p>
                      <a:pPr algn="ctr"/>
                      <a:r>
                        <a:rPr sz="1200" b="1" i="0">
                          <a:solidFill>
                            <a:srgbClr val="FFFFFF"/>
                          </a:solidFill>
                          <a:latin typeface="Tahoma"/>
                        </a:rPr>
                        <a:t>Damage control</a:t>
                      </a:r>
                    </a:p>
                  </a:txBody>
                  <a:tcPr marL="36576" marR="36576" marT="27432" marB="27432" anchor="ctr">
                    <a:solidFill>
                      <a:srgbClr val="17365D"/>
                    </a:solidFill>
                  </a:tcPr>
                </a:tc>
                <a:tc>
                  <a:txBody>
                    <a:bodyPr/>
                    <a:lstStyle/>
                    <a:p>
                      <a:pPr algn="ctr"/>
                      <a:r>
                        <a:rPr sz="1200" b="1" i="0">
                          <a:solidFill>
                            <a:srgbClr val="FFFFFF"/>
                          </a:solidFill>
                          <a:latin typeface="Tahoma"/>
                        </a:rPr>
                        <a:t>Scale / cost</a:t>
                      </a:r>
                    </a:p>
                  </a:txBody>
                  <a:tcPr marL="36576" marR="36576" marT="27432" marB="27432" anchor="ctr">
                    <a:solidFill>
                      <a:srgbClr val="17365D"/>
                    </a:solidFill>
                  </a:tcPr>
                </a:tc>
                <a:tc>
                  <a:txBody>
                    <a:bodyPr/>
                    <a:lstStyle/>
                    <a:p>
                      <a:pPr algn="ctr"/>
                      <a:r>
                        <a:rPr sz="1200" b="1" i="0">
                          <a:solidFill>
                            <a:srgbClr val="FFFFFF"/>
                          </a:solidFill>
                          <a:latin typeface="Tahoma"/>
                        </a:rPr>
                        <a:t>Residual gap</a:t>
                      </a:r>
                    </a:p>
                  </a:txBody>
                  <a:tcPr marL="36576" marR="36576" marT="27432" marB="27432" anchor="ctr">
                    <a:solidFill>
                      <a:srgbClr val="17365D"/>
                    </a:solidFill>
                  </a:tcPr>
                </a:tc>
                <a:extLst>
                  <a:ext uri="{0D108BD9-81ED-4DB2-BD59-A6C34878D82A}">
                    <a16:rowId xmlns:a16="http://schemas.microsoft.com/office/drawing/2014/main" val="10000"/>
                  </a:ext>
                </a:extLst>
              </a:tr>
              <a:tr h="493776">
                <a:tc>
                  <a:txBody>
                    <a:bodyPr/>
                    <a:lstStyle/>
                    <a:p>
                      <a:pPr algn="l"/>
                      <a:r>
                        <a:rPr sz="1200" b="1" i="0">
                          <a:solidFill>
                            <a:srgbClr val="202B33"/>
                          </a:solidFill>
                          <a:latin typeface="Tahoma"/>
                        </a:rPr>
                        <a:t>Rigid NWC barrier</a:t>
                      </a:r>
                    </a:p>
                  </a:txBody>
                  <a:tcPr marL="36576" marR="36576" marT="27432" marB="27432" anchor="ctr">
                    <a:solidFill>
                      <a:srgbClr val="FFFFFF"/>
                    </a:solidFill>
                  </a:tcPr>
                </a:tc>
                <a:tc>
                  <a:txBody>
                    <a:bodyPr/>
                    <a:lstStyle/>
                    <a:p>
                      <a:pPr algn="ctr"/>
                      <a:r>
                        <a:rPr sz="1200" b="0" i="0">
                          <a:solidFill>
                            <a:srgbClr val="202B33"/>
                          </a:solidFill>
                          <a:latin typeface="Tahoma"/>
                        </a:rPr>
                        <a:t>High</a:t>
                      </a:r>
                    </a:p>
                  </a:txBody>
                  <a:tcPr marL="36576" marR="36576" marT="27432" marB="27432" anchor="ctr">
                    <a:solidFill>
                      <a:srgbClr val="FFFFFF"/>
                    </a:solidFill>
                  </a:tcPr>
                </a:tc>
                <a:tc>
                  <a:txBody>
                    <a:bodyPr/>
                    <a:lstStyle/>
                    <a:p>
                      <a:pPr algn="ctr"/>
                      <a:r>
                        <a:rPr sz="1200" b="0" i="0">
                          <a:solidFill>
                            <a:srgbClr val="202B33"/>
                          </a:solidFill>
                          <a:latin typeface="Tahoma"/>
                        </a:rPr>
                        <a:t>Low–moderate</a:t>
                      </a:r>
                    </a:p>
                  </a:txBody>
                  <a:tcPr marL="36576" marR="36576" marT="27432" marB="27432" anchor="ctr">
                    <a:solidFill>
                      <a:srgbClr val="FFFFFF"/>
                    </a:solidFill>
                  </a:tcPr>
                </a:tc>
                <a:tc>
                  <a:txBody>
                    <a:bodyPr/>
                    <a:lstStyle/>
                    <a:p>
                      <a:pPr algn="ctr"/>
                      <a:r>
                        <a:rPr sz="1200" b="0" i="0">
                          <a:solidFill>
                            <a:srgbClr val="202B33"/>
                          </a:solidFill>
                          <a:latin typeface="Tahoma"/>
                        </a:rPr>
                        <a:t>Brittle / debris risk</a:t>
                      </a:r>
                    </a:p>
                  </a:txBody>
                  <a:tcPr marL="36576" marR="36576" marT="27432" marB="27432" anchor="ctr">
                    <a:solidFill>
                      <a:srgbClr val="FFFFFF"/>
                    </a:solidFill>
                  </a:tcPr>
                </a:tc>
                <a:tc>
                  <a:txBody>
                    <a:bodyPr/>
                    <a:lstStyle/>
                    <a:p>
                      <a:pPr algn="ctr"/>
                      <a:r>
                        <a:rPr sz="1200" b="0" i="0">
                          <a:solidFill>
                            <a:srgbClr val="202B33"/>
                          </a:solidFill>
                          <a:latin typeface="Tahoma"/>
                        </a:rPr>
                        <a:t>Mature</a:t>
                      </a:r>
                    </a:p>
                  </a:txBody>
                  <a:tcPr marL="36576" marR="36576" marT="27432" marB="27432" anchor="ctr">
                    <a:solidFill>
                      <a:srgbClr val="FFFFFF"/>
                    </a:solidFill>
                  </a:tcPr>
                </a:tc>
                <a:tc>
                  <a:txBody>
                    <a:bodyPr/>
                    <a:lstStyle/>
                    <a:p>
                      <a:pPr algn="ctr"/>
                      <a:r>
                        <a:rPr sz="1200" b="0" i="0">
                          <a:solidFill>
                            <a:srgbClr val="202B33"/>
                          </a:solidFill>
                          <a:latin typeface="Tahoma"/>
                        </a:rPr>
                        <a:t>Harsh impact pulse</a:t>
                      </a:r>
                    </a:p>
                  </a:txBody>
                  <a:tcPr marL="36576" marR="36576" marT="27432" marB="27432" anchor="ctr">
                    <a:solidFill>
                      <a:srgbClr val="FFFFFF"/>
                    </a:solidFill>
                  </a:tcPr>
                </a:tc>
                <a:extLst>
                  <a:ext uri="{0D108BD9-81ED-4DB2-BD59-A6C34878D82A}">
                    <a16:rowId xmlns:a16="http://schemas.microsoft.com/office/drawing/2014/main" val="10001"/>
                  </a:ext>
                </a:extLst>
              </a:tr>
              <a:tr h="493776">
                <a:tc>
                  <a:txBody>
                    <a:bodyPr/>
                    <a:lstStyle/>
                    <a:p>
                      <a:pPr algn="l"/>
                      <a:r>
                        <a:rPr sz="1200" b="1" i="0">
                          <a:solidFill>
                            <a:srgbClr val="202B33"/>
                          </a:solidFill>
                          <a:latin typeface="Tahoma"/>
                        </a:rPr>
                        <a:t>Steel / cable</a:t>
                      </a:r>
                    </a:p>
                  </a:txBody>
                  <a:tcPr marL="36576" marR="36576" marT="27432" marB="27432" anchor="ctr">
                    <a:solidFill>
                      <a:srgbClr val="F8FAFB"/>
                    </a:solidFill>
                  </a:tcPr>
                </a:tc>
                <a:tc>
                  <a:txBody>
                    <a:bodyPr/>
                    <a:lstStyle/>
                    <a:p>
                      <a:pPr algn="ctr"/>
                      <a:r>
                        <a:rPr sz="1200" b="0" i="0">
                          <a:solidFill>
                            <a:srgbClr val="202B33"/>
                          </a:solidFill>
                          <a:latin typeface="Tahoma"/>
                        </a:rPr>
                        <a:t>System-dependent</a:t>
                      </a:r>
                    </a:p>
                  </a:txBody>
                  <a:tcPr marL="36576" marR="36576" marT="27432" marB="27432" anchor="ctr">
                    <a:solidFill>
                      <a:srgbClr val="F8FAFB"/>
                    </a:solidFill>
                  </a:tcPr>
                </a:tc>
                <a:tc>
                  <a:txBody>
                    <a:bodyPr/>
                    <a:lstStyle/>
                    <a:p>
                      <a:pPr algn="ctr"/>
                      <a:r>
                        <a:rPr sz="1200" b="0" i="0">
                          <a:solidFill>
                            <a:srgbClr val="202B33"/>
                          </a:solidFill>
                          <a:latin typeface="Tahoma"/>
                        </a:rPr>
                        <a:t>High via deflection</a:t>
                      </a:r>
                    </a:p>
                  </a:txBody>
                  <a:tcPr marL="36576" marR="36576" marT="27432" marB="27432" anchor="ctr">
                    <a:solidFill>
                      <a:srgbClr val="F8FAFB"/>
                    </a:solidFill>
                  </a:tcPr>
                </a:tc>
                <a:tc>
                  <a:txBody>
                    <a:bodyPr/>
                    <a:lstStyle/>
                    <a:p>
                      <a:pPr algn="ctr"/>
                      <a:r>
                        <a:rPr sz="1200" b="0" i="0">
                          <a:solidFill>
                            <a:srgbClr val="202B33"/>
                          </a:solidFill>
                          <a:latin typeface="Tahoma"/>
                        </a:rPr>
                        <a:t>Repair after impact</a:t>
                      </a:r>
                    </a:p>
                  </a:txBody>
                  <a:tcPr marL="36576" marR="36576" marT="27432" marB="27432" anchor="ctr">
                    <a:solidFill>
                      <a:srgbClr val="F8FAFB"/>
                    </a:solidFill>
                  </a:tcPr>
                </a:tc>
                <a:tc>
                  <a:txBody>
                    <a:bodyPr/>
                    <a:lstStyle/>
                    <a:p>
                      <a:pPr algn="ctr"/>
                      <a:r>
                        <a:rPr sz="1200" b="0" i="0">
                          <a:solidFill>
                            <a:srgbClr val="202B33"/>
                          </a:solidFill>
                          <a:latin typeface="Tahoma"/>
                        </a:rPr>
                        <a:t>Corrosion / clear zone</a:t>
                      </a:r>
                    </a:p>
                  </a:txBody>
                  <a:tcPr marL="36576" marR="36576" marT="27432" marB="27432" anchor="ctr">
                    <a:solidFill>
                      <a:srgbClr val="F8FAFB"/>
                    </a:solidFill>
                  </a:tcPr>
                </a:tc>
                <a:tc>
                  <a:txBody>
                    <a:bodyPr/>
                    <a:lstStyle/>
                    <a:p>
                      <a:pPr algn="ctr"/>
                      <a:r>
                        <a:rPr sz="1200" b="0" i="0">
                          <a:solidFill>
                            <a:srgbClr val="202B33"/>
                          </a:solidFill>
                          <a:latin typeface="Tahoma"/>
                        </a:rPr>
                        <a:t>Space + maintenance</a:t>
                      </a:r>
                    </a:p>
                  </a:txBody>
                  <a:tcPr marL="36576" marR="36576" marT="27432" marB="27432" anchor="ctr">
                    <a:solidFill>
                      <a:srgbClr val="F8FAFB"/>
                    </a:solidFill>
                  </a:tcPr>
                </a:tc>
                <a:extLst>
                  <a:ext uri="{0D108BD9-81ED-4DB2-BD59-A6C34878D82A}">
                    <a16:rowId xmlns:a16="http://schemas.microsoft.com/office/drawing/2014/main" val="10002"/>
                  </a:ext>
                </a:extLst>
              </a:tr>
              <a:tr h="493776">
                <a:tc>
                  <a:txBody>
                    <a:bodyPr/>
                    <a:lstStyle/>
                    <a:p>
                      <a:pPr algn="l"/>
                      <a:r>
                        <a:rPr sz="1200" b="1" i="0">
                          <a:solidFill>
                            <a:srgbClr val="202B33"/>
                          </a:solidFill>
                          <a:latin typeface="Tahoma"/>
                        </a:rPr>
                        <a:t>Rubberised + fibre</a:t>
                      </a:r>
                    </a:p>
                  </a:txBody>
                  <a:tcPr marL="36576" marR="36576" marT="27432" marB="27432" anchor="ctr">
                    <a:solidFill>
                      <a:srgbClr val="FFFFFF"/>
                    </a:solidFill>
                  </a:tcPr>
                </a:tc>
                <a:tc>
                  <a:txBody>
                    <a:bodyPr/>
                    <a:lstStyle/>
                    <a:p>
                      <a:pPr algn="ctr"/>
                      <a:r>
                        <a:rPr sz="1200" b="0" i="0">
                          <a:solidFill>
                            <a:srgbClr val="202B33"/>
                          </a:solidFill>
                          <a:latin typeface="Tahoma"/>
                        </a:rPr>
                        <a:t>Strength trade-off</a:t>
                      </a:r>
                    </a:p>
                  </a:txBody>
                  <a:tcPr marL="36576" marR="36576" marT="27432" marB="27432" anchor="ctr">
                    <a:solidFill>
                      <a:srgbClr val="FFFFFF"/>
                    </a:solidFill>
                  </a:tcPr>
                </a:tc>
                <a:tc>
                  <a:txBody>
                    <a:bodyPr/>
                    <a:lstStyle/>
                    <a:p>
                      <a:pPr algn="ctr"/>
                      <a:r>
                        <a:rPr sz="1200" b="0" i="0">
                          <a:solidFill>
                            <a:srgbClr val="202B33"/>
                          </a:solidFill>
                          <a:latin typeface="Tahoma"/>
                        </a:rPr>
                        <a:t>Improved</a:t>
                      </a:r>
                    </a:p>
                  </a:txBody>
                  <a:tcPr marL="36576" marR="36576" marT="27432" marB="27432" anchor="ctr">
                    <a:solidFill>
                      <a:srgbClr val="FFFFFF"/>
                    </a:solidFill>
                  </a:tcPr>
                </a:tc>
                <a:tc>
                  <a:txBody>
                    <a:bodyPr/>
                    <a:lstStyle/>
                    <a:p>
                      <a:pPr algn="ctr"/>
                      <a:r>
                        <a:rPr sz="1200" b="0" i="0">
                          <a:solidFill>
                            <a:srgbClr val="202B33"/>
                          </a:solidFill>
                          <a:latin typeface="Tahoma"/>
                        </a:rPr>
                        <a:t>Improved</a:t>
                      </a:r>
                    </a:p>
                  </a:txBody>
                  <a:tcPr marL="36576" marR="36576" marT="27432" marB="27432" anchor="ctr">
                    <a:solidFill>
                      <a:srgbClr val="FFFFFF"/>
                    </a:solidFill>
                  </a:tcPr>
                </a:tc>
                <a:tc>
                  <a:txBody>
                    <a:bodyPr/>
                    <a:lstStyle/>
                    <a:p>
                      <a:pPr algn="ctr"/>
                      <a:r>
                        <a:rPr sz="1200" b="0" i="0">
                          <a:solidFill>
                            <a:srgbClr val="202B33"/>
                          </a:solidFill>
                          <a:latin typeface="Tahoma"/>
                        </a:rPr>
                        <a:t>Processing complexity</a:t>
                      </a:r>
                    </a:p>
                  </a:txBody>
                  <a:tcPr marL="36576" marR="36576" marT="27432" marB="27432" anchor="ctr">
                    <a:solidFill>
                      <a:srgbClr val="FFFFFF"/>
                    </a:solidFill>
                  </a:tcPr>
                </a:tc>
                <a:tc>
                  <a:txBody>
                    <a:bodyPr/>
                    <a:lstStyle/>
                    <a:p>
                      <a:pPr algn="ctr"/>
                      <a:r>
                        <a:rPr sz="1200" b="0" i="0">
                          <a:solidFill>
                            <a:srgbClr val="202B33"/>
                          </a:solidFill>
                          <a:latin typeface="Tahoma"/>
                        </a:rPr>
                        <a:t>Durability / scale</a:t>
                      </a:r>
                    </a:p>
                  </a:txBody>
                  <a:tcPr marL="36576" marR="36576" marT="27432" marB="27432" anchor="ctr">
                    <a:solidFill>
                      <a:srgbClr val="FFFFFF"/>
                    </a:solidFill>
                  </a:tcPr>
                </a:tc>
                <a:extLst>
                  <a:ext uri="{0D108BD9-81ED-4DB2-BD59-A6C34878D82A}">
                    <a16:rowId xmlns:a16="http://schemas.microsoft.com/office/drawing/2014/main" val="10003"/>
                  </a:ext>
                </a:extLst>
              </a:tr>
              <a:tr h="493776">
                <a:tc>
                  <a:txBody>
                    <a:bodyPr/>
                    <a:lstStyle/>
                    <a:p>
                      <a:pPr algn="l"/>
                      <a:r>
                        <a:rPr sz="1200" b="1" i="0">
                          <a:solidFill>
                            <a:srgbClr val="202B33"/>
                          </a:solidFill>
                          <a:latin typeface="Tahoma"/>
                        </a:rPr>
                        <a:t>UHPC / ECC</a:t>
                      </a:r>
                    </a:p>
                  </a:txBody>
                  <a:tcPr marL="36576" marR="36576" marT="27432" marB="27432" anchor="ctr">
                    <a:solidFill>
                      <a:srgbClr val="F8FAFB"/>
                    </a:solidFill>
                  </a:tcPr>
                </a:tc>
                <a:tc>
                  <a:txBody>
                    <a:bodyPr/>
                    <a:lstStyle/>
                    <a:p>
                      <a:pPr algn="ctr"/>
                      <a:r>
                        <a:rPr sz="1200" b="0" i="0">
                          <a:solidFill>
                            <a:srgbClr val="202B33"/>
                          </a:solidFill>
                          <a:latin typeface="Tahoma"/>
                        </a:rPr>
                        <a:t>Very high</a:t>
                      </a:r>
                    </a:p>
                  </a:txBody>
                  <a:tcPr marL="36576" marR="36576" marT="27432" marB="27432" anchor="ctr">
                    <a:solidFill>
                      <a:srgbClr val="F8FAFB"/>
                    </a:solidFill>
                  </a:tcPr>
                </a:tc>
                <a:tc>
                  <a:txBody>
                    <a:bodyPr/>
                    <a:lstStyle/>
                    <a:p>
                      <a:pPr algn="ctr"/>
                      <a:r>
                        <a:rPr sz="1200" b="0" i="0">
                          <a:solidFill>
                            <a:srgbClr val="202B33"/>
                          </a:solidFill>
                          <a:latin typeface="Tahoma"/>
                        </a:rPr>
                        <a:t>Mix-dependent</a:t>
                      </a:r>
                    </a:p>
                  </a:txBody>
                  <a:tcPr marL="36576" marR="36576" marT="27432" marB="27432" anchor="ctr">
                    <a:solidFill>
                      <a:srgbClr val="F8FAFB"/>
                    </a:solidFill>
                  </a:tcPr>
                </a:tc>
                <a:tc>
                  <a:txBody>
                    <a:bodyPr/>
                    <a:lstStyle/>
                    <a:p>
                      <a:pPr algn="ctr"/>
                      <a:r>
                        <a:rPr sz="1200" b="0" i="0">
                          <a:solidFill>
                            <a:srgbClr val="202B33"/>
                          </a:solidFill>
                          <a:latin typeface="Tahoma"/>
                        </a:rPr>
                        <a:t>Good crack control</a:t>
                      </a:r>
                    </a:p>
                  </a:txBody>
                  <a:tcPr marL="36576" marR="36576" marT="27432" marB="27432" anchor="ctr">
                    <a:solidFill>
                      <a:srgbClr val="F8FAFB"/>
                    </a:solidFill>
                  </a:tcPr>
                </a:tc>
                <a:tc>
                  <a:txBody>
                    <a:bodyPr/>
                    <a:lstStyle/>
                    <a:p>
                      <a:pPr algn="ctr"/>
                      <a:r>
                        <a:rPr sz="1200" b="0" i="0">
                          <a:solidFill>
                            <a:srgbClr val="202B33"/>
                          </a:solidFill>
                          <a:latin typeface="Tahoma"/>
                        </a:rPr>
                        <a:t>High material cost</a:t>
                      </a:r>
                    </a:p>
                  </a:txBody>
                  <a:tcPr marL="36576" marR="36576" marT="27432" marB="27432" anchor="ctr">
                    <a:solidFill>
                      <a:srgbClr val="F8FAFB"/>
                    </a:solidFill>
                  </a:tcPr>
                </a:tc>
                <a:tc>
                  <a:txBody>
                    <a:bodyPr/>
                    <a:lstStyle/>
                    <a:p>
                      <a:pPr algn="ctr"/>
                      <a:r>
                        <a:rPr sz="1200" b="0" i="0">
                          <a:solidFill>
                            <a:srgbClr val="202B33"/>
                          </a:solidFill>
                          <a:latin typeface="Tahoma"/>
                        </a:rPr>
                        <a:t>Stiffness / economics</a:t>
                      </a:r>
                    </a:p>
                  </a:txBody>
                  <a:tcPr marL="36576" marR="36576" marT="27432" marB="27432" anchor="ctr">
                    <a:solidFill>
                      <a:srgbClr val="F8FAFB"/>
                    </a:solidFill>
                  </a:tcPr>
                </a:tc>
                <a:extLst>
                  <a:ext uri="{0D108BD9-81ED-4DB2-BD59-A6C34878D82A}">
                    <a16:rowId xmlns:a16="http://schemas.microsoft.com/office/drawing/2014/main" val="10004"/>
                  </a:ext>
                </a:extLst>
              </a:tr>
              <a:tr h="493776">
                <a:tc>
                  <a:txBody>
                    <a:bodyPr/>
                    <a:lstStyle/>
                    <a:p>
                      <a:pPr algn="l"/>
                      <a:r>
                        <a:rPr sz="1200" b="1" i="0">
                          <a:solidFill>
                            <a:srgbClr val="202B33"/>
                          </a:solidFill>
                          <a:latin typeface="Tahoma"/>
                        </a:rPr>
                        <a:t>Lightweight barrier concepts</a:t>
                      </a:r>
                    </a:p>
                  </a:txBody>
                  <a:tcPr marL="36576" marR="36576" marT="27432" marB="27432" anchor="ctr">
                    <a:solidFill>
                      <a:srgbClr val="FFFFFF"/>
                    </a:solidFill>
                  </a:tcPr>
                </a:tc>
                <a:tc>
                  <a:txBody>
                    <a:bodyPr/>
                    <a:lstStyle/>
                    <a:p>
                      <a:pPr algn="ctr"/>
                      <a:r>
                        <a:rPr sz="1200" b="0" i="0">
                          <a:solidFill>
                            <a:srgbClr val="202B33"/>
                          </a:solidFill>
                          <a:latin typeface="Tahoma"/>
                        </a:rPr>
                        <a:t>Demonstrated in prior art</a:t>
                      </a:r>
                    </a:p>
                  </a:txBody>
                  <a:tcPr marL="36576" marR="36576" marT="27432" marB="27432" anchor="ctr">
                    <a:solidFill>
                      <a:srgbClr val="FFFFFF"/>
                    </a:solidFill>
                  </a:tcPr>
                </a:tc>
                <a:tc>
                  <a:txBody>
                    <a:bodyPr/>
                    <a:lstStyle/>
                    <a:p>
                      <a:pPr algn="ctr"/>
                      <a:r>
                        <a:rPr sz="1200" b="0" i="0">
                          <a:solidFill>
                            <a:srgbClr val="202B33"/>
                          </a:solidFill>
                          <a:latin typeface="Tahoma"/>
                        </a:rPr>
                        <a:t>Potential</a:t>
                      </a:r>
                    </a:p>
                  </a:txBody>
                  <a:tcPr marL="36576" marR="36576" marT="27432" marB="27432" anchor="ctr">
                    <a:solidFill>
                      <a:srgbClr val="FFFFFF"/>
                    </a:solidFill>
                  </a:tcPr>
                </a:tc>
                <a:tc>
                  <a:txBody>
                    <a:bodyPr/>
                    <a:lstStyle/>
                    <a:p>
                      <a:pPr algn="ctr"/>
                      <a:r>
                        <a:rPr sz="1200" b="0" i="0">
                          <a:solidFill>
                            <a:srgbClr val="202B33"/>
                          </a:solidFill>
                          <a:latin typeface="Tahoma"/>
                        </a:rPr>
                        <a:t>Design-specific</a:t>
                      </a:r>
                    </a:p>
                  </a:txBody>
                  <a:tcPr marL="36576" marR="36576" marT="27432" marB="27432" anchor="ctr">
                    <a:solidFill>
                      <a:srgbClr val="FFFFFF"/>
                    </a:solidFill>
                  </a:tcPr>
                </a:tc>
                <a:tc>
                  <a:txBody>
                    <a:bodyPr/>
                    <a:lstStyle/>
                    <a:p>
                      <a:pPr algn="ctr"/>
                      <a:r>
                        <a:rPr sz="1200" b="0" i="0">
                          <a:solidFill>
                            <a:srgbClr val="202B33"/>
                          </a:solidFill>
                          <a:latin typeface="Tahoma"/>
                        </a:rPr>
                        <a:t>Limited adoption</a:t>
                      </a:r>
                    </a:p>
                  </a:txBody>
                  <a:tcPr marL="36576" marR="36576" marT="27432" marB="27432" anchor="ctr">
                    <a:solidFill>
                      <a:srgbClr val="FFFFFF"/>
                    </a:solidFill>
                  </a:tcPr>
                </a:tc>
                <a:tc>
                  <a:txBody>
                    <a:bodyPr/>
                    <a:lstStyle/>
                    <a:p>
                      <a:pPr algn="ctr"/>
                      <a:r>
                        <a:rPr sz="1200" b="0" i="0">
                          <a:solidFill>
                            <a:srgbClr val="202B33"/>
                          </a:solidFill>
                          <a:latin typeface="Tahoma"/>
                        </a:rPr>
                        <a:t>No SFA–fibre proof set</a:t>
                      </a:r>
                    </a:p>
                  </a:txBody>
                  <a:tcPr marL="36576" marR="36576" marT="27432" marB="27432" anchor="ctr">
                    <a:solidFill>
                      <a:srgbClr val="FFFFFF"/>
                    </a:solidFill>
                  </a:tcPr>
                </a:tc>
                <a:extLst>
                  <a:ext uri="{0D108BD9-81ED-4DB2-BD59-A6C34878D82A}">
                    <a16:rowId xmlns:a16="http://schemas.microsoft.com/office/drawing/2014/main" val="10005"/>
                  </a:ext>
                </a:extLst>
              </a:tr>
              <a:tr h="493776">
                <a:tc>
                  <a:txBody>
                    <a:bodyPr/>
                    <a:lstStyle/>
                    <a:p>
                      <a:pPr algn="l"/>
                      <a:r>
                        <a:rPr sz="1200" b="1" i="0">
                          <a:solidFill>
                            <a:srgbClr val="202B33"/>
                          </a:solidFill>
                          <a:latin typeface="Tahoma"/>
                        </a:rPr>
                        <a:t>This invention</a:t>
                      </a:r>
                    </a:p>
                  </a:txBody>
                  <a:tcPr marL="36576" marR="36576" marT="27432" marB="27432" anchor="ctr">
                    <a:solidFill>
                      <a:srgbClr val="EAF2F3"/>
                    </a:solidFill>
                  </a:tcPr>
                </a:tc>
                <a:tc>
                  <a:txBody>
                    <a:bodyPr/>
                    <a:lstStyle/>
                    <a:p>
                      <a:pPr algn="ctr"/>
                      <a:r>
                        <a:rPr sz="1200" b="0" i="0">
                          <a:solidFill>
                            <a:srgbClr val="202B33"/>
                          </a:solidFill>
                          <a:latin typeface="Tahoma"/>
                        </a:rPr>
                        <a:t>M40+ in tested mixes</a:t>
                      </a:r>
                    </a:p>
                  </a:txBody>
                  <a:tcPr marL="36576" marR="36576" marT="27432" marB="27432" anchor="ctr">
                    <a:solidFill>
                      <a:srgbClr val="EAF2F3"/>
                    </a:solidFill>
                  </a:tcPr>
                </a:tc>
                <a:tc>
                  <a:txBody>
                    <a:bodyPr/>
                    <a:lstStyle/>
                    <a:p>
                      <a:pPr algn="ctr"/>
                      <a:r>
                        <a:rPr sz="1200" b="0" i="0">
                          <a:solidFill>
                            <a:srgbClr val="202B33"/>
                          </a:solidFill>
                          <a:latin typeface="Tahoma"/>
                        </a:rPr>
                        <a:t>High in repeated impact</a:t>
                      </a:r>
                    </a:p>
                  </a:txBody>
                  <a:tcPr marL="36576" marR="36576" marT="27432" marB="27432" anchor="ctr">
                    <a:solidFill>
                      <a:srgbClr val="EAF2F3"/>
                    </a:solidFill>
                  </a:tcPr>
                </a:tc>
                <a:tc>
                  <a:txBody>
                    <a:bodyPr/>
                    <a:lstStyle/>
                    <a:p>
                      <a:pPr algn="ctr"/>
                      <a:r>
                        <a:rPr sz="1200" b="0" i="0">
                          <a:solidFill>
                            <a:srgbClr val="202B33"/>
                          </a:solidFill>
                          <a:latin typeface="Tahoma"/>
                        </a:rPr>
                        <a:t>Controlled cracking observed</a:t>
                      </a:r>
                    </a:p>
                  </a:txBody>
                  <a:tcPr marL="36576" marR="36576" marT="27432" marB="27432" anchor="ctr">
                    <a:solidFill>
                      <a:srgbClr val="EAF2F3"/>
                    </a:solidFill>
                  </a:tcPr>
                </a:tc>
                <a:tc>
                  <a:txBody>
                    <a:bodyPr/>
                    <a:lstStyle/>
                    <a:p>
                      <a:pPr algn="ctr"/>
                      <a:r>
                        <a:rPr sz="1200" b="0" i="0">
                          <a:solidFill>
                            <a:srgbClr val="202B33"/>
                          </a:solidFill>
                          <a:latin typeface="Tahoma"/>
                        </a:rPr>
                        <a:t>Precast-compatible</a:t>
                      </a:r>
                    </a:p>
                  </a:txBody>
                  <a:tcPr marL="36576" marR="36576" marT="27432" marB="27432" anchor="ctr">
                    <a:solidFill>
                      <a:srgbClr val="EAF2F3"/>
                    </a:solidFill>
                  </a:tcPr>
                </a:tc>
                <a:tc>
                  <a:txBody>
                    <a:bodyPr/>
                    <a:lstStyle/>
                    <a:p>
                      <a:pPr algn="ctr"/>
                      <a:r>
                        <a:rPr sz="1200" b="0" i="0" dirty="0">
                          <a:solidFill>
                            <a:srgbClr val="202B33"/>
                          </a:solidFill>
                          <a:latin typeface="Tahoma"/>
                        </a:rPr>
                        <a:t>Full-scale proof pending</a:t>
                      </a:r>
                    </a:p>
                  </a:txBody>
                  <a:tcPr marL="36576" marR="36576" marT="27432" marB="27432" anchor="ctr">
                    <a:solidFill>
                      <a:srgbClr val="EAF2F3"/>
                    </a:solidFill>
                  </a:tcPr>
                </a:tc>
                <a:extLst>
                  <a:ext uri="{0D108BD9-81ED-4DB2-BD59-A6C34878D82A}">
                    <a16:rowId xmlns:a16="http://schemas.microsoft.com/office/drawing/2014/main" val="10006"/>
                  </a:ext>
                </a:extLst>
              </a:tr>
            </a:tbl>
          </a:graphicData>
        </a:graphic>
      </p:graphicFrame>
      <p:sp>
        <p:nvSpPr>
          <p:cNvPr id="12" name="Rectangle 11"/>
          <p:cNvSpPr/>
          <p:nvPr/>
        </p:nvSpPr>
        <p:spPr>
          <a:xfrm>
            <a:off x="667512" y="4974336"/>
            <a:ext cx="10863072" cy="868680"/>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6066" y="5279880"/>
            <a:ext cx="1920240" cy="184666"/>
          </a:xfrm>
          <a:prstGeom prst="rect">
            <a:avLst/>
          </a:prstGeom>
          <a:noFill/>
        </p:spPr>
        <p:txBody>
          <a:bodyPr wrap="square" lIns="0" tIns="0" rIns="0" bIns="0" anchor="t">
            <a:spAutoFit/>
          </a:bodyPr>
          <a:lstStyle/>
          <a:p>
            <a:pPr algn="l">
              <a:lnSpc>
                <a:spcPct val="100000"/>
              </a:lnSpc>
            </a:pPr>
            <a:r>
              <a:rPr sz="1200" b="1" i="0" dirty="0">
                <a:solidFill>
                  <a:srgbClr val="2E6F9E"/>
                </a:solidFill>
                <a:latin typeface="Tahoma"/>
              </a:rPr>
              <a:t>PATENT POSITIONING</a:t>
            </a:r>
          </a:p>
        </p:txBody>
      </p:sp>
      <p:sp>
        <p:nvSpPr>
          <p:cNvPr id="14" name="TextBox 13"/>
          <p:cNvSpPr txBox="1"/>
          <p:nvPr/>
        </p:nvSpPr>
        <p:spPr>
          <a:xfrm>
            <a:off x="2724912" y="5124348"/>
            <a:ext cx="8485632" cy="553998"/>
          </a:xfrm>
          <a:prstGeom prst="rect">
            <a:avLst/>
          </a:prstGeom>
          <a:noFill/>
        </p:spPr>
        <p:txBody>
          <a:bodyPr wrap="square" lIns="0" tIns="0" rIns="0" bIns="0" anchor="t">
            <a:spAutoFit/>
          </a:bodyPr>
          <a:lstStyle/>
          <a:p>
            <a:pPr algn="l">
              <a:lnSpc>
                <a:spcPct val="100000"/>
              </a:lnSpc>
            </a:pPr>
            <a:r>
              <a:rPr sz="1200" b="1" i="0" dirty="0">
                <a:solidFill>
                  <a:srgbClr val="202B33"/>
                </a:solidFill>
                <a:latin typeface="Tahoma"/>
              </a:rPr>
              <a:t>Avoid a broad “first lightweight concrete barrier” assertion: </a:t>
            </a:r>
            <a:r>
              <a:rPr lang="en-US" sz="1200" b="1" dirty="0">
                <a:solidFill>
                  <a:srgbClr val="202B33"/>
                </a:solidFill>
                <a:latin typeface="Tahoma"/>
              </a:rPr>
              <a:t>L</a:t>
            </a:r>
            <a:r>
              <a:rPr sz="1200" b="1" i="0" dirty="0">
                <a:solidFill>
                  <a:srgbClr val="202B33"/>
                </a:solidFill>
                <a:latin typeface="Tahoma"/>
              </a:rPr>
              <a:t>ightweight</a:t>
            </a:r>
            <a:r>
              <a:rPr lang="en-US" sz="1200" b="1" i="0" dirty="0">
                <a:solidFill>
                  <a:srgbClr val="202B33"/>
                </a:solidFill>
                <a:latin typeface="Tahoma"/>
              </a:rPr>
              <a:t> </a:t>
            </a:r>
            <a:r>
              <a:rPr sz="1200" b="1" i="0" dirty="0">
                <a:solidFill>
                  <a:srgbClr val="202B33"/>
                </a:solidFill>
                <a:latin typeface="Tahoma"/>
              </a:rPr>
              <a:t>concrete barrier concepts appear in conference literature. Centre novelty on the specific integrated composition, SFA function, hooked-</a:t>
            </a:r>
            <a:r>
              <a:rPr sz="1200" b="1" i="0" dirty="0" err="1">
                <a:solidFill>
                  <a:srgbClr val="202B33"/>
                </a:solidFill>
                <a:latin typeface="Tahoma"/>
              </a:rPr>
              <a:t>fibre</a:t>
            </a:r>
            <a:r>
              <a:rPr sz="1200" b="1" i="0" dirty="0">
                <a:solidFill>
                  <a:srgbClr val="202B33"/>
                </a:solidFill>
                <a:latin typeface="Tahoma"/>
              </a:rPr>
              <a:t> crack control, quantified synergy and manufacturing/control envelope.</a:t>
            </a:r>
          </a:p>
        </p:txBody>
      </p:sp>
      <p:sp>
        <p:nvSpPr>
          <p:cNvPr id="15" name="TextBox 14"/>
          <p:cNvSpPr txBox="1"/>
          <p:nvPr/>
        </p:nvSpPr>
        <p:spPr>
          <a:xfrm>
            <a:off x="667512" y="6070541"/>
            <a:ext cx="10835640" cy="307777"/>
          </a:xfrm>
          <a:prstGeom prst="rect">
            <a:avLst/>
          </a:prstGeom>
          <a:noFill/>
        </p:spPr>
        <p:txBody>
          <a:bodyPr wrap="square" lIns="0" tIns="0" rIns="0" bIns="0" anchor="ctr">
            <a:spAutoFit/>
          </a:bodyPr>
          <a:lstStyle/>
          <a:p>
            <a:pPr algn="l">
              <a:lnSpc>
                <a:spcPct val="100000"/>
              </a:lnSpc>
            </a:pPr>
            <a:r>
              <a:rPr sz="1000" b="0" i="0" dirty="0">
                <a:solidFill/>
                <a:latin typeface="Tahoma"/>
              </a:rPr>
              <a:t>Source: Zain &amp; Mohammed (2015); Raj et al. (2020), ASCE J. Mater. Civ. Eng.; Shen et al. (2014), Constr. Build. Mater.; Bonin et al. (2004), II Int’l Congress SIIV proceedings; </a:t>
            </a:r>
            <a:r>
              <a:rPr sz="1000" b="0" i="0" dirty="0" err="1">
                <a:solidFill/>
                <a:latin typeface="Tahoma"/>
              </a:rPr>
              <a:t>Grzebieta</a:t>
            </a:r>
            <a:r>
              <a:rPr sz="1000" b="0" i="0" dirty="0">
                <a:solidFill/>
                <a:latin typeface="Tahoma"/>
              </a:rPr>
              <a:t> et al. (2005), 19th ESV Conference proceedings; Xue et al. (2025).</a:t>
            </a:r>
          </a:p>
        </p:txBody>
      </p:sp>
      <p:pic>
        <p:nvPicPr>
          <p:cNvPr id="18" name="Picture 17" descr="row_pulse.gif"/>
          <p:cNvPicPr>
            <a:picLocks noChangeAspect="1"/>
          </p:cNvPicPr>
          <p:nvPr/>
        </p:nvPicPr>
        <p:blipFill>
          <a:blip r:embed="rId4"/>
          <a:stretch>
            <a:fillRect/>
          </a:stretch>
        </p:blipFill>
        <p:spPr>
          <a:xfrm>
            <a:off x="603504" y="4142232"/>
            <a:ext cx="10991088" cy="603504"/>
          </a:xfrm>
          <a:prstGeom prst="rect">
            <a:avLst/>
          </a:prstGeom>
        </p:spPr>
      </p:pic>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id="{06893F51-39CB-B1AE-73E4-A974F32831AD}"/>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TECHNICAL CONCEPT</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Mechanistic hypothesis and invention architecture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05</a:t>
            </a:r>
          </a:p>
        </p:txBody>
      </p:sp>
      <p:graphicFrame>
        <p:nvGraphicFramePr>
          <p:cNvPr id="11" name="Table 10"/>
          <p:cNvGraphicFramePr>
            <a:graphicFrameLocks noGrp="1"/>
          </p:cNvGraphicFramePr>
          <p:nvPr>
            <p:extLst>
              <p:ext uri="{D42A27DB-BD31-4B8C-83A1-F6EECF244321}">
                <p14:modId xmlns:p14="http://schemas.microsoft.com/office/powerpoint/2010/main" val="1673608871"/>
              </p:ext>
            </p:extLst>
          </p:nvPr>
        </p:nvGraphicFramePr>
        <p:xfrm>
          <a:off x="658368" y="1225296"/>
          <a:ext cx="10863071" cy="2322576"/>
        </p:xfrm>
        <a:graphic>
          <a:graphicData uri="http://schemas.openxmlformats.org/drawingml/2006/table">
            <a:tbl>
              <a:tblPr firstRow="1" bandRow="1">
                <a:tableStyleId>{5C22544A-7EE6-4342-B048-85BDC9FD1C3A}</a:tableStyleId>
              </a:tblPr>
              <a:tblGrid>
                <a:gridCol w="2878714">
                  <a:extLst>
                    <a:ext uri="{9D8B030D-6E8A-4147-A177-3AD203B41FA5}">
                      <a16:colId xmlns:a16="http://schemas.microsoft.com/office/drawing/2014/main" val="20000"/>
                    </a:ext>
                  </a:extLst>
                </a:gridCol>
                <a:gridCol w="3530498">
                  <a:extLst>
                    <a:ext uri="{9D8B030D-6E8A-4147-A177-3AD203B41FA5}">
                      <a16:colId xmlns:a16="http://schemas.microsoft.com/office/drawing/2014/main" val="20001"/>
                    </a:ext>
                  </a:extLst>
                </a:gridCol>
                <a:gridCol w="4453859">
                  <a:extLst>
                    <a:ext uri="{9D8B030D-6E8A-4147-A177-3AD203B41FA5}">
                      <a16:colId xmlns:a16="http://schemas.microsoft.com/office/drawing/2014/main" val="20002"/>
                    </a:ext>
                  </a:extLst>
                </a:gridCol>
              </a:tblGrid>
              <a:tr h="580644">
                <a:tc>
                  <a:txBody>
                    <a:bodyPr/>
                    <a:lstStyle/>
                    <a:p>
                      <a:pPr algn="l"/>
                      <a:r>
                        <a:rPr sz="1200" b="1" i="0">
                          <a:solidFill>
                            <a:srgbClr val="FFFFFF"/>
                          </a:solidFill>
                          <a:latin typeface="Tahoma"/>
                        </a:rPr>
                        <a:t>Material feature</a:t>
                      </a:r>
                    </a:p>
                  </a:txBody>
                  <a:tcPr marL="36576" marR="36576" marT="27432" marB="27432" anchor="ctr">
                    <a:solidFill>
                      <a:srgbClr val="17365D"/>
                    </a:solidFill>
                  </a:tcPr>
                </a:tc>
                <a:tc>
                  <a:txBody>
                    <a:bodyPr/>
                    <a:lstStyle/>
                    <a:p>
                      <a:pPr algn="ctr"/>
                      <a:r>
                        <a:rPr sz="1200" b="1" i="0">
                          <a:solidFill>
                            <a:srgbClr val="FFFFFF"/>
                          </a:solidFill>
                          <a:latin typeface="Tahoma"/>
                        </a:rPr>
                        <a:t>Micromechanical process</a:t>
                      </a:r>
                    </a:p>
                  </a:txBody>
                  <a:tcPr marL="36576" marR="36576" marT="27432" marB="27432" anchor="ctr">
                    <a:solidFill>
                      <a:srgbClr val="17365D"/>
                    </a:solidFill>
                  </a:tcPr>
                </a:tc>
                <a:tc>
                  <a:txBody>
                    <a:bodyPr/>
                    <a:lstStyle/>
                    <a:p>
                      <a:pPr algn="ctr"/>
                      <a:r>
                        <a:rPr sz="1200" b="1" i="0">
                          <a:solidFill>
                            <a:srgbClr val="FFFFFF"/>
                          </a:solidFill>
                          <a:latin typeface="Tahoma"/>
                        </a:rPr>
                        <a:t>Expected engineering consequence</a:t>
                      </a:r>
                    </a:p>
                  </a:txBody>
                  <a:tcPr marL="36576" marR="36576" marT="27432" marB="27432" anchor="ctr">
                    <a:solidFill>
                      <a:srgbClr val="17365D"/>
                    </a:solidFill>
                  </a:tcPr>
                </a:tc>
                <a:extLst>
                  <a:ext uri="{0D108BD9-81ED-4DB2-BD59-A6C34878D82A}">
                    <a16:rowId xmlns:a16="http://schemas.microsoft.com/office/drawing/2014/main" val="10000"/>
                  </a:ext>
                </a:extLst>
              </a:tr>
              <a:tr h="580644">
                <a:tc>
                  <a:txBody>
                    <a:bodyPr/>
                    <a:lstStyle/>
                    <a:p>
                      <a:pPr algn="l"/>
                      <a:r>
                        <a:rPr sz="1400" b="1" i="0">
                          <a:solidFill>
                            <a:srgbClr val="202B33"/>
                          </a:solidFill>
                          <a:latin typeface="Tahoma"/>
                        </a:rPr>
                        <a:t>Sintered fly-ash lightweight aggregate</a:t>
                      </a:r>
                    </a:p>
                  </a:txBody>
                  <a:tcPr marL="36576" marR="36576" marT="27432" marB="27432" anchor="ctr">
                    <a:solidFill>
                      <a:srgbClr val="EAF1F6"/>
                    </a:solidFill>
                  </a:tcPr>
                </a:tc>
                <a:tc>
                  <a:txBody>
                    <a:bodyPr/>
                    <a:lstStyle/>
                    <a:p>
                      <a:pPr algn="ctr"/>
                      <a:r>
                        <a:rPr sz="1400" b="0" i="0">
                          <a:solidFill>
                            <a:srgbClr val="202B33"/>
                          </a:solidFill>
                          <a:latin typeface="Tahoma"/>
                        </a:rPr>
                        <a:t>Local particle crushing; pore collapse; internal damping</a:t>
                      </a:r>
                    </a:p>
                  </a:txBody>
                  <a:tcPr marL="36576" marR="36576" marT="27432" marB="27432" anchor="ctr">
                    <a:solidFill>
                      <a:srgbClr val="EAF1F6"/>
                    </a:solidFill>
                  </a:tcPr>
                </a:tc>
                <a:tc>
                  <a:txBody>
                    <a:bodyPr/>
                    <a:lstStyle/>
                    <a:p>
                      <a:pPr algn="ctr"/>
                      <a:r>
                        <a:rPr sz="1400" b="0" i="0">
                          <a:solidFill>
                            <a:srgbClr val="202B33"/>
                          </a:solidFill>
                          <a:latin typeface="Tahoma"/>
                        </a:rPr>
                        <a:t>Reduced density and distributed impact-energy dissipation</a:t>
                      </a:r>
                    </a:p>
                  </a:txBody>
                  <a:tcPr marL="36576" marR="36576" marT="27432" marB="27432" anchor="ctr">
                    <a:solidFill>
                      <a:srgbClr val="EAF1F6"/>
                    </a:solidFill>
                  </a:tcPr>
                </a:tc>
                <a:extLst>
                  <a:ext uri="{0D108BD9-81ED-4DB2-BD59-A6C34878D82A}">
                    <a16:rowId xmlns:a16="http://schemas.microsoft.com/office/drawing/2014/main" val="10001"/>
                  </a:ext>
                </a:extLst>
              </a:tr>
              <a:tr h="580644">
                <a:tc>
                  <a:txBody>
                    <a:bodyPr/>
                    <a:lstStyle/>
                    <a:p>
                      <a:pPr algn="l"/>
                      <a:r>
                        <a:rPr sz="1400" b="1" i="0">
                          <a:solidFill>
                            <a:srgbClr val="202B33"/>
                          </a:solidFill>
                          <a:latin typeface="Tahoma"/>
                        </a:rPr>
                        <a:t>Hooked-end steel fibre</a:t>
                      </a:r>
                    </a:p>
                  </a:txBody>
                  <a:tcPr marL="36576" marR="36576" marT="27432" marB="27432" anchor="ctr">
                    <a:solidFill>
                      <a:srgbClr val="F6EFE4"/>
                    </a:solidFill>
                  </a:tcPr>
                </a:tc>
                <a:tc>
                  <a:txBody>
                    <a:bodyPr/>
                    <a:lstStyle/>
                    <a:p>
                      <a:pPr algn="ctr"/>
                      <a:r>
                        <a:rPr sz="1400" b="0" i="0">
                          <a:solidFill>
                            <a:srgbClr val="202B33"/>
                          </a:solidFill>
                          <a:latin typeface="Tahoma"/>
                        </a:rPr>
                        <a:t>Crack bridging; debonding; frictional pull-out</a:t>
                      </a:r>
                    </a:p>
                  </a:txBody>
                  <a:tcPr marL="36576" marR="36576" marT="27432" marB="27432" anchor="ctr">
                    <a:solidFill>
                      <a:srgbClr val="F6EFE4"/>
                    </a:solidFill>
                  </a:tcPr>
                </a:tc>
                <a:tc>
                  <a:txBody>
                    <a:bodyPr/>
                    <a:lstStyle/>
                    <a:p>
                      <a:pPr algn="ctr"/>
                      <a:r>
                        <a:rPr sz="1400" b="0" i="0">
                          <a:solidFill>
                            <a:srgbClr val="202B33"/>
                          </a:solidFill>
                          <a:latin typeface="Tahoma"/>
                        </a:rPr>
                        <a:t>Higher split tension, residual toughness and fragment restraint</a:t>
                      </a:r>
                    </a:p>
                  </a:txBody>
                  <a:tcPr marL="36576" marR="36576" marT="27432" marB="27432" anchor="ctr">
                    <a:solidFill>
                      <a:srgbClr val="F6EFE4"/>
                    </a:solidFill>
                  </a:tcPr>
                </a:tc>
                <a:extLst>
                  <a:ext uri="{0D108BD9-81ED-4DB2-BD59-A6C34878D82A}">
                    <a16:rowId xmlns:a16="http://schemas.microsoft.com/office/drawing/2014/main" val="10002"/>
                  </a:ext>
                </a:extLst>
              </a:tr>
              <a:tr h="580644">
                <a:tc>
                  <a:txBody>
                    <a:bodyPr/>
                    <a:lstStyle/>
                    <a:p>
                      <a:pPr algn="l"/>
                      <a:r>
                        <a:rPr sz="1400" b="1" i="0">
                          <a:solidFill>
                            <a:srgbClr val="202B33"/>
                          </a:solidFill>
                          <a:latin typeface="Tahoma"/>
                        </a:rPr>
                        <a:t>OPC–20% GGBS matrix</a:t>
                      </a:r>
                    </a:p>
                  </a:txBody>
                  <a:tcPr marL="36576" marR="36576" marT="27432" marB="27432" anchor="ctr">
                    <a:solidFill>
                      <a:srgbClr val="ECF2ED"/>
                    </a:solidFill>
                  </a:tcPr>
                </a:tc>
                <a:tc>
                  <a:txBody>
                    <a:bodyPr/>
                    <a:lstStyle/>
                    <a:p>
                      <a:pPr algn="ctr"/>
                      <a:r>
                        <a:rPr sz="1400" b="0" i="0">
                          <a:solidFill>
                            <a:srgbClr val="202B33"/>
                          </a:solidFill>
                          <a:latin typeface="Tahoma"/>
                        </a:rPr>
                        <a:t>Matrix load transfer and interfacial bonding</a:t>
                      </a:r>
                    </a:p>
                  </a:txBody>
                  <a:tcPr marL="36576" marR="36576" marT="27432" marB="27432" anchor="ctr">
                    <a:solidFill>
                      <a:srgbClr val="ECF2ED"/>
                    </a:solidFill>
                  </a:tcPr>
                </a:tc>
                <a:tc>
                  <a:txBody>
                    <a:bodyPr/>
                    <a:lstStyle/>
                    <a:p>
                      <a:pPr algn="ctr"/>
                      <a:r>
                        <a:rPr sz="1400" b="0" i="0" dirty="0">
                          <a:solidFill>
                            <a:srgbClr val="202B33"/>
                          </a:solidFill>
                          <a:latin typeface="Tahoma"/>
                        </a:rPr>
                        <a:t>M40+ compressive strength and stable </a:t>
                      </a:r>
                      <a:r>
                        <a:rPr sz="1400" b="0" i="0" dirty="0" err="1">
                          <a:solidFill>
                            <a:srgbClr val="202B33"/>
                          </a:solidFill>
                          <a:latin typeface="Tahoma"/>
                        </a:rPr>
                        <a:t>fibre</a:t>
                      </a:r>
                      <a:r>
                        <a:rPr sz="1400" b="0" i="0" dirty="0">
                          <a:solidFill>
                            <a:srgbClr val="202B33"/>
                          </a:solidFill>
                          <a:latin typeface="Tahoma"/>
                        </a:rPr>
                        <a:t> anchorage</a:t>
                      </a:r>
                    </a:p>
                  </a:txBody>
                  <a:tcPr marL="36576" marR="36576" marT="27432" marB="27432" anchor="ctr">
                    <a:solidFill>
                      <a:srgbClr val="ECF2ED"/>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731519" y="3803904"/>
            <a:ext cx="2481237" cy="184666"/>
          </a:xfrm>
          <a:prstGeom prst="rect">
            <a:avLst/>
          </a:prstGeom>
          <a:noFill/>
        </p:spPr>
        <p:txBody>
          <a:bodyPr wrap="square" lIns="0" tIns="0" rIns="0" bIns="0" anchor="t">
            <a:spAutoFit/>
          </a:bodyPr>
          <a:lstStyle/>
          <a:p>
            <a:pPr algn="l">
              <a:lnSpc>
                <a:spcPct val="100000"/>
              </a:lnSpc>
            </a:pPr>
            <a:r>
              <a:rPr sz="1200" b="1" i="0" dirty="0">
                <a:solidFill>
                  <a:srgbClr val="2E6F9E"/>
                </a:solidFill>
                <a:latin typeface="Tahoma"/>
              </a:rPr>
              <a:t>PROPOSED ENERGY PARTITION</a:t>
            </a:r>
          </a:p>
        </p:txBody>
      </p:sp>
      <p:sp>
        <p:nvSpPr>
          <p:cNvPr id="13" name="Rectangle 12"/>
          <p:cNvSpPr/>
          <p:nvPr/>
        </p:nvSpPr>
        <p:spPr>
          <a:xfrm>
            <a:off x="731520" y="4048896"/>
            <a:ext cx="6693408" cy="749808"/>
          </a:xfrm>
          <a:prstGeom prst="rect">
            <a:avLst/>
          </a:prstGeom>
          <a:solidFill>
            <a:srgbClr val="FFFFFF"/>
          </a:solidFill>
          <a:ln w="1016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 y="4279392"/>
            <a:ext cx="6217920" cy="365760"/>
          </a:xfrm>
          <a:prstGeom prst="rect">
            <a:avLst/>
          </a:prstGeom>
          <a:noFill/>
        </p:spPr>
        <p:txBody>
          <a:bodyPr wrap="square" lIns="0" tIns="0" rIns="0" bIns="0" anchor="t">
            <a:spAutoFit/>
          </a:bodyPr>
          <a:lstStyle/>
          <a:p>
            <a:pPr algn="ctr">
              <a:lnSpc>
                <a:spcPct val="100000"/>
              </a:lnSpc>
            </a:pPr>
            <a:r>
              <a:rPr sz="1600" b="1" i="0">
                <a:solidFill>
                  <a:srgbClr val="17365D"/>
                </a:solidFill>
                <a:latin typeface="Tahoma"/>
              </a:rPr>
              <a:t>Eᵢₘₚ = Eₘₐₜᵣᵢₓ + Ecrush + Edebond/pull-out + Efracture + Eresidual</a:t>
            </a:r>
          </a:p>
        </p:txBody>
      </p:sp>
      <p:sp>
        <p:nvSpPr>
          <p:cNvPr id="15" name="Rectangle 14"/>
          <p:cNvSpPr/>
          <p:nvPr/>
        </p:nvSpPr>
        <p:spPr>
          <a:xfrm>
            <a:off x="7680960" y="4048896"/>
            <a:ext cx="3767328" cy="815712"/>
          </a:xfrm>
          <a:prstGeom prst="rect">
            <a:avLst/>
          </a:prstGeom>
          <a:solidFill>
            <a:srgbClr val="EAF2F3"/>
          </a:solidFill>
          <a:ln w="8890">
            <a:solidFill>
              <a:srgbClr val="3F7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68281" y="4168020"/>
            <a:ext cx="3616411" cy="553998"/>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Tahoma"/>
              </a:rPr>
              <a:t>System-level hypothesis
More absorbed energy + controlled deformation → lower force-transmission potential</a:t>
            </a:r>
          </a:p>
        </p:txBody>
      </p:sp>
      <p:sp>
        <p:nvSpPr>
          <p:cNvPr id="17" name="Rectangle 16"/>
          <p:cNvSpPr/>
          <p:nvPr/>
        </p:nvSpPr>
        <p:spPr>
          <a:xfrm>
            <a:off x="731520" y="5050122"/>
            <a:ext cx="10716768" cy="530352"/>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5187282"/>
            <a:ext cx="10314432" cy="184666"/>
          </a:xfrm>
          <a:prstGeom prst="rect">
            <a:avLst/>
          </a:prstGeom>
          <a:noFill/>
        </p:spPr>
        <p:txBody>
          <a:bodyPr wrap="square" lIns="0" tIns="0" rIns="0" bIns="0" anchor="t">
            <a:spAutoFit/>
          </a:bodyPr>
          <a:lstStyle/>
          <a:p>
            <a:pPr algn="l">
              <a:lnSpc>
                <a:spcPct val="100000"/>
              </a:lnSpc>
            </a:pPr>
            <a:r>
              <a:rPr sz="1200" b="1" i="0" dirty="0">
                <a:solidFill>
                  <a:srgbClr val="17365D"/>
                </a:solidFill>
                <a:latin typeface="Tahoma"/>
              </a:rPr>
              <a:t>Inventive thesis: the specific material combination creates a semi-energy-absorbing rigid barrier while retaining structural-grade strength.</a:t>
            </a:r>
          </a:p>
        </p:txBody>
      </p:sp>
      <p:sp>
        <p:nvSpPr>
          <p:cNvPr id="19" name="Rectangle 18"/>
          <p:cNvSpPr/>
          <p:nvPr/>
        </p:nvSpPr>
        <p:spPr>
          <a:xfrm>
            <a:off x="731520" y="5653626"/>
            <a:ext cx="10716768" cy="320040"/>
          </a:xfrm>
          <a:prstGeom prst="rect">
            <a:avLst/>
          </a:prstGeom>
          <a:solidFill>
            <a:srgbClr val="FFFFFF"/>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5726778"/>
            <a:ext cx="10314432"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Lower transmitted force is a mechanistic hypothesis; vehicle-level force, ASI and THIV remain unmeasured.</a:t>
            </a:r>
          </a:p>
        </p:txBody>
      </p:sp>
      <p:sp>
        <p:nvSpPr>
          <p:cNvPr id="24" name="TextBox 23"/>
          <p:cNvSpPr txBox="1"/>
          <p:nvPr/>
        </p:nvSpPr>
        <p:spPr>
          <a:xfrm>
            <a:off x="749808" y="6117336"/>
            <a:ext cx="10561320" cy="256032"/>
          </a:xfrm>
          <a:prstGeom prst="rect">
            <a:avLst/>
          </a:prstGeom>
          <a:noFill/>
        </p:spPr>
        <p:txBody>
          <a:bodyPr wrap="square" lIns="0" rIns="0" tIns="0" bIns="0" anchor="ctr">
            <a:spAutoFit/>
          </a:bodyPr>
          <a:lstStyle/>
          <a:p>
            <a:pPr algn="l">
              <a:lnSpc>
                <a:spcPct val="100000"/>
              </a:lnSpc>
            </a:pPr>
            <a:r>
              <a:rPr sz="1000" b="0" i="0">
                <a:solidFill>
                  <a:srgbClr val="000000"/>
                </a:solidFill>
                <a:latin typeface="Tahoma"/>
              </a:rPr>
              <a:t>Source: Wang &amp; Wang (2013), doi:10.1016/j.conbuildmat.2012.09.016; Nadesan &amp; Dinakar (2017), doi:10.1016/j.cscm.2017.09.005; Sahoo et al. (2020), doi:10.1016/j.cemconcomp.2020.103712.</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Arrow: Pentagon 44">
            <a:extLst>
              <a:ext uri="{FF2B5EF4-FFF2-40B4-BE49-F238E27FC236}">
                <a16:creationId xmlns:a16="http://schemas.microsoft.com/office/drawing/2014/main" id="{61C71601-9158-759C-768F-74F3EAEC43EC}"/>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METHODS OVERVIEW</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Experimental </a:t>
            </a:r>
            <a:r>
              <a:rPr sz="2400" b="1" i="0" dirty="0" err="1">
                <a:solidFill>
                  <a:srgbClr val="17365D"/>
                </a:solidFill>
                <a:latin typeface="Tahoma"/>
              </a:rPr>
              <a:t>programme</a:t>
            </a:r>
            <a:r>
              <a:rPr sz="2400" b="1" i="0" dirty="0">
                <a:solidFill>
                  <a:srgbClr val="17365D"/>
                </a:solidFill>
                <a:latin typeface="Tahoma"/>
              </a:rPr>
              <a:t> and evidence hierarchy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06</a:t>
            </a:r>
          </a:p>
        </p:txBody>
      </p:sp>
      <p:sp>
        <p:nvSpPr>
          <p:cNvPr id="46" name="TextBox 45"/>
          <p:cNvSpPr txBox="1"/>
          <p:nvPr/>
        </p:nvSpPr>
        <p:spPr>
          <a:xfrm>
            <a:off x="640080" y="1115568"/>
            <a:ext cx="10835640" cy="274320"/>
          </a:xfrm>
          <a:prstGeom prst="rect">
            <a:avLst/>
          </a:prstGeom>
          <a:noFill/>
        </p:spPr>
        <p:txBody>
          <a:bodyPr wrap="square" lIns="0" rIns="0" tIns="0" bIns="0" anchor="t">
            <a:spAutoFit/>
          </a:bodyPr>
          <a:lstStyle/>
          <a:p>
            <a:pPr algn="l">
              <a:lnSpc>
                <a:spcPct val="100000"/>
              </a:lnSpc>
            </a:pPr>
            <a:r>
              <a:rPr sz="1100" b="1" i="0">
                <a:solidFill>
                  <a:srgbClr val="17365D"/>
                </a:solidFill>
                <a:latin typeface="Tahoma"/>
              </a:rPr>
              <a:t>Five linked experimental stages establish composition, response and application-scale proof.</a:t>
            </a:r>
          </a:p>
        </p:txBody>
      </p:sp>
      <p:sp>
        <p:nvSpPr>
          <p:cNvPr id="47" name="Rectangle 46"/>
          <p:cNvSpPr/>
          <p:nvPr/>
        </p:nvSpPr>
        <p:spPr>
          <a:xfrm>
            <a:off x="594360" y="1536192"/>
            <a:ext cx="2084831"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94360" y="1536192"/>
            <a:ext cx="2084831" cy="384048"/>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1627632"/>
            <a:ext cx="1901952" cy="201168"/>
          </a:xfrm>
          <a:prstGeom prst="rect">
            <a:avLst/>
          </a:prstGeom>
          <a:noFill/>
        </p:spPr>
        <p:txBody>
          <a:bodyPr wrap="square" lIns="0" rIns="0" tIns="0" bIns="0" anchor="t">
            <a:spAutoFit/>
          </a:bodyPr>
          <a:lstStyle/>
          <a:p>
            <a:pPr algn="ctr">
              <a:lnSpc>
                <a:spcPct val="100000"/>
              </a:lnSpc>
            </a:pPr>
            <a:r>
              <a:rPr sz="1000" b="1" i="0">
                <a:solidFill>
                  <a:srgbClr val="FFFFFF"/>
                </a:solidFill>
                <a:latin typeface="Tahoma"/>
              </a:rPr>
              <a:t>1  MATERIALS</a:t>
            </a:r>
          </a:p>
        </p:txBody>
      </p:sp>
      <p:pic>
        <p:nvPicPr>
          <p:cNvPr id="50" name="Picture 49" descr="methods_0.jpg"/>
          <p:cNvPicPr>
            <a:picLocks noChangeAspect="1"/>
          </p:cNvPicPr>
          <p:nvPr/>
        </p:nvPicPr>
        <p:blipFill>
          <a:blip r:embed="rId4"/>
          <a:stretch>
            <a:fillRect/>
          </a:stretch>
        </p:blipFill>
        <p:spPr>
          <a:xfrm>
            <a:off x="685800" y="2011680"/>
            <a:ext cx="1901952" cy="1444752"/>
          </a:xfrm>
          <a:prstGeom prst="rect">
            <a:avLst/>
          </a:prstGeom>
        </p:spPr>
      </p:pic>
      <p:sp>
        <p:nvSpPr>
          <p:cNvPr id="51" name="TextBox 50"/>
          <p:cNvSpPr txBox="1"/>
          <p:nvPr/>
        </p:nvSpPr>
        <p:spPr>
          <a:xfrm>
            <a:off x="722376" y="3611880"/>
            <a:ext cx="1828800" cy="621792"/>
          </a:xfrm>
          <a:prstGeom prst="rect">
            <a:avLst/>
          </a:prstGeom>
          <a:noFill/>
        </p:spPr>
        <p:txBody>
          <a:bodyPr wrap="square" lIns="0" rIns="0" tIns="0" bIns="0" anchor="ctr">
            <a:spAutoFit/>
          </a:bodyPr>
          <a:lstStyle/>
          <a:p>
            <a:pPr algn="ctr">
              <a:lnSpc>
                <a:spcPct val="100000"/>
              </a:lnSpc>
            </a:pPr>
            <a:r>
              <a:rPr sz="1050" b="1" i="0">
                <a:solidFill>
                  <a:srgbClr val="17365D"/>
                </a:solidFill>
                <a:latin typeface="Tahoma"/>
              </a:rPr>
              <a:t>OPC, GGBS, SFA and hooked fibres</a:t>
            </a:r>
          </a:p>
        </p:txBody>
      </p:sp>
      <p:sp>
        <p:nvSpPr>
          <p:cNvPr id="52" name="Rectangle 51"/>
          <p:cNvSpPr/>
          <p:nvPr/>
        </p:nvSpPr>
        <p:spPr>
          <a:xfrm>
            <a:off x="704088" y="4370832"/>
            <a:ext cx="1865376" cy="987552"/>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5528" y="4535424"/>
            <a:ext cx="1682496" cy="658368"/>
          </a:xfrm>
          <a:prstGeom prst="rect">
            <a:avLst/>
          </a:prstGeom>
          <a:noFill/>
        </p:spPr>
        <p:txBody>
          <a:bodyPr wrap="square" lIns="0" rIns="0" tIns="0" bIns="0" anchor="ctr">
            <a:spAutoFit/>
          </a:bodyPr>
          <a:lstStyle/>
          <a:p>
            <a:pPr algn="ctr">
              <a:lnSpc>
                <a:spcPct val="100000"/>
              </a:lnSpc>
            </a:pPr>
            <a:r>
              <a:rPr sz="1000" b="0" i="0">
                <a:solidFill>
                  <a:srgbClr val="000000"/>
                </a:solidFill>
                <a:latin typeface="Tahoma"/>
              </a:rPr>
              <a:t>XRF • physical properties • absorption</a:t>
            </a:r>
          </a:p>
        </p:txBody>
      </p:sp>
      <p:sp>
        <p:nvSpPr>
          <p:cNvPr id="54" name="Chevron 53"/>
          <p:cNvSpPr/>
          <p:nvPr/>
        </p:nvSpPr>
        <p:spPr>
          <a:xfrm>
            <a:off x="2706624" y="3346704"/>
            <a:ext cx="155448" cy="292608"/>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898648" y="1536192"/>
            <a:ext cx="2084831"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898648" y="1536192"/>
            <a:ext cx="2084831" cy="384048"/>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90088" y="1627632"/>
            <a:ext cx="1901952" cy="201168"/>
          </a:xfrm>
          <a:prstGeom prst="rect">
            <a:avLst/>
          </a:prstGeom>
          <a:noFill/>
        </p:spPr>
        <p:txBody>
          <a:bodyPr wrap="square" lIns="0" rIns="0" tIns="0" bIns="0" anchor="t">
            <a:spAutoFit/>
          </a:bodyPr>
          <a:lstStyle/>
          <a:p>
            <a:pPr algn="ctr">
              <a:lnSpc>
                <a:spcPct val="100000"/>
              </a:lnSpc>
            </a:pPr>
            <a:r>
              <a:rPr sz="1000" b="1" i="0">
                <a:solidFill>
                  <a:srgbClr val="FFFFFF"/>
                </a:solidFill>
                <a:latin typeface="Tahoma"/>
              </a:rPr>
              <a:t>2  MIX DESIGN</a:t>
            </a:r>
          </a:p>
        </p:txBody>
      </p:sp>
      <p:pic>
        <p:nvPicPr>
          <p:cNvPr id="58" name="Picture 57" descr="methods_1.jpg"/>
          <p:cNvPicPr>
            <a:picLocks noChangeAspect="1"/>
          </p:cNvPicPr>
          <p:nvPr/>
        </p:nvPicPr>
        <p:blipFill>
          <a:blip r:embed="rId5"/>
          <a:stretch>
            <a:fillRect/>
          </a:stretch>
        </p:blipFill>
        <p:spPr>
          <a:xfrm>
            <a:off x="2990088" y="2011680"/>
            <a:ext cx="1901952" cy="1444752"/>
          </a:xfrm>
          <a:prstGeom prst="rect">
            <a:avLst/>
          </a:prstGeom>
        </p:spPr>
      </p:pic>
      <p:sp>
        <p:nvSpPr>
          <p:cNvPr id="59" name="TextBox 58"/>
          <p:cNvSpPr txBox="1"/>
          <p:nvPr/>
        </p:nvSpPr>
        <p:spPr>
          <a:xfrm>
            <a:off x="3026664" y="3611880"/>
            <a:ext cx="1828800" cy="621792"/>
          </a:xfrm>
          <a:prstGeom prst="rect">
            <a:avLst/>
          </a:prstGeom>
          <a:noFill/>
        </p:spPr>
        <p:txBody>
          <a:bodyPr wrap="square" lIns="0" rIns="0" tIns="0" bIns="0" anchor="ctr">
            <a:spAutoFit/>
          </a:bodyPr>
          <a:lstStyle/>
          <a:p>
            <a:pPr algn="ctr">
              <a:lnSpc>
                <a:spcPct val="100000"/>
              </a:lnSpc>
            </a:pPr>
            <a:r>
              <a:rPr sz="1050" b="1" i="0">
                <a:solidFill>
                  <a:srgbClr val="17365D"/>
                </a:solidFill>
                <a:latin typeface="Tahoma"/>
              </a:rPr>
              <a:t>NWC + LWC00/05/10/15</a:t>
            </a:r>
          </a:p>
        </p:txBody>
      </p:sp>
      <p:sp>
        <p:nvSpPr>
          <p:cNvPr id="60" name="Rectangle 59"/>
          <p:cNvSpPr/>
          <p:nvPr/>
        </p:nvSpPr>
        <p:spPr>
          <a:xfrm>
            <a:off x="3008376" y="4370832"/>
            <a:ext cx="1865376" cy="987552"/>
          </a:xfrm>
          <a:prstGeom prst="rect">
            <a:avLst/>
          </a:prstGeom>
          <a:solidFill>
            <a:srgbClr val="E8F4F2"/>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099816" y="4535424"/>
            <a:ext cx="1682496" cy="658368"/>
          </a:xfrm>
          <a:prstGeom prst="rect">
            <a:avLst/>
          </a:prstGeom>
          <a:noFill/>
        </p:spPr>
        <p:txBody>
          <a:bodyPr wrap="square" lIns="0" rIns="0" tIns="0" bIns="0" anchor="ctr">
            <a:spAutoFit/>
          </a:bodyPr>
          <a:lstStyle/>
          <a:p>
            <a:pPr algn="ctr">
              <a:lnSpc>
                <a:spcPct val="100000"/>
              </a:lnSpc>
            </a:pPr>
            <a:r>
              <a:rPr sz="1000" b="0" i="0">
                <a:solidFill>
                  <a:srgbClr val="000000"/>
                </a:solidFill>
                <a:latin typeface="Tahoma"/>
              </a:rPr>
              <a:t>ACI 211.2 / IS 10262 • five formulations</a:t>
            </a:r>
          </a:p>
        </p:txBody>
      </p:sp>
      <p:sp>
        <p:nvSpPr>
          <p:cNvPr id="62" name="Chevron 61"/>
          <p:cNvSpPr/>
          <p:nvPr/>
        </p:nvSpPr>
        <p:spPr>
          <a:xfrm>
            <a:off x="5010912" y="3346704"/>
            <a:ext cx="155448" cy="292608"/>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202936" y="1536192"/>
            <a:ext cx="2084831"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202936" y="1536192"/>
            <a:ext cx="2084831" cy="384048"/>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294376" y="1627632"/>
            <a:ext cx="1901952" cy="201168"/>
          </a:xfrm>
          <a:prstGeom prst="rect">
            <a:avLst/>
          </a:prstGeom>
          <a:noFill/>
        </p:spPr>
        <p:txBody>
          <a:bodyPr wrap="square" lIns="0" rIns="0" tIns="0" bIns="0" anchor="t">
            <a:spAutoFit/>
          </a:bodyPr>
          <a:lstStyle/>
          <a:p>
            <a:pPr algn="ctr">
              <a:lnSpc>
                <a:spcPct val="100000"/>
              </a:lnSpc>
            </a:pPr>
            <a:r>
              <a:rPr sz="1000" b="1" i="0">
                <a:solidFill>
                  <a:srgbClr val="FFFFFF"/>
                </a:solidFill>
                <a:latin typeface="Tahoma"/>
              </a:rPr>
              <a:t>3  STATIC TESTS</a:t>
            </a:r>
          </a:p>
        </p:txBody>
      </p:sp>
      <p:pic>
        <p:nvPicPr>
          <p:cNvPr id="66" name="Picture 65" descr="methods_2.jpg"/>
          <p:cNvPicPr>
            <a:picLocks noChangeAspect="1"/>
          </p:cNvPicPr>
          <p:nvPr/>
        </p:nvPicPr>
        <p:blipFill>
          <a:blip r:embed="rId6"/>
          <a:stretch>
            <a:fillRect/>
          </a:stretch>
        </p:blipFill>
        <p:spPr>
          <a:xfrm>
            <a:off x="5294376" y="2011680"/>
            <a:ext cx="1901952" cy="1444752"/>
          </a:xfrm>
          <a:prstGeom prst="rect">
            <a:avLst/>
          </a:prstGeom>
        </p:spPr>
      </p:pic>
      <p:sp>
        <p:nvSpPr>
          <p:cNvPr id="67" name="TextBox 66"/>
          <p:cNvSpPr txBox="1"/>
          <p:nvPr/>
        </p:nvSpPr>
        <p:spPr>
          <a:xfrm>
            <a:off x="5330952" y="3611880"/>
            <a:ext cx="1828800" cy="621792"/>
          </a:xfrm>
          <a:prstGeom prst="rect">
            <a:avLst/>
          </a:prstGeom>
          <a:noFill/>
        </p:spPr>
        <p:txBody>
          <a:bodyPr wrap="square" lIns="0" rIns="0" tIns="0" bIns="0" anchor="ctr">
            <a:spAutoFit/>
          </a:bodyPr>
          <a:lstStyle/>
          <a:p>
            <a:pPr algn="ctr">
              <a:lnSpc>
                <a:spcPct val="100000"/>
              </a:lnSpc>
            </a:pPr>
            <a:r>
              <a:rPr sz="1050" b="1" i="0">
                <a:solidFill>
                  <a:srgbClr val="17365D"/>
                </a:solidFill>
                <a:latin typeface="Tahoma"/>
              </a:rPr>
              <a:t>Slump, density, compression, split tension</a:t>
            </a:r>
          </a:p>
        </p:txBody>
      </p:sp>
      <p:sp>
        <p:nvSpPr>
          <p:cNvPr id="68" name="Rectangle 67"/>
          <p:cNvSpPr/>
          <p:nvPr/>
        </p:nvSpPr>
        <p:spPr>
          <a:xfrm>
            <a:off x="5312664" y="4370832"/>
            <a:ext cx="1865376" cy="987552"/>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404104" y="4535424"/>
            <a:ext cx="1682496" cy="658368"/>
          </a:xfrm>
          <a:prstGeom prst="rect">
            <a:avLst/>
          </a:prstGeom>
          <a:noFill/>
        </p:spPr>
        <p:txBody>
          <a:bodyPr wrap="square" lIns="0" rIns="0" tIns="0" bIns="0" anchor="ctr">
            <a:spAutoFit/>
          </a:bodyPr>
          <a:lstStyle/>
          <a:p>
            <a:pPr algn="ctr">
              <a:lnSpc>
                <a:spcPct val="100000"/>
              </a:lnSpc>
            </a:pPr>
            <a:r>
              <a:rPr sz="1000" b="0" i="0">
                <a:solidFill>
                  <a:srgbClr val="000000"/>
                </a:solidFill>
                <a:latin typeface="Tahoma"/>
              </a:rPr>
              <a:t>3 cubes + 3 cylinders per mix stated</a:t>
            </a:r>
          </a:p>
        </p:txBody>
      </p:sp>
      <p:sp>
        <p:nvSpPr>
          <p:cNvPr id="70" name="Chevron 69"/>
          <p:cNvSpPr/>
          <p:nvPr/>
        </p:nvSpPr>
        <p:spPr>
          <a:xfrm>
            <a:off x="7315200" y="3346704"/>
            <a:ext cx="155448" cy="292608"/>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507224" y="1536192"/>
            <a:ext cx="2084831"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507224" y="1536192"/>
            <a:ext cx="2084831" cy="384048"/>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98664" y="1627632"/>
            <a:ext cx="1901952" cy="201168"/>
          </a:xfrm>
          <a:prstGeom prst="rect">
            <a:avLst/>
          </a:prstGeom>
          <a:noFill/>
        </p:spPr>
        <p:txBody>
          <a:bodyPr wrap="square" lIns="0" rIns="0" tIns="0" bIns="0" anchor="t">
            <a:spAutoFit/>
          </a:bodyPr>
          <a:lstStyle/>
          <a:p>
            <a:pPr algn="ctr">
              <a:lnSpc>
                <a:spcPct val="100000"/>
              </a:lnSpc>
            </a:pPr>
            <a:r>
              <a:rPr sz="1000" b="1" i="0">
                <a:solidFill>
                  <a:srgbClr val="FFFFFF"/>
                </a:solidFill>
                <a:latin typeface="Tahoma"/>
              </a:rPr>
              <a:t>4  PRISM IMPACT</a:t>
            </a:r>
          </a:p>
        </p:txBody>
      </p:sp>
      <p:pic>
        <p:nvPicPr>
          <p:cNvPr id="74" name="Picture 73" descr="methods_3.jpg"/>
          <p:cNvPicPr>
            <a:picLocks noChangeAspect="1"/>
          </p:cNvPicPr>
          <p:nvPr/>
        </p:nvPicPr>
        <p:blipFill>
          <a:blip r:embed="rId7"/>
          <a:stretch>
            <a:fillRect/>
          </a:stretch>
        </p:blipFill>
        <p:spPr>
          <a:xfrm>
            <a:off x="7598664" y="2011680"/>
            <a:ext cx="1901952" cy="1444752"/>
          </a:xfrm>
          <a:prstGeom prst="rect">
            <a:avLst/>
          </a:prstGeom>
        </p:spPr>
      </p:pic>
      <p:sp>
        <p:nvSpPr>
          <p:cNvPr id="75" name="TextBox 74"/>
          <p:cNvSpPr txBox="1"/>
          <p:nvPr/>
        </p:nvSpPr>
        <p:spPr>
          <a:xfrm>
            <a:off x="7635240" y="3611880"/>
            <a:ext cx="1828800" cy="621792"/>
          </a:xfrm>
          <a:prstGeom prst="rect">
            <a:avLst/>
          </a:prstGeom>
          <a:noFill/>
        </p:spPr>
        <p:txBody>
          <a:bodyPr wrap="square" lIns="0" rIns="0" tIns="0" bIns="0" anchor="ctr">
            <a:spAutoFit/>
          </a:bodyPr>
          <a:lstStyle/>
          <a:p>
            <a:pPr algn="ctr">
              <a:lnSpc>
                <a:spcPct val="100000"/>
              </a:lnSpc>
            </a:pPr>
            <a:r>
              <a:rPr sz="1050" b="1" i="0">
                <a:solidFill>
                  <a:srgbClr val="17365D"/>
                </a:solidFill>
                <a:latin typeface="Tahoma"/>
              </a:rPr>
              <a:t>N₁, N₂, E₁, E₂ and displacement</a:t>
            </a:r>
          </a:p>
        </p:txBody>
      </p:sp>
      <p:sp>
        <p:nvSpPr>
          <p:cNvPr id="76" name="Rectangle 75"/>
          <p:cNvSpPr/>
          <p:nvPr/>
        </p:nvSpPr>
        <p:spPr>
          <a:xfrm>
            <a:off x="7616952" y="4370832"/>
            <a:ext cx="1865376" cy="987552"/>
          </a:xfrm>
          <a:prstGeom prst="rect">
            <a:avLst/>
          </a:prstGeom>
          <a:solidFill>
            <a:srgbClr val="E8F4F2"/>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08392" y="4535424"/>
            <a:ext cx="1682496" cy="658368"/>
          </a:xfrm>
          <a:prstGeom prst="rect">
            <a:avLst/>
          </a:prstGeom>
          <a:noFill/>
        </p:spPr>
        <p:txBody>
          <a:bodyPr wrap="square" lIns="0" rIns="0" tIns="0" bIns="0" anchor="ctr">
            <a:spAutoFit/>
          </a:bodyPr>
          <a:lstStyle/>
          <a:p>
            <a:pPr algn="ctr">
              <a:lnSpc>
                <a:spcPct val="100000"/>
              </a:lnSpc>
            </a:pPr>
            <a:r>
              <a:rPr sz="1000" b="0" i="0">
                <a:solidFill>
                  <a:srgbClr val="000000"/>
                </a:solidFill>
                <a:latin typeface="Tahoma"/>
              </a:rPr>
              <a:t>Four beams reportedly cast per mix</a:t>
            </a:r>
          </a:p>
        </p:txBody>
      </p:sp>
      <p:sp>
        <p:nvSpPr>
          <p:cNvPr id="78" name="Chevron 77"/>
          <p:cNvSpPr/>
          <p:nvPr/>
        </p:nvSpPr>
        <p:spPr>
          <a:xfrm>
            <a:off x="9619488" y="3346704"/>
            <a:ext cx="155448" cy="292608"/>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811512" y="1536192"/>
            <a:ext cx="2084831"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811512" y="1536192"/>
            <a:ext cx="2084831" cy="384048"/>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02952" y="1627632"/>
            <a:ext cx="1901952" cy="201168"/>
          </a:xfrm>
          <a:prstGeom prst="rect">
            <a:avLst/>
          </a:prstGeom>
          <a:noFill/>
        </p:spPr>
        <p:txBody>
          <a:bodyPr wrap="square" lIns="0" rIns="0" tIns="0" bIns="0" anchor="t">
            <a:spAutoFit/>
          </a:bodyPr>
          <a:lstStyle/>
          <a:p>
            <a:pPr algn="ctr">
              <a:lnSpc>
                <a:spcPct val="100000"/>
              </a:lnSpc>
            </a:pPr>
            <a:r>
              <a:rPr sz="1000" b="1" i="0">
                <a:solidFill>
                  <a:srgbClr val="FFFFFF"/>
                </a:solidFill>
                <a:latin typeface="Tahoma"/>
              </a:rPr>
              <a:t>5  BARRIER MODEL</a:t>
            </a:r>
          </a:p>
        </p:txBody>
      </p:sp>
      <p:pic>
        <p:nvPicPr>
          <p:cNvPr id="82" name="Picture 81" descr="methods_4.jpg"/>
          <p:cNvPicPr>
            <a:picLocks noChangeAspect="1"/>
          </p:cNvPicPr>
          <p:nvPr/>
        </p:nvPicPr>
        <p:blipFill>
          <a:blip r:embed="rId8"/>
          <a:stretch>
            <a:fillRect/>
          </a:stretch>
        </p:blipFill>
        <p:spPr>
          <a:xfrm>
            <a:off x="9902952" y="2011680"/>
            <a:ext cx="1901952" cy="1444752"/>
          </a:xfrm>
          <a:prstGeom prst="rect">
            <a:avLst/>
          </a:prstGeom>
        </p:spPr>
      </p:pic>
      <p:sp>
        <p:nvSpPr>
          <p:cNvPr id="83" name="TextBox 82"/>
          <p:cNvSpPr txBox="1"/>
          <p:nvPr/>
        </p:nvSpPr>
        <p:spPr>
          <a:xfrm>
            <a:off x="9939528" y="3611880"/>
            <a:ext cx="1828800" cy="621792"/>
          </a:xfrm>
          <a:prstGeom prst="rect">
            <a:avLst/>
          </a:prstGeom>
          <a:noFill/>
        </p:spPr>
        <p:txBody>
          <a:bodyPr wrap="square" lIns="0" rIns="0" tIns="0" bIns="0" anchor="ctr">
            <a:spAutoFit/>
          </a:bodyPr>
          <a:lstStyle/>
          <a:p>
            <a:pPr algn="ctr">
              <a:lnSpc>
                <a:spcPct val="100000"/>
              </a:lnSpc>
            </a:pPr>
            <a:r>
              <a:rPr sz="1050" b="1" i="0">
                <a:solidFill>
                  <a:srgbClr val="17365D"/>
                </a:solidFill>
                <a:latin typeface="Tahoma"/>
              </a:rPr>
              <a:t>1:3 New Jersey pendulum impact</a:t>
            </a:r>
          </a:p>
        </p:txBody>
      </p:sp>
      <p:sp>
        <p:nvSpPr>
          <p:cNvPr id="84" name="Rectangle 83"/>
          <p:cNvSpPr/>
          <p:nvPr/>
        </p:nvSpPr>
        <p:spPr>
          <a:xfrm>
            <a:off x="9921240" y="4370832"/>
            <a:ext cx="1865376" cy="987552"/>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012680" y="4535424"/>
            <a:ext cx="1682496" cy="658368"/>
          </a:xfrm>
          <a:prstGeom prst="rect">
            <a:avLst/>
          </a:prstGeom>
          <a:noFill/>
        </p:spPr>
        <p:txBody>
          <a:bodyPr wrap="square" lIns="0" rIns="0" tIns="0" bIns="0" anchor="ctr">
            <a:spAutoFit/>
          </a:bodyPr>
          <a:lstStyle/>
          <a:p>
            <a:pPr algn="ctr">
              <a:lnSpc>
                <a:spcPct val="100000"/>
              </a:lnSpc>
            </a:pPr>
            <a:r>
              <a:rPr sz="1000" b="0" i="0">
                <a:solidFill>
                  <a:srgbClr val="000000"/>
                </a:solidFill>
                <a:latin typeface="Tahoma"/>
              </a:rPr>
              <a:t>1 NWC + 1 LWC15 barrier</a:t>
            </a:r>
          </a:p>
        </p:txBody>
      </p:sp>
      <p:sp>
        <p:nvSpPr>
          <p:cNvPr id="86" name="Rectangle 85"/>
          <p:cNvSpPr/>
          <p:nvPr/>
        </p:nvSpPr>
        <p:spPr>
          <a:xfrm>
            <a:off x="658368" y="5971032"/>
            <a:ext cx="10844784" cy="292608"/>
          </a:xfrm>
          <a:prstGeom prst="rect">
            <a:avLst/>
          </a:prstGeom>
          <a:solidFill>
            <a:srgbClr val="F8E9EC"/>
          </a:solidFill>
          <a:ln w="6350">
            <a:solidFill>
              <a:srgbClr val="C14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22960" y="6044184"/>
            <a:ext cx="10515600" cy="164592"/>
          </a:xfrm>
          <a:prstGeom prst="rect">
            <a:avLst/>
          </a:prstGeom>
          <a:noFill/>
        </p:spPr>
        <p:txBody>
          <a:bodyPr wrap="square" lIns="0" rIns="0" tIns="0" bIns="0" anchor="t">
            <a:spAutoFit/>
          </a:bodyPr>
          <a:lstStyle/>
          <a:p>
            <a:pPr algn="ctr">
              <a:lnSpc>
                <a:spcPct val="100000"/>
              </a:lnSpc>
            </a:pPr>
            <a:r>
              <a:rPr sz="1000" b="1" i="0">
                <a:solidFill>
                  <a:srgbClr val="C14953"/>
                </a:solidFill>
                <a:latin typeface="Tahoma"/>
              </a:rPr>
              <a:t>Evidence hierarchy: material/static tests → repeated-impact screening → preliminary barrier-scale validation.</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Arrow: Pentagon 20">
            <a:extLst>
              <a:ext uri="{FF2B5EF4-FFF2-40B4-BE49-F238E27FC236}">
                <a16:creationId xmlns:a16="http://schemas.microsoft.com/office/drawing/2014/main" id="{19030C24-D7CC-F074-80D3-14923F486FFC}"/>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MIXTURE DESIGN</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Experimental mixture matrix and selected embodiment</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07</a:t>
            </a:r>
          </a:p>
        </p:txBody>
      </p:sp>
      <p:graphicFrame>
        <p:nvGraphicFramePr>
          <p:cNvPr id="11" name="Table 10"/>
          <p:cNvGraphicFramePr>
            <a:graphicFrameLocks noGrp="1"/>
          </p:cNvGraphicFramePr>
          <p:nvPr>
            <p:extLst>
              <p:ext uri="{D42A27DB-BD31-4B8C-83A1-F6EECF244321}">
                <p14:modId xmlns:p14="http://schemas.microsoft.com/office/powerpoint/2010/main" val="4098062938"/>
              </p:ext>
            </p:extLst>
          </p:nvPr>
        </p:nvGraphicFramePr>
        <p:xfrm>
          <a:off x="658368" y="1216152"/>
          <a:ext cx="8046717" cy="3273552"/>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782319">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983488">
                  <a:extLst>
                    <a:ext uri="{9D8B030D-6E8A-4147-A177-3AD203B41FA5}">
                      <a16:colId xmlns:a16="http://schemas.microsoft.com/office/drawing/2014/main" val="20004"/>
                    </a:ext>
                  </a:extLst>
                </a:gridCol>
                <a:gridCol w="1139952">
                  <a:extLst>
                    <a:ext uri="{9D8B030D-6E8A-4147-A177-3AD203B41FA5}">
                      <a16:colId xmlns:a16="http://schemas.microsoft.com/office/drawing/2014/main" val="20005"/>
                    </a:ext>
                  </a:extLst>
                </a:gridCol>
                <a:gridCol w="871727">
                  <a:extLst>
                    <a:ext uri="{9D8B030D-6E8A-4147-A177-3AD203B41FA5}">
                      <a16:colId xmlns:a16="http://schemas.microsoft.com/office/drawing/2014/main" val="20006"/>
                    </a:ext>
                  </a:extLst>
                </a:gridCol>
                <a:gridCol w="1028192">
                  <a:extLst>
                    <a:ext uri="{9D8B030D-6E8A-4147-A177-3AD203B41FA5}">
                      <a16:colId xmlns:a16="http://schemas.microsoft.com/office/drawing/2014/main" val="20007"/>
                    </a:ext>
                  </a:extLst>
                </a:gridCol>
                <a:gridCol w="692912">
                  <a:extLst>
                    <a:ext uri="{9D8B030D-6E8A-4147-A177-3AD203B41FA5}">
                      <a16:colId xmlns:a16="http://schemas.microsoft.com/office/drawing/2014/main" val="20008"/>
                    </a:ext>
                  </a:extLst>
                </a:gridCol>
              </a:tblGrid>
              <a:tr h="545592">
                <a:tc>
                  <a:txBody>
                    <a:bodyPr/>
                    <a:lstStyle/>
                    <a:p>
                      <a:pPr algn="l"/>
                      <a:r>
                        <a:rPr sz="1200" b="1" i="0">
                          <a:solidFill>
                            <a:srgbClr val="FFFFFF"/>
                          </a:solidFill>
                          <a:latin typeface="Tahoma"/>
                        </a:rPr>
                        <a:t>Mix</a:t>
                      </a:r>
                    </a:p>
                  </a:txBody>
                  <a:tcPr marL="36576" marR="36576" marT="27432" marB="27432" anchor="ctr">
                    <a:solidFill>
                      <a:srgbClr val="17365D"/>
                    </a:solidFill>
                  </a:tcPr>
                </a:tc>
                <a:tc>
                  <a:txBody>
                    <a:bodyPr/>
                    <a:lstStyle/>
                    <a:p>
                      <a:pPr algn="ctr"/>
                      <a:r>
                        <a:rPr sz="1200" b="1" i="0">
                          <a:solidFill>
                            <a:srgbClr val="FFFFFF"/>
                          </a:solidFill>
                          <a:latin typeface="Tahoma"/>
                        </a:rPr>
                        <a:t>OPC</a:t>
                      </a:r>
                    </a:p>
                  </a:txBody>
                  <a:tcPr marL="36576" marR="36576" marT="27432" marB="27432" anchor="ctr">
                    <a:solidFill>
                      <a:srgbClr val="17365D"/>
                    </a:solidFill>
                  </a:tcPr>
                </a:tc>
                <a:tc>
                  <a:txBody>
                    <a:bodyPr/>
                    <a:lstStyle/>
                    <a:p>
                      <a:pPr algn="ctr"/>
                      <a:r>
                        <a:rPr sz="1200" b="1" i="0">
                          <a:solidFill>
                            <a:srgbClr val="FFFFFF"/>
                          </a:solidFill>
                          <a:latin typeface="Tahoma"/>
                        </a:rPr>
                        <a:t>GGBS</a:t>
                      </a:r>
                    </a:p>
                  </a:txBody>
                  <a:tcPr marL="36576" marR="36576" marT="27432" marB="27432" anchor="ctr">
                    <a:solidFill>
                      <a:srgbClr val="17365D"/>
                    </a:solidFill>
                  </a:tcPr>
                </a:tc>
                <a:tc>
                  <a:txBody>
                    <a:bodyPr/>
                    <a:lstStyle/>
                    <a:p>
                      <a:pPr algn="ctr"/>
                      <a:r>
                        <a:rPr sz="1200" b="1" i="0">
                          <a:solidFill>
                            <a:srgbClr val="FFFFFF"/>
                          </a:solidFill>
                          <a:latin typeface="Tahoma"/>
                        </a:rPr>
                        <a:t>Water</a:t>
                      </a:r>
                    </a:p>
                  </a:txBody>
                  <a:tcPr marL="36576" marR="36576" marT="27432" marB="27432" anchor="ctr">
                    <a:solidFill>
                      <a:srgbClr val="17365D"/>
                    </a:solidFill>
                  </a:tcPr>
                </a:tc>
                <a:tc>
                  <a:txBody>
                    <a:bodyPr/>
                    <a:lstStyle/>
                    <a:p>
                      <a:pPr algn="ctr"/>
                      <a:r>
                        <a:rPr sz="1200" b="1" i="0">
                          <a:solidFill>
                            <a:srgbClr val="FFFFFF"/>
                          </a:solidFill>
                          <a:latin typeface="Tahoma"/>
                        </a:rPr>
                        <a:t>Fine agg.</a:t>
                      </a:r>
                    </a:p>
                  </a:txBody>
                  <a:tcPr marL="36576" marR="36576" marT="27432" marB="27432" anchor="ctr">
                    <a:solidFill>
                      <a:srgbClr val="17365D"/>
                    </a:solidFill>
                  </a:tcPr>
                </a:tc>
                <a:tc>
                  <a:txBody>
                    <a:bodyPr/>
                    <a:lstStyle/>
                    <a:p>
                      <a:pPr algn="ctr"/>
                      <a:r>
                        <a:rPr sz="1200" b="1" i="0">
                          <a:solidFill>
                            <a:srgbClr val="FFFFFF"/>
                          </a:solidFill>
                          <a:latin typeface="Tahoma"/>
                        </a:rPr>
                        <a:t>Nat. coarse</a:t>
                      </a:r>
                    </a:p>
                  </a:txBody>
                  <a:tcPr marL="36576" marR="36576" marT="27432" marB="27432" anchor="ctr">
                    <a:solidFill>
                      <a:srgbClr val="17365D"/>
                    </a:solidFill>
                  </a:tcPr>
                </a:tc>
                <a:tc>
                  <a:txBody>
                    <a:bodyPr/>
                    <a:lstStyle/>
                    <a:p>
                      <a:pPr algn="ctr"/>
                      <a:r>
                        <a:rPr sz="1200" b="1" i="0">
                          <a:solidFill>
                            <a:srgbClr val="FFFFFF"/>
                          </a:solidFill>
                          <a:latin typeface="Tahoma"/>
                        </a:rPr>
                        <a:t>SFA</a:t>
                      </a:r>
                    </a:p>
                  </a:txBody>
                  <a:tcPr marL="36576" marR="36576" marT="27432" marB="27432" anchor="ctr">
                    <a:solidFill>
                      <a:srgbClr val="17365D"/>
                    </a:solidFill>
                  </a:tcPr>
                </a:tc>
                <a:tc>
                  <a:txBody>
                    <a:bodyPr/>
                    <a:lstStyle/>
                    <a:p>
                      <a:pPr algn="ctr"/>
                      <a:r>
                        <a:rPr sz="1200" b="1" i="0">
                          <a:solidFill>
                            <a:srgbClr val="FFFFFF"/>
                          </a:solidFill>
                          <a:latin typeface="Tahoma"/>
                        </a:rPr>
                        <a:t>Steel fibre</a:t>
                      </a:r>
                    </a:p>
                  </a:txBody>
                  <a:tcPr marL="36576" marR="36576" marT="27432" marB="27432" anchor="ctr">
                    <a:solidFill>
                      <a:srgbClr val="17365D"/>
                    </a:solidFill>
                  </a:tcPr>
                </a:tc>
                <a:tc>
                  <a:txBody>
                    <a:bodyPr/>
                    <a:lstStyle/>
                    <a:p>
                      <a:pPr algn="ctr"/>
                      <a:r>
                        <a:rPr sz="1200" b="1" i="0">
                          <a:solidFill>
                            <a:srgbClr val="FFFFFF"/>
                          </a:solidFill>
                          <a:latin typeface="Tahoma"/>
                        </a:rPr>
                        <a:t>PCE</a:t>
                      </a:r>
                    </a:p>
                  </a:txBody>
                  <a:tcPr marL="36576" marR="36576" marT="27432" marB="27432" anchor="ctr">
                    <a:solidFill>
                      <a:srgbClr val="17365D"/>
                    </a:solidFill>
                  </a:tcPr>
                </a:tc>
                <a:extLst>
                  <a:ext uri="{0D108BD9-81ED-4DB2-BD59-A6C34878D82A}">
                    <a16:rowId xmlns:a16="http://schemas.microsoft.com/office/drawing/2014/main" val="10000"/>
                  </a:ext>
                </a:extLst>
              </a:tr>
              <a:tr h="545592">
                <a:tc>
                  <a:txBody>
                    <a:bodyPr/>
                    <a:lstStyle/>
                    <a:p>
                      <a:pPr algn="l"/>
                      <a:r>
                        <a:rPr sz="1400" b="1" i="0">
                          <a:solidFill>
                            <a:srgbClr val="202B33"/>
                          </a:solidFill>
                          <a:latin typeface="Tahoma"/>
                        </a:rPr>
                        <a:t>NWC</a:t>
                      </a:r>
                    </a:p>
                  </a:txBody>
                  <a:tcPr marL="36576" marR="36576" marT="27432" marB="27432" anchor="ctr">
                    <a:solidFill>
                      <a:srgbClr val="FFFFFF"/>
                    </a:solidFill>
                  </a:tcPr>
                </a:tc>
                <a:tc>
                  <a:txBody>
                    <a:bodyPr/>
                    <a:lstStyle/>
                    <a:p>
                      <a:pPr algn="ctr"/>
                      <a:r>
                        <a:rPr sz="1400" b="0" i="0">
                          <a:solidFill>
                            <a:srgbClr val="202B33"/>
                          </a:solidFill>
                          <a:latin typeface="Tahoma"/>
                        </a:rPr>
                        <a:t>338.8</a:t>
                      </a:r>
                    </a:p>
                  </a:txBody>
                  <a:tcPr marL="36576" marR="36576" marT="27432" marB="27432" anchor="ctr">
                    <a:solidFill>
                      <a:srgbClr val="FFFFFF"/>
                    </a:solidFill>
                  </a:tcPr>
                </a:tc>
                <a:tc>
                  <a:txBody>
                    <a:bodyPr/>
                    <a:lstStyle/>
                    <a:p>
                      <a:pPr algn="ctr"/>
                      <a:r>
                        <a:rPr sz="1400" b="0" i="0">
                          <a:solidFill>
                            <a:srgbClr val="202B33"/>
                          </a:solidFill>
                          <a:latin typeface="Tahoma"/>
                        </a:rPr>
                        <a:t>87.4</a:t>
                      </a:r>
                    </a:p>
                  </a:txBody>
                  <a:tcPr marL="36576" marR="36576" marT="27432" marB="27432" anchor="ctr">
                    <a:solidFill>
                      <a:srgbClr val="FFFFFF"/>
                    </a:solidFill>
                  </a:tcPr>
                </a:tc>
                <a:tc>
                  <a:txBody>
                    <a:bodyPr/>
                    <a:lstStyle/>
                    <a:p>
                      <a:pPr algn="ctr"/>
                      <a:r>
                        <a:rPr sz="1400" b="0" i="0">
                          <a:solidFill>
                            <a:srgbClr val="202B33"/>
                          </a:solidFill>
                          <a:latin typeface="Tahoma"/>
                        </a:rPr>
                        <a:t>173.6</a:t>
                      </a:r>
                    </a:p>
                  </a:txBody>
                  <a:tcPr marL="36576" marR="36576" marT="27432" marB="27432" anchor="ctr">
                    <a:solidFill>
                      <a:srgbClr val="FFFFFF"/>
                    </a:solidFill>
                  </a:tcPr>
                </a:tc>
                <a:tc>
                  <a:txBody>
                    <a:bodyPr/>
                    <a:lstStyle/>
                    <a:p>
                      <a:pPr algn="ctr"/>
                      <a:r>
                        <a:rPr sz="1400" b="0" i="0">
                          <a:solidFill>
                            <a:srgbClr val="202B33"/>
                          </a:solidFill>
                          <a:latin typeface="Tahoma"/>
                        </a:rPr>
                        <a:t>795.6</a:t>
                      </a:r>
                    </a:p>
                  </a:txBody>
                  <a:tcPr marL="36576" marR="36576" marT="27432" marB="27432" anchor="ctr">
                    <a:solidFill>
                      <a:srgbClr val="FFFFFF"/>
                    </a:solidFill>
                  </a:tcPr>
                </a:tc>
                <a:tc>
                  <a:txBody>
                    <a:bodyPr/>
                    <a:lstStyle/>
                    <a:p>
                      <a:pPr algn="ctr"/>
                      <a:r>
                        <a:rPr sz="1400" b="0" i="0">
                          <a:solidFill>
                            <a:srgbClr val="202B33"/>
                          </a:solidFill>
                          <a:latin typeface="Tahoma"/>
                        </a:rPr>
                        <a:t>948.8</a:t>
                      </a:r>
                    </a:p>
                  </a:txBody>
                  <a:tcPr marL="36576" marR="36576" marT="27432" marB="27432" anchor="ctr">
                    <a:solidFill>
                      <a:srgbClr val="FFFFFF"/>
                    </a:solidFill>
                  </a:tcPr>
                </a:tc>
                <a:tc>
                  <a:txBody>
                    <a:bodyPr/>
                    <a:lstStyle/>
                    <a:p>
                      <a:pPr algn="ctr"/>
                      <a:r>
                        <a:rPr sz="1400" b="0" i="0">
                          <a:solidFill>
                            <a:srgbClr val="202B33"/>
                          </a:solidFill>
                          <a:latin typeface="Tahoma"/>
                        </a:rPr>
                        <a:t>—</a:t>
                      </a:r>
                    </a:p>
                  </a:txBody>
                  <a:tcPr marL="36576" marR="36576" marT="27432" marB="27432" anchor="ctr">
                    <a:solidFill>
                      <a:srgbClr val="FFFFFF"/>
                    </a:solidFill>
                  </a:tcPr>
                </a:tc>
                <a:tc>
                  <a:txBody>
                    <a:bodyPr/>
                    <a:lstStyle/>
                    <a:p>
                      <a:pPr algn="ctr"/>
                      <a:r>
                        <a:rPr sz="1400" b="0" i="0">
                          <a:solidFill>
                            <a:srgbClr val="202B33"/>
                          </a:solidFill>
                          <a:latin typeface="Tahoma"/>
                        </a:rPr>
                        <a:t>—</a:t>
                      </a:r>
                    </a:p>
                  </a:txBody>
                  <a:tcPr marL="36576" marR="36576" marT="27432" marB="27432" anchor="ctr">
                    <a:solidFill>
                      <a:srgbClr val="FFFFFF"/>
                    </a:solidFill>
                  </a:tcPr>
                </a:tc>
                <a:tc>
                  <a:txBody>
                    <a:bodyPr/>
                    <a:lstStyle/>
                    <a:p>
                      <a:pPr algn="ctr"/>
                      <a:r>
                        <a:rPr sz="1400" b="0" i="0">
                          <a:solidFill>
                            <a:srgbClr val="202B33"/>
                          </a:solidFill>
                          <a:latin typeface="Tahoma"/>
                        </a:rPr>
                        <a:t>1.9</a:t>
                      </a:r>
                    </a:p>
                  </a:txBody>
                  <a:tcPr marL="36576" marR="36576" marT="27432" marB="27432" anchor="ctr">
                    <a:solidFill>
                      <a:srgbClr val="FFFFFF"/>
                    </a:solidFill>
                  </a:tcPr>
                </a:tc>
                <a:extLst>
                  <a:ext uri="{0D108BD9-81ED-4DB2-BD59-A6C34878D82A}">
                    <a16:rowId xmlns:a16="http://schemas.microsoft.com/office/drawing/2014/main" val="10001"/>
                  </a:ext>
                </a:extLst>
              </a:tr>
              <a:tr h="545592">
                <a:tc>
                  <a:txBody>
                    <a:bodyPr/>
                    <a:lstStyle/>
                    <a:p>
                      <a:pPr algn="l"/>
                      <a:r>
                        <a:rPr sz="1400" b="1" i="0">
                          <a:solidFill>
                            <a:srgbClr val="202B33"/>
                          </a:solidFill>
                          <a:latin typeface="Tahoma"/>
                        </a:rPr>
                        <a:t>LWC00</a:t>
                      </a:r>
                    </a:p>
                  </a:txBody>
                  <a:tcPr marL="36576" marR="36576" marT="27432" marB="27432" anchor="ctr">
                    <a:solidFill>
                      <a:srgbClr val="F8FAFB"/>
                    </a:solidFill>
                  </a:tcPr>
                </a:tc>
                <a:tc>
                  <a:txBody>
                    <a:bodyPr/>
                    <a:lstStyle/>
                    <a:p>
                      <a:pPr algn="ctr"/>
                      <a:r>
                        <a:rPr sz="1400" b="0" i="0">
                          <a:solidFill>
                            <a:srgbClr val="202B33"/>
                          </a:solidFill>
                          <a:latin typeface="Tahoma"/>
                        </a:rPr>
                        <a:t>422.4</a:t>
                      </a:r>
                    </a:p>
                  </a:txBody>
                  <a:tcPr marL="36576" marR="36576" marT="27432" marB="27432" anchor="ctr">
                    <a:solidFill>
                      <a:srgbClr val="F8FAFB"/>
                    </a:solidFill>
                  </a:tcPr>
                </a:tc>
                <a:tc>
                  <a:txBody>
                    <a:bodyPr/>
                    <a:lstStyle/>
                    <a:p>
                      <a:pPr algn="ctr"/>
                      <a:r>
                        <a:rPr sz="1400" b="0" i="0">
                          <a:solidFill>
                            <a:srgbClr val="202B33"/>
                          </a:solidFill>
                          <a:latin typeface="Tahoma"/>
                        </a:rPr>
                        <a:t>105.6</a:t>
                      </a:r>
                    </a:p>
                  </a:txBody>
                  <a:tcPr marL="36576" marR="36576" marT="27432" marB="27432" anchor="ctr">
                    <a:solidFill>
                      <a:srgbClr val="F8FAFB"/>
                    </a:solidFill>
                  </a:tcPr>
                </a:tc>
                <a:tc>
                  <a:txBody>
                    <a:bodyPr/>
                    <a:lstStyle/>
                    <a:p>
                      <a:pPr algn="ctr"/>
                      <a:r>
                        <a:rPr sz="1400" b="0" i="0">
                          <a:solidFill>
                            <a:srgbClr val="202B33"/>
                          </a:solidFill>
                          <a:latin typeface="Tahoma"/>
                        </a:rPr>
                        <a:t>195.2</a:t>
                      </a:r>
                    </a:p>
                  </a:txBody>
                  <a:tcPr marL="36576" marR="36576" marT="27432" marB="27432" anchor="ctr">
                    <a:solidFill>
                      <a:srgbClr val="F8FAFB"/>
                    </a:solidFill>
                  </a:tcPr>
                </a:tc>
                <a:tc>
                  <a:txBody>
                    <a:bodyPr/>
                    <a:lstStyle/>
                    <a:p>
                      <a:pPr algn="ctr"/>
                      <a:r>
                        <a:rPr sz="1400" b="0" i="0">
                          <a:solidFill>
                            <a:srgbClr val="202B33"/>
                          </a:solidFill>
                          <a:latin typeface="Tahoma"/>
                        </a:rPr>
                        <a:t>466.5</a:t>
                      </a:r>
                    </a:p>
                  </a:txBody>
                  <a:tcPr marL="36576" marR="36576" marT="27432" marB="27432" anchor="ctr">
                    <a:solidFill>
                      <a:srgbClr val="F8FAFB"/>
                    </a:solidFill>
                  </a:tcPr>
                </a:tc>
                <a:tc>
                  <a:txBody>
                    <a:bodyPr/>
                    <a:lstStyle/>
                    <a:p>
                      <a:pPr algn="ctr"/>
                      <a:r>
                        <a:rPr sz="1400" b="0" i="0">
                          <a:solidFill>
                            <a:srgbClr val="202B33"/>
                          </a:solidFill>
                          <a:latin typeface="Tahoma"/>
                        </a:rPr>
                        <a:t>—</a:t>
                      </a:r>
                    </a:p>
                  </a:txBody>
                  <a:tcPr marL="36576" marR="36576" marT="27432" marB="27432" anchor="ctr">
                    <a:solidFill>
                      <a:srgbClr val="F8FAFB"/>
                    </a:solidFill>
                  </a:tcPr>
                </a:tc>
                <a:tc>
                  <a:txBody>
                    <a:bodyPr/>
                    <a:lstStyle/>
                    <a:p>
                      <a:pPr algn="ctr"/>
                      <a:r>
                        <a:rPr sz="1400" b="0" i="0">
                          <a:solidFill>
                            <a:srgbClr val="202B33"/>
                          </a:solidFill>
                          <a:latin typeface="Tahoma"/>
                        </a:rPr>
                        <a:t>596.3</a:t>
                      </a:r>
                    </a:p>
                  </a:txBody>
                  <a:tcPr marL="36576" marR="36576" marT="27432" marB="27432" anchor="ctr">
                    <a:solidFill>
                      <a:srgbClr val="F8FAFB"/>
                    </a:solidFill>
                  </a:tcPr>
                </a:tc>
                <a:tc>
                  <a:txBody>
                    <a:bodyPr/>
                    <a:lstStyle/>
                    <a:p>
                      <a:pPr algn="ctr"/>
                      <a:r>
                        <a:rPr sz="1400" b="0" i="0">
                          <a:solidFill>
                            <a:srgbClr val="202B33"/>
                          </a:solidFill>
                          <a:latin typeface="Tahoma"/>
                        </a:rPr>
                        <a:t>—</a:t>
                      </a:r>
                    </a:p>
                  </a:txBody>
                  <a:tcPr marL="36576" marR="36576" marT="27432" marB="27432" anchor="ctr">
                    <a:solidFill>
                      <a:srgbClr val="F8FAFB"/>
                    </a:solidFill>
                  </a:tcPr>
                </a:tc>
                <a:tc>
                  <a:txBody>
                    <a:bodyPr/>
                    <a:lstStyle/>
                    <a:p>
                      <a:pPr algn="ctr"/>
                      <a:r>
                        <a:rPr sz="1400" b="0" i="0">
                          <a:solidFill>
                            <a:srgbClr val="202B33"/>
                          </a:solidFill>
                          <a:latin typeface="Tahoma"/>
                        </a:rPr>
                        <a:t>2.8</a:t>
                      </a:r>
                    </a:p>
                  </a:txBody>
                  <a:tcPr marL="36576" marR="36576" marT="27432" marB="27432" anchor="ctr">
                    <a:solidFill>
                      <a:srgbClr val="F8FAFB"/>
                    </a:solidFill>
                  </a:tcPr>
                </a:tc>
                <a:extLst>
                  <a:ext uri="{0D108BD9-81ED-4DB2-BD59-A6C34878D82A}">
                    <a16:rowId xmlns:a16="http://schemas.microsoft.com/office/drawing/2014/main" val="10002"/>
                  </a:ext>
                </a:extLst>
              </a:tr>
              <a:tr h="545592">
                <a:tc>
                  <a:txBody>
                    <a:bodyPr/>
                    <a:lstStyle/>
                    <a:p>
                      <a:pPr algn="l"/>
                      <a:r>
                        <a:rPr sz="1400" b="1" i="0">
                          <a:solidFill>
                            <a:srgbClr val="202B33"/>
                          </a:solidFill>
                          <a:latin typeface="Tahoma"/>
                        </a:rPr>
                        <a:t>LWC05</a:t>
                      </a:r>
                    </a:p>
                  </a:txBody>
                  <a:tcPr marL="36576" marR="36576" marT="27432" marB="27432" anchor="ctr">
                    <a:solidFill>
                      <a:srgbClr val="FFFFFF"/>
                    </a:solidFill>
                  </a:tcPr>
                </a:tc>
                <a:tc>
                  <a:txBody>
                    <a:bodyPr/>
                    <a:lstStyle/>
                    <a:p>
                      <a:pPr algn="ctr"/>
                      <a:r>
                        <a:rPr sz="1400" b="0" i="0">
                          <a:solidFill>
                            <a:srgbClr val="202B33"/>
                          </a:solidFill>
                          <a:latin typeface="Tahoma"/>
                        </a:rPr>
                        <a:t>422.4</a:t>
                      </a:r>
                    </a:p>
                  </a:txBody>
                  <a:tcPr marL="36576" marR="36576" marT="27432" marB="27432" anchor="ctr">
                    <a:solidFill>
                      <a:srgbClr val="FFFFFF"/>
                    </a:solidFill>
                  </a:tcPr>
                </a:tc>
                <a:tc>
                  <a:txBody>
                    <a:bodyPr/>
                    <a:lstStyle/>
                    <a:p>
                      <a:pPr algn="ctr"/>
                      <a:r>
                        <a:rPr sz="1400" b="0" i="0">
                          <a:solidFill>
                            <a:srgbClr val="202B33"/>
                          </a:solidFill>
                          <a:latin typeface="Tahoma"/>
                        </a:rPr>
                        <a:t>105.6</a:t>
                      </a:r>
                    </a:p>
                  </a:txBody>
                  <a:tcPr marL="36576" marR="36576" marT="27432" marB="27432" anchor="ctr">
                    <a:solidFill>
                      <a:srgbClr val="FFFFFF"/>
                    </a:solidFill>
                  </a:tcPr>
                </a:tc>
                <a:tc>
                  <a:txBody>
                    <a:bodyPr/>
                    <a:lstStyle/>
                    <a:p>
                      <a:pPr algn="ctr"/>
                      <a:r>
                        <a:rPr sz="1400" b="0" i="0">
                          <a:solidFill>
                            <a:srgbClr val="202B33"/>
                          </a:solidFill>
                          <a:latin typeface="Tahoma"/>
                        </a:rPr>
                        <a:t>195.2</a:t>
                      </a:r>
                    </a:p>
                  </a:txBody>
                  <a:tcPr marL="36576" marR="36576" marT="27432" marB="27432" anchor="ctr">
                    <a:solidFill>
                      <a:srgbClr val="FFFFFF"/>
                    </a:solidFill>
                  </a:tcPr>
                </a:tc>
                <a:tc>
                  <a:txBody>
                    <a:bodyPr/>
                    <a:lstStyle/>
                    <a:p>
                      <a:pPr algn="ctr"/>
                      <a:r>
                        <a:rPr sz="1400" b="0" i="0">
                          <a:solidFill>
                            <a:srgbClr val="202B33"/>
                          </a:solidFill>
                          <a:latin typeface="Tahoma"/>
                        </a:rPr>
                        <a:t>466.5</a:t>
                      </a:r>
                    </a:p>
                  </a:txBody>
                  <a:tcPr marL="36576" marR="36576" marT="27432" marB="27432" anchor="ctr">
                    <a:solidFill>
                      <a:srgbClr val="FFFFFF"/>
                    </a:solidFill>
                  </a:tcPr>
                </a:tc>
                <a:tc>
                  <a:txBody>
                    <a:bodyPr/>
                    <a:lstStyle/>
                    <a:p>
                      <a:pPr algn="ctr"/>
                      <a:r>
                        <a:rPr sz="1400" b="0" i="0">
                          <a:solidFill>
                            <a:srgbClr val="202B33"/>
                          </a:solidFill>
                          <a:latin typeface="Tahoma"/>
                        </a:rPr>
                        <a:t>—</a:t>
                      </a:r>
                    </a:p>
                  </a:txBody>
                  <a:tcPr marL="36576" marR="36576" marT="27432" marB="27432" anchor="ctr">
                    <a:solidFill>
                      <a:srgbClr val="FFFFFF"/>
                    </a:solidFill>
                  </a:tcPr>
                </a:tc>
                <a:tc>
                  <a:txBody>
                    <a:bodyPr/>
                    <a:lstStyle/>
                    <a:p>
                      <a:pPr algn="ctr"/>
                      <a:r>
                        <a:rPr sz="1400" b="0" i="0">
                          <a:solidFill>
                            <a:srgbClr val="202B33"/>
                          </a:solidFill>
                          <a:latin typeface="Tahoma"/>
                        </a:rPr>
                        <a:t>596.3</a:t>
                      </a:r>
                    </a:p>
                  </a:txBody>
                  <a:tcPr marL="36576" marR="36576" marT="27432" marB="27432" anchor="ctr">
                    <a:solidFill>
                      <a:srgbClr val="FFFFFF"/>
                    </a:solidFill>
                  </a:tcPr>
                </a:tc>
                <a:tc>
                  <a:txBody>
                    <a:bodyPr/>
                    <a:lstStyle/>
                    <a:p>
                      <a:pPr algn="ctr"/>
                      <a:r>
                        <a:rPr sz="1400" b="0" i="0">
                          <a:solidFill>
                            <a:srgbClr val="202B33"/>
                          </a:solidFill>
                          <a:latin typeface="Tahoma"/>
                        </a:rPr>
                        <a:t>39.2</a:t>
                      </a:r>
                    </a:p>
                  </a:txBody>
                  <a:tcPr marL="36576" marR="36576" marT="27432" marB="27432" anchor="ctr">
                    <a:solidFill>
                      <a:srgbClr val="FFFFFF"/>
                    </a:solidFill>
                  </a:tcPr>
                </a:tc>
                <a:tc>
                  <a:txBody>
                    <a:bodyPr/>
                    <a:lstStyle/>
                    <a:p>
                      <a:pPr algn="ctr"/>
                      <a:r>
                        <a:rPr sz="1400" b="0" i="0">
                          <a:solidFill>
                            <a:srgbClr val="202B33"/>
                          </a:solidFill>
                          <a:latin typeface="Tahoma"/>
                        </a:rPr>
                        <a:t>2.8</a:t>
                      </a:r>
                    </a:p>
                  </a:txBody>
                  <a:tcPr marL="36576" marR="36576" marT="27432" marB="27432" anchor="ctr">
                    <a:solidFill>
                      <a:srgbClr val="FFFFFF"/>
                    </a:solidFill>
                  </a:tcPr>
                </a:tc>
                <a:extLst>
                  <a:ext uri="{0D108BD9-81ED-4DB2-BD59-A6C34878D82A}">
                    <a16:rowId xmlns:a16="http://schemas.microsoft.com/office/drawing/2014/main" val="10003"/>
                  </a:ext>
                </a:extLst>
              </a:tr>
              <a:tr h="545592">
                <a:tc>
                  <a:txBody>
                    <a:bodyPr/>
                    <a:lstStyle/>
                    <a:p>
                      <a:pPr algn="l"/>
                      <a:r>
                        <a:rPr sz="1400" b="1" i="0">
                          <a:solidFill>
                            <a:srgbClr val="202B33"/>
                          </a:solidFill>
                          <a:latin typeface="Tahoma"/>
                        </a:rPr>
                        <a:t>LWC10</a:t>
                      </a:r>
                    </a:p>
                  </a:txBody>
                  <a:tcPr marL="36576" marR="36576" marT="27432" marB="27432" anchor="ctr">
                    <a:solidFill>
                      <a:srgbClr val="F8FAFB"/>
                    </a:solidFill>
                  </a:tcPr>
                </a:tc>
                <a:tc>
                  <a:txBody>
                    <a:bodyPr/>
                    <a:lstStyle/>
                    <a:p>
                      <a:pPr algn="ctr"/>
                      <a:r>
                        <a:rPr sz="1400" b="0" i="0">
                          <a:solidFill>
                            <a:srgbClr val="202B33"/>
                          </a:solidFill>
                          <a:latin typeface="Tahoma"/>
                        </a:rPr>
                        <a:t>422.4</a:t>
                      </a:r>
                    </a:p>
                  </a:txBody>
                  <a:tcPr marL="36576" marR="36576" marT="27432" marB="27432" anchor="ctr">
                    <a:solidFill>
                      <a:srgbClr val="F8FAFB"/>
                    </a:solidFill>
                  </a:tcPr>
                </a:tc>
                <a:tc>
                  <a:txBody>
                    <a:bodyPr/>
                    <a:lstStyle/>
                    <a:p>
                      <a:pPr algn="ctr"/>
                      <a:r>
                        <a:rPr sz="1400" b="0" i="0">
                          <a:solidFill>
                            <a:srgbClr val="202B33"/>
                          </a:solidFill>
                          <a:latin typeface="Tahoma"/>
                        </a:rPr>
                        <a:t>105.6</a:t>
                      </a:r>
                    </a:p>
                  </a:txBody>
                  <a:tcPr marL="36576" marR="36576" marT="27432" marB="27432" anchor="ctr">
                    <a:solidFill>
                      <a:srgbClr val="F8FAFB"/>
                    </a:solidFill>
                  </a:tcPr>
                </a:tc>
                <a:tc>
                  <a:txBody>
                    <a:bodyPr/>
                    <a:lstStyle/>
                    <a:p>
                      <a:pPr algn="ctr"/>
                      <a:r>
                        <a:rPr sz="1400" b="0" i="0">
                          <a:solidFill>
                            <a:srgbClr val="202B33"/>
                          </a:solidFill>
                          <a:latin typeface="Tahoma"/>
                        </a:rPr>
                        <a:t>195.2</a:t>
                      </a:r>
                    </a:p>
                  </a:txBody>
                  <a:tcPr marL="36576" marR="36576" marT="27432" marB="27432" anchor="ctr">
                    <a:solidFill>
                      <a:srgbClr val="F8FAFB"/>
                    </a:solidFill>
                  </a:tcPr>
                </a:tc>
                <a:tc>
                  <a:txBody>
                    <a:bodyPr/>
                    <a:lstStyle/>
                    <a:p>
                      <a:pPr algn="ctr"/>
                      <a:r>
                        <a:rPr sz="1400" b="0" i="0">
                          <a:solidFill>
                            <a:srgbClr val="202B33"/>
                          </a:solidFill>
                          <a:latin typeface="Tahoma"/>
                        </a:rPr>
                        <a:t>466.5</a:t>
                      </a:r>
                    </a:p>
                  </a:txBody>
                  <a:tcPr marL="36576" marR="36576" marT="27432" marB="27432" anchor="ctr">
                    <a:solidFill>
                      <a:srgbClr val="F8FAFB"/>
                    </a:solidFill>
                  </a:tcPr>
                </a:tc>
                <a:tc>
                  <a:txBody>
                    <a:bodyPr/>
                    <a:lstStyle/>
                    <a:p>
                      <a:pPr algn="ctr"/>
                      <a:r>
                        <a:rPr sz="1400" b="0" i="0">
                          <a:solidFill>
                            <a:srgbClr val="202B33"/>
                          </a:solidFill>
                          <a:latin typeface="Tahoma"/>
                        </a:rPr>
                        <a:t>—</a:t>
                      </a:r>
                    </a:p>
                  </a:txBody>
                  <a:tcPr marL="36576" marR="36576" marT="27432" marB="27432" anchor="ctr">
                    <a:solidFill>
                      <a:srgbClr val="F8FAFB"/>
                    </a:solidFill>
                  </a:tcPr>
                </a:tc>
                <a:tc>
                  <a:txBody>
                    <a:bodyPr/>
                    <a:lstStyle/>
                    <a:p>
                      <a:pPr algn="ctr"/>
                      <a:r>
                        <a:rPr sz="1400" b="0" i="0">
                          <a:solidFill>
                            <a:srgbClr val="202B33"/>
                          </a:solidFill>
                          <a:latin typeface="Tahoma"/>
                        </a:rPr>
                        <a:t>596.3</a:t>
                      </a:r>
                    </a:p>
                  </a:txBody>
                  <a:tcPr marL="36576" marR="36576" marT="27432" marB="27432" anchor="ctr">
                    <a:solidFill>
                      <a:srgbClr val="F8FAFB"/>
                    </a:solidFill>
                  </a:tcPr>
                </a:tc>
                <a:tc>
                  <a:txBody>
                    <a:bodyPr/>
                    <a:lstStyle/>
                    <a:p>
                      <a:pPr algn="ctr"/>
                      <a:r>
                        <a:rPr sz="1400" b="0" i="0">
                          <a:solidFill>
                            <a:srgbClr val="202B33"/>
                          </a:solidFill>
                          <a:latin typeface="Tahoma"/>
                        </a:rPr>
                        <a:t>78.5</a:t>
                      </a:r>
                    </a:p>
                  </a:txBody>
                  <a:tcPr marL="36576" marR="36576" marT="27432" marB="27432" anchor="ctr">
                    <a:solidFill>
                      <a:srgbClr val="F8FAFB"/>
                    </a:solidFill>
                  </a:tcPr>
                </a:tc>
                <a:tc>
                  <a:txBody>
                    <a:bodyPr/>
                    <a:lstStyle/>
                    <a:p>
                      <a:pPr algn="ctr"/>
                      <a:r>
                        <a:rPr sz="1400" b="0" i="0">
                          <a:solidFill>
                            <a:srgbClr val="202B33"/>
                          </a:solidFill>
                          <a:latin typeface="Tahoma"/>
                        </a:rPr>
                        <a:t>2.8</a:t>
                      </a:r>
                    </a:p>
                  </a:txBody>
                  <a:tcPr marL="36576" marR="36576" marT="27432" marB="27432" anchor="ctr">
                    <a:solidFill>
                      <a:srgbClr val="F8FAFB"/>
                    </a:solidFill>
                  </a:tcPr>
                </a:tc>
                <a:extLst>
                  <a:ext uri="{0D108BD9-81ED-4DB2-BD59-A6C34878D82A}">
                    <a16:rowId xmlns:a16="http://schemas.microsoft.com/office/drawing/2014/main" val="10004"/>
                  </a:ext>
                </a:extLst>
              </a:tr>
              <a:tr h="545592">
                <a:tc>
                  <a:txBody>
                    <a:bodyPr/>
                    <a:lstStyle/>
                    <a:p>
                      <a:pPr algn="l"/>
                      <a:r>
                        <a:rPr sz="1400" b="1" i="0">
                          <a:solidFill>
                            <a:srgbClr val="202B33"/>
                          </a:solidFill>
                          <a:latin typeface="Tahoma"/>
                        </a:rPr>
                        <a:t>LWC15</a:t>
                      </a:r>
                    </a:p>
                  </a:txBody>
                  <a:tcPr marL="36576" marR="36576" marT="27432" marB="27432" anchor="ctr">
                    <a:solidFill>
                      <a:srgbClr val="EAF2F3"/>
                    </a:solidFill>
                  </a:tcPr>
                </a:tc>
                <a:tc>
                  <a:txBody>
                    <a:bodyPr/>
                    <a:lstStyle/>
                    <a:p>
                      <a:pPr algn="ctr"/>
                      <a:r>
                        <a:rPr sz="1400" b="0" i="0">
                          <a:solidFill>
                            <a:srgbClr val="202B33"/>
                          </a:solidFill>
                          <a:latin typeface="Tahoma"/>
                        </a:rPr>
                        <a:t>422.4</a:t>
                      </a:r>
                    </a:p>
                  </a:txBody>
                  <a:tcPr marL="36576" marR="36576" marT="27432" marB="27432" anchor="ctr">
                    <a:solidFill>
                      <a:srgbClr val="EAF2F3"/>
                    </a:solidFill>
                  </a:tcPr>
                </a:tc>
                <a:tc>
                  <a:txBody>
                    <a:bodyPr/>
                    <a:lstStyle/>
                    <a:p>
                      <a:pPr algn="ctr"/>
                      <a:r>
                        <a:rPr sz="1400" b="0" i="0">
                          <a:solidFill>
                            <a:srgbClr val="202B33"/>
                          </a:solidFill>
                          <a:latin typeface="Tahoma"/>
                        </a:rPr>
                        <a:t>105.6</a:t>
                      </a:r>
                    </a:p>
                  </a:txBody>
                  <a:tcPr marL="36576" marR="36576" marT="27432" marB="27432" anchor="ctr">
                    <a:solidFill>
                      <a:srgbClr val="EAF2F3"/>
                    </a:solidFill>
                  </a:tcPr>
                </a:tc>
                <a:tc>
                  <a:txBody>
                    <a:bodyPr/>
                    <a:lstStyle/>
                    <a:p>
                      <a:pPr algn="ctr"/>
                      <a:r>
                        <a:rPr sz="1400" b="0" i="0">
                          <a:solidFill>
                            <a:srgbClr val="202B33"/>
                          </a:solidFill>
                          <a:latin typeface="Tahoma"/>
                        </a:rPr>
                        <a:t>195.2</a:t>
                      </a:r>
                    </a:p>
                  </a:txBody>
                  <a:tcPr marL="36576" marR="36576" marT="27432" marB="27432" anchor="ctr">
                    <a:solidFill>
                      <a:srgbClr val="EAF2F3"/>
                    </a:solidFill>
                  </a:tcPr>
                </a:tc>
                <a:tc>
                  <a:txBody>
                    <a:bodyPr/>
                    <a:lstStyle/>
                    <a:p>
                      <a:pPr algn="ctr"/>
                      <a:r>
                        <a:rPr sz="1400" b="0" i="0">
                          <a:solidFill>
                            <a:srgbClr val="202B33"/>
                          </a:solidFill>
                          <a:latin typeface="Tahoma"/>
                        </a:rPr>
                        <a:t>466.5</a:t>
                      </a:r>
                    </a:p>
                  </a:txBody>
                  <a:tcPr marL="36576" marR="36576" marT="27432" marB="27432" anchor="ctr">
                    <a:solidFill>
                      <a:srgbClr val="EAF2F3"/>
                    </a:solidFill>
                  </a:tcPr>
                </a:tc>
                <a:tc>
                  <a:txBody>
                    <a:bodyPr/>
                    <a:lstStyle/>
                    <a:p>
                      <a:pPr algn="ctr"/>
                      <a:r>
                        <a:rPr sz="1400" b="0" i="0">
                          <a:solidFill>
                            <a:srgbClr val="202B33"/>
                          </a:solidFill>
                          <a:latin typeface="Tahoma"/>
                        </a:rPr>
                        <a:t>—</a:t>
                      </a:r>
                    </a:p>
                  </a:txBody>
                  <a:tcPr marL="36576" marR="36576" marT="27432" marB="27432" anchor="ctr">
                    <a:solidFill>
                      <a:srgbClr val="EAF2F3"/>
                    </a:solidFill>
                  </a:tcPr>
                </a:tc>
                <a:tc>
                  <a:txBody>
                    <a:bodyPr/>
                    <a:lstStyle/>
                    <a:p>
                      <a:pPr algn="ctr"/>
                      <a:r>
                        <a:rPr sz="1400" b="0" i="0">
                          <a:solidFill>
                            <a:srgbClr val="202B33"/>
                          </a:solidFill>
                          <a:latin typeface="Tahoma"/>
                        </a:rPr>
                        <a:t>596.3</a:t>
                      </a:r>
                    </a:p>
                  </a:txBody>
                  <a:tcPr marL="36576" marR="36576" marT="27432" marB="27432" anchor="ctr">
                    <a:solidFill>
                      <a:srgbClr val="EAF2F3"/>
                    </a:solidFill>
                  </a:tcPr>
                </a:tc>
                <a:tc>
                  <a:txBody>
                    <a:bodyPr/>
                    <a:lstStyle/>
                    <a:p>
                      <a:pPr algn="ctr"/>
                      <a:r>
                        <a:rPr sz="1400" b="0" i="0">
                          <a:solidFill>
                            <a:srgbClr val="202B33"/>
                          </a:solidFill>
                          <a:latin typeface="Tahoma"/>
                        </a:rPr>
                        <a:t>117.8</a:t>
                      </a:r>
                    </a:p>
                  </a:txBody>
                  <a:tcPr marL="36576" marR="36576" marT="27432" marB="27432" anchor="ctr">
                    <a:solidFill>
                      <a:srgbClr val="EAF2F3"/>
                    </a:solidFill>
                  </a:tcPr>
                </a:tc>
                <a:tc>
                  <a:txBody>
                    <a:bodyPr/>
                    <a:lstStyle/>
                    <a:p>
                      <a:pPr algn="ctr"/>
                      <a:r>
                        <a:rPr sz="1400" b="0" i="0" dirty="0">
                          <a:solidFill>
                            <a:srgbClr val="202B33"/>
                          </a:solidFill>
                          <a:latin typeface="Tahoma"/>
                        </a:rPr>
                        <a:t>2.8</a:t>
                      </a:r>
                    </a:p>
                  </a:txBody>
                  <a:tcPr marL="36576" marR="36576" marT="27432" marB="27432" anchor="ctr">
                    <a:solidFill>
                      <a:srgbClr val="EAF2F3"/>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749808" y="4553712"/>
            <a:ext cx="7818120"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All constituent quantities in kg/m³. Extra-water quantity intentionally omitted pending method correction.</a:t>
            </a:r>
          </a:p>
        </p:txBody>
      </p:sp>
      <p:sp>
        <p:nvSpPr>
          <p:cNvPr id="13" name="Rectangle 12"/>
          <p:cNvSpPr/>
          <p:nvPr/>
        </p:nvSpPr>
        <p:spPr>
          <a:xfrm>
            <a:off x="8942832" y="1225296"/>
            <a:ext cx="2377440" cy="4315968"/>
          </a:xfrm>
          <a:prstGeom prst="rect">
            <a:avLst/>
          </a:prstGeom>
          <a:solidFill>
            <a:srgbClr val="FFFFFF"/>
          </a:solidFill>
          <a:ln w="1016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42832" y="1225296"/>
            <a:ext cx="2377440" cy="9144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0" y="1517904"/>
            <a:ext cx="1975104" cy="430887"/>
          </a:xfrm>
          <a:prstGeom prst="rect">
            <a:avLst/>
          </a:prstGeom>
          <a:noFill/>
        </p:spPr>
        <p:txBody>
          <a:bodyPr wrap="square" lIns="0" tIns="0" rIns="0" bIns="0" anchor="t">
            <a:spAutoFit/>
          </a:bodyPr>
          <a:lstStyle/>
          <a:p>
            <a:pPr algn="l">
              <a:lnSpc>
                <a:spcPct val="100000"/>
              </a:lnSpc>
            </a:pPr>
            <a:r>
              <a:rPr sz="1400" b="1" i="0" dirty="0">
                <a:solidFill>
                  <a:srgbClr val="17365D"/>
                </a:solidFill>
                <a:latin typeface="Tahoma"/>
              </a:rPr>
              <a:t>SELECTED EMBODIMENT • LWC15</a:t>
            </a:r>
          </a:p>
        </p:txBody>
      </p:sp>
      <p:sp>
        <p:nvSpPr>
          <p:cNvPr id="16" name="TextBox 15"/>
          <p:cNvSpPr txBox="1"/>
          <p:nvPr/>
        </p:nvSpPr>
        <p:spPr>
          <a:xfrm>
            <a:off x="9144000" y="2240280"/>
            <a:ext cx="1975104" cy="2320892"/>
          </a:xfrm>
          <a:prstGeom prst="rect">
            <a:avLst/>
          </a:prstGeom>
          <a:noFill/>
        </p:spPr>
        <p:txBody>
          <a:bodyPr wrap="square" lIns="0" tIns="0" rIns="0" bIns="0" anchor="t">
            <a:spAutoFit/>
          </a:bodyPr>
          <a:lstStyle/>
          <a:p>
            <a:pPr algn="l">
              <a:lnSpc>
                <a:spcPct val="105000"/>
              </a:lnSpc>
            </a:pPr>
            <a:r>
              <a:rPr sz="1200" b="0" i="0" dirty="0">
                <a:solidFill>
                  <a:srgbClr val="202B33"/>
                </a:solidFill>
                <a:latin typeface="Tahoma"/>
              </a:rPr>
              <a:t>• 1.5% </a:t>
            </a:r>
            <a:r>
              <a:rPr sz="1200" b="0" i="0" dirty="0" err="1">
                <a:solidFill>
                  <a:srgbClr val="202B33"/>
                </a:solidFill>
                <a:latin typeface="Tahoma"/>
              </a:rPr>
              <a:t>fibre</a:t>
            </a:r>
            <a:r>
              <a:rPr sz="1200" b="0" i="0" dirty="0">
                <a:solidFill>
                  <a:srgbClr val="202B33"/>
                </a:solidFill>
                <a:latin typeface="Tahoma"/>
              </a:rPr>
              <a:t> by concrete volume
• 20% GGBS replacement of total binder
• 100% SFA substitution for natural coarse aggregate
• Hooked </a:t>
            </a:r>
            <a:r>
              <a:rPr sz="1200" b="0" i="0" dirty="0" err="1">
                <a:solidFill>
                  <a:srgbClr val="202B33"/>
                </a:solidFill>
                <a:latin typeface="Tahoma"/>
              </a:rPr>
              <a:t>fibre</a:t>
            </a:r>
            <a:r>
              <a:rPr sz="1200" b="0" i="0" dirty="0">
                <a:solidFill>
                  <a:srgbClr val="202B33"/>
                </a:solidFill>
                <a:latin typeface="Tahoma"/>
              </a:rPr>
              <a:t>: 30 mm × 0.5 mm; aspect ratio 60
• Reported density: 1,987 kg/m³
• 28 d compressive strength: 55.4 MPa</a:t>
            </a:r>
          </a:p>
        </p:txBody>
      </p:sp>
      <p:sp>
        <p:nvSpPr>
          <p:cNvPr id="17" name="Rectangle 16"/>
          <p:cNvSpPr/>
          <p:nvPr/>
        </p:nvSpPr>
        <p:spPr>
          <a:xfrm>
            <a:off x="9144000" y="4992624"/>
            <a:ext cx="1975104" cy="310896"/>
          </a:xfrm>
          <a:prstGeom prst="rect">
            <a:avLst/>
          </a:prstGeom>
          <a:solidFill>
            <a:srgbClr val="EAF1F6"/>
          </a:solidFill>
          <a:ln w="63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5064870"/>
            <a:ext cx="1865376" cy="153888"/>
          </a:xfrm>
          <a:prstGeom prst="rect">
            <a:avLst/>
          </a:prstGeom>
          <a:noFill/>
        </p:spPr>
        <p:txBody>
          <a:bodyPr wrap="square" lIns="0" tIns="0" rIns="0" bIns="0" anchor="t">
            <a:spAutoFit/>
          </a:bodyPr>
          <a:lstStyle/>
          <a:p>
            <a:pPr algn="ctr">
              <a:lnSpc>
                <a:spcPct val="100000"/>
              </a:lnSpc>
            </a:pPr>
            <a:r>
              <a:rPr sz="1000" b="1" i="0" dirty="0">
                <a:solidFill>
                  <a:srgbClr val="2E6F9E"/>
                </a:solidFill>
                <a:latin typeface="Tahoma"/>
              </a:rPr>
              <a:t>MIX USED FOR BARRIER MODEL</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Arrow: Pentagon 26">
            <a:extLst>
              <a:ext uri="{FF2B5EF4-FFF2-40B4-BE49-F238E27FC236}">
                <a16:creationId xmlns:a16="http://schemas.microsoft.com/office/drawing/2014/main" id="{8E847CE9-DBE5-7FA8-8200-E488874115EC}"/>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MATERIAL RESULTS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Reported density and 28-day mechanical performance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08</a:t>
            </a:r>
          </a:p>
        </p:txBody>
      </p:sp>
      <p:graphicFrame>
        <p:nvGraphicFramePr>
          <p:cNvPr id="11" name="Chart 10"/>
          <p:cNvGraphicFramePr>
            <a:graphicFrameLocks noGrp="1"/>
          </p:cNvGraphicFramePr>
          <p:nvPr>
            <p:extLst>
              <p:ext uri="{D42A27DB-BD31-4B8C-83A1-F6EECF244321}">
                <p14:modId xmlns:p14="http://schemas.microsoft.com/office/powerpoint/2010/main" val="963979489"/>
              </p:ext>
            </p:extLst>
          </p:nvPr>
        </p:nvGraphicFramePr>
        <p:xfrm>
          <a:off x="658368" y="1316736"/>
          <a:ext cx="3429000" cy="345643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04088" y="1335024"/>
            <a:ext cx="3337560" cy="237744"/>
          </a:xfrm>
          <a:prstGeom prst="rect">
            <a:avLst/>
          </a:prstGeom>
          <a:noFill/>
        </p:spPr>
        <p:txBody>
          <a:bodyPr wrap="square" lIns="0" tIns="0" rIns="0" bIns="0" anchor="t">
            <a:spAutoFit/>
          </a:bodyPr>
          <a:lstStyle/>
          <a:p>
            <a:pPr algn="ctr">
              <a:lnSpc>
                <a:spcPct val="100000"/>
              </a:lnSpc>
            </a:pPr>
            <a:r>
              <a:rPr sz="1030" b="1" i="0">
                <a:solidFill>
                  <a:srgbClr val="17365D"/>
                </a:solidFill>
                <a:latin typeface="Tahoma"/>
              </a:rPr>
              <a:t>Reported density</a:t>
            </a:r>
          </a:p>
        </p:txBody>
      </p:sp>
      <p:graphicFrame>
        <p:nvGraphicFramePr>
          <p:cNvPr id="13" name="Chart 12"/>
          <p:cNvGraphicFramePr>
            <a:graphicFrameLocks noGrp="1"/>
          </p:cNvGraphicFramePr>
          <p:nvPr>
            <p:extLst>
              <p:ext uri="{D42A27DB-BD31-4B8C-83A1-F6EECF244321}">
                <p14:modId xmlns:p14="http://schemas.microsoft.com/office/powerpoint/2010/main" val="2743617792"/>
              </p:ext>
            </p:extLst>
          </p:nvPr>
        </p:nvGraphicFramePr>
        <p:xfrm>
          <a:off x="4370832" y="1316736"/>
          <a:ext cx="3429000" cy="3456432"/>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4416552" y="1335024"/>
            <a:ext cx="3337560" cy="158505"/>
          </a:xfrm>
          <a:prstGeom prst="rect">
            <a:avLst/>
          </a:prstGeom>
          <a:noFill/>
        </p:spPr>
        <p:txBody>
          <a:bodyPr wrap="square" lIns="0" tIns="0" rIns="0" bIns="0" anchor="t">
            <a:spAutoFit/>
          </a:bodyPr>
          <a:lstStyle/>
          <a:p>
            <a:pPr algn="ctr">
              <a:lnSpc>
                <a:spcPct val="100000"/>
              </a:lnSpc>
            </a:pPr>
            <a:r>
              <a:rPr sz="1030" b="1" i="0" dirty="0">
                <a:solidFill>
                  <a:srgbClr val="17365D"/>
                </a:solidFill>
                <a:latin typeface="Tahoma"/>
              </a:rPr>
              <a:t>28</a:t>
            </a:r>
            <a:r>
              <a:rPr lang="en-US" sz="1030" b="1" i="0" dirty="0">
                <a:solidFill>
                  <a:srgbClr val="17365D"/>
                </a:solidFill>
                <a:latin typeface="Tahoma"/>
              </a:rPr>
              <a:t>-</a:t>
            </a:r>
            <a:r>
              <a:rPr sz="1030" b="1" i="0" dirty="0">
                <a:solidFill>
                  <a:srgbClr val="17365D"/>
                </a:solidFill>
                <a:latin typeface="Tahoma"/>
              </a:rPr>
              <a:t>d</a:t>
            </a:r>
            <a:r>
              <a:rPr lang="en-US" sz="1030" b="1" i="0" dirty="0">
                <a:solidFill>
                  <a:srgbClr val="17365D"/>
                </a:solidFill>
                <a:latin typeface="Tahoma"/>
              </a:rPr>
              <a:t>ay</a:t>
            </a:r>
            <a:r>
              <a:rPr sz="1030" b="1" i="0" dirty="0">
                <a:solidFill>
                  <a:srgbClr val="17365D"/>
                </a:solidFill>
                <a:latin typeface="Tahoma"/>
              </a:rPr>
              <a:t> compressive strength</a:t>
            </a:r>
          </a:p>
        </p:txBody>
      </p:sp>
      <p:graphicFrame>
        <p:nvGraphicFramePr>
          <p:cNvPr id="15" name="Chart 14"/>
          <p:cNvGraphicFramePr>
            <a:graphicFrameLocks noGrp="1"/>
          </p:cNvGraphicFramePr>
          <p:nvPr>
            <p:extLst>
              <p:ext uri="{D42A27DB-BD31-4B8C-83A1-F6EECF244321}">
                <p14:modId xmlns:p14="http://schemas.microsoft.com/office/powerpoint/2010/main" val="2752396549"/>
              </p:ext>
            </p:extLst>
          </p:nvPr>
        </p:nvGraphicFramePr>
        <p:xfrm>
          <a:off x="8083296" y="1316736"/>
          <a:ext cx="3429000" cy="3456432"/>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Box 15"/>
          <p:cNvSpPr txBox="1"/>
          <p:nvPr/>
        </p:nvSpPr>
        <p:spPr>
          <a:xfrm>
            <a:off x="8129016" y="1335024"/>
            <a:ext cx="3337560" cy="158505"/>
          </a:xfrm>
          <a:prstGeom prst="rect">
            <a:avLst/>
          </a:prstGeom>
          <a:noFill/>
        </p:spPr>
        <p:txBody>
          <a:bodyPr wrap="square" lIns="0" tIns="0" rIns="0" bIns="0" anchor="t">
            <a:spAutoFit/>
          </a:bodyPr>
          <a:lstStyle/>
          <a:p>
            <a:pPr algn="ctr">
              <a:lnSpc>
                <a:spcPct val="100000"/>
              </a:lnSpc>
            </a:pPr>
            <a:r>
              <a:rPr sz="1030" b="1" i="0" dirty="0">
                <a:solidFill>
                  <a:srgbClr val="17365D"/>
                </a:solidFill>
                <a:latin typeface="Tahoma"/>
              </a:rPr>
              <a:t>28</a:t>
            </a:r>
            <a:r>
              <a:rPr lang="en-US" sz="1030" b="1" i="0" dirty="0">
                <a:solidFill>
                  <a:srgbClr val="17365D"/>
                </a:solidFill>
                <a:latin typeface="Tahoma"/>
              </a:rPr>
              <a:t>-</a:t>
            </a:r>
            <a:r>
              <a:rPr sz="1030" b="1" i="0" dirty="0">
                <a:solidFill>
                  <a:srgbClr val="17365D"/>
                </a:solidFill>
                <a:latin typeface="Tahoma"/>
              </a:rPr>
              <a:t>d</a:t>
            </a:r>
            <a:r>
              <a:rPr lang="en-US" sz="1030" b="1" i="0" dirty="0">
                <a:solidFill>
                  <a:srgbClr val="17365D"/>
                </a:solidFill>
                <a:latin typeface="Tahoma"/>
              </a:rPr>
              <a:t>ay</a:t>
            </a:r>
            <a:r>
              <a:rPr sz="1030" b="1" i="0" dirty="0">
                <a:solidFill>
                  <a:srgbClr val="17365D"/>
                </a:solidFill>
                <a:latin typeface="Tahoma"/>
              </a:rPr>
              <a:t> splitting tensile strength</a:t>
            </a:r>
          </a:p>
        </p:txBody>
      </p:sp>
      <p:sp>
        <p:nvSpPr>
          <p:cNvPr id="17" name="Rectangle 16"/>
          <p:cNvSpPr/>
          <p:nvPr/>
        </p:nvSpPr>
        <p:spPr>
          <a:xfrm>
            <a:off x="1114088" y="5020056"/>
            <a:ext cx="2423160" cy="29260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50664" y="5064884"/>
            <a:ext cx="2350008" cy="184666"/>
          </a:xfrm>
          <a:prstGeom prst="rect">
            <a:avLst/>
          </a:prstGeom>
          <a:noFill/>
        </p:spPr>
        <p:txBody>
          <a:bodyPr wrap="square" lIns="0" tIns="0" rIns="0" bIns="0" anchor="ctr">
            <a:spAutoFit/>
          </a:bodyPr>
          <a:lstStyle/>
          <a:p>
            <a:pPr algn="ctr">
              <a:lnSpc>
                <a:spcPct val="100000"/>
              </a:lnSpc>
            </a:pPr>
            <a:r>
              <a:rPr sz="1200" b="1" i="0" dirty="0">
                <a:solidFill>
                  <a:srgbClr val="2E6F9E"/>
                </a:solidFill>
                <a:latin typeface="Tahoma"/>
              </a:rPr>
              <a:t>LWC15 density −19.4%</a:t>
            </a:r>
          </a:p>
        </p:txBody>
      </p:sp>
      <p:sp>
        <p:nvSpPr>
          <p:cNvPr id="19" name="Rectangle 18"/>
          <p:cNvSpPr/>
          <p:nvPr/>
        </p:nvSpPr>
        <p:spPr>
          <a:xfrm>
            <a:off x="4853984" y="5020056"/>
            <a:ext cx="2423160" cy="292608"/>
          </a:xfrm>
          <a:prstGeom prst="rect">
            <a:avLst/>
          </a:prstGeom>
          <a:solidFill>
            <a:srgbClr val="ECF2ED"/>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0560" y="5064884"/>
            <a:ext cx="2350008" cy="184666"/>
          </a:xfrm>
          <a:prstGeom prst="rect">
            <a:avLst/>
          </a:prstGeom>
          <a:noFill/>
        </p:spPr>
        <p:txBody>
          <a:bodyPr wrap="square" lIns="0" tIns="0" rIns="0" bIns="0" anchor="ctr">
            <a:spAutoFit/>
          </a:bodyPr>
          <a:lstStyle/>
          <a:p>
            <a:pPr algn="ctr">
              <a:lnSpc>
                <a:spcPct val="100000"/>
              </a:lnSpc>
            </a:pPr>
            <a:r>
              <a:rPr sz="1200" b="1" i="0">
                <a:solidFill>
                  <a:srgbClr val="557A60"/>
                </a:solidFill>
                <a:latin typeface="Tahoma"/>
              </a:rPr>
              <a:t>LWC10 max = 56.8 MPa</a:t>
            </a:r>
          </a:p>
        </p:txBody>
      </p:sp>
      <p:sp>
        <p:nvSpPr>
          <p:cNvPr id="21" name="Rectangle 20"/>
          <p:cNvSpPr/>
          <p:nvPr/>
        </p:nvSpPr>
        <p:spPr>
          <a:xfrm>
            <a:off x="8566448" y="5020056"/>
            <a:ext cx="2423160" cy="292608"/>
          </a:xfrm>
          <a:prstGeom prst="rect">
            <a:avLst/>
          </a:prstGeom>
          <a:solidFill>
            <a:srgbClr val="F6EFE4"/>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03023" y="5064884"/>
            <a:ext cx="2350008" cy="184666"/>
          </a:xfrm>
          <a:prstGeom prst="rect">
            <a:avLst/>
          </a:prstGeom>
          <a:noFill/>
        </p:spPr>
        <p:txBody>
          <a:bodyPr wrap="square" lIns="0" tIns="0" rIns="0" bIns="0" anchor="ctr">
            <a:spAutoFit/>
          </a:bodyPr>
          <a:lstStyle/>
          <a:p>
            <a:pPr algn="ctr">
              <a:lnSpc>
                <a:spcPct val="100000"/>
              </a:lnSpc>
            </a:pPr>
            <a:r>
              <a:rPr sz="1200" b="1" i="0">
                <a:solidFill>
                  <a:srgbClr val="B37A30"/>
                </a:solidFill>
                <a:latin typeface="Tahoma"/>
              </a:rPr>
              <a:t>LWC15 tension +76%</a:t>
            </a:r>
          </a:p>
        </p:txBody>
      </p:sp>
      <p:sp>
        <p:nvSpPr>
          <p:cNvPr id="23" name="Rectangle 22"/>
          <p:cNvSpPr/>
          <p:nvPr/>
        </p:nvSpPr>
        <p:spPr>
          <a:xfrm>
            <a:off x="777240" y="5449824"/>
            <a:ext cx="10488168" cy="347472"/>
          </a:xfrm>
          <a:prstGeom prst="rect">
            <a:avLst/>
          </a:prstGeom>
          <a:solidFill>
            <a:srgbClr val="F6EAEC"/>
          </a:solidFill>
          <a:ln w="635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1832" y="5532120"/>
            <a:ext cx="10104120" cy="184666"/>
          </a:xfrm>
          <a:prstGeom prst="rect">
            <a:avLst/>
          </a:prstGeom>
          <a:noFill/>
        </p:spPr>
        <p:txBody>
          <a:bodyPr wrap="square" lIns="0" tIns="0" rIns="0" bIns="0" anchor="t">
            <a:spAutoFit/>
          </a:bodyPr>
          <a:lstStyle/>
          <a:p>
            <a:pPr algn="l">
              <a:lnSpc>
                <a:spcPct val="100000"/>
              </a:lnSpc>
            </a:pPr>
            <a:r>
              <a:rPr sz="1000">
                <a:solidFill/>
                <a:latin typeface="Tahoma"/>
              </a:rPr>
              <a:t>Workability: slump decreased from 165 to 87 mm; fibre dispersion and compaction are scale-up controls.</a:t>
            </a:r>
          </a:p>
        </p:txBody>
      </p:sp>
      <p:cxnSp>
        <p:nvCxnSpPr>
          <p:cNvPr id="28" name="Connector 27"/>
          <p:cNvCxnSpPr/>
          <p:nvPr/>
        </p:nvCxnSpPr>
        <p:spPr>
          <a:xfrm>
            <a:off x="1225295" y="2549347"/>
            <a:ext cx="2679192" cy="0"/>
          </a:xfrm>
          <a:prstGeom prst="line">
            <a:avLst/>
          </a:prstGeom>
          <a:ln w="18415">
            <a:solidFill>
              <a:srgbClr val="2E6F9E"/>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25295" y="2481072"/>
            <a:ext cx="2679192" cy="0"/>
          </a:xfrm>
          <a:prstGeom prst="line">
            <a:avLst/>
          </a:prstGeom>
          <a:ln w="18415">
            <a:solidFill>
              <a:srgbClr val="C1495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25295" y="2139696"/>
            <a:ext cx="2679192" cy="0"/>
          </a:xfrm>
          <a:prstGeom prst="line">
            <a:avLst/>
          </a:prstGeom>
          <a:ln w="18415">
            <a:solidFill>
              <a:srgbClr val="6B728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937760" y="2769928"/>
            <a:ext cx="2679192" cy="0"/>
          </a:xfrm>
          <a:prstGeom prst="line">
            <a:avLst/>
          </a:prstGeom>
          <a:ln w="18415">
            <a:solidFill>
              <a:srgbClr val="C1495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937760" y="2477461"/>
            <a:ext cx="2679192" cy="0"/>
          </a:xfrm>
          <a:prstGeom prst="line">
            <a:avLst/>
          </a:prstGeom>
          <a:ln w="18415">
            <a:solidFill>
              <a:srgbClr val="F4A261"/>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50224" y="3081893"/>
            <a:ext cx="2679192" cy="0"/>
          </a:xfrm>
          <a:prstGeom prst="line">
            <a:avLst/>
          </a:prstGeom>
          <a:ln w="18415">
            <a:solidFill>
              <a:srgbClr val="2E6F9E"/>
            </a:solidFill>
            <a:prstDash val="dashDot"/>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31520" y="5797296"/>
            <a:ext cx="10753344" cy="502920"/>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870448"/>
            <a:ext cx="10424160" cy="347472"/>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Reference lines — Density: 1,920 ACI 213R equilibrium limit; 2,000 project target; 2,400 typical NWC (ASTM C567 basis unresolved). Compression: 40 MPa IRC:119 M40; 48.25 MPa IRC:44 target. Tensile: NWC baseline only.</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Arrow: Pentagon 33">
            <a:extLst>
              <a:ext uri="{FF2B5EF4-FFF2-40B4-BE49-F238E27FC236}">
                <a16:creationId xmlns:a16="http://schemas.microsoft.com/office/drawing/2014/main" id="{F2E6EB5F-98E2-DE89-C2F9-220E4A004D8A}"/>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IMPACT METHODOLOGY</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a:solidFill>
                  <a:srgbClr val="17365D"/>
                </a:solidFill>
                <a:latin typeface="Tahoma"/>
              </a:rPr>
              <a:t>Repeated-impact test and signal-processing method</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09</a:t>
            </a:r>
          </a:p>
        </p:txBody>
      </p:sp>
      <p:sp>
        <p:nvSpPr>
          <p:cNvPr id="11" name="Rectangle 10"/>
          <p:cNvSpPr/>
          <p:nvPr/>
        </p:nvSpPr>
        <p:spPr>
          <a:xfrm>
            <a:off x="658368" y="1225296"/>
            <a:ext cx="4681728" cy="4315968"/>
          </a:xfrm>
          <a:prstGeom prst="rect">
            <a:avLst/>
          </a:prstGeom>
          <a:solidFill>
            <a:srgbClr val="FFFFFF"/>
          </a:solidFill>
          <a:ln w="889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drop_weight_setup_contain.jpg"/>
          <p:cNvPicPr>
            <a:picLocks noChangeAspect="1"/>
          </p:cNvPicPr>
          <p:nvPr/>
        </p:nvPicPr>
        <p:blipFill>
          <a:blip r:embed="rId4"/>
          <a:stretch>
            <a:fillRect/>
          </a:stretch>
        </p:blipFill>
        <p:spPr>
          <a:xfrm>
            <a:off x="758952" y="1325880"/>
            <a:ext cx="4480560" cy="3858768"/>
          </a:xfrm>
          <a:prstGeom prst="rect">
            <a:avLst/>
          </a:prstGeom>
        </p:spPr>
      </p:pic>
      <p:sp>
        <p:nvSpPr>
          <p:cNvPr id="13" name="TextBox 12"/>
          <p:cNvSpPr txBox="1"/>
          <p:nvPr/>
        </p:nvSpPr>
        <p:spPr>
          <a:xfrm>
            <a:off x="667512" y="5230369"/>
            <a:ext cx="4645152" cy="169277"/>
          </a:xfrm>
          <a:prstGeom prst="rect">
            <a:avLst/>
          </a:prstGeom>
          <a:noFill/>
        </p:spPr>
        <p:txBody>
          <a:bodyPr wrap="square" lIns="0" tIns="0" rIns="0" bIns="0" anchor="t">
            <a:spAutoFit/>
          </a:bodyPr>
          <a:lstStyle/>
          <a:p>
            <a:pPr algn="ctr">
              <a:lnSpc>
                <a:spcPct val="100000"/>
              </a:lnSpc>
            </a:pPr>
            <a:r>
              <a:rPr sz="1100" b="1" i="0" dirty="0">
                <a:solidFill>
                  <a:srgbClr val="17365D"/>
                </a:solidFill>
                <a:latin typeface="Tahoma"/>
              </a:rPr>
              <a:t>Figure 4. Repeated drop-weight impact apparatus for prismatic beams</a:t>
            </a:r>
          </a:p>
        </p:txBody>
      </p:sp>
      <p:graphicFrame>
        <p:nvGraphicFramePr>
          <p:cNvPr id="14" name="Table 13"/>
          <p:cNvGraphicFramePr>
            <a:graphicFrameLocks noGrp="1"/>
          </p:cNvGraphicFramePr>
          <p:nvPr>
            <p:extLst>
              <p:ext uri="{D42A27DB-BD31-4B8C-83A1-F6EECF244321}">
                <p14:modId xmlns:p14="http://schemas.microsoft.com/office/powerpoint/2010/main" val="2350990605"/>
              </p:ext>
            </p:extLst>
          </p:nvPr>
        </p:nvGraphicFramePr>
        <p:xfrm>
          <a:off x="5596128" y="1261872"/>
          <a:ext cx="5669279" cy="2432304"/>
        </p:xfrm>
        <a:graphic>
          <a:graphicData uri="http://schemas.openxmlformats.org/drawingml/2006/table">
            <a:tbl>
              <a:tblPr firstRow="1" bandRow="1">
                <a:tableStyleId>{5C22544A-7EE6-4342-B048-85BDC9FD1C3A}</a:tableStyleId>
              </a:tblPr>
              <a:tblGrid>
                <a:gridCol w="2436795">
                  <a:extLst>
                    <a:ext uri="{9D8B030D-6E8A-4147-A177-3AD203B41FA5}">
                      <a16:colId xmlns:a16="http://schemas.microsoft.com/office/drawing/2014/main" val="20000"/>
                    </a:ext>
                  </a:extLst>
                </a:gridCol>
                <a:gridCol w="3232484">
                  <a:extLst>
                    <a:ext uri="{9D8B030D-6E8A-4147-A177-3AD203B41FA5}">
                      <a16:colId xmlns:a16="http://schemas.microsoft.com/office/drawing/2014/main" val="20001"/>
                    </a:ext>
                  </a:extLst>
                </a:gridCol>
              </a:tblGrid>
              <a:tr h="347472">
                <a:tc>
                  <a:txBody>
                    <a:bodyPr/>
                    <a:lstStyle/>
                    <a:p>
                      <a:pPr algn="l"/>
                      <a:r>
                        <a:rPr sz="1200" b="1" i="0" dirty="0">
                          <a:solidFill>
                            <a:srgbClr val="FFFFFF"/>
                          </a:solidFill>
                          <a:latin typeface="Tahoma"/>
                        </a:rPr>
                        <a:t>Parameter</a:t>
                      </a:r>
                    </a:p>
                  </a:txBody>
                  <a:tcPr marL="36576" marR="36576" marT="27432" marB="27432" anchor="ctr">
                    <a:solidFill>
                      <a:srgbClr val="17365D"/>
                    </a:solidFill>
                  </a:tcPr>
                </a:tc>
                <a:tc>
                  <a:txBody>
                    <a:bodyPr/>
                    <a:lstStyle/>
                    <a:p>
                      <a:pPr algn="ctr"/>
                      <a:r>
                        <a:rPr sz="1200" b="1" i="0">
                          <a:solidFill>
                            <a:srgbClr val="FFFFFF"/>
                          </a:solidFill>
                          <a:latin typeface="Tahoma"/>
                        </a:rPr>
                        <a:t>Specified value</a:t>
                      </a:r>
                    </a:p>
                  </a:txBody>
                  <a:tcPr marL="36576" marR="36576" marT="27432" marB="27432" anchor="ctr">
                    <a:solidFill>
                      <a:srgbClr val="17365D"/>
                    </a:solidFill>
                  </a:tcPr>
                </a:tc>
                <a:extLst>
                  <a:ext uri="{0D108BD9-81ED-4DB2-BD59-A6C34878D82A}">
                    <a16:rowId xmlns:a16="http://schemas.microsoft.com/office/drawing/2014/main" val="10000"/>
                  </a:ext>
                </a:extLst>
              </a:tr>
              <a:tr h="347472">
                <a:tc>
                  <a:txBody>
                    <a:bodyPr/>
                    <a:lstStyle/>
                    <a:p>
                      <a:pPr algn="l"/>
                      <a:r>
                        <a:rPr sz="1200" b="1" i="0">
                          <a:solidFill>
                            <a:srgbClr val="202B33"/>
                          </a:solidFill>
                          <a:latin typeface="Tahoma"/>
                        </a:rPr>
                        <a:t>Beam geometry</a:t>
                      </a:r>
                    </a:p>
                  </a:txBody>
                  <a:tcPr marL="36576" marR="36576" marT="27432" marB="27432" anchor="ctr">
                    <a:solidFill>
                      <a:srgbClr val="FFFFFF"/>
                    </a:solidFill>
                  </a:tcPr>
                </a:tc>
                <a:tc>
                  <a:txBody>
                    <a:bodyPr/>
                    <a:lstStyle/>
                    <a:p>
                      <a:pPr algn="ctr"/>
                      <a:r>
                        <a:rPr sz="1200" b="0" i="0">
                          <a:solidFill>
                            <a:srgbClr val="202B33"/>
                          </a:solidFill>
                          <a:latin typeface="Tahoma"/>
                        </a:rPr>
                        <a:t>100 × 100 × 500 mm</a:t>
                      </a:r>
                    </a:p>
                  </a:txBody>
                  <a:tcPr marL="36576" marR="36576" marT="27432" marB="27432" anchor="ctr">
                    <a:solidFill>
                      <a:srgbClr val="FFFFFF"/>
                    </a:solidFill>
                  </a:tcPr>
                </a:tc>
                <a:extLst>
                  <a:ext uri="{0D108BD9-81ED-4DB2-BD59-A6C34878D82A}">
                    <a16:rowId xmlns:a16="http://schemas.microsoft.com/office/drawing/2014/main" val="10001"/>
                  </a:ext>
                </a:extLst>
              </a:tr>
              <a:tr h="347472">
                <a:tc>
                  <a:txBody>
                    <a:bodyPr/>
                    <a:lstStyle/>
                    <a:p>
                      <a:pPr algn="l"/>
                      <a:r>
                        <a:rPr sz="1200" b="1" i="0">
                          <a:solidFill>
                            <a:srgbClr val="202B33"/>
                          </a:solidFill>
                          <a:latin typeface="Tahoma"/>
                        </a:rPr>
                        <a:t>Support span</a:t>
                      </a:r>
                    </a:p>
                  </a:txBody>
                  <a:tcPr marL="36576" marR="36576" marT="27432" marB="27432" anchor="ctr">
                    <a:solidFill>
                      <a:srgbClr val="F8FAFB"/>
                    </a:solidFill>
                  </a:tcPr>
                </a:tc>
                <a:tc>
                  <a:txBody>
                    <a:bodyPr/>
                    <a:lstStyle/>
                    <a:p>
                      <a:pPr algn="ctr"/>
                      <a:r>
                        <a:rPr sz="1200" b="0" i="0">
                          <a:solidFill>
                            <a:srgbClr val="202B33"/>
                          </a:solidFill>
                          <a:latin typeface="Tahoma"/>
                        </a:rPr>
                        <a:t>400 mm</a:t>
                      </a:r>
                    </a:p>
                  </a:txBody>
                  <a:tcPr marL="36576" marR="36576" marT="27432" marB="27432" anchor="ctr">
                    <a:solidFill>
                      <a:srgbClr val="F8FAFB"/>
                    </a:solidFill>
                  </a:tcPr>
                </a:tc>
                <a:extLst>
                  <a:ext uri="{0D108BD9-81ED-4DB2-BD59-A6C34878D82A}">
                    <a16:rowId xmlns:a16="http://schemas.microsoft.com/office/drawing/2014/main" val="10002"/>
                  </a:ext>
                </a:extLst>
              </a:tr>
              <a:tr h="347472">
                <a:tc>
                  <a:txBody>
                    <a:bodyPr/>
                    <a:lstStyle/>
                    <a:p>
                      <a:pPr algn="l"/>
                      <a:r>
                        <a:rPr sz="1200" b="1" i="0">
                          <a:solidFill>
                            <a:srgbClr val="202B33"/>
                          </a:solidFill>
                          <a:latin typeface="Tahoma"/>
                        </a:rPr>
                        <a:t>Drop mass, m</a:t>
                      </a:r>
                    </a:p>
                  </a:txBody>
                  <a:tcPr marL="36576" marR="36576" marT="27432" marB="27432" anchor="ctr">
                    <a:solidFill>
                      <a:srgbClr val="FFFFFF"/>
                    </a:solidFill>
                  </a:tcPr>
                </a:tc>
                <a:tc>
                  <a:txBody>
                    <a:bodyPr/>
                    <a:lstStyle/>
                    <a:p>
                      <a:pPr algn="ctr"/>
                      <a:r>
                        <a:rPr sz="1200" b="0" i="0">
                          <a:solidFill>
                            <a:srgbClr val="202B33"/>
                          </a:solidFill>
                          <a:latin typeface="Tahoma"/>
                        </a:rPr>
                        <a:t>13.5 kg</a:t>
                      </a:r>
                    </a:p>
                  </a:txBody>
                  <a:tcPr marL="36576" marR="36576" marT="27432" marB="27432" anchor="ctr">
                    <a:solidFill>
                      <a:srgbClr val="FFFFFF"/>
                    </a:solidFill>
                  </a:tcPr>
                </a:tc>
                <a:extLst>
                  <a:ext uri="{0D108BD9-81ED-4DB2-BD59-A6C34878D82A}">
                    <a16:rowId xmlns:a16="http://schemas.microsoft.com/office/drawing/2014/main" val="10003"/>
                  </a:ext>
                </a:extLst>
              </a:tr>
              <a:tr h="347472">
                <a:tc>
                  <a:txBody>
                    <a:bodyPr/>
                    <a:lstStyle/>
                    <a:p>
                      <a:pPr algn="l"/>
                      <a:r>
                        <a:rPr sz="1200" b="1" i="0">
                          <a:solidFill>
                            <a:srgbClr val="202B33"/>
                          </a:solidFill>
                          <a:latin typeface="Tahoma"/>
                        </a:rPr>
                        <a:t>Drop height, h</a:t>
                      </a:r>
                    </a:p>
                  </a:txBody>
                  <a:tcPr marL="36576" marR="36576" marT="27432" marB="27432" anchor="ctr">
                    <a:solidFill>
                      <a:srgbClr val="F8FAFB"/>
                    </a:solidFill>
                  </a:tcPr>
                </a:tc>
                <a:tc>
                  <a:txBody>
                    <a:bodyPr/>
                    <a:lstStyle/>
                    <a:p>
                      <a:pPr algn="ctr"/>
                      <a:r>
                        <a:rPr sz="1200" b="0" i="0">
                          <a:solidFill>
                            <a:srgbClr val="202B33"/>
                          </a:solidFill>
                          <a:latin typeface="Tahoma"/>
                        </a:rPr>
                        <a:t>100 mm</a:t>
                      </a:r>
                    </a:p>
                  </a:txBody>
                  <a:tcPr marL="36576" marR="36576" marT="27432" marB="27432" anchor="ctr">
                    <a:solidFill>
                      <a:srgbClr val="F8FAFB"/>
                    </a:solidFill>
                  </a:tcPr>
                </a:tc>
                <a:extLst>
                  <a:ext uri="{0D108BD9-81ED-4DB2-BD59-A6C34878D82A}">
                    <a16:rowId xmlns:a16="http://schemas.microsoft.com/office/drawing/2014/main" val="10004"/>
                  </a:ext>
                </a:extLst>
              </a:tr>
              <a:tr h="347472">
                <a:tc>
                  <a:txBody>
                    <a:bodyPr/>
                    <a:lstStyle/>
                    <a:p>
                      <a:pPr algn="l"/>
                      <a:r>
                        <a:rPr sz="1200" b="1" i="0">
                          <a:solidFill>
                            <a:srgbClr val="202B33"/>
                          </a:solidFill>
                          <a:latin typeface="Tahoma"/>
                        </a:rPr>
                        <a:t>Energy per blow, mgh</a:t>
                      </a:r>
                    </a:p>
                  </a:txBody>
                  <a:tcPr marL="36576" marR="36576" marT="27432" marB="27432" anchor="ctr">
                    <a:solidFill>
                      <a:srgbClr val="FFFFFF"/>
                    </a:solidFill>
                  </a:tcPr>
                </a:tc>
                <a:tc>
                  <a:txBody>
                    <a:bodyPr/>
                    <a:lstStyle/>
                    <a:p>
                      <a:pPr algn="ctr"/>
                      <a:r>
                        <a:rPr sz="1200" b="0" i="0">
                          <a:solidFill>
                            <a:srgbClr val="202B33"/>
                          </a:solidFill>
                          <a:latin typeface="Tahoma"/>
                        </a:rPr>
                        <a:t>13.24 J</a:t>
                      </a:r>
                    </a:p>
                  </a:txBody>
                  <a:tcPr marL="36576" marR="36576" marT="27432" marB="27432" anchor="ctr">
                    <a:solidFill>
                      <a:srgbClr val="FFFFFF"/>
                    </a:solidFill>
                  </a:tcPr>
                </a:tc>
                <a:extLst>
                  <a:ext uri="{0D108BD9-81ED-4DB2-BD59-A6C34878D82A}">
                    <a16:rowId xmlns:a16="http://schemas.microsoft.com/office/drawing/2014/main" val="10005"/>
                  </a:ext>
                </a:extLst>
              </a:tr>
              <a:tr h="347472">
                <a:tc>
                  <a:txBody>
                    <a:bodyPr/>
                    <a:lstStyle/>
                    <a:p>
                      <a:pPr algn="l"/>
                      <a:r>
                        <a:rPr sz="1200" b="1" i="0">
                          <a:solidFill>
                            <a:srgbClr val="202B33"/>
                          </a:solidFill>
                          <a:latin typeface="Tahoma"/>
                        </a:rPr>
                        <a:t>Recorded endpoints</a:t>
                      </a:r>
                    </a:p>
                  </a:txBody>
                  <a:tcPr marL="36576" marR="36576" marT="27432" marB="27432" anchor="ctr">
                    <a:solidFill>
                      <a:srgbClr val="F8FAFB"/>
                    </a:solidFill>
                  </a:tcPr>
                </a:tc>
                <a:tc>
                  <a:txBody>
                    <a:bodyPr/>
                    <a:lstStyle/>
                    <a:p>
                      <a:pPr algn="ctr"/>
                      <a:r>
                        <a:rPr sz="1200" b="0" i="0" dirty="0">
                          <a:solidFill>
                            <a:srgbClr val="202B33"/>
                          </a:solidFill>
                          <a:latin typeface="Tahoma"/>
                        </a:rPr>
                        <a:t>N₁ first crack; N₂ failure</a:t>
                      </a:r>
                    </a:p>
                  </a:txBody>
                  <a:tcPr marL="36576" marR="36576" marT="27432" marB="27432" anchor="ctr">
                    <a:solidFill>
                      <a:srgbClr val="F8FAFB"/>
                    </a:solidFill>
                  </a:tcPr>
                </a:tc>
                <a:extLst>
                  <a:ext uri="{0D108BD9-81ED-4DB2-BD59-A6C34878D82A}">
                    <a16:rowId xmlns:a16="http://schemas.microsoft.com/office/drawing/2014/main" val="10006"/>
                  </a:ext>
                </a:extLst>
              </a:tr>
            </a:tbl>
          </a:graphicData>
        </a:graphic>
      </p:graphicFrame>
      <p:sp>
        <p:nvSpPr>
          <p:cNvPr id="15" name="Rectangle 14"/>
          <p:cNvSpPr/>
          <p:nvPr/>
        </p:nvSpPr>
        <p:spPr>
          <a:xfrm>
            <a:off x="5596128" y="3886200"/>
            <a:ext cx="5669280" cy="612648"/>
          </a:xfrm>
          <a:prstGeom prst="rect">
            <a:avLst/>
          </a:prstGeom>
          <a:solidFill>
            <a:srgbClr val="F6EFE4"/>
          </a:solidFill>
          <a:ln w="8890">
            <a:solidFill>
              <a:srgbClr val="B37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4014215"/>
            <a:ext cx="5193792" cy="246221"/>
          </a:xfrm>
          <a:prstGeom prst="rect">
            <a:avLst/>
          </a:prstGeom>
          <a:noFill/>
        </p:spPr>
        <p:txBody>
          <a:bodyPr wrap="square" lIns="0" tIns="0" rIns="0" bIns="0" anchor="t">
            <a:spAutoFit/>
          </a:bodyPr>
          <a:lstStyle/>
          <a:p>
            <a:pPr algn="ctr">
              <a:lnSpc>
                <a:spcPct val="100000"/>
              </a:lnSpc>
            </a:pPr>
            <a:r>
              <a:rPr sz="1600" b="1" i="0" dirty="0">
                <a:solidFill>
                  <a:srgbClr val="17365D"/>
                </a:solidFill>
                <a:latin typeface="Tahoma"/>
              </a:rPr>
              <a:t>E₁ = </a:t>
            </a:r>
            <a:r>
              <a:rPr sz="1600" b="1" i="0" dirty="0" err="1">
                <a:solidFill>
                  <a:srgbClr val="17365D"/>
                </a:solidFill>
                <a:latin typeface="Tahoma"/>
              </a:rPr>
              <a:t>N₁mgh</a:t>
            </a:r>
            <a:r>
              <a:rPr sz="1600" b="1" i="0" dirty="0">
                <a:solidFill>
                  <a:srgbClr val="17365D"/>
                </a:solidFill>
                <a:latin typeface="Tahoma"/>
              </a:rPr>
              <a:t>   |   E₂ = </a:t>
            </a:r>
            <a:r>
              <a:rPr sz="1600" b="1" i="0" dirty="0" err="1">
                <a:solidFill>
                  <a:srgbClr val="17365D"/>
                </a:solidFill>
                <a:latin typeface="Tahoma"/>
              </a:rPr>
              <a:t>N₂mgh</a:t>
            </a:r>
            <a:r>
              <a:rPr sz="1600" b="1" i="0" dirty="0">
                <a:solidFill>
                  <a:srgbClr val="17365D"/>
                </a:solidFill>
                <a:latin typeface="Tahoma"/>
              </a:rPr>
              <a:t>   |   </a:t>
            </a:r>
            <a:r>
              <a:rPr sz="1600" b="1" i="0" dirty="0" err="1">
                <a:solidFill>
                  <a:srgbClr val="17365D"/>
                </a:solidFill>
                <a:latin typeface="Tahoma"/>
              </a:rPr>
              <a:t>ΔNpost</a:t>
            </a:r>
            <a:r>
              <a:rPr sz="1600" b="1" i="0" dirty="0">
                <a:solidFill>
                  <a:srgbClr val="17365D"/>
                </a:solidFill>
                <a:latin typeface="Tahoma"/>
              </a:rPr>
              <a:t> = N₂ − N₁</a:t>
            </a:r>
          </a:p>
        </p:txBody>
      </p:sp>
      <p:sp>
        <p:nvSpPr>
          <p:cNvPr id="17" name="TextBox 16"/>
          <p:cNvSpPr txBox="1"/>
          <p:nvPr/>
        </p:nvSpPr>
        <p:spPr>
          <a:xfrm>
            <a:off x="5596128" y="4690872"/>
            <a:ext cx="1444752" cy="237744"/>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SIGNAL PROCESSING</a:t>
            </a:r>
          </a:p>
        </p:txBody>
      </p:sp>
      <p:sp>
        <p:nvSpPr>
          <p:cNvPr id="18" name="Rectangle 17"/>
          <p:cNvSpPr/>
          <p:nvPr/>
        </p:nvSpPr>
        <p:spPr>
          <a:xfrm>
            <a:off x="5596128" y="5001768"/>
            <a:ext cx="960120" cy="56692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32704" y="5208288"/>
            <a:ext cx="886968" cy="153888"/>
          </a:xfrm>
          <a:prstGeom prst="rect">
            <a:avLst/>
          </a:prstGeom>
          <a:noFill/>
        </p:spPr>
        <p:txBody>
          <a:bodyPr wrap="square" lIns="0" tIns="0" rIns="0" bIns="0" anchor="ctr">
            <a:spAutoFit/>
          </a:bodyPr>
          <a:lstStyle/>
          <a:p>
            <a:pPr algn="ctr">
              <a:lnSpc>
                <a:spcPct val="100000"/>
              </a:lnSpc>
            </a:pPr>
            <a:r>
              <a:rPr sz="1000" b="1" i="0" dirty="0">
                <a:solidFill>
                  <a:srgbClr val="17365D"/>
                </a:solidFill>
                <a:latin typeface="Tahoma"/>
              </a:rPr>
              <a:t>detrend</a:t>
            </a:r>
          </a:p>
        </p:txBody>
      </p:sp>
      <p:sp>
        <p:nvSpPr>
          <p:cNvPr id="20" name="Chevron 19"/>
          <p:cNvSpPr/>
          <p:nvPr/>
        </p:nvSpPr>
        <p:spPr>
          <a:xfrm>
            <a:off x="6574536"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729984" y="5001768"/>
            <a:ext cx="960120" cy="566928"/>
          </a:xfrm>
          <a:prstGeom prst="rect">
            <a:avLst/>
          </a:prstGeom>
          <a:solidFill>
            <a:srgbClr val="EAF2F3"/>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0" y="5054400"/>
            <a:ext cx="886968" cy="461665"/>
          </a:xfrm>
          <a:prstGeom prst="rect">
            <a:avLst/>
          </a:prstGeom>
          <a:noFill/>
        </p:spPr>
        <p:txBody>
          <a:bodyPr wrap="square" lIns="0" tIns="0" rIns="0" bIns="0" anchor="ctr">
            <a:spAutoFit/>
          </a:bodyPr>
          <a:lstStyle/>
          <a:p>
            <a:pPr algn="ctr">
              <a:lnSpc>
                <a:spcPct val="100000"/>
              </a:lnSpc>
            </a:pPr>
            <a:r>
              <a:rPr sz="1000" b="1" i="0">
                <a:solidFill>
                  <a:srgbClr val="17365D"/>
                </a:solidFill>
                <a:latin typeface="Tahoma"/>
              </a:rPr>
              <a:t>4th-order zero-phase
HP filter, 3 Hz</a:t>
            </a:r>
          </a:p>
        </p:txBody>
      </p:sp>
      <p:sp>
        <p:nvSpPr>
          <p:cNvPr id="23" name="Chevron 22"/>
          <p:cNvSpPr/>
          <p:nvPr/>
        </p:nvSpPr>
        <p:spPr>
          <a:xfrm>
            <a:off x="7708392"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863840" y="5001768"/>
            <a:ext cx="960120" cy="56692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00415" y="5208288"/>
            <a:ext cx="886968" cy="153888"/>
          </a:xfrm>
          <a:prstGeom prst="rect">
            <a:avLst/>
          </a:prstGeom>
          <a:noFill/>
        </p:spPr>
        <p:txBody>
          <a:bodyPr wrap="square" lIns="0" tIns="0" rIns="0" bIns="0" anchor="ctr">
            <a:spAutoFit/>
          </a:bodyPr>
          <a:lstStyle/>
          <a:p>
            <a:pPr algn="ctr">
              <a:lnSpc>
                <a:spcPct val="100000"/>
              </a:lnSpc>
            </a:pPr>
            <a:r>
              <a:rPr sz="1000" b="1" i="0">
                <a:solidFill>
                  <a:srgbClr val="17365D"/>
                </a:solidFill>
                <a:latin typeface="Tahoma"/>
              </a:rPr>
              <a:t>∫a dt → v</a:t>
            </a:r>
          </a:p>
        </p:txBody>
      </p:sp>
      <p:sp>
        <p:nvSpPr>
          <p:cNvPr id="26" name="Chevron 25"/>
          <p:cNvSpPr/>
          <p:nvPr/>
        </p:nvSpPr>
        <p:spPr>
          <a:xfrm>
            <a:off x="8842248"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97696" y="5001768"/>
            <a:ext cx="960120" cy="566928"/>
          </a:xfrm>
          <a:prstGeom prst="rect">
            <a:avLst/>
          </a:prstGeom>
          <a:solidFill>
            <a:srgbClr val="EAF2F3"/>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34272" y="5208288"/>
            <a:ext cx="886968" cy="153888"/>
          </a:xfrm>
          <a:prstGeom prst="rect">
            <a:avLst/>
          </a:prstGeom>
          <a:noFill/>
        </p:spPr>
        <p:txBody>
          <a:bodyPr wrap="square" lIns="0" tIns="0" rIns="0" bIns="0" anchor="ctr">
            <a:spAutoFit/>
          </a:bodyPr>
          <a:lstStyle/>
          <a:p>
            <a:pPr algn="ctr">
              <a:lnSpc>
                <a:spcPct val="100000"/>
              </a:lnSpc>
            </a:pPr>
            <a:r>
              <a:rPr sz="1000" b="1" i="0">
                <a:solidFill>
                  <a:srgbClr val="17365D"/>
                </a:solidFill>
                <a:latin typeface="Tahoma"/>
              </a:rPr>
              <a:t>drift correction</a:t>
            </a:r>
          </a:p>
        </p:txBody>
      </p:sp>
      <p:sp>
        <p:nvSpPr>
          <p:cNvPr id="29" name="Chevron 28"/>
          <p:cNvSpPr/>
          <p:nvPr/>
        </p:nvSpPr>
        <p:spPr>
          <a:xfrm>
            <a:off x="9976104" y="5175504"/>
            <a:ext cx="128016" cy="21945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131552" y="5001768"/>
            <a:ext cx="960120" cy="56692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68128" y="5208288"/>
            <a:ext cx="886968" cy="153888"/>
          </a:xfrm>
          <a:prstGeom prst="rect">
            <a:avLst/>
          </a:prstGeom>
          <a:noFill/>
        </p:spPr>
        <p:txBody>
          <a:bodyPr wrap="square" lIns="0" tIns="0" rIns="0" bIns="0" anchor="ctr">
            <a:spAutoFit/>
          </a:bodyPr>
          <a:lstStyle/>
          <a:p>
            <a:pPr algn="ctr">
              <a:lnSpc>
                <a:spcPct val="100000"/>
              </a:lnSpc>
            </a:pPr>
            <a:r>
              <a:rPr sz="1000" b="1" i="0">
                <a:solidFill>
                  <a:srgbClr val="17365D"/>
                </a:solidFill>
                <a:latin typeface="Tahoma"/>
              </a:rPr>
              <a:t>∫v dt → x</a:t>
            </a:r>
          </a:p>
        </p:txBody>
      </p:sp>
      <p:sp>
        <p:nvSpPr>
          <p:cNvPr id="35" name="TextBox 34"/>
          <p:cNvSpPr txBox="1"/>
          <p:nvPr/>
        </p:nvSpPr>
        <p:spPr>
          <a:xfrm>
            <a:off x="667512" y="5925312"/>
            <a:ext cx="10652760" cy="256032"/>
          </a:xfrm>
          <a:prstGeom prst="rect">
            <a:avLst/>
          </a:prstGeom>
          <a:noFill/>
        </p:spPr>
        <p:txBody>
          <a:bodyPr wrap="square" lIns="0" rIns="0" tIns="0" bIns="0" anchor="ctr">
            <a:spAutoFit/>
          </a:bodyPr>
          <a:lstStyle/>
          <a:p>
            <a:pPr algn="l">
              <a:lnSpc>
                <a:spcPct val="100000"/>
              </a:lnSpc>
            </a:pPr>
            <a:r>
              <a:rPr sz="1000" b="0" i="0">
                <a:solidFill>
                  <a:srgbClr val="000000"/>
                </a:solidFill>
                <a:latin typeface="Tahoma"/>
              </a:rPr>
              <a:t>Source: ACI 544.2R-89, Measurement of Properties of Fiber Reinforced Concrete.</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Arrow: Pentagon 24">
            <a:extLst>
              <a:ext uri="{FF2B5EF4-FFF2-40B4-BE49-F238E27FC236}">
                <a16:creationId xmlns:a16="http://schemas.microsoft.com/office/drawing/2014/main" id="{F1C6F3DF-A46F-0BAB-E9CC-466CBAC8A4FD}"/>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PRISM IMPACT RESULTS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Effect of steel-</a:t>
            </a:r>
            <a:r>
              <a:rPr sz="2400" b="1" i="0" dirty="0" err="1">
                <a:solidFill>
                  <a:srgbClr val="17365D"/>
                </a:solidFill>
                <a:latin typeface="Tahoma"/>
              </a:rPr>
              <a:t>fibre</a:t>
            </a:r>
            <a:r>
              <a:rPr sz="2400" b="1" i="0" dirty="0">
                <a:solidFill>
                  <a:srgbClr val="17365D"/>
                </a:solidFill>
                <a:latin typeface="Tahoma"/>
              </a:rPr>
              <a:t> dosage on repeated-impact endurance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10</a:t>
            </a:r>
          </a:p>
        </p:txBody>
      </p:sp>
      <p:graphicFrame>
        <p:nvGraphicFramePr>
          <p:cNvPr id="11" name="Chart 10"/>
          <p:cNvGraphicFramePr>
            <a:graphicFrameLocks noGrp="1"/>
          </p:cNvGraphicFramePr>
          <p:nvPr>
            <p:extLst>
              <p:ext uri="{D42A27DB-BD31-4B8C-83A1-F6EECF244321}">
                <p14:modId xmlns:p14="http://schemas.microsoft.com/office/powerpoint/2010/main" val="176943270"/>
              </p:ext>
            </p:extLst>
          </p:nvPr>
        </p:nvGraphicFramePr>
        <p:xfrm>
          <a:off x="667512" y="1280160"/>
          <a:ext cx="5504688"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13232" y="1298448"/>
            <a:ext cx="5413248" cy="184666"/>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Tahoma"/>
              </a:rPr>
              <a:t>Failure energy, E₂ (N·m)</a:t>
            </a:r>
          </a:p>
        </p:txBody>
      </p:sp>
      <p:graphicFrame>
        <p:nvGraphicFramePr>
          <p:cNvPr id="13" name="Chart 12"/>
          <p:cNvGraphicFramePr>
            <a:graphicFrameLocks noGrp="1"/>
          </p:cNvGraphicFramePr>
          <p:nvPr>
            <p:extLst>
              <p:ext uri="{D42A27DB-BD31-4B8C-83A1-F6EECF244321}">
                <p14:modId xmlns:p14="http://schemas.microsoft.com/office/powerpoint/2010/main" val="235170775"/>
              </p:ext>
            </p:extLst>
          </p:nvPr>
        </p:nvGraphicFramePr>
        <p:xfrm>
          <a:off x="6446520" y="1280160"/>
          <a:ext cx="5010912" cy="416052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6492240" y="1298448"/>
            <a:ext cx="4919472" cy="184666"/>
          </a:xfrm>
          <a:prstGeom prst="rect">
            <a:avLst/>
          </a:prstGeom>
          <a:noFill/>
        </p:spPr>
        <p:txBody>
          <a:bodyPr wrap="square" lIns="0" tIns="0" rIns="0" bIns="0" anchor="t">
            <a:spAutoFit/>
          </a:bodyPr>
          <a:lstStyle/>
          <a:p>
            <a:pPr algn="ctr">
              <a:lnSpc>
                <a:spcPct val="100000"/>
              </a:lnSpc>
            </a:pPr>
            <a:r>
              <a:rPr sz="1200" b="1" i="0">
                <a:solidFill>
                  <a:srgbClr val="17365D"/>
                </a:solidFill>
                <a:latin typeface="Tahoma"/>
              </a:rPr>
              <a:t>Impact counts</a:t>
            </a:r>
          </a:p>
        </p:txBody>
      </p:sp>
      <p:sp>
        <p:nvSpPr>
          <p:cNvPr id="15" name="Rectangle 14"/>
          <p:cNvSpPr/>
          <p:nvPr/>
        </p:nvSpPr>
        <p:spPr>
          <a:xfrm>
            <a:off x="841248" y="5438212"/>
            <a:ext cx="2240280" cy="292608"/>
          </a:xfrm>
          <a:prstGeom prst="rect">
            <a:avLst/>
          </a:prstGeom>
          <a:solidFill>
            <a:srgbClr val="F6EAEC"/>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5483040"/>
            <a:ext cx="2167128" cy="184666"/>
          </a:xfrm>
          <a:prstGeom prst="rect">
            <a:avLst/>
          </a:prstGeom>
          <a:noFill/>
        </p:spPr>
        <p:txBody>
          <a:bodyPr wrap="square" lIns="0" tIns="0" rIns="0" bIns="0" anchor="ctr">
            <a:spAutoFit/>
          </a:bodyPr>
          <a:lstStyle/>
          <a:p>
            <a:pPr algn="ctr">
              <a:lnSpc>
                <a:spcPct val="100000"/>
              </a:lnSpc>
            </a:pPr>
            <a:r>
              <a:rPr sz="1200" b="1" i="0" dirty="0">
                <a:solidFill>
                  <a:srgbClr val="9A4651"/>
                </a:solidFill>
                <a:latin typeface="Tahoma"/>
              </a:rPr>
              <a:t>55.3× vs NWC</a:t>
            </a:r>
          </a:p>
        </p:txBody>
      </p:sp>
      <p:sp>
        <p:nvSpPr>
          <p:cNvPr id="17" name="Rectangle 16"/>
          <p:cNvSpPr/>
          <p:nvPr/>
        </p:nvSpPr>
        <p:spPr>
          <a:xfrm>
            <a:off x="3291840" y="5438212"/>
            <a:ext cx="2542032" cy="292608"/>
          </a:xfrm>
          <a:prstGeom prst="rect">
            <a:avLst/>
          </a:prstGeom>
          <a:solidFill>
            <a:srgbClr val="F6EFE4"/>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28416" y="5483040"/>
            <a:ext cx="2468879" cy="184666"/>
          </a:xfrm>
          <a:prstGeom prst="rect">
            <a:avLst/>
          </a:prstGeom>
          <a:noFill/>
        </p:spPr>
        <p:txBody>
          <a:bodyPr wrap="square" lIns="0" tIns="0" rIns="0" bIns="0" anchor="ctr">
            <a:spAutoFit/>
          </a:bodyPr>
          <a:lstStyle/>
          <a:p>
            <a:pPr algn="ctr">
              <a:lnSpc>
                <a:spcPct val="100000"/>
              </a:lnSpc>
            </a:pPr>
            <a:r>
              <a:rPr sz="1200" b="1" i="0">
                <a:solidFill>
                  <a:srgbClr val="B37A30"/>
                </a:solidFill>
                <a:latin typeface="Tahoma"/>
              </a:rPr>
              <a:t>110.5× vs plain LWC</a:t>
            </a:r>
          </a:p>
        </p:txBody>
      </p:sp>
      <p:sp>
        <p:nvSpPr>
          <p:cNvPr id="19" name="Rectangle 18"/>
          <p:cNvSpPr/>
          <p:nvPr/>
        </p:nvSpPr>
        <p:spPr>
          <a:xfrm>
            <a:off x="6702552" y="5438212"/>
            <a:ext cx="2029968" cy="292608"/>
          </a:xfrm>
          <a:prstGeom prst="rect">
            <a:avLst/>
          </a:prstGeom>
          <a:solidFill>
            <a:srgbClr val="EAF1F6"/>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39128" y="5483040"/>
            <a:ext cx="1956816" cy="184666"/>
          </a:xfrm>
          <a:prstGeom prst="rect">
            <a:avLst/>
          </a:prstGeom>
          <a:noFill/>
        </p:spPr>
        <p:txBody>
          <a:bodyPr wrap="square" lIns="0" tIns="0" rIns="0" bIns="0" anchor="ctr">
            <a:spAutoFit/>
          </a:bodyPr>
          <a:lstStyle/>
          <a:p>
            <a:pPr algn="ctr">
              <a:lnSpc>
                <a:spcPct val="100000"/>
              </a:lnSpc>
            </a:pPr>
            <a:r>
              <a:rPr sz="1200" b="1" i="0">
                <a:solidFill>
                  <a:srgbClr val="2E6F9E"/>
                </a:solidFill>
                <a:latin typeface="Tahoma"/>
              </a:rPr>
              <a:t>N₂ = 221 blows</a:t>
            </a:r>
          </a:p>
        </p:txBody>
      </p:sp>
      <p:sp>
        <p:nvSpPr>
          <p:cNvPr id="21" name="Rectangle 20"/>
          <p:cNvSpPr/>
          <p:nvPr/>
        </p:nvSpPr>
        <p:spPr>
          <a:xfrm>
            <a:off x="8942832" y="5438212"/>
            <a:ext cx="2103120" cy="292608"/>
          </a:xfrm>
          <a:prstGeom prst="rect">
            <a:avLst/>
          </a:prstGeom>
          <a:solidFill>
            <a:srgbClr val="EAF2F3"/>
          </a:solidFill>
          <a:ln w="635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79407" y="5483040"/>
            <a:ext cx="2029967" cy="184666"/>
          </a:xfrm>
          <a:prstGeom prst="rect">
            <a:avLst/>
          </a:prstGeom>
          <a:noFill/>
        </p:spPr>
        <p:txBody>
          <a:bodyPr wrap="square" lIns="0" tIns="0" rIns="0" bIns="0" anchor="ctr">
            <a:spAutoFit/>
          </a:bodyPr>
          <a:lstStyle/>
          <a:p>
            <a:pPr algn="ctr">
              <a:lnSpc>
                <a:spcPct val="100000"/>
              </a:lnSpc>
            </a:pPr>
            <a:r>
              <a:rPr sz="1200" b="1" i="0">
                <a:solidFill>
                  <a:srgbClr val="3F7E73"/>
                </a:solidFill>
                <a:latin typeface="Tahoma"/>
              </a:rPr>
              <a:t>186 post-crack blows</a:t>
            </a:r>
          </a:p>
        </p:txBody>
      </p:sp>
      <p:cxnSp>
        <p:nvCxnSpPr>
          <p:cNvPr id="26" name="Connector 25"/>
          <p:cNvCxnSpPr/>
          <p:nvPr/>
        </p:nvCxnSpPr>
        <p:spPr>
          <a:xfrm>
            <a:off x="7360005" y="4791884"/>
            <a:ext cx="0" cy="13895"/>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09713" y="4791884"/>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309713" y="4805779"/>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199424" y="4803918"/>
            <a:ext cx="0" cy="13895"/>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149132" y="4803918"/>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149132" y="4817813"/>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038843" y="4755784"/>
            <a:ext cx="0" cy="13895"/>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988551" y="4755784"/>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988551" y="4769679"/>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878263" y="4614318"/>
            <a:ext cx="0" cy="48134"/>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827971" y="4614318"/>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827971" y="4662452"/>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17682" y="4345262"/>
            <a:ext cx="0" cy="104906"/>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667390" y="4345262"/>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67390" y="4450168"/>
            <a:ext cx="100584" cy="0"/>
          </a:xfrm>
          <a:prstGeom prst="line">
            <a:avLst/>
          </a:prstGeom>
          <a:ln w="15240">
            <a:solidFill>
              <a:srgbClr val="00A6C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597749" y="4767817"/>
            <a:ext cx="0" cy="13895"/>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547457" y="4767817"/>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547457" y="4781712"/>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37168" y="4791884"/>
            <a:ext cx="0" cy="13895"/>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386876" y="4791884"/>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386876" y="4805779"/>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76588" y="4534830"/>
            <a:ext cx="0" cy="86775"/>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226296" y="4534830"/>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226296" y="4621605"/>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116007" y="4232758"/>
            <a:ext cx="0" cy="97266"/>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065715" y="4232758"/>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065715" y="4330024"/>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5426" y="1810512"/>
            <a:ext cx="0" cy="724332"/>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905134" y="1810512"/>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905134" y="2534844"/>
            <a:ext cx="100584" cy="0"/>
          </a:xfrm>
          <a:prstGeom prst="line">
            <a:avLst/>
          </a:prstGeom>
          <a:ln w="15240">
            <a:solidFill>
              <a:srgbClr val="17365D"/>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41248" y="5733288"/>
            <a:ext cx="5157216" cy="301752"/>
          </a:xfrm>
          <a:prstGeom prst="rect">
            <a:avLst/>
          </a:prstGeom>
          <a:solidFill>
            <a:srgbClr val="F8E9EC"/>
          </a:solidFill>
          <a:ln w="6350">
            <a:solidFill>
              <a:srgbClr val="C14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9264" y="5806440"/>
            <a:ext cx="4901184" cy="164592"/>
          </a:xfrm>
          <a:prstGeom prst="rect">
            <a:avLst/>
          </a:prstGeom>
          <a:noFill/>
        </p:spPr>
        <p:txBody>
          <a:bodyPr wrap="square" lIns="0" rIns="0" tIns="0" bIns="0" anchor="t">
            <a:spAutoFit/>
          </a:bodyPr>
          <a:lstStyle/>
          <a:p>
            <a:pPr algn="ctr">
              <a:lnSpc>
                <a:spcPct val="100000"/>
              </a:lnSpc>
            </a:pPr>
            <a:r>
              <a:rPr sz="1000" b="1" i="0">
                <a:solidFill>
                  <a:srgbClr val="C14953"/>
                </a:solidFill>
                <a:latin typeface="Tahoma"/>
              </a:rPr>
              <a:t>ACI 544 defines the test method; it gives no N₁/N₂/E₂ acceptance threshold.</a:t>
            </a:r>
          </a:p>
        </p:txBody>
      </p:sp>
      <p:sp>
        <p:nvSpPr>
          <p:cNvPr id="58" name="Rectangle 57"/>
          <p:cNvSpPr/>
          <p:nvPr/>
        </p:nvSpPr>
        <p:spPr>
          <a:xfrm>
            <a:off x="6876288" y="5733288"/>
            <a:ext cx="4279392" cy="301752"/>
          </a:xfrm>
          <a:prstGeom prst="rect">
            <a:avLst/>
          </a:prstGeom>
          <a:solidFill>
            <a:srgbClr val="EAF1F6"/>
          </a:solidFill>
          <a:ln w="63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04304" y="5806440"/>
            <a:ext cx="4023360" cy="164592"/>
          </a:xfrm>
          <a:prstGeom prst="rect">
            <a:avLst/>
          </a:prstGeom>
          <a:noFill/>
        </p:spPr>
        <p:txBody>
          <a:bodyPr wrap="square" lIns="0" rIns="0" tIns="0" bIns="0" anchor="t">
            <a:spAutoFit/>
          </a:bodyPr>
          <a:lstStyle/>
          <a:p>
            <a:pPr algn="ctr">
              <a:lnSpc>
                <a:spcPct val="100000"/>
              </a:lnSpc>
            </a:pPr>
            <a:r>
              <a:rPr sz="1000" b="1" i="0">
                <a:solidFill>
                  <a:srgbClr val="000000"/>
                </a:solidFill>
                <a:latin typeface="Tahoma"/>
              </a:rPr>
              <a:t>Error bars: mean ± 1 sample SD; n = 3</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Arrow: Pentagon 25">
            <a:extLst>
              <a:ext uri="{FF2B5EF4-FFF2-40B4-BE49-F238E27FC236}">
                <a16:creationId xmlns:a16="http://schemas.microsoft.com/office/drawing/2014/main" id="{C30D808A-67CF-16A4-9861-0A7BFAE140CE}"/>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DYNAMIC RESPONSE</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First-impact displacement and inferred dissipation mechanisms</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11</a:t>
            </a:r>
          </a:p>
        </p:txBody>
      </p:sp>
      <p:graphicFrame>
        <p:nvGraphicFramePr>
          <p:cNvPr id="11" name="Chart 10"/>
          <p:cNvGraphicFramePr>
            <a:graphicFrameLocks noGrp="1"/>
          </p:cNvGraphicFramePr>
          <p:nvPr>
            <p:extLst>
              <p:ext uri="{D42A27DB-BD31-4B8C-83A1-F6EECF244321}">
                <p14:modId xmlns:p14="http://schemas.microsoft.com/office/powerpoint/2010/main" val="3746398052"/>
              </p:ext>
            </p:extLst>
          </p:nvPr>
        </p:nvGraphicFramePr>
        <p:xfrm>
          <a:off x="667512" y="1298448"/>
          <a:ext cx="4919472" cy="3977639"/>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13232" y="1316736"/>
            <a:ext cx="4828032" cy="237744"/>
          </a:xfrm>
          <a:prstGeom prst="rect">
            <a:avLst/>
          </a:prstGeom>
          <a:noFill/>
        </p:spPr>
        <p:txBody>
          <a:bodyPr wrap="square" lIns="0" tIns="0" rIns="0" bIns="0" anchor="t">
            <a:spAutoFit/>
          </a:bodyPr>
          <a:lstStyle/>
          <a:p>
            <a:pPr algn="ctr">
              <a:lnSpc>
                <a:spcPct val="100000"/>
              </a:lnSpc>
            </a:pPr>
            <a:r>
              <a:rPr sz="1030" b="1" i="0">
                <a:solidFill>
                  <a:srgbClr val="17365D"/>
                </a:solidFill>
                <a:latin typeface="Tahoma"/>
              </a:rPr>
              <a:t>Peak displacement after first impact</a:t>
            </a:r>
          </a:p>
        </p:txBody>
      </p:sp>
      <p:pic>
        <p:nvPicPr>
          <p:cNvPr id="13" name="Picture 12" descr="sfa_material.jpg"/>
          <p:cNvPicPr>
            <a:picLocks noChangeAspect="1"/>
          </p:cNvPicPr>
          <p:nvPr/>
        </p:nvPicPr>
        <p:blipFill>
          <a:blip r:embed="rId5"/>
          <a:stretch>
            <a:fillRect/>
          </a:stretch>
        </p:blipFill>
        <p:spPr>
          <a:xfrm>
            <a:off x="5851594" y="1353312"/>
            <a:ext cx="1444752" cy="1152144"/>
          </a:xfrm>
          <a:prstGeom prst="rect">
            <a:avLst/>
          </a:prstGeom>
        </p:spPr>
      </p:pic>
      <p:pic>
        <p:nvPicPr>
          <p:cNvPr id="14" name="Picture 13" descr="steel_fibre.jpg"/>
          <p:cNvPicPr>
            <a:picLocks noChangeAspect="1"/>
          </p:cNvPicPr>
          <p:nvPr/>
        </p:nvPicPr>
        <p:blipFill>
          <a:blip r:embed="rId6"/>
          <a:stretch>
            <a:fillRect/>
          </a:stretch>
        </p:blipFill>
        <p:spPr>
          <a:xfrm>
            <a:off x="7761187" y="1353312"/>
            <a:ext cx="1444752" cy="1152144"/>
          </a:xfrm>
          <a:prstGeom prst="rect">
            <a:avLst/>
          </a:prstGeom>
        </p:spPr>
      </p:pic>
      <p:pic>
        <p:nvPicPr>
          <p:cNvPr id="15" name="Picture 14" descr="split_failure_contain.jpg"/>
          <p:cNvPicPr>
            <a:picLocks noChangeAspect="1"/>
          </p:cNvPicPr>
          <p:nvPr/>
        </p:nvPicPr>
        <p:blipFill>
          <a:blip r:embed="rId7"/>
          <a:srcRect l="14623" r="12134"/>
          <a:stretch>
            <a:fillRect/>
          </a:stretch>
        </p:blipFill>
        <p:spPr>
          <a:xfrm>
            <a:off x="9618832" y="1353312"/>
            <a:ext cx="1440000" cy="1152144"/>
          </a:xfrm>
          <a:prstGeom prst="rect">
            <a:avLst/>
          </a:prstGeom>
        </p:spPr>
      </p:pic>
      <p:sp>
        <p:nvSpPr>
          <p:cNvPr id="16" name="TextBox 15"/>
          <p:cNvSpPr txBox="1"/>
          <p:nvPr/>
        </p:nvSpPr>
        <p:spPr>
          <a:xfrm>
            <a:off x="5851594" y="2587752"/>
            <a:ext cx="1444752" cy="184666"/>
          </a:xfrm>
          <a:prstGeom prst="rect">
            <a:avLst/>
          </a:prstGeom>
          <a:noFill/>
        </p:spPr>
        <p:txBody>
          <a:bodyPr wrap="square" lIns="0" tIns="0" rIns="0" bIns="0" anchor="t">
            <a:spAutoFit/>
          </a:bodyPr>
          <a:lstStyle/>
          <a:p>
            <a:pPr algn="ctr">
              <a:lnSpc>
                <a:spcPct val="100000"/>
              </a:lnSpc>
            </a:pPr>
            <a:r>
              <a:rPr sz="1200" b="1" i="0" dirty="0">
                <a:solidFill>
                  <a:srgbClr val="2E6F9E"/>
                </a:solidFill>
                <a:latin typeface="Tahoma"/>
              </a:rPr>
              <a:t>Porous SFA</a:t>
            </a:r>
          </a:p>
        </p:txBody>
      </p:sp>
      <p:sp>
        <p:nvSpPr>
          <p:cNvPr id="17" name="TextBox 16"/>
          <p:cNvSpPr txBox="1"/>
          <p:nvPr/>
        </p:nvSpPr>
        <p:spPr>
          <a:xfrm>
            <a:off x="7761187" y="2587752"/>
            <a:ext cx="1444752" cy="184666"/>
          </a:xfrm>
          <a:prstGeom prst="rect">
            <a:avLst/>
          </a:prstGeom>
          <a:noFill/>
        </p:spPr>
        <p:txBody>
          <a:bodyPr wrap="square" lIns="0" tIns="0" rIns="0" bIns="0" anchor="t">
            <a:spAutoFit/>
          </a:bodyPr>
          <a:lstStyle/>
          <a:p>
            <a:pPr algn="ctr">
              <a:lnSpc>
                <a:spcPct val="100000"/>
              </a:lnSpc>
            </a:pPr>
            <a:r>
              <a:rPr sz="1200" b="1" i="0" dirty="0">
                <a:solidFill>
                  <a:srgbClr val="B37A30"/>
                </a:solidFill>
                <a:latin typeface="Tahoma"/>
              </a:rPr>
              <a:t>Hooked </a:t>
            </a:r>
            <a:r>
              <a:rPr sz="1200" b="1" i="0" dirty="0" err="1">
                <a:solidFill>
                  <a:srgbClr val="B37A30"/>
                </a:solidFill>
                <a:latin typeface="Tahoma"/>
              </a:rPr>
              <a:t>fibres</a:t>
            </a:r>
            <a:endParaRPr sz="1200" b="1" i="0" dirty="0">
              <a:solidFill>
                <a:srgbClr val="B37A30"/>
              </a:solidFill>
              <a:latin typeface="Aptos"/>
            </a:endParaRPr>
          </a:p>
        </p:txBody>
      </p:sp>
      <p:sp>
        <p:nvSpPr>
          <p:cNvPr id="18" name="TextBox 17"/>
          <p:cNvSpPr txBox="1"/>
          <p:nvPr/>
        </p:nvSpPr>
        <p:spPr>
          <a:xfrm>
            <a:off x="9331408" y="2587752"/>
            <a:ext cx="1965960" cy="184666"/>
          </a:xfrm>
          <a:prstGeom prst="rect">
            <a:avLst/>
          </a:prstGeom>
          <a:noFill/>
        </p:spPr>
        <p:txBody>
          <a:bodyPr wrap="square" lIns="0" tIns="0" rIns="0" bIns="0" anchor="t">
            <a:spAutoFit/>
          </a:bodyPr>
          <a:lstStyle/>
          <a:p>
            <a:pPr algn="ctr">
              <a:lnSpc>
                <a:spcPct val="100000"/>
              </a:lnSpc>
            </a:pPr>
            <a:r>
              <a:rPr sz="1200" b="1" i="0">
                <a:solidFill>
                  <a:srgbClr val="3F7E73"/>
                </a:solidFill>
                <a:latin typeface="Tahoma"/>
              </a:rPr>
              <a:t>Controlled crack path</a:t>
            </a:r>
          </a:p>
        </p:txBody>
      </p:sp>
      <p:sp>
        <p:nvSpPr>
          <p:cNvPr id="19" name="Chevron 18"/>
          <p:cNvSpPr/>
          <p:nvPr/>
        </p:nvSpPr>
        <p:spPr>
          <a:xfrm>
            <a:off x="7420029" y="1737360"/>
            <a:ext cx="219456" cy="31089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hevron 19"/>
          <p:cNvSpPr/>
          <p:nvPr/>
        </p:nvSpPr>
        <p:spPr>
          <a:xfrm>
            <a:off x="9291911" y="1737360"/>
            <a:ext cx="219456" cy="310896"/>
          </a:xfrm>
          <a:prstGeom prst="chevron">
            <a:avLst/>
          </a:prstGeom>
          <a:solidFill>
            <a:srgbClr val="CCD6DE"/>
          </a:solidFill>
          <a:ln>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extLst>
              <p:ext uri="{D42A27DB-BD31-4B8C-83A1-F6EECF244321}">
                <p14:modId xmlns:p14="http://schemas.microsoft.com/office/powerpoint/2010/main" val="4095588935"/>
              </p:ext>
            </p:extLst>
          </p:nvPr>
        </p:nvGraphicFramePr>
        <p:xfrm>
          <a:off x="5870448" y="3136392"/>
          <a:ext cx="5276087" cy="1942186"/>
        </p:xfrm>
        <a:graphic>
          <a:graphicData uri="http://schemas.openxmlformats.org/drawingml/2006/table">
            <a:tbl>
              <a:tblPr firstRow="1" bandRow="1">
                <a:tableStyleId>{5C22544A-7EE6-4342-B048-85BDC9FD1C3A}</a:tableStyleId>
              </a:tblPr>
              <a:tblGrid>
                <a:gridCol w="2091422">
                  <a:extLst>
                    <a:ext uri="{9D8B030D-6E8A-4147-A177-3AD203B41FA5}">
                      <a16:colId xmlns:a16="http://schemas.microsoft.com/office/drawing/2014/main" val="20000"/>
                    </a:ext>
                  </a:extLst>
                </a:gridCol>
                <a:gridCol w="3184665">
                  <a:extLst>
                    <a:ext uri="{9D8B030D-6E8A-4147-A177-3AD203B41FA5}">
                      <a16:colId xmlns:a16="http://schemas.microsoft.com/office/drawing/2014/main" val="20001"/>
                    </a:ext>
                  </a:extLst>
                </a:gridCol>
              </a:tblGrid>
              <a:tr h="380390">
                <a:tc>
                  <a:txBody>
                    <a:bodyPr/>
                    <a:lstStyle/>
                    <a:p>
                      <a:pPr algn="l"/>
                      <a:r>
                        <a:rPr sz="1200" b="1" i="0">
                          <a:solidFill>
                            <a:srgbClr val="FFFFFF"/>
                          </a:solidFill>
                          <a:latin typeface="Tahoma"/>
                        </a:rPr>
                        <a:t>Mechanism</a:t>
                      </a:r>
                    </a:p>
                  </a:txBody>
                  <a:tcPr marL="36576" marR="36576" marT="27432" marB="27432" anchor="ctr">
                    <a:solidFill>
                      <a:srgbClr val="17365D"/>
                    </a:solidFill>
                  </a:tcPr>
                </a:tc>
                <a:tc>
                  <a:txBody>
                    <a:bodyPr/>
                    <a:lstStyle/>
                    <a:p>
                      <a:pPr algn="ctr"/>
                      <a:r>
                        <a:rPr sz="1200" b="1" i="0">
                          <a:solidFill>
                            <a:srgbClr val="FFFFFF"/>
                          </a:solidFill>
                          <a:latin typeface="Tahoma"/>
                        </a:rPr>
                        <a:t>Physical interpretation</a:t>
                      </a:r>
                    </a:p>
                  </a:txBody>
                  <a:tcPr marL="36576" marR="36576" marT="27432" marB="27432" anchor="ctr">
                    <a:solidFill>
                      <a:srgbClr val="17365D"/>
                    </a:solidFill>
                  </a:tcPr>
                </a:tc>
                <a:extLst>
                  <a:ext uri="{0D108BD9-81ED-4DB2-BD59-A6C34878D82A}">
                    <a16:rowId xmlns:a16="http://schemas.microsoft.com/office/drawing/2014/main" val="10000"/>
                  </a:ext>
                </a:extLst>
              </a:tr>
              <a:tr h="380390">
                <a:tc>
                  <a:txBody>
                    <a:bodyPr/>
                    <a:lstStyle/>
                    <a:p>
                      <a:pPr algn="l"/>
                      <a:r>
                        <a:rPr sz="1200" b="1" i="0">
                          <a:solidFill>
                            <a:srgbClr val="202B33"/>
                          </a:solidFill>
                          <a:latin typeface="Tahoma"/>
                        </a:rPr>
                        <a:t>Aggregate / porous-phase crushing</a:t>
                      </a:r>
                    </a:p>
                  </a:txBody>
                  <a:tcPr marL="36576" marR="36576" marT="27432" marB="27432" anchor="ctr">
                    <a:solidFill>
                      <a:srgbClr val="FFFFFF"/>
                    </a:solidFill>
                  </a:tcPr>
                </a:tc>
                <a:tc>
                  <a:txBody>
                    <a:bodyPr/>
                    <a:lstStyle/>
                    <a:p>
                      <a:pPr algn="ctr"/>
                      <a:r>
                        <a:rPr sz="1200" b="0" i="0">
                          <a:solidFill>
                            <a:srgbClr val="202B33"/>
                          </a:solidFill>
                          <a:latin typeface="Tahoma"/>
                        </a:rPr>
                        <a:t>Local deformation and energy dissipation</a:t>
                      </a:r>
                    </a:p>
                  </a:txBody>
                  <a:tcPr marL="36576" marR="36576" marT="27432" marB="27432" anchor="ctr">
                    <a:solidFill>
                      <a:srgbClr val="FFFFFF"/>
                    </a:solidFill>
                  </a:tcPr>
                </a:tc>
                <a:extLst>
                  <a:ext uri="{0D108BD9-81ED-4DB2-BD59-A6C34878D82A}">
                    <a16:rowId xmlns:a16="http://schemas.microsoft.com/office/drawing/2014/main" val="10001"/>
                  </a:ext>
                </a:extLst>
              </a:tr>
              <a:tr h="380390">
                <a:tc>
                  <a:txBody>
                    <a:bodyPr/>
                    <a:lstStyle/>
                    <a:p>
                      <a:pPr algn="l"/>
                      <a:r>
                        <a:rPr sz="1200" b="1" i="0">
                          <a:solidFill>
                            <a:srgbClr val="202B33"/>
                          </a:solidFill>
                          <a:latin typeface="Tahoma"/>
                        </a:rPr>
                        <a:t>Crack bridging</a:t>
                      </a:r>
                    </a:p>
                  </a:txBody>
                  <a:tcPr marL="36576" marR="36576" marT="27432" marB="27432" anchor="ctr">
                    <a:solidFill>
                      <a:srgbClr val="F8FAFB"/>
                    </a:solidFill>
                  </a:tcPr>
                </a:tc>
                <a:tc>
                  <a:txBody>
                    <a:bodyPr/>
                    <a:lstStyle/>
                    <a:p>
                      <a:pPr algn="ctr"/>
                      <a:r>
                        <a:rPr sz="1200" b="0" i="0">
                          <a:solidFill>
                            <a:srgbClr val="202B33"/>
                          </a:solidFill>
                          <a:latin typeface="Tahoma"/>
                        </a:rPr>
                        <a:t>Stress transfer across opening cracks</a:t>
                      </a:r>
                    </a:p>
                  </a:txBody>
                  <a:tcPr marL="36576" marR="36576" marT="27432" marB="27432" anchor="ctr">
                    <a:solidFill>
                      <a:srgbClr val="F8FAFB"/>
                    </a:solidFill>
                  </a:tcPr>
                </a:tc>
                <a:extLst>
                  <a:ext uri="{0D108BD9-81ED-4DB2-BD59-A6C34878D82A}">
                    <a16:rowId xmlns:a16="http://schemas.microsoft.com/office/drawing/2014/main" val="10002"/>
                  </a:ext>
                </a:extLst>
              </a:tr>
              <a:tr h="380390">
                <a:tc>
                  <a:txBody>
                    <a:bodyPr/>
                    <a:lstStyle/>
                    <a:p>
                      <a:pPr algn="l"/>
                      <a:r>
                        <a:rPr sz="1200" b="1" i="0">
                          <a:solidFill>
                            <a:srgbClr val="202B33"/>
                          </a:solidFill>
                          <a:latin typeface="Tahoma"/>
                        </a:rPr>
                        <a:t>Debonding and pull-out</a:t>
                      </a:r>
                    </a:p>
                  </a:txBody>
                  <a:tcPr marL="36576" marR="36576" marT="27432" marB="27432" anchor="ctr">
                    <a:solidFill>
                      <a:srgbClr val="FFFFFF"/>
                    </a:solidFill>
                  </a:tcPr>
                </a:tc>
                <a:tc>
                  <a:txBody>
                    <a:bodyPr/>
                    <a:lstStyle/>
                    <a:p>
                      <a:pPr algn="ctr"/>
                      <a:r>
                        <a:rPr sz="1200" b="0" i="0">
                          <a:solidFill>
                            <a:srgbClr val="202B33"/>
                          </a:solidFill>
                          <a:latin typeface="Tahoma"/>
                        </a:rPr>
                        <a:t>Frictional work extends failure process</a:t>
                      </a:r>
                    </a:p>
                  </a:txBody>
                  <a:tcPr marL="36576" marR="36576" marT="27432" marB="27432" anchor="ctr">
                    <a:solidFill>
                      <a:srgbClr val="FFFFFF"/>
                    </a:solidFill>
                  </a:tcPr>
                </a:tc>
                <a:extLst>
                  <a:ext uri="{0D108BD9-81ED-4DB2-BD59-A6C34878D82A}">
                    <a16:rowId xmlns:a16="http://schemas.microsoft.com/office/drawing/2014/main" val="10003"/>
                  </a:ext>
                </a:extLst>
              </a:tr>
              <a:tr h="380392">
                <a:tc>
                  <a:txBody>
                    <a:bodyPr/>
                    <a:lstStyle/>
                    <a:p>
                      <a:pPr algn="l"/>
                      <a:r>
                        <a:rPr sz="1200" b="1" i="0">
                          <a:solidFill>
                            <a:srgbClr val="202B33"/>
                          </a:solidFill>
                          <a:latin typeface="Tahoma"/>
                        </a:rPr>
                        <a:t>Fragment restraint</a:t>
                      </a:r>
                    </a:p>
                  </a:txBody>
                  <a:tcPr marL="36576" marR="36576" marT="27432" marB="27432" anchor="ctr">
                    <a:solidFill>
                      <a:srgbClr val="F8FAFB"/>
                    </a:solidFill>
                  </a:tcPr>
                </a:tc>
                <a:tc>
                  <a:txBody>
                    <a:bodyPr/>
                    <a:lstStyle/>
                    <a:p>
                      <a:pPr algn="ctr"/>
                      <a:r>
                        <a:rPr sz="1200" b="0" i="0" dirty="0">
                          <a:solidFill>
                            <a:srgbClr val="202B33"/>
                          </a:solidFill>
                          <a:latin typeface="Tahoma"/>
                        </a:rPr>
                        <a:t>Improved residual integrity and smaller debris</a:t>
                      </a:r>
                    </a:p>
                  </a:txBody>
                  <a:tcPr marL="36576" marR="36576" marT="27432" marB="27432" anchor="ctr">
                    <a:solidFill>
                      <a:srgbClr val="F8FAFB"/>
                    </a:solidFill>
                  </a:tcPr>
                </a:tc>
                <a:extLst>
                  <a:ext uri="{0D108BD9-81ED-4DB2-BD59-A6C34878D82A}">
                    <a16:rowId xmlns:a16="http://schemas.microsoft.com/office/drawing/2014/main" val="10004"/>
                  </a:ext>
                </a:extLst>
              </a:tr>
            </a:tbl>
          </a:graphicData>
        </a:graphic>
      </p:graphicFrame>
      <p:sp>
        <p:nvSpPr>
          <p:cNvPr id="22" name="Rectangle 21"/>
          <p:cNvSpPr/>
          <p:nvPr/>
        </p:nvSpPr>
        <p:spPr>
          <a:xfrm>
            <a:off x="813816" y="5367528"/>
            <a:ext cx="10332720" cy="347472"/>
          </a:xfrm>
          <a:prstGeom prst="rect">
            <a:avLst/>
          </a:prstGeom>
          <a:solidFill>
            <a:srgbClr val="F6EAEC"/>
          </a:solidFill>
          <a:ln w="635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9264" y="5449824"/>
            <a:ext cx="10021824"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LWC10 has the highest first-impact displacement (0.85 mm); LWC15 is slightly stiffer (0.71 mm) yet vastly more durable under repeated impact.</a:t>
            </a:r>
          </a:p>
        </p:txBody>
      </p:sp>
      <p:sp>
        <p:nvSpPr>
          <p:cNvPr id="27" name="TextBox 26"/>
          <p:cNvSpPr txBox="1"/>
          <p:nvPr/>
        </p:nvSpPr>
        <p:spPr>
          <a:xfrm>
            <a:off x="667512" y="5879592"/>
            <a:ext cx="10652760" cy="256032"/>
          </a:xfrm>
          <a:prstGeom prst="rect">
            <a:avLst/>
          </a:prstGeom>
          <a:noFill/>
        </p:spPr>
        <p:txBody>
          <a:bodyPr wrap="square" lIns="0" rIns="0" tIns="0" bIns="0" anchor="ctr">
            <a:spAutoFit/>
          </a:bodyPr>
          <a:lstStyle/>
          <a:p>
            <a:pPr algn="l">
              <a:lnSpc>
                <a:spcPct val="100000"/>
              </a:lnSpc>
            </a:pPr>
            <a:r>
              <a:rPr sz="1000" b="0" i="0">
                <a:solidFill>
                  <a:srgbClr val="000000"/>
                </a:solidFill>
                <a:latin typeface="Tahoma"/>
              </a:rPr>
              <a:t>Source: Mechanism context: Wang &amp; Wang (2013); Gao et al. (1997), doi:10.1016/S0958-9465(97)00023-1; Sahoo et al. (2020).</a:t>
            </a:r>
          </a:p>
        </p:txBody>
      </p:sp>
      <p:cxnSp>
        <p:nvCxnSpPr>
          <p:cNvPr id="28" name="Connector 27"/>
          <p:cNvCxnSpPr/>
          <p:nvPr/>
        </p:nvCxnSpPr>
        <p:spPr>
          <a:xfrm>
            <a:off x="1234440" y="3899732"/>
            <a:ext cx="4169664" cy="0"/>
          </a:xfrm>
          <a:prstGeom prst="line">
            <a:avLst/>
          </a:prstGeom>
          <a:ln w="18415">
            <a:solidFill>
              <a:srgbClr val="2E6F9E"/>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2960" y="3712463"/>
            <a:ext cx="1051560" cy="182880"/>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NWC baseline</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Arrow: Pentagon 17">
            <a:extLst>
              <a:ext uri="{FF2B5EF4-FFF2-40B4-BE49-F238E27FC236}">
                <a16:creationId xmlns:a16="http://schemas.microsoft.com/office/drawing/2014/main" id="{F776057E-F52A-64CD-AA02-3B01B3A47147}"/>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TECHNO-ECONOMICS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Material cost and laboratory impact-energy efficiency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12</a:t>
            </a:r>
          </a:p>
        </p:txBody>
      </p:sp>
      <p:graphicFrame>
        <p:nvGraphicFramePr>
          <p:cNvPr id="11" name="Chart 10"/>
          <p:cNvGraphicFramePr>
            <a:graphicFrameLocks noGrp="1"/>
          </p:cNvGraphicFramePr>
          <p:nvPr>
            <p:extLst>
              <p:ext uri="{D42A27DB-BD31-4B8C-83A1-F6EECF244321}">
                <p14:modId xmlns:p14="http://schemas.microsoft.com/office/powerpoint/2010/main" val="657792385"/>
              </p:ext>
            </p:extLst>
          </p:nvPr>
        </p:nvGraphicFramePr>
        <p:xfrm>
          <a:off x="676656" y="1183909"/>
          <a:ext cx="5138928" cy="349300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722376" y="1202197"/>
            <a:ext cx="5047488" cy="184666"/>
          </a:xfrm>
          <a:prstGeom prst="rect">
            <a:avLst/>
          </a:prstGeom>
          <a:noFill/>
        </p:spPr>
        <p:txBody>
          <a:bodyPr wrap="square" lIns="0" tIns="0" rIns="0" bIns="0" anchor="t">
            <a:spAutoFit/>
          </a:bodyPr>
          <a:lstStyle/>
          <a:p>
            <a:pPr algn="ctr">
              <a:lnSpc>
                <a:spcPct val="100000"/>
              </a:lnSpc>
            </a:pPr>
            <a:r>
              <a:rPr sz="1200" b="1" i="0">
                <a:solidFill>
                  <a:srgbClr val="17365D"/>
                </a:solidFill>
                <a:latin typeface="Tahoma"/>
              </a:rPr>
              <a:t>Material cost</a:t>
            </a:r>
          </a:p>
        </p:txBody>
      </p:sp>
      <p:graphicFrame>
        <p:nvGraphicFramePr>
          <p:cNvPr id="13" name="Chart 12"/>
          <p:cNvGraphicFramePr>
            <a:graphicFrameLocks noGrp="1"/>
          </p:cNvGraphicFramePr>
          <p:nvPr>
            <p:extLst>
              <p:ext uri="{D42A27DB-BD31-4B8C-83A1-F6EECF244321}">
                <p14:modId xmlns:p14="http://schemas.microsoft.com/office/powerpoint/2010/main" val="2800083566"/>
              </p:ext>
            </p:extLst>
          </p:nvPr>
        </p:nvGraphicFramePr>
        <p:xfrm>
          <a:off x="6181344" y="1183909"/>
          <a:ext cx="5138928" cy="3493008"/>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p:cNvSpPr txBox="1"/>
          <p:nvPr/>
        </p:nvSpPr>
        <p:spPr>
          <a:xfrm>
            <a:off x="6227064" y="1202197"/>
            <a:ext cx="5047488" cy="184666"/>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Tahoma"/>
              </a:rPr>
              <a:t>Laboratory cost / impact energy</a:t>
            </a:r>
          </a:p>
        </p:txBody>
      </p:sp>
      <p:graphicFrame>
        <p:nvGraphicFramePr>
          <p:cNvPr id="15" name="Table 14"/>
          <p:cNvGraphicFramePr>
            <a:graphicFrameLocks noGrp="1"/>
          </p:cNvGraphicFramePr>
          <p:nvPr>
            <p:extLst>
              <p:ext uri="{D42A27DB-BD31-4B8C-83A1-F6EECF244321}">
                <p14:modId xmlns:p14="http://schemas.microsoft.com/office/powerpoint/2010/main" val="3785722775"/>
              </p:ext>
            </p:extLst>
          </p:nvPr>
        </p:nvGraphicFramePr>
        <p:xfrm>
          <a:off x="841248" y="4953784"/>
          <a:ext cx="10222991" cy="786384"/>
        </p:xfrm>
        <a:graphic>
          <a:graphicData uri="http://schemas.openxmlformats.org/drawingml/2006/table">
            <a:tbl>
              <a:tblPr firstRow="1" bandRow="1">
                <a:tableStyleId>{5C22544A-7EE6-4342-B048-85BDC9FD1C3A}</a:tableStyleId>
              </a:tblPr>
              <a:tblGrid>
                <a:gridCol w="2402403">
                  <a:extLst>
                    <a:ext uri="{9D8B030D-6E8A-4147-A177-3AD203B41FA5}">
                      <a16:colId xmlns:a16="http://schemas.microsoft.com/office/drawing/2014/main" val="20000"/>
                    </a:ext>
                  </a:extLst>
                </a:gridCol>
                <a:gridCol w="2300173">
                  <a:extLst>
                    <a:ext uri="{9D8B030D-6E8A-4147-A177-3AD203B41FA5}">
                      <a16:colId xmlns:a16="http://schemas.microsoft.com/office/drawing/2014/main" val="20001"/>
                    </a:ext>
                  </a:extLst>
                </a:gridCol>
                <a:gridCol w="2300173">
                  <a:extLst>
                    <a:ext uri="{9D8B030D-6E8A-4147-A177-3AD203B41FA5}">
                      <a16:colId xmlns:a16="http://schemas.microsoft.com/office/drawing/2014/main" val="20002"/>
                    </a:ext>
                  </a:extLst>
                </a:gridCol>
                <a:gridCol w="3220242">
                  <a:extLst>
                    <a:ext uri="{9D8B030D-6E8A-4147-A177-3AD203B41FA5}">
                      <a16:colId xmlns:a16="http://schemas.microsoft.com/office/drawing/2014/main" val="20003"/>
                    </a:ext>
                  </a:extLst>
                </a:gridCol>
              </a:tblGrid>
              <a:tr h="262128">
                <a:tc>
                  <a:txBody>
                    <a:bodyPr/>
                    <a:lstStyle/>
                    <a:p>
                      <a:pPr algn="l"/>
                      <a:r>
                        <a:rPr sz="1200" b="1" i="0">
                          <a:solidFill>
                            <a:srgbClr val="FFFFFF"/>
                          </a:solidFill>
                          <a:latin typeface="Tahoma"/>
                        </a:rPr>
                        <a:t>Metric</a:t>
                      </a:r>
                    </a:p>
                  </a:txBody>
                  <a:tcPr marL="36576" marR="36576" marT="27432" marB="27432" anchor="ctr">
                    <a:solidFill>
                      <a:srgbClr val="17365D"/>
                    </a:solidFill>
                  </a:tcPr>
                </a:tc>
                <a:tc>
                  <a:txBody>
                    <a:bodyPr/>
                    <a:lstStyle/>
                    <a:p>
                      <a:pPr algn="ctr"/>
                      <a:r>
                        <a:rPr sz="1200" b="1" i="0">
                          <a:solidFill>
                            <a:srgbClr val="FFFFFF"/>
                          </a:solidFill>
                          <a:latin typeface="Tahoma"/>
                        </a:rPr>
                        <a:t>NWC</a:t>
                      </a:r>
                    </a:p>
                  </a:txBody>
                  <a:tcPr marL="36576" marR="36576" marT="27432" marB="27432" anchor="ctr">
                    <a:solidFill>
                      <a:srgbClr val="17365D"/>
                    </a:solidFill>
                  </a:tcPr>
                </a:tc>
                <a:tc>
                  <a:txBody>
                    <a:bodyPr/>
                    <a:lstStyle/>
                    <a:p>
                      <a:pPr algn="ctr"/>
                      <a:r>
                        <a:rPr sz="1200" b="1" i="0">
                          <a:solidFill>
                            <a:srgbClr val="FFFFFF"/>
                          </a:solidFill>
                          <a:latin typeface="Tahoma"/>
                        </a:rPr>
                        <a:t>LWC15</a:t>
                      </a:r>
                    </a:p>
                  </a:txBody>
                  <a:tcPr marL="36576" marR="36576" marT="27432" marB="27432" anchor="ctr">
                    <a:solidFill>
                      <a:srgbClr val="17365D"/>
                    </a:solidFill>
                  </a:tcPr>
                </a:tc>
                <a:tc>
                  <a:txBody>
                    <a:bodyPr/>
                    <a:lstStyle/>
                    <a:p>
                      <a:pPr algn="ctr"/>
                      <a:r>
                        <a:rPr sz="1200" b="1" i="0">
                          <a:solidFill>
                            <a:srgbClr val="FFFFFF"/>
                          </a:solidFill>
                          <a:latin typeface="Tahoma"/>
                        </a:rPr>
                        <a:t>Comparison</a:t>
                      </a:r>
                    </a:p>
                  </a:txBody>
                  <a:tcPr marL="36576" marR="36576" marT="27432" marB="27432" anchor="ctr">
                    <a:solidFill>
                      <a:srgbClr val="17365D"/>
                    </a:solidFill>
                  </a:tcPr>
                </a:tc>
                <a:extLst>
                  <a:ext uri="{0D108BD9-81ED-4DB2-BD59-A6C34878D82A}">
                    <a16:rowId xmlns:a16="http://schemas.microsoft.com/office/drawing/2014/main" val="10000"/>
                  </a:ext>
                </a:extLst>
              </a:tr>
              <a:tr h="262128">
                <a:tc>
                  <a:txBody>
                    <a:bodyPr/>
                    <a:lstStyle/>
                    <a:p>
                      <a:pPr algn="l"/>
                      <a:r>
                        <a:rPr sz="1200" b="1" i="0">
                          <a:solidFill>
                            <a:srgbClr val="202B33"/>
                          </a:solidFill>
                          <a:latin typeface="Tahoma"/>
                        </a:rPr>
                        <a:t>Material cost</a:t>
                      </a:r>
                    </a:p>
                  </a:txBody>
                  <a:tcPr marL="36576" marR="36576" marT="27432" marB="27432" anchor="ctr">
                    <a:solidFill>
                      <a:srgbClr val="FFFFFF"/>
                    </a:solidFill>
                  </a:tcPr>
                </a:tc>
                <a:tc>
                  <a:txBody>
                    <a:bodyPr/>
                    <a:lstStyle/>
                    <a:p>
                      <a:pPr algn="ctr"/>
                      <a:r>
                        <a:rPr sz="1200" b="0" i="0">
                          <a:solidFill>
                            <a:srgbClr val="202B33"/>
                          </a:solidFill>
                          <a:latin typeface="Tahoma"/>
                        </a:rPr>
                        <a:t>₹4,945/m³</a:t>
                      </a:r>
                    </a:p>
                  </a:txBody>
                  <a:tcPr marL="36576" marR="36576" marT="27432" marB="27432" anchor="ctr">
                    <a:solidFill>
                      <a:srgbClr val="FFFFFF"/>
                    </a:solidFill>
                  </a:tcPr>
                </a:tc>
                <a:tc>
                  <a:txBody>
                    <a:bodyPr/>
                    <a:lstStyle/>
                    <a:p>
                      <a:pPr algn="ctr"/>
                      <a:r>
                        <a:rPr sz="1200" b="0" i="0">
                          <a:solidFill>
                            <a:srgbClr val="202B33"/>
                          </a:solidFill>
                          <a:latin typeface="Tahoma"/>
                        </a:rPr>
                        <a:t>₹16,192/m³</a:t>
                      </a:r>
                    </a:p>
                  </a:txBody>
                  <a:tcPr marL="36576" marR="36576" marT="27432" marB="27432" anchor="ctr">
                    <a:solidFill>
                      <a:srgbClr val="FFFFFF"/>
                    </a:solidFill>
                  </a:tcPr>
                </a:tc>
                <a:tc>
                  <a:txBody>
                    <a:bodyPr/>
                    <a:lstStyle/>
                    <a:p>
                      <a:pPr algn="ctr"/>
                      <a:r>
                        <a:rPr sz="1200" b="0" i="0">
                          <a:solidFill>
                            <a:srgbClr val="202B33"/>
                          </a:solidFill>
                          <a:latin typeface="Tahoma"/>
                        </a:rPr>
                        <a:t>3.27× higher</a:t>
                      </a:r>
                    </a:p>
                  </a:txBody>
                  <a:tcPr marL="36576" marR="36576" marT="27432" marB="27432" anchor="ctr">
                    <a:solidFill>
                      <a:srgbClr val="FFFFFF"/>
                    </a:solidFill>
                  </a:tcPr>
                </a:tc>
                <a:extLst>
                  <a:ext uri="{0D108BD9-81ED-4DB2-BD59-A6C34878D82A}">
                    <a16:rowId xmlns:a16="http://schemas.microsoft.com/office/drawing/2014/main" val="10001"/>
                  </a:ext>
                </a:extLst>
              </a:tr>
              <a:tr h="262128">
                <a:tc>
                  <a:txBody>
                    <a:bodyPr/>
                    <a:lstStyle/>
                    <a:p>
                      <a:pPr algn="l"/>
                      <a:r>
                        <a:rPr sz="1200" b="1" i="0">
                          <a:solidFill>
                            <a:srgbClr val="202B33"/>
                          </a:solidFill>
                          <a:latin typeface="Tahoma"/>
                        </a:rPr>
                        <a:t>Cost / prism E₂</a:t>
                      </a:r>
                    </a:p>
                  </a:txBody>
                  <a:tcPr marL="36576" marR="36576" marT="27432" marB="27432" anchor="ctr">
                    <a:solidFill>
                      <a:srgbClr val="EAF2F3"/>
                    </a:solidFill>
                  </a:tcPr>
                </a:tc>
                <a:tc>
                  <a:txBody>
                    <a:bodyPr/>
                    <a:lstStyle/>
                    <a:p>
                      <a:pPr algn="ctr"/>
                      <a:r>
                        <a:rPr sz="1200" b="0" i="0">
                          <a:solidFill>
                            <a:srgbClr val="202B33"/>
                          </a:solidFill>
                          <a:latin typeface="Tahoma"/>
                        </a:rPr>
                        <a:t>₹93.36/(N·m)</a:t>
                      </a:r>
                    </a:p>
                  </a:txBody>
                  <a:tcPr marL="36576" marR="36576" marT="27432" marB="27432" anchor="ctr">
                    <a:solidFill>
                      <a:srgbClr val="EAF2F3"/>
                    </a:solidFill>
                  </a:tcPr>
                </a:tc>
                <a:tc>
                  <a:txBody>
                    <a:bodyPr/>
                    <a:lstStyle/>
                    <a:p>
                      <a:pPr algn="ctr"/>
                      <a:r>
                        <a:rPr sz="1200" b="0" i="0">
                          <a:solidFill>
                            <a:srgbClr val="202B33"/>
                          </a:solidFill>
                          <a:latin typeface="Tahoma"/>
                        </a:rPr>
                        <a:t>₹5.53/(N·m)</a:t>
                      </a:r>
                    </a:p>
                  </a:txBody>
                  <a:tcPr marL="36576" marR="36576" marT="27432" marB="27432" anchor="ctr">
                    <a:solidFill>
                      <a:srgbClr val="EAF2F3"/>
                    </a:solidFill>
                  </a:tcPr>
                </a:tc>
                <a:tc>
                  <a:txBody>
                    <a:bodyPr/>
                    <a:lstStyle/>
                    <a:p>
                      <a:pPr algn="ctr"/>
                      <a:r>
                        <a:rPr sz="1200" b="0" i="0" dirty="0">
                          <a:solidFill>
                            <a:srgbClr val="202B33"/>
                          </a:solidFill>
                          <a:latin typeface="Tahoma"/>
                        </a:rPr>
                        <a:t>16.9× lower unit cost</a:t>
                      </a:r>
                    </a:p>
                  </a:txBody>
                  <a:tcPr marL="36576" marR="36576" marT="27432" marB="27432" anchor="ctr">
                    <a:solidFill>
                      <a:srgbClr val="EAF2F3"/>
                    </a:solidFill>
                  </a:tcPr>
                </a:tc>
                <a:extLst>
                  <a:ext uri="{0D108BD9-81ED-4DB2-BD59-A6C34878D82A}">
                    <a16:rowId xmlns:a16="http://schemas.microsoft.com/office/drawing/2014/main" val="10002"/>
                  </a:ext>
                </a:extLst>
              </a:tr>
            </a:tbl>
          </a:graphicData>
        </a:graphic>
      </p:graphicFrame>
      <p:cxnSp>
        <p:nvCxnSpPr>
          <p:cNvPr id="19" name="Connector 18"/>
          <p:cNvCxnSpPr/>
          <p:nvPr/>
        </p:nvCxnSpPr>
        <p:spPr>
          <a:xfrm>
            <a:off x="6748272" y="2910387"/>
            <a:ext cx="4389120" cy="0"/>
          </a:xfrm>
          <a:prstGeom prst="line">
            <a:avLst/>
          </a:prstGeom>
          <a:ln w="18415">
            <a:solidFill>
              <a:srgbClr val="2E6F9E"/>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966960" y="2743200"/>
            <a:ext cx="1078992" cy="182880"/>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NWC baseline</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Arrow: Pentagon 17">
            <a:extLst>
              <a:ext uri="{FF2B5EF4-FFF2-40B4-BE49-F238E27FC236}">
                <a16:creationId xmlns:a16="http://schemas.microsoft.com/office/drawing/2014/main" id="{292A9302-3AC6-BF19-51F4-ED81943D278E}"/>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SCALED VALIDATION</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One-third-scale New Jersey barrier: geometry and impact protocol</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13</a:t>
            </a:r>
          </a:p>
        </p:txBody>
      </p:sp>
      <p:pic>
        <p:nvPicPr>
          <p:cNvPr id="11" name="Picture 10" descr="barrier_geometry_contain.jpg"/>
          <p:cNvPicPr>
            <a:picLocks noChangeAspect="1"/>
          </p:cNvPicPr>
          <p:nvPr/>
        </p:nvPicPr>
        <p:blipFill>
          <a:blip r:embed="rId4"/>
          <a:stretch>
            <a:fillRect/>
          </a:stretch>
        </p:blipFill>
        <p:spPr>
          <a:xfrm>
            <a:off x="658368" y="1159307"/>
            <a:ext cx="5166360" cy="3493008"/>
          </a:xfrm>
          <a:prstGeom prst="rect">
            <a:avLst/>
          </a:prstGeom>
        </p:spPr>
      </p:pic>
      <p:pic>
        <p:nvPicPr>
          <p:cNvPr id="12" name="Picture 11" descr="pendulum_setup_contain.jpg"/>
          <p:cNvPicPr>
            <a:picLocks noChangeAspect="1"/>
          </p:cNvPicPr>
          <p:nvPr/>
        </p:nvPicPr>
        <p:blipFill>
          <a:blip r:embed="rId5"/>
          <a:stretch>
            <a:fillRect/>
          </a:stretch>
        </p:blipFill>
        <p:spPr>
          <a:xfrm>
            <a:off x="6099048" y="1159307"/>
            <a:ext cx="5166360" cy="3493008"/>
          </a:xfrm>
          <a:prstGeom prst="rect">
            <a:avLst/>
          </a:prstGeom>
        </p:spPr>
      </p:pic>
      <p:sp>
        <p:nvSpPr>
          <p:cNvPr id="13" name="TextBox 12"/>
          <p:cNvSpPr txBox="1"/>
          <p:nvPr/>
        </p:nvSpPr>
        <p:spPr>
          <a:xfrm>
            <a:off x="841248" y="4446529"/>
            <a:ext cx="4800600" cy="184666"/>
          </a:xfrm>
          <a:prstGeom prst="rect">
            <a:avLst/>
          </a:prstGeom>
          <a:noFill/>
        </p:spPr>
        <p:txBody>
          <a:bodyPr wrap="square" lIns="0" tIns="0" rIns="0" bIns="0" anchor="t">
            <a:spAutoFit/>
          </a:bodyPr>
          <a:lstStyle/>
          <a:p>
            <a:pPr algn="ctr">
              <a:lnSpc>
                <a:spcPct val="100000"/>
              </a:lnSpc>
            </a:pPr>
            <a:r>
              <a:rPr sz="1200" b="1" i="0" dirty="0">
                <a:solidFill>
                  <a:srgbClr val="202B33"/>
                </a:solidFill>
                <a:latin typeface="Tahoma"/>
              </a:rPr>
              <a:t>Full-scale and 1:3 </a:t>
            </a:r>
            <a:r>
              <a:rPr lang="en-US" sz="1200" b="1" dirty="0">
                <a:solidFill>
                  <a:srgbClr val="202B33"/>
                </a:solidFill>
                <a:latin typeface="Tahoma"/>
              </a:rPr>
              <a:t>C</a:t>
            </a:r>
            <a:r>
              <a:rPr lang="en-US" sz="1200" b="1" i="0" dirty="0">
                <a:solidFill>
                  <a:srgbClr val="202B33"/>
                </a:solidFill>
                <a:latin typeface="Tahoma"/>
              </a:rPr>
              <a:t>ross-section/reinforcement</a:t>
            </a:r>
            <a:r>
              <a:rPr sz="1200" b="1" i="0" dirty="0">
                <a:solidFill>
                  <a:srgbClr val="202B33"/>
                </a:solidFill>
                <a:latin typeface="Tahoma"/>
              </a:rPr>
              <a:t> geometry</a:t>
            </a:r>
          </a:p>
        </p:txBody>
      </p:sp>
      <p:sp>
        <p:nvSpPr>
          <p:cNvPr id="14" name="TextBox 13"/>
          <p:cNvSpPr txBox="1"/>
          <p:nvPr/>
        </p:nvSpPr>
        <p:spPr>
          <a:xfrm>
            <a:off x="6281928" y="4418250"/>
            <a:ext cx="4800600" cy="184666"/>
          </a:xfrm>
          <a:prstGeom prst="rect">
            <a:avLst/>
          </a:prstGeom>
          <a:noFill/>
        </p:spPr>
        <p:txBody>
          <a:bodyPr wrap="square" lIns="0" tIns="0" rIns="0" bIns="0" anchor="t">
            <a:spAutoFit/>
          </a:bodyPr>
          <a:lstStyle/>
          <a:p>
            <a:pPr algn="ctr">
              <a:lnSpc>
                <a:spcPct val="100000"/>
              </a:lnSpc>
            </a:pPr>
            <a:r>
              <a:rPr sz="1200" b="1" i="0" dirty="0">
                <a:solidFill>
                  <a:srgbClr val="202B33"/>
                </a:solidFill>
                <a:latin typeface="Tahoma"/>
              </a:rPr>
              <a:t>Pendulum rig: restrained specimen; rear-face accelerometer</a:t>
            </a:r>
          </a:p>
        </p:txBody>
      </p:sp>
      <p:graphicFrame>
        <p:nvGraphicFramePr>
          <p:cNvPr id="15" name="Table 14"/>
          <p:cNvGraphicFramePr>
            <a:graphicFrameLocks noGrp="1"/>
          </p:cNvGraphicFramePr>
          <p:nvPr>
            <p:extLst>
              <p:ext uri="{D42A27DB-BD31-4B8C-83A1-F6EECF244321}">
                <p14:modId xmlns:p14="http://schemas.microsoft.com/office/powerpoint/2010/main" val="3573135675"/>
              </p:ext>
            </p:extLst>
          </p:nvPr>
        </p:nvGraphicFramePr>
        <p:xfrm>
          <a:off x="768096" y="4902882"/>
          <a:ext cx="10497308" cy="768096"/>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1553173">
                  <a:extLst>
                    <a:ext uri="{9D8B030D-6E8A-4147-A177-3AD203B41FA5}">
                      <a16:colId xmlns:a16="http://schemas.microsoft.com/office/drawing/2014/main" val="20001"/>
                    </a:ext>
                  </a:extLst>
                </a:gridCol>
                <a:gridCol w="1553173">
                  <a:extLst>
                    <a:ext uri="{9D8B030D-6E8A-4147-A177-3AD203B41FA5}">
                      <a16:colId xmlns:a16="http://schemas.microsoft.com/office/drawing/2014/main" val="20002"/>
                    </a:ext>
                  </a:extLst>
                </a:gridCol>
                <a:gridCol w="1767404">
                  <a:extLst>
                    <a:ext uri="{9D8B030D-6E8A-4147-A177-3AD203B41FA5}">
                      <a16:colId xmlns:a16="http://schemas.microsoft.com/office/drawing/2014/main" val="20003"/>
                    </a:ext>
                  </a:extLst>
                </a:gridCol>
                <a:gridCol w="3749039">
                  <a:extLst>
                    <a:ext uri="{9D8B030D-6E8A-4147-A177-3AD203B41FA5}">
                      <a16:colId xmlns:a16="http://schemas.microsoft.com/office/drawing/2014/main" val="20004"/>
                    </a:ext>
                  </a:extLst>
                </a:gridCol>
              </a:tblGrid>
              <a:tr h="384048">
                <a:tc>
                  <a:txBody>
                    <a:bodyPr/>
                    <a:lstStyle/>
                    <a:p>
                      <a:pPr algn="ctr"/>
                      <a:r>
                        <a:rPr sz="1200" b="1" i="0">
                          <a:solidFill>
                            <a:srgbClr val="FFFFFF"/>
                          </a:solidFill>
                          <a:latin typeface="Tahoma"/>
                        </a:rPr>
                        <a:t>Scale</a:t>
                      </a:r>
                    </a:p>
                  </a:txBody>
                  <a:tcPr marL="36576" marR="36576" marT="27432" marB="27432" anchor="ctr">
                    <a:solidFill>
                      <a:srgbClr val="17365D"/>
                    </a:solidFill>
                  </a:tcPr>
                </a:tc>
                <a:tc>
                  <a:txBody>
                    <a:bodyPr/>
                    <a:lstStyle/>
                    <a:p>
                      <a:pPr algn="ctr"/>
                      <a:r>
                        <a:rPr sz="1200" b="1" i="0">
                          <a:solidFill>
                            <a:srgbClr val="FFFFFF"/>
                          </a:solidFill>
                          <a:latin typeface="Tahoma"/>
                        </a:rPr>
                        <a:t>Impactor mass</a:t>
                      </a:r>
                    </a:p>
                  </a:txBody>
                  <a:tcPr marL="36576" marR="36576" marT="27432" marB="27432" anchor="ctr">
                    <a:solidFill>
                      <a:srgbClr val="17365D"/>
                    </a:solidFill>
                  </a:tcPr>
                </a:tc>
                <a:tc>
                  <a:txBody>
                    <a:bodyPr/>
                    <a:lstStyle/>
                    <a:p>
                      <a:pPr algn="ctr"/>
                      <a:r>
                        <a:rPr sz="1200" b="1" i="0">
                          <a:solidFill>
                            <a:srgbClr val="FFFFFF"/>
                          </a:solidFill>
                          <a:latin typeface="Tahoma"/>
                        </a:rPr>
                        <a:t>Vertical rise</a:t>
                      </a:r>
                    </a:p>
                  </a:txBody>
                  <a:tcPr marL="36576" marR="36576" marT="27432" marB="27432" anchor="ctr">
                    <a:solidFill>
                      <a:srgbClr val="17365D"/>
                    </a:solidFill>
                  </a:tcPr>
                </a:tc>
                <a:tc>
                  <a:txBody>
                    <a:bodyPr/>
                    <a:lstStyle/>
                    <a:p>
                      <a:pPr algn="ctr"/>
                      <a:r>
                        <a:rPr sz="1200" b="1" i="0">
                          <a:solidFill>
                            <a:srgbClr val="FFFFFF"/>
                          </a:solidFill>
                          <a:latin typeface="Tahoma"/>
                        </a:rPr>
                        <a:t>Energy per blow</a:t>
                      </a:r>
                    </a:p>
                  </a:txBody>
                  <a:tcPr marL="36576" marR="36576" marT="27432" marB="27432" anchor="ctr">
                    <a:solidFill>
                      <a:srgbClr val="17365D"/>
                    </a:solidFill>
                  </a:tcPr>
                </a:tc>
                <a:tc>
                  <a:txBody>
                    <a:bodyPr/>
                    <a:lstStyle/>
                    <a:p>
                      <a:pPr algn="ctr"/>
                      <a:r>
                        <a:rPr sz="1200" b="1" i="0">
                          <a:solidFill>
                            <a:srgbClr val="FFFFFF"/>
                          </a:solidFill>
                          <a:latin typeface="Tahoma"/>
                        </a:rPr>
                        <a:t>Comparison / replication</a:t>
                      </a:r>
                    </a:p>
                  </a:txBody>
                  <a:tcPr marL="36576" marR="36576" marT="27432" marB="27432" anchor="ctr">
                    <a:solidFill>
                      <a:srgbClr val="17365D"/>
                    </a:solidFill>
                  </a:tcPr>
                </a:tc>
                <a:extLst>
                  <a:ext uri="{0D108BD9-81ED-4DB2-BD59-A6C34878D82A}">
                    <a16:rowId xmlns:a16="http://schemas.microsoft.com/office/drawing/2014/main" val="10000"/>
                  </a:ext>
                </a:extLst>
              </a:tr>
              <a:tr h="384048">
                <a:tc>
                  <a:txBody>
                    <a:bodyPr/>
                    <a:lstStyle/>
                    <a:p>
                      <a:pPr algn="ctr"/>
                      <a:r>
                        <a:rPr sz="1200" b="1" i="0">
                          <a:solidFill>
                            <a:srgbClr val="202B33"/>
                          </a:solidFill>
                          <a:latin typeface="Tahoma"/>
                        </a:rPr>
                        <a:t>1:3 geometric model</a:t>
                      </a:r>
                    </a:p>
                  </a:txBody>
                  <a:tcPr marL="36576" marR="36576" marT="27432" marB="27432" anchor="ctr">
                    <a:solidFill>
                      <a:srgbClr val="FFFFFF"/>
                    </a:solidFill>
                  </a:tcPr>
                </a:tc>
                <a:tc>
                  <a:txBody>
                    <a:bodyPr/>
                    <a:lstStyle/>
                    <a:p>
                      <a:pPr algn="ctr"/>
                      <a:r>
                        <a:rPr sz="1200" b="0" i="0">
                          <a:solidFill>
                            <a:srgbClr val="202B33"/>
                          </a:solidFill>
                          <a:latin typeface="Tahoma"/>
                        </a:rPr>
                        <a:t>40 kg</a:t>
                      </a:r>
                    </a:p>
                  </a:txBody>
                  <a:tcPr marL="36576" marR="36576" marT="27432" marB="27432" anchor="ctr">
                    <a:solidFill>
                      <a:srgbClr val="FFFFFF"/>
                    </a:solidFill>
                  </a:tcPr>
                </a:tc>
                <a:tc>
                  <a:txBody>
                    <a:bodyPr/>
                    <a:lstStyle/>
                    <a:p>
                      <a:pPr algn="ctr"/>
                      <a:r>
                        <a:rPr sz="1200" b="0" i="0">
                          <a:solidFill>
                            <a:srgbClr val="202B33"/>
                          </a:solidFill>
                          <a:latin typeface="Tahoma"/>
                        </a:rPr>
                        <a:t>0.35 m</a:t>
                      </a:r>
                    </a:p>
                  </a:txBody>
                  <a:tcPr marL="36576" marR="36576" marT="27432" marB="27432" anchor="ctr">
                    <a:solidFill>
                      <a:srgbClr val="FFFFFF"/>
                    </a:solidFill>
                  </a:tcPr>
                </a:tc>
                <a:tc>
                  <a:txBody>
                    <a:bodyPr/>
                    <a:lstStyle/>
                    <a:p>
                      <a:pPr algn="ctr"/>
                      <a:r>
                        <a:rPr sz="1200" b="0" i="0">
                          <a:solidFill>
                            <a:srgbClr val="202B33"/>
                          </a:solidFill>
                          <a:latin typeface="Tahoma"/>
                        </a:rPr>
                        <a:t>≈137.3 J</a:t>
                      </a:r>
                    </a:p>
                  </a:txBody>
                  <a:tcPr marL="36576" marR="36576" marT="27432" marB="27432" anchor="ctr">
                    <a:solidFill>
                      <a:srgbClr val="FFFFFF"/>
                    </a:solidFill>
                  </a:tcPr>
                </a:tc>
                <a:tc>
                  <a:txBody>
                    <a:bodyPr/>
                    <a:lstStyle/>
                    <a:p>
                      <a:pPr algn="ctr"/>
                      <a:r>
                        <a:rPr sz="1200" b="0" i="0" dirty="0">
                          <a:solidFill>
                            <a:srgbClr val="202B33"/>
                          </a:solidFill>
                          <a:latin typeface="Tahoma"/>
                        </a:rPr>
                        <a:t>1 NWC and 1 selected LWC barrier</a:t>
                      </a:r>
                    </a:p>
                  </a:txBody>
                  <a:tcPr marL="36576" marR="36576" marT="27432" marB="27432" anchor="ct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Arrow: Pentagon 20">
            <a:extLst>
              <a:ext uri="{FF2B5EF4-FFF2-40B4-BE49-F238E27FC236}">
                <a16:creationId xmlns:a16="http://schemas.microsoft.com/office/drawing/2014/main" id="{A9E9AB4E-AFA5-CA27-E8BE-8EE29140B87A}"/>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BARRIER RESULTS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Scaled-barrier impact response and failure morphology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14</a:t>
            </a:r>
          </a:p>
        </p:txBody>
      </p:sp>
      <p:pic>
        <p:nvPicPr>
          <p:cNvPr id="11" name="Picture 10" descr="barrier_failure_contain.jpg"/>
          <p:cNvPicPr>
            <a:picLocks noChangeAspect="1"/>
          </p:cNvPicPr>
          <p:nvPr/>
        </p:nvPicPr>
        <p:blipFill>
          <a:blip r:embed="rId4"/>
          <a:srcRect l="12231" r="11798"/>
          <a:stretch>
            <a:fillRect/>
          </a:stretch>
        </p:blipFill>
        <p:spPr>
          <a:xfrm>
            <a:off x="716281" y="1252728"/>
            <a:ext cx="4732412" cy="4142232"/>
          </a:xfrm>
          <a:prstGeom prst="rect">
            <a:avLst/>
          </a:prstGeom>
        </p:spPr>
      </p:pic>
      <p:graphicFrame>
        <p:nvGraphicFramePr>
          <p:cNvPr id="12" name="Chart 11"/>
          <p:cNvGraphicFramePr>
            <a:graphicFrameLocks noGrp="1"/>
          </p:cNvGraphicFramePr>
          <p:nvPr>
            <p:extLst>
              <p:ext uri="{D42A27DB-BD31-4B8C-83A1-F6EECF244321}">
                <p14:modId xmlns:p14="http://schemas.microsoft.com/office/powerpoint/2010/main" val="3820297243"/>
              </p:ext>
            </p:extLst>
          </p:nvPr>
        </p:nvGraphicFramePr>
        <p:xfrm>
          <a:off x="5945952" y="1138754"/>
          <a:ext cx="2821822" cy="310831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p:cNvSpPr txBox="1"/>
          <p:nvPr/>
        </p:nvSpPr>
        <p:spPr>
          <a:xfrm>
            <a:off x="5991671" y="1157042"/>
            <a:ext cx="2719951" cy="184666"/>
          </a:xfrm>
          <a:prstGeom prst="rect">
            <a:avLst/>
          </a:prstGeom>
          <a:noFill/>
        </p:spPr>
        <p:txBody>
          <a:bodyPr wrap="square" lIns="0" tIns="0" rIns="0" bIns="0" anchor="t">
            <a:spAutoFit/>
          </a:bodyPr>
          <a:lstStyle/>
          <a:p>
            <a:pPr algn="ctr">
              <a:lnSpc>
                <a:spcPct val="100000"/>
              </a:lnSpc>
            </a:pPr>
            <a:r>
              <a:rPr sz="1200" b="1" i="0">
                <a:solidFill>
                  <a:srgbClr val="17365D"/>
                </a:solidFill>
                <a:latin typeface="Tahoma"/>
              </a:rPr>
              <a:t>Energy to failure</a:t>
            </a:r>
          </a:p>
        </p:txBody>
      </p:sp>
      <p:graphicFrame>
        <p:nvGraphicFramePr>
          <p:cNvPr id="14" name="Chart 13"/>
          <p:cNvGraphicFramePr>
            <a:graphicFrameLocks noGrp="1"/>
          </p:cNvGraphicFramePr>
          <p:nvPr>
            <p:extLst>
              <p:ext uri="{D42A27DB-BD31-4B8C-83A1-F6EECF244321}">
                <p14:modId xmlns:p14="http://schemas.microsoft.com/office/powerpoint/2010/main" val="1708499967"/>
              </p:ext>
            </p:extLst>
          </p:nvPr>
        </p:nvGraphicFramePr>
        <p:xfrm>
          <a:off x="8867416" y="1138754"/>
          <a:ext cx="2821822" cy="3108315"/>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p:cNvSpPr txBox="1"/>
          <p:nvPr/>
        </p:nvSpPr>
        <p:spPr>
          <a:xfrm>
            <a:off x="8913135" y="1157042"/>
            <a:ext cx="2719951" cy="184666"/>
          </a:xfrm>
          <a:prstGeom prst="rect">
            <a:avLst/>
          </a:prstGeom>
          <a:noFill/>
        </p:spPr>
        <p:txBody>
          <a:bodyPr wrap="square" lIns="0" tIns="0" rIns="0" bIns="0" anchor="t">
            <a:spAutoFit/>
          </a:bodyPr>
          <a:lstStyle/>
          <a:p>
            <a:pPr algn="ctr">
              <a:lnSpc>
                <a:spcPct val="100000"/>
              </a:lnSpc>
            </a:pPr>
            <a:r>
              <a:rPr sz="1200" b="1" i="0" dirty="0">
                <a:solidFill>
                  <a:srgbClr val="17365D"/>
                </a:solidFill>
                <a:latin typeface="Tahoma"/>
              </a:rPr>
              <a:t>Peak deformation</a:t>
            </a:r>
          </a:p>
        </p:txBody>
      </p:sp>
      <p:graphicFrame>
        <p:nvGraphicFramePr>
          <p:cNvPr id="16" name="Table 15"/>
          <p:cNvGraphicFramePr>
            <a:graphicFrameLocks noGrp="1"/>
          </p:cNvGraphicFramePr>
          <p:nvPr>
            <p:extLst>
              <p:ext uri="{D42A27DB-BD31-4B8C-83A1-F6EECF244321}">
                <p14:modId xmlns:p14="http://schemas.microsoft.com/office/powerpoint/2010/main" val="3108841204"/>
              </p:ext>
            </p:extLst>
          </p:nvPr>
        </p:nvGraphicFramePr>
        <p:xfrm>
          <a:off x="5901179" y="4389120"/>
          <a:ext cx="5574540" cy="1024128"/>
        </p:xfrm>
        <a:graphic>
          <a:graphicData uri="http://schemas.openxmlformats.org/drawingml/2006/table">
            <a:tbl>
              <a:tblPr firstRow="1" bandRow="1">
                <a:tableStyleId>{5C22544A-7EE6-4342-B048-85BDC9FD1C3A}</a:tableStyleId>
              </a:tblPr>
              <a:tblGrid>
                <a:gridCol w="1943302">
                  <a:extLst>
                    <a:ext uri="{9D8B030D-6E8A-4147-A177-3AD203B41FA5}">
                      <a16:colId xmlns:a16="http://schemas.microsoft.com/office/drawing/2014/main" val="20000"/>
                    </a:ext>
                  </a:extLst>
                </a:gridCol>
                <a:gridCol w="1194486">
                  <a:extLst>
                    <a:ext uri="{9D8B030D-6E8A-4147-A177-3AD203B41FA5}">
                      <a16:colId xmlns:a16="http://schemas.microsoft.com/office/drawing/2014/main" val="20001"/>
                    </a:ext>
                  </a:extLst>
                </a:gridCol>
                <a:gridCol w="1290045">
                  <a:extLst>
                    <a:ext uri="{9D8B030D-6E8A-4147-A177-3AD203B41FA5}">
                      <a16:colId xmlns:a16="http://schemas.microsoft.com/office/drawing/2014/main" val="20002"/>
                    </a:ext>
                  </a:extLst>
                </a:gridCol>
                <a:gridCol w="1146707">
                  <a:extLst>
                    <a:ext uri="{9D8B030D-6E8A-4147-A177-3AD203B41FA5}">
                      <a16:colId xmlns:a16="http://schemas.microsoft.com/office/drawing/2014/main" val="20003"/>
                    </a:ext>
                  </a:extLst>
                </a:gridCol>
              </a:tblGrid>
              <a:tr h="256032">
                <a:tc>
                  <a:txBody>
                    <a:bodyPr/>
                    <a:lstStyle/>
                    <a:p>
                      <a:pPr algn="l"/>
                      <a:r>
                        <a:rPr sz="1200" b="1" i="0">
                          <a:solidFill>
                            <a:srgbClr val="FFFFFF"/>
                          </a:solidFill>
                          <a:latin typeface="Tahoma"/>
                        </a:rPr>
                        <a:t>Response</a:t>
                      </a:r>
                    </a:p>
                  </a:txBody>
                  <a:tcPr marL="36576" marR="36576" marT="27432" marB="27432" anchor="ctr">
                    <a:solidFill>
                      <a:srgbClr val="17365D"/>
                    </a:solidFill>
                  </a:tcPr>
                </a:tc>
                <a:tc>
                  <a:txBody>
                    <a:bodyPr/>
                    <a:lstStyle/>
                    <a:p>
                      <a:pPr algn="ctr"/>
                      <a:r>
                        <a:rPr sz="1200" b="1" i="0">
                          <a:solidFill>
                            <a:srgbClr val="FFFFFF"/>
                          </a:solidFill>
                          <a:latin typeface="Tahoma"/>
                        </a:rPr>
                        <a:t>NWC</a:t>
                      </a:r>
                    </a:p>
                  </a:txBody>
                  <a:tcPr marL="36576" marR="36576" marT="27432" marB="27432" anchor="ctr">
                    <a:solidFill>
                      <a:srgbClr val="17365D"/>
                    </a:solidFill>
                  </a:tcPr>
                </a:tc>
                <a:tc>
                  <a:txBody>
                    <a:bodyPr/>
                    <a:lstStyle/>
                    <a:p>
                      <a:pPr algn="ctr"/>
                      <a:r>
                        <a:rPr sz="1200" b="1" i="0">
                          <a:solidFill>
                            <a:srgbClr val="FFFFFF"/>
                          </a:solidFill>
                          <a:latin typeface="Tahoma"/>
                        </a:rPr>
                        <a:t>LWC15</a:t>
                      </a:r>
                    </a:p>
                  </a:txBody>
                  <a:tcPr marL="36576" marR="36576" marT="27432" marB="27432" anchor="ctr">
                    <a:solidFill>
                      <a:srgbClr val="17365D"/>
                    </a:solidFill>
                  </a:tcPr>
                </a:tc>
                <a:tc>
                  <a:txBody>
                    <a:bodyPr/>
                    <a:lstStyle/>
                    <a:p>
                      <a:pPr algn="ctr"/>
                      <a:r>
                        <a:rPr sz="1200" b="1" i="0">
                          <a:solidFill>
                            <a:srgbClr val="FFFFFF"/>
                          </a:solidFill>
                          <a:latin typeface="Tahoma"/>
                        </a:rPr>
                        <a:t>Observed ratio</a:t>
                      </a:r>
                    </a:p>
                  </a:txBody>
                  <a:tcPr marL="36576" marR="36576" marT="27432" marB="27432" anchor="ctr">
                    <a:solidFill>
                      <a:srgbClr val="17365D"/>
                    </a:solidFill>
                  </a:tcPr>
                </a:tc>
                <a:extLst>
                  <a:ext uri="{0D108BD9-81ED-4DB2-BD59-A6C34878D82A}">
                    <a16:rowId xmlns:a16="http://schemas.microsoft.com/office/drawing/2014/main" val="10000"/>
                  </a:ext>
                </a:extLst>
              </a:tr>
              <a:tr h="256032">
                <a:tc>
                  <a:txBody>
                    <a:bodyPr/>
                    <a:lstStyle/>
                    <a:p>
                      <a:pPr algn="l"/>
                      <a:r>
                        <a:rPr sz="1200" b="1" i="0">
                          <a:solidFill>
                            <a:srgbClr val="202B33"/>
                          </a:solidFill>
                          <a:latin typeface="Tahoma"/>
                        </a:rPr>
                        <a:t>Blows to failure, N₂</a:t>
                      </a:r>
                    </a:p>
                  </a:txBody>
                  <a:tcPr marL="36576" marR="36576" marT="27432" marB="27432" anchor="ctr">
                    <a:solidFill>
                      <a:srgbClr val="FFFFFF"/>
                    </a:solidFill>
                  </a:tcPr>
                </a:tc>
                <a:tc>
                  <a:txBody>
                    <a:bodyPr/>
                    <a:lstStyle/>
                    <a:p>
                      <a:pPr algn="ctr"/>
                      <a:r>
                        <a:rPr sz="1200" b="0" i="0">
                          <a:solidFill>
                            <a:srgbClr val="202B33"/>
                          </a:solidFill>
                          <a:latin typeface="Tahoma"/>
                        </a:rPr>
                        <a:t>10</a:t>
                      </a:r>
                    </a:p>
                  </a:txBody>
                  <a:tcPr marL="36576" marR="36576" marT="27432" marB="27432" anchor="ctr">
                    <a:solidFill>
                      <a:srgbClr val="FFFFFF"/>
                    </a:solidFill>
                  </a:tcPr>
                </a:tc>
                <a:tc>
                  <a:txBody>
                    <a:bodyPr/>
                    <a:lstStyle/>
                    <a:p>
                      <a:pPr algn="ctr"/>
                      <a:r>
                        <a:rPr sz="1200" b="0" i="0">
                          <a:solidFill>
                            <a:srgbClr val="202B33"/>
                          </a:solidFill>
                          <a:latin typeface="Tahoma"/>
                        </a:rPr>
                        <a:t>20</a:t>
                      </a:r>
                    </a:p>
                  </a:txBody>
                  <a:tcPr marL="36576" marR="36576" marT="27432" marB="27432" anchor="ctr">
                    <a:solidFill>
                      <a:srgbClr val="FFFFFF"/>
                    </a:solidFill>
                  </a:tcPr>
                </a:tc>
                <a:tc>
                  <a:txBody>
                    <a:bodyPr/>
                    <a:lstStyle/>
                    <a:p>
                      <a:pPr algn="ctr"/>
                      <a:r>
                        <a:rPr sz="1200" b="0" i="0">
                          <a:solidFill>
                            <a:srgbClr val="202B33"/>
                          </a:solidFill>
                          <a:latin typeface="Tahoma"/>
                        </a:rPr>
                        <a:t>2.00×</a:t>
                      </a:r>
                    </a:p>
                  </a:txBody>
                  <a:tcPr marL="36576" marR="36576" marT="27432" marB="27432" anchor="ctr">
                    <a:solidFill>
                      <a:srgbClr val="FFFFFF"/>
                    </a:solidFill>
                  </a:tcPr>
                </a:tc>
                <a:extLst>
                  <a:ext uri="{0D108BD9-81ED-4DB2-BD59-A6C34878D82A}">
                    <a16:rowId xmlns:a16="http://schemas.microsoft.com/office/drawing/2014/main" val="10001"/>
                  </a:ext>
                </a:extLst>
              </a:tr>
              <a:tr h="256032">
                <a:tc>
                  <a:txBody>
                    <a:bodyPr/>
                    <a:lstStyle/>
                    <a:p>
                      <a:pPr algn="l"/>
                      <a:r>
                        <a:rPr sz="1200" b="1" i="0">
                          <a:solidFill>
                            <a:srgbClr val="202B33"/>
                          </a:solidFill>
                          <a:latin typeface="Tahoma"/>
                        </a:rPr>
                        <a:t>Failure energy, E₂</a:t>
                      </a:r>
                    </a:p>
                  </a:txBody>
                  <a:tcPr marL="36576" marR="36576" marT="27432" marB="27432" anchor="ctr">
                    <a:solidFill>
                      <a:srgbClr val="EAF2F3"/>
                    </a:solidFill>
                  </a:tcPr>
                </a:tc>
                <a:tc>
                  <a:txBody>
                    <a:bodyPr/>
                    <a:lstStyle/>
                    <a:p>
                      <a:pPr algn="ctr"/>
                      <a:r>
                        <a:rPr sz="1200" b="0" i="0">
                          <a:solidFill>
                            <a:srgbClr val="202B33"/>
                          </a:solidFill>
                          <a:latin typeface="Tahoma"/>
                        </a:rPr>
                        <a:t>1,373 N·m</a:t>
                      </a:r>
                    </a:p>
                  </a:txBody>
                  <a:tcPr marL="36576" marR="36576" marT="27432" marB="27432" anchor="ctr">
                    <a:solidFill>
                      <a:srgbClr val="EAF2F3"/>
                    </a:solidFill>
                  </a:tcPr>
                </a:tc>
                <a:tc>
                  <a:txBody>
                    <a:bodyPr/>
                    <a:lstStyle/>
                    <a:p>
                      <a:pPr algn="ctr"/>
                      <a:r>
                        <a:rPr sz="1200" b="0" i="0">
                          <a:solidFill>
                            <a:srgbClr val="202B33"/>
                          </a:solidFill>
                          <a:latin typeface="Tahoma"/>
                        </a:rPr>
                        <a:t>2,746 N·m</a:t>
                      </a:r>
                    </a:p>
                  </a:txBody>
                  <a:tcPr marL="36576" marR="36576" marT="27432" marB="27432" anchor="ctr">
                    <a:solidFill>
                      <a:srgbClr val="EAF2F3"/>
                    </a:solidFill>
                  </a:tcPr>
                </a:tc>
                <a:tc>
                  <a:txBody>
                    <a:bodyPr/>
                    <a:lstStyle/>
                    <a:p>
                      <a:pPr algn="ctr"/>
                      <a:r>
                        <a:rPr sz="1200" b="0" i="0">
                          <a:solidFill>
                            <a:srgbClr val="202B33"/>
                          </a:solidFill>
                          <a:latin typeface="Tahoma"/>
                        </a:rPr>
                        <a:t>2.0×</a:t>
                      </a:r>
                    </a:p>
                  </a:txBody>
                  <a:tcPr marL="36576" marR="36576" marT="27432" marB="27432" anchor="ctr">
                    <a:solidFill>
                      <a:srgbClr val="EAF2F3"/>
                    </a:solidFill>
                  </a:tcPr>
                </a:tc>
                <a:extLst>
                  <a:ext uri="{0D108BD9-81ED-4DB2-BD59-A6C34878D82A}">
                    <a16:rowId xmlns:a16="http://schemas.microsoft.com/office/drawing/2014/main" val="10002"/>
                  </a:ext>
                </a:extLst>
              </a:tr>
              <a:tr h="256032">
                <a:tc>
                  <a:txBody>
                    <a:bodyPr/>
                    <a:lstStyle/>
                    <a:p>
                      <a:pPr algn="l"/>
                      <a:r>
                        <a:rPr sz="1200" b="1" i="0">
                          <a:solidFill>
                            <a:srgbClr val="202B33"/>
                          </a:solidFill>
                          <a:latin typeface="Tahoma"/>
                        </a:rPr>
                        <a:t>Peak deformation</a:t>
                      </a:r>
                    </a:p>
                  </a:txBody>
                  <a:tcPr marL="36576" marR="36576" marT="27432" marB="27432" anchor="ctr">
                    <a:solidFill>
                      <a:srgbClr val="FFFFFF"/>
                    </a:solidFill>
                  </a:tcPr>
                </a:tc>
                <a:tc>
                  <a:txBody>
                    <a:bodyPr/>
                    <a:lstStyle/>
                    <a:p>
                      <a:pPr algn="ctr"/>
                      <a:r>
                        <a:rPr sz="1200" b="0" i="0">
                          <a:solidFill>
                            <a:srgbClr val="202B33"/>
                          </a:solidFill>
                          <a:latin typeface="Tahoma"/>
                        </a:rPr>
                        <a:t>4.22 mm</a:t>
                      </a:r>
                    </a:p>
                  </a:txBody>
                  <a:tcPr marL="36576" marR="36576" marT="27432" marB="27432" anchor="ctr">
                    <a:solidFill>
                      <a:srgbClr val="FFFFFF"/>
                    </a:solidFill>
                  </a:tcPr>
                </a:tc>
                <a:tc>
                  <a:txBody>
                    <a:bodyPr/>
                    <a:lstStyle/>
                    <a:p>
                      <a:pPr algn="ctr"/>
                      <a:r>
                        <a:rPr sz="1200" b="0" i="0">
                          <a:solidFill>
                            <a:srgbClr val="202B33"/>
                          </a:solidFill>
                          <a:latin typeface="Tahoma"/>
                        </a:rPr>
                        <a:t>12.70 mm</a:t>
                      </a:r>
                    </a:p>
                  </a:txBody>
                  <a:tcPr marL="36576" marR="36576" marT="27432" marB="27432" anchor="ctr">
                    <a:solidFill>
                      <a:srgbClr val="FFFFFF"/>
                    </a:solidFill>
                  </a:tcPr>
                </a:tc>
                <a:tc>
                  <a:txBody>
                    <a:bodyPr/>
                    <a:lstStyle/>
                    <a:p>
                      <a:pPr algn="ctr"/>
                      <a:r>
                        <a:rPr sz="1200" b="0" i="0" dirty="0">
                          <a:solidFill>
                            <a:srgbClr val="202B33"/>
                          </a:solidFill>
                          <a:latin typeface="Tahoma"/>
                        </a:rPr>
                        <a:t>3.01×</a:t>
                      </a:r>
                    </a:p>
                  </a:txBody>
                  <a:tcPr marL="36576" marR="36576"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7" name="Rectangle 16"/>
          <p:cNvSpPr/>
          <p:nvPr/>
        </p:nvSpPr>
        <p:spPr>
          <a:xfrm>
            <a:off x="452487" y="5551822"/>
            <a:ext cx="11361561" cy="509613"/>
          </a:xfrm>
          <a:prstGeom prst="rect">
            <a:avLst/>
          </a:prstGeom>
          <a:solidFill>
            <a:srgbClr val="F6EAEC"/>
          </a:solidFill>
          <a:ln w="635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7901" y="5624975"/>
            <a:ext cx="11286147" cy="369332"/>
          </a:xfrm>
          <a:prstGeom prst="rect">
            <a:avLst/>
          </a:prstGeom>
          <a:noFill/>
        </p:spPr>
        <p:txBody>
          <a:bodyPr wrap="square" lIns="0" tIns="0" rIns="0" bIns="0" anchor="t">
            <a:spAutoFit/>
          </a:bodyPr>
          <a:lstStyle/>
          <a:p>
            <a:r>
              <a:rPr sz="1200" b="1" i="0" dirty="0">
                <a:solidFill>
                  <a:srgbClr val="9A4651"/>
                </a:solidFill>
                <a:latin typeface="Tahoma"/>
              </a:rPr>
              <a:t>Fragmentation observation is qualitative: LWC15 showed finer, more </a:t>
            </a:r>
            <a:r>
              <a:rPr lang="en-US" sz="1200" b="1" dirty="0">
                <a:solidFill>
                  <a:srgbClr val="9A4651"/>
                </a:solidFill>
                <a:latin typeface="Tahoma"/>
              </a:rPr>
              <a:t>dispersed debris; particle-size and mass measurements, as well as ejection-velocity measurements,</a:t>
            </a:r>
            <a:r>
              <a:rPr sz="1200" b="1" i="0" dirty="0">
                <a:solidFill>
                  <a:srgbClr val="9A4651"/>
                </a:solidFill>
                <a:latin typeface="Tahoma"/>
              </a:rPr>
              <a:t> are still required.</a:t>
            </a:r>
          </a:p>
        </p:txBody>
      </p:sp>
      <p:cxnSp>
        <p:nvCxnSpPr>
          <p:cNvPr id="22" name="Connector 21"/>
          <p:cNvCxnSpPr/>
          <p:nvPr/>
        </p:nvCxnSpPr>
        <p:spPr>
          <a:xfrm>
            <a:off x="6512880" y="2795458"/>
            <a:ext cx="2072014" cy="0"/>
          </a:xfrm>
          <a:prstGeom prst="line">
            <a:avLst/>
          </a:prstGeom>
          <a:ln w="18415">
            <a:solidFill>
              <a:srgbClr val="2E6F9E"/>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434344" y="3111516"/>
            <a:ext cx="2072014" cy="0"/>
          </a:xfrm>
          <a:prstGeom prst="line">
            <a:avLst/>
          </a:prstGeom>
          <a:ln w="18415">
            <a:solidFill>
              <a:srgbClr val="2E6F9E"/>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0920" y="2670048"/>
            <a:ext cx="1097280" cy="182880"/>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NWC baseline</a:t>
            </a:r>
          </a:p>
        </p:txBody>
      </p:sp>
      <p:sp>
        <p:nvSpPr>
          <p:cNvPr id="25" name="TextBox 24"/>
          <p:cNvSpPr txBox="1"/>
          <p:nvPr/>
        </p:nvSpPr>
        <p:spPr>
          <a:xfrm>
            <a:off x="10314432" y="2962656"/>
            <a:ext cx="1097280" cy="182880"/>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NWC baseline</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Arrow: Pentagon 15">
            <a:extLst>
              <a:ext uri="{FF2B5EF4-FFF2-40B4-BE49-F238E27FC236}">
                <a16:creationId xmlns:a16="http://schemas.microsoft.com/office/drawing/2014/main" id="{19A29551-3252-736A-450D-3EFEDB7FAC70}"/>
              </a:ext>
            </a:extLst>
          </p:cNvPr>
          <p:cNvSpPr/>
          <p:nvPr/>
        </p:nvSpPr>
        <p:spPr>
          <a:xfrm>
            <a:off x="91440" y="91440"/>
            <a:ext cx="2139696"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IPR TECHNICAL ASSESSMENT</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Evidence-to-claim support matrix</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16</a:t>
            </a:r>
          </a:p>
        </p:txBody>
      </p:sp>
      <p:graphicFrame>
        <p:nvGraphicFramePr>
          <p:cNvPr id="11" name="Table 10"/>
          <p:cNvGraphicFramePr>
            <a:graphicFrameLocks noGrp="1"/>
          </p:cNvGraphicFramePr>
          <p:nvPr>
            <p:extLst>
              <p:ext uri="{D42A27DB-BD31-4B8C-83A1-F6EECF244321}">
                <p14:modId xmlns:p14="http://schemas.microsoft.com/office/powerpoint/2010/main" val="2655883996"/>
              </p:ext>
            </p:extLst>
          </p:nvPr>
        </p:nvGraphicFramePr>
        <p:xfrm>
          <a:off x="441549" y="1207008"/>
          <a:ext cx="6812277" cy="4251960"/>
        </p:xfrm>
        <a:graphic>
          <a:graphicData uri="http://schemas.openxmlformats.org/drawingml/2006/table">
            <a:tbl>
              <a:tblPr firstRow="1" bandRow="1">
                <a:tableStyleId>{5C22544A-7EE6-4342-B048-85BDC9FD1C3A}</a:tableStyleId>
              </a:tblPr>
              <a:tblGrid>
                <a:gridCol w="1487187">
                  <a:extLst>
                    <a:ext uri="{9D8B030D-6E8A-4147-A177-3AD203B41FA5}">
                      <a16:colId xmlns:a16="http://schemas.microsoft.com/office/drawing/2014/main" val="20000"/>
                    </a:ext>
                  </a:extLst>
                </a:gridCol>
                <a:gridCol w="2254768">
                  <a:extLst>
                    <a:ext uri="{9D8B030D-6E8A-4147-A177-3AD203B41FA5}">
                      <a16:colId xmlns:a16="http://schemas.microsoft.com/office/drawing/2014/main" val="20001"/>
                    </a:ext>
                  </a:extLst>
                </a:gridCol>
                <a:gridCol w="2062873">
                  <a:extLst>
                    <a:ext uri="{9D8B030D-6E8A-4147-A177-3AD203B41FA5}">
                      <a16:colId xmlns:a16="http://schemas.microsoft.com/office/drawing/2014/main" val="20002"/>
                    </a:ext>
                  </a:extLst>
                </a:gridCol>
                <a:gridCol w="1007449">
                  <a:extLst>
                    <a:ext uri="{9D8B030D-6E8A-4147-A177-3AD203B41FA5}">
                      <a16:colId xmlns:a16="http://schemas.microsoft.com/office/drawing/2014/main" val="20003"/>
                    </a:ext>
                  </a:extLst>
                </a:gridCol>
              </a:tblGrid>
              <a:tr h="607422">
                <a:tc>
                  <a:txBody>
                    <a:bodyPr/>
                    <a:lstStyle/>
                    <a:p>
                      <a:pPr algn="l"/>
                      <a:r>
                        <a:rPr sz="1200" b="1" i="0">
                          <a:solidFill>
                            <a:srgbClr val="FFFFFF"/>
                          </a:solidFill>
                          <a:latin typeface="Tahoma"/>
                        </a:rPr>
                        <a:t>Evidence</a:t>
                      </a:r>
                    </a:p>
                  </a:txBody>
                  <a:tcPr marL="36576" marR="36576" marT="27432" marB="27432" anchor="ctr">
                    <a:solidFill>
                      <a:srgbClr val="17365D"/>
                    </a:solidFill>
                  </a:tcPr>
                </a:tc>
                <a:tc>
                  <a:txBody>
                    <a:bodyPr/>
                    <a:lstStyle/>
                    <a:p>
                      <a:pPr algn="ctr"/>
                      <a:r>
                        <a:rPr sz="1200" b="1" i="0" dirty="0">
                          <a:solidFill>
                            <a:srgbClr val="FFFFFF"/>
                          </a:solidFill>
                          <a:latin typeface="Tahoma"/>
                        </a:rPr>
                        <a:t>Observed LWC15 result</a:t>
                      </a:r>
                    </a:p>
                  </a:txBody>
                  <a:tcPr marL="36576" marR="36576" marT="27432" marB="27432" anchor="ctr">
                    <a:solidFill>
                      <a:srgbClr val="17365D"/>
                    </a:solidFill>
                  </a:tcPr>
                </a:tc>
                <a:tc>
                  <a:txBody>
                    <a:bodyPr/>
                    <a:lstStyle/>
                    <a:p>
                      <a:pPr algn="ctr"/>
                      <a:r>
                        <a:rPr sz="1200" b="1" i="0">
                          <a:solidFill>
                            <a:srgbClr val="FFFFFF"/>
                          </a:solidFill>
                          <a:latin typeface="Tahoma"/>
                        </a:rPr>
                        <a:t>Supports</a:t>
                      </a:r>
                    </a:p>
                  </a:txBody>
                  <a:tcPr marL="36576" marR="36576" marT="27432" marB="27432" anchor="ctr">
                    <a:solidFill>
                      <a:srgbClr val="17365D"/>
                    </a:solidFill>
                  </a:tcPr>
                </a:tc>
                <a:tc>
                  <a:txBody>
                    <a:bodyPr/>
                    <a:lstStyle/>
                    <a:p>
                      <a:pPr algn="ctr"/>
                      <a:r>
                        <a:rPr sz="1200" b="1" i="0">
                          <a:solidFill>
                            <a:srgbClr val="FFFFFF"/>
                          </a:solidFill>
                          <a:latin typeface="Tahoma"/>
                        </a:rPr>
                        <a:t>Confidence</a:t>
                      </a:r>
                    </a:p>
                  </a:txBody>
                  <a:tcPr marL="36576" marR="36576" marT="27432" marB="27432" anchor="ctr">
                    <a:solidFill>
                      <a:srgbClr val="17365D"/>
                    </a:solidFill>
                  </a:tcPr>
                </a:tc>
                <a:extLst>
                  <a:ext uri="{0D108BD9-81ED-4DB2-BD59-A6C34878D82A}">
                    <a16:rowId xmlns:a16="http://schemas.microsoft.com/office/drawing/2014/main" val="10000"/>
                  </a:ext>
                </a:extLst>
              </a:tr>
              <a:tr h="607422">
                <a:tc>
                  <a:txBody>
                    <a:bodyPr/>
                    <a:lstStyle/>
                    <a:p>
                      <a:pPr algn="l"/>
                      <a:r>
                        <a:rPr sz="1200" b="1" i="0" dirty="0">
                          <a:solidFill>
                            <a:srgbClr val="202B33"/>
                          </a:solidFill>
                          <a:latin typeface="Tahoma"/>
                        </a:rPr>
                        <a:t>Reported density</a:t>
                      </a:r>
                    </a:p>
                  </a:txBody>
                  <a:tcPr marL="36576" marR="36576" marT="27432" marB="27432" anchor="ctr">
                    <a:solidFill>
                      <a:srgbClr val="FFFFFF"/>
                    </a:solidFill>
                  </a:tcPr>
                </a:tc>
                <a:tc>
                  <a:txBody>
                    <a:bodyPr/>
                    <a:lstStyle/>
                    <a:p>
                      <a:pPr algn="ctr"/>
                      <a:r>
                        <a:rPr sz="1200" b="0" i="0">
                          <a:solidFill>
                            <a:srgbClr val="202B33"/>
                          </a:solidFill>
                          <a:latin typeface="Tahoma"/>
                        </a:rPr>
                        <a:t>1,987 kg/m³; −19.4% vs NWC</a:t>
                      </a:r>
                    </a:p>
                  </a:txBody>
                  <a:tcPr marL="36576" marR="36576" marT="27432" marB="27432" anchor="ctr">
                    <a:solidFill>
                      <a:srgbClr val="FFFFFF"/>
                    </a:solidFill>
                  </a:tcPr>
                </a:tc>
                <a:tc>
                  <a:txBody>
                    <a:bodyPr/>
                    <a:lstStyle/>
                    <a:p>
                      <a:pPr algn="ctr"/>
                      <a:r>
                        <a:rPr sz="1200" b="0" i="0">
                          <a:solidFill>
                            <a:srgbClr val="202B33"/>
                          </a:solidFill>
                          <a:latin typeface="Tahoma"/>
                        </a:rPr>
                        <a:t>Lightweight article / transport value</a:t>
                      </a:r>
                    </a:p>
                  </a:txBody>
                  <a:tcPr marL="36576" marR="36576" marT="27432" marB="27432" anchor="ctr">
                    <a:solidFill>
                      <a:srgbClr val="FFFFFF"/>
                    </a:solidFill>
                  </a:tcPr>
                </a:tc>
                <a:tc>
                  <a:txBody>
                    <a:bodyPr/>
                    <a:lstStyle/>
                    <a:p>
                      <a:pPr algn="ctr"/>
                      <a:r>
                        <a:rPr sz="1200" b="0" i="0">
                          <a:solidFill>
                            <a:srgbClr val="202B33"/>
                          </a:solidFill>
                          <a:latin typeface="Tahoma"/>
                        </a:rPr>
                        <a:t>Medium*</a:t>
                      </a:r>
                    </a:p>
                  </a:txBody>
                  <a:tcPr marL="36576" marR="36576" marT="27432" marB="27432" anchor="ctr">
                    <a:solidFill>
                      <a:srgbClr val="FFFFFF"/>
                    </a:solidFill>
                  </a:tcPr>
                </a:tc>
                <a:extLst>
                  <a:ext uri="{0D108BD9-81ED-4DB2-BD59-A6C34878D82A}">
                    <a16:rowId xmlns:a16="http://schemas.microsoft.com/office/drawing/2014/main" val="10001"/>
                  </a:ext>
                </a:extLst>
              </a:tr>
              <a:tr h="607422">
                <a:tc>
                  <a:txBody>
                    <a:bodyPr/>
                    <a:lstStyle/>
                    <a:p>
                      <a:pPr algn="l"/>
                      <a:r>
                        <a:rPr sz="1200" b="1" i="0">
                          <a:solidFill>
                            <a:srgbClr val="202B33"/>
                          </a:solidFill>
                          <a:latin typeface="Tahoma"/>
                        </a:rPr>
                        <a:t>Compressive strength</a:t>
                      </a:r>
                    </a:p>
                  </a:txBody>
                  <a:tcPr marL="36576" marR="36576" marT="27432" marB="27432" anchor="ctr">
                    <a:solidFill>
                      <a:srgbClr val="F8FAFB"/>
                    </a:solidFill>
                  </a:tcPr>
                </a:tc>
                <a:tc>
                  <a:txBody>
                    <a:bodyPr/>
                    <a:lstStyle/>
                    <a:p>
                      <a:pPr algn="ctr"/>
                      <a:r>
                        <a:rPr sz="1200" b="0" i="0">
                          <a:solidFill>
                            <a:srgbClr val="202B33"/>
                          </a:solidFill>
                          <a:latin typeface="Tahoma"/>
                        </a:rPr>
                        <a:t>55.4 MPa; M40+</a:t>
                      </a:r>
                    </a:p>
                  </a:txBody>
                  <a:tcPr marL="36576" marR="36576" marT="27432" marB="27432" anchor="ctr">
                    <a:solidFill>
                      <a:srgbClr val="F8FAFB"/>
                    </a:solidFill>
                  </a:tcPr>
                </a:tc>
                <a:tc>
                  <a:txBody>
                    <a:bodyPr/>
                    <a:lstStyle/>
                    <a:p>
                      <a:pPr algn="ctr"/>
                      <a:r>
                        <a:rPr sz="1200" b="0" i="0">
                          <a:solidFill>
                            <a:srgbClr val="202B33"/>
                          </a:solidFill>
                          <a:latin typeface="Tahoma"/>
                        </a:rPr>
                        <a:t>Structural-use enablement</a:t>
                      </a:r>
                    </a:p>
                  </a:txBody>
                  <a:tcPr marL="36576" marR="36576" marT="27432" marB="27432" anchor="ctr">
                    <a:solidFill>
                      <a:srgbClr val="F8FAFB"/>
                    </a:solidFill>
                  </a:tcPr>
                </a:tc>
                <a:tc>
                  <a:txBody>
                    <a:bodyPr/>
                    <a:lstStyle/>
                    <a:p>
                      <a:pPr algn="ctr"/>
                      <a:r>
                        <a:rPr sz="1200" b="0" i="0">
                          <a:solidFill>
                            <a:srgbClr val="202B33"/>
                          </a:solidFill>
                          <a:latin typeface="Tahoma"/>
                        </a:rPr>
                        <a:t>High</a:t>
                      </a:r>
                    </a:p>
                  </a:txBody>
                  <a:tcPr marL="36576" marR="36576" marT="27432" marB="27432" anchor="ctr">
                    <a:solidFill>
                      <a:srgbClr val="F8FAFB"/>
                    </a:solidFill>
                  </a:tcPr>
                </a:tc>
                <a:extLst>
                  <a:ext uri="{0D108BD9-81ED-4DB2-BD59-A6C34878D82A}">
                    <a16:rowId xmlns:a16="http://schemas.microsoft.com/office/drawing/2014/main" val="10002"/>
                  </a:ext>
                </a:extLst>
              </a:tr>
              <a:tr h="607422">
                <a:tc>
                  <a:txBody>
                    <a:bodyPr/>
                    <a:lstStyle/>
                    <a:p>
                      <a:pPr algn="l"/>
                      <a:r>
                        <a:rPr sz="1200" b="1" i="0">
                          <a:solidFill>
                            <a:srgbClr val="202B33"/>
                          </a:solidFill>
                          <a:latin typeface="Tahoma"/>
                        </a:rPr>
                        <a:t>Split tensile</a:t>
                      </a:r>
                    </a:p>
                  </a:txBody>
                  <a:tcPr marL="36576" marR="36576" marT="27432" marB="27432" anchor="ctr">
                    <a:solidFill>
                      <a:srgbClr val="FFFFFF"/>
                    </a:solidFill>
                  </a:tcPr>
                </a:tc>
                <a:tc>
                  <a:txBody>
                    <a:bodyPr/>
                    <a:lstStyle/>
                    <a:p>
                      <a:pPr algn="ctr"/>
                      <a:r>
                        <a:rPr sz="1200" b="0" i="0">
                          <a:solidFill>
                            <a:srgbClr val="202B33"/>
                          </a:solidFill>
                          <a:latin typeface="Tahoma"/>
                        </a:rPr>
                        <a:t>7.60 MPa; +76%</a:t>
                      </a:r>
                    </a:p>
                  </a:txBody>
                  <a:tcPr marL="36576" marR="36576" marT="27432" marB="27432" anchor="ctr">
                    <a:solidFill>
                      <a:srgbClr val="FFFFFF"/>
                    </a:solidFill>
                  </a:tcPr>
                </a:tc>
                <a:tc>
                  <a:txBody>
                    <a:bodyPr/>
                    <a:lstStyle/>
                    <a:p>
                      <a:pPr algn="ctr"/>
                      <a:r>
                        <a:rPr sz="1200" b="0" i="0">
                          <a:solidFill>
                            <a:srgbClr val="202B33"/>
                          </a:solidFill>
                          <a:latin typeface="Tahoma"/>
                        </a:rPr>
                        <a:t>Fibre-bridging function</a:t>
                      </a:r>
                    </a:p>
                  </a:txBody>
                  <a:tcPr marL="36576" marR="36576" marT="27432" marB="27432" anchor="ctr">
                    <a:solidFill>
                      <a:srgbClr val="FFFFFF"/>
                    </a:solidFill>
                  </a:tcPr>
                </a:tc>
                <a:tc>
                  <a:txBody>
                    <a:bodyPr/>
                    <a:lstStyle/>
                    <a:p>
                      <a:pPr algn="ctr"/>
                      <a:r>
                        <a:rPr sz="1200" b="0" i="0">
                          <a:solidFill>
                            <a:srgbClr val="202B33"/>
                          </a:solidFill>
                          <a:latin typeface="Tahoma"/>
                        </a:rPr>
                        <a:t>High</a:t>
                      </a:r>
                    </a:p>
                  </a:txBody>
                  <a:tcPr marL="36576" marR="36576" marT="27432" marB="27432" anchor="ctr">
                    <a:solidFill>
                      <a:srgbClr val="FFFFFF"/>
                    </a:solidFill>
                  </a:tcPr>
                </a:tc>
                <a:extLst>
                  <a:ext uri="{0D108BD9-81ED-4DB2-BD59-A6C34878D82A}">
                    <a16:rowId xmlns:a16="http://schemas.microsoft.com/office/drawing/2014/main" val="10003"/>
                  </a:ext>
                </a:extLst>
              </a:tr>
              <a:tr h="607422">
                <a:tc>
                  <a:txBody>
                    <a:bodyPr/>
                    <a:lstStyle/>
                    <a:p>
                      <a:pPr algn="l"/>
                      <a:r>
                        <a:rPr sz="1200" b="1" i="0">
                          <a:solidFill>
                            <a:srgbClr val="202B33"/>
                          </a:solidFill>
                          <a:latin typeface="Tahoma"/>
                        </a:rPr>
                        <a:t>Prism failure energy</a:t>
                      </a:r>
                    </a:p>
                  </a:txBody>
                  <a:tcPr marL="36576" marR="36576" marT="27432" marB="27432" anchor="ctr">
                    <a:solidFill>
                      <a:srgbClr val="F6EFE4"/>
                    </a:solidFill>
                  </a:tcPr>
                </a:tc>
                <a:tc>
                  <a:txBody>
                    <a:bodyPr/>
                    <a:lstStyle/>
                    <a:p>
                      <a:pPr algn="ctr"/>
                      <a:r>
                        <a:rPr sz="1200" b="0" i="0">
                          <a:solidFill>
                            <a:srgbClr val="202B33"/>
                          </a:solidFill>
                          <a:latin typeface="Tahoma"/>
                        </a:rPr>
                        <a:t>2,927.8 N·m; 55.3× NWC</a:t>
                      </a:r>
                    </a:p>
                  </a:txBody>
                  <a:tcPr marL="36576" marR="36576" marT="27432" marB="27432" anchor="ctr">
                    <a:solidFill>
                      <a:srgbClr val="F6EFE4"/>
                    </a:solidFill>
                  </a:tcPr>
                </a:tc>
                <a:tc>
                  <a:txBody>
                    <a:bodyPr/>
                    <a:lstStyle/>
                    <a:p>
                      <a:pPr algn="ctr"/>
                      <a:r>
                        <a:rPr sz="1200" b="0" i="0">
                          <a:solidFill>
                            <a:srgbClr val="202B33"/>
                          </a:solidFill>
                          <a:latin typeface="Tahoma"/>
                        </a:rPr>
                        <a:t>Unexpected technical effect</a:t>
                      </a:r>
                    </a:p>
                  </a:txBody>
                  <a:tcPr marL="36576" marR="36576" marT="27432" marB="27432" anchor="ctr">
                    <a:solidFill>
                      <a:srgbClr val="F6EFE4"/>
                    </a:solidFill>
                  </a:tcPr>
                </a:tc>
                <a:tc>
                  <a:txBody>
                    <a:bodyPr/>
                    <a:lstStyle/>
                    <a:p>
                      <a:pPr algn="ctr"/>
                      <a:r>
                        <a:rPr sz="1200" b="0" i="0">
                          <a:solidFill>
                            <a:srgbClr val="202B33"/>
                          </a:solidFill>
                          <a:latin typeface="Tahoma"/>
                        </a:rPr>
                        <a:t>Medium</a:t>
                      </a:r>
                    </a:p>
                  </a:txBody>
                  <a:tcPr marL="36576" marR="36576" marT="27432" marB="27432" anchor="ctr">
                    <a:solidFill>
                      <a:srgbClr val="F6EFE4"/>
                    </a:solidFill>
                  </a:tcPr>
                </a:tc>
                <a:extLst>
                  <a:ext uri="{0D108BD9-81ED-4DB2-BD59-A6C34878D82A}">
                    <a16:rowId xmlns:a16="http://schemas.microsoft.com/office/drawing/2014/main" val="10004"/>
                  </a:ext>
                </a:extLst>
              </a:tr>
              <a:tr h="607422">
                <a:tc>
                  <a:txBody>
                    <a:bodyPr/>
                    <a:lstStyle/>
                    <a:p>
                      <a:pPr algn="l"/>
                      <a:r>
                        <a:rPr sz="1200" b="1" i="0">
                          <a:solidFill>
                            <a:srgbClr val="202B33"/>
                          </a:solidFill>
                          <a:latin typeface="Tahoma"/>
                        </a:rPr>
                        <a:t>Scaled barrier</a:t>
                      </a:r>
                    </a:p>
                  </a:txBody>
                  <a:tcPr marL="36576" marR="36576" marT="27432" marB="27432" anchor="ctr">
                    <a:solidFill>
                      <a:srgbClr val="EAF2F3"/>
                    </a:solidFill>
                  </a:tcPr>
                </a:tc>
                <a:tc>
                  <a:txBody>
                    <a:bodyPr/>
                    <a:lstStyle/>
                    <a:p>
                      <a:pPr algn="ctr"/>
                      <a:r>
                        <a:rPr sz="1200" b="0" i="0">
                          <a:solidFill>
                            <a:srgbClr val="202B33"/>
                          </a:solidFill>
                          <a:latin typeface="Tahoma"/>
                        </a:rPr>
                        <a:t>2,746 N·m; 2.0× NWC</a:t>
                      </a:r>
                    </a:p>
                  </a:txBody>
                  <a:tcPr marL="36576" marR="36576" marT="27432" marB="27432" anchor="ctr">
                    <a:solidFill>
                      <a:srgbClr val="EAF2F3"/>
                    </a:solidFill>
                  </a:tcPr>
                </a:tc>
                <a:tc>
                  <a:txBody>
                    <a:bodyPr/>
                    <a:lstStyle/>
                    <a:p>
                      <a:pPr algn="ctr"/>
                      <a:r>
                        <a:rPr sz="1200" b="0" i="0">
                          <a:solidFill>
                            <a:srgbClr val="202B33"/>
                          </a:solidFill>
                          <a:latin typeface="Tahoma"/>
                        </a:rPr>
                        <a:t>Barrier-use embodiment</a:t>
                      </a:r>
                    </a:p>
                  </a:txBody>
                  <a:tcPr marL="36576" marR="36576" marT="27432" marB="27432" anchor="ctr">
                    <a:solidFill>
                      <a:srgbClr val="EAF2F3"/>
                    </a:solidFill>
                  </a:tcPr>
                </a:tc>
                <a:tc>
                  <a:txBody>
                    <a:bodyPr/>
                    <a:lstStyle/>
                    <a:p>
                      <a:pPr algn="ctr"/>
                      <a:r>
                        <a:rPr sz="1200" b="0" i="0">
                          <a:solidFill>
                            <a:srgbClr val="202B33"/>
                          </a:solidFill>
                          <a:latin typeface="Tahoma"/>
                        </a:rPr>
                        <a:t>Preliminary</a:t>
                      </a:r>
                    </a:p>
                  </a:txBody>
                  <a:tcPr marL="36576" marR="36576" marT="27432" marB="27432" anchor="ctr">
                    <a:solidFill>
                      <a:srgbClr val="EAF2F3"/>
                    </a:solidFill>
                  </a:tcPr>
                </a:tc>
                <a:extLst>
                  <a:ext uri="{0D108BD9-81ED-4DB2-BD59-A6C34878D82A}">
                    <a16:rowId xmlns:a16="http://schemas.microsoft.com/office/drawing/2014/main" val="10005"/>
                  </a:ext>
                </a:extLst>
              </a:tr>
              <a:tr h="607428">
                <a:tc>
                  <a:txBody>
                    <a:bodyPr/>
                    <a:lstStyle/>
                    <a:p>
                      <a:pPr algn="l"/>
                      <a:r>
                        <a:rPr sz="1200" b="1" i="0">
                          <a:solidFill>
                            <a:srgbClr val="202B33"/>
                          </a:solidFill>
                          <a:latin typeface="Tahoma"/>
                        </a:rPr>
                        <a:t>Fragmentation</a:t>
                      </a:r>
                    </a:p>
                  </a:txBody>
                  <a:tcPr marL="36576" marR="36576" marT="27432" marB="27432" anchor="ctr">
                    <a:solidFill>
                      <a:srgbClr val="F8FAFB"/>
                    </a:solidFill>
                  </a:tcPr>
                </a:tc>
                <a:tc>
                  <a:txBody>
                    <a:bodyPr/>
                    <a:lstStyle/>
                    <a:p>
                      <a:pPr algn="ctr"/>
                      <a:r>
                        <a:rPr sz="1200" b="0" i="0">
                          <a:solidFill>
                            <a:srgbClr val="202B33"/>
                          </a:solidFill>
                          <a:latin typeface="Tahoma"/>
                        </a:rPr>
                        <a:t>Finer / distributed debris observed</a:t>
                      </a:r>
                    </a:p>
                  </a:txBody>
                  <a:tcPr marL="36576" marR="36576" marT="27432" marB="27432" anchor="ctr">
                    <a:solidFill>
                      <a:srgbClr val="F8FAFB"/>
                    </a:solidFill>
                  </a:tcPr>
                </a:tc>
                <a:tc>
                  <a:txBody>
                    <a:bodyPr/>
                    <a:lstStyle/>
                    <a:p>
                      <a:pPr algn="ctr"/>
                      <a:r>
                        <a:rPr sz="1200" b="0" i="0">
                          <a:solidFill>
                            <a:srgbClr val="202B33"/>
                          </a:solidFill>
                          <a:latin typeface="Tahoma"/>
                        </a:rPr>
                        <a:t>Controlled-damage function</a:t>
                      </a:r>
                    </a:p>
                  </a:txBody>
                  <a:tcPr marL="36576" marR="36576" marT="27432" marB="27432" anchor="ctr">
                    <a:solidFill>
                      <a:srgbClr val="F8FAFB"/>
                    </a:solidFill>
                  </a:tcPr>
                </a:tc>
                <a:tc>
                  <a:txBody>
                    <a:bodyPr/>
                    <a:lstStyle/>
                    <a:p>
                      <a:pPr algn="ctr"/>
                      <a:r>
                        <a:rPr sz="1200" b="0" i="0" dirty="0">
                          <a:solidFill>
                            <a:srgbClr val="202B33"/>
                          </a:solidFill>
                          <a:latin typeface="Tahoma"/>
                        </a:rPr>
                        <a:t>Preliminary</a:t>
                      </a:r>
                    </a:p>
                  </a:txBody>
                  <a:tcPr marL="36576" marR="36576" marT="27432" marB="27432" anchor="ctr">
                    <a:solidFill>
                      <a:srgbClr val="F8FAFB"/>
                    </a:solid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329397596"/>
              </p:ext>
            </p:extLst>
          </p:nvPr>
        </p:nvGraphicFramePr>
        <p:xfrm>
          <a:off x="7494310" y="1207008"/>
          <a:ext cx="4366874" cy="4251960"/>
        </p:xfrm>
        <a:graphic>
          <a:graphicData uri="http://schemas.openxmlformats.org/drawingml/2006/table">
            <a:tbl>
              <a:tblPr firstRow="1" bandRow="1">
                <a:tableStyleId>{5C22544A-7EE6-4342-B048-85BDC9FD1C3A}</a:tableStyleId>
              </a:tblPr>
              <a:tblGrid>
                <a:gridCol w="1527142">
                  <a:extLst>
                    <a:ext uri="{9D8B030D-6E8A-4147-A177-3AD203B41FA5}">
                      <a16:colId xmlns:a16="http://schemas.microsoft.com/office/drawing/2014/main" val="20000"/>
                    </a:ext>
                  </a:extLst>
                </a:gridCol>
                <a:gridCol w="2839732">
                  <a:extLst>
                    <a:ext uri="{9D8B030D-6E8A-4147-A177-3AD203B41FA5}">
                      <a16:colId xmlns:a16="http://schemas.microsoft.com/office/drawing/2014/main" val="20001"/>
                    </a:ext>
                  </a:extLst>
                </a:gridCol>
              </a:tblGrid>
              <a:tr h="708660">
                <a:tc>
                  <a:txBody>
                    <a:bodyPr/>
                    <a:lstStyle/>
                    <a:p>
                      <a:pPr algn="l"/>
                      <a:r>
                        <a:rPr sz="1200" b="1" i="0" dirty="0">
                          <a:solidFill>
                            <a:srgbClr val="FFFFFF"/>
                          </a:solidFill>
                          <a:latin typeface="Tahoma"/>
                        </a:rPr>
                        <a:t>Claim family</a:t>
                      </a:r>
                    </a:p>
                  </a:txBody>
                  <a:tcPr marL="36576" marR="36576" marT="27432" marB="27432" anchor="ctr">
                    <a:solidFill>
                      <a:srgbClr val="17365D"/>
                    </a:solidFill>
                  </a:tcPr>
                </a:tc>
                <a:tc>
                  <a:txBody>
                    <a:bodyPr/>
                    <a:lstStyle/>
                    <a:p>
                      <a:pPr algn="ctr"/>
                      <a:r>
                        <a:rPr sz="1200" b="1" i="0" dirty="0">
                          <a:solidFill>
                            <a:srgbClr val="FFFFFF"/>
                          </a:solidFill>
                          <a:latin typeface="Tahoma"/>
                        </a:rPr>
                        <a:t>Technical basis in current record</a:t>
                      </a:r>
                    </a:p>
                  </a:txBody>
                  <a:tcPr marL="36576" marR="36576" marT="27432" marB="27432" anchor="ctr">
                    <a:solidFill>
                      <a:srgbClr val="17365D"/>
                    </a:solidFill>
                  </a:tcPr>
                </a:tc>
                <a:extLst>
                  <a:ext uri="{0D108BD9-81ED-4DB2-BD59-A6C34878D82A}">
                    <a16:rowId xmlns:a16="http://schemas.microsoft.com/office/drawing/2014/main" val="10000"/>
                  </a:ext>
                </a:extLst>
              </a:tr>
              <a:tr h="708660">
                <a:tc>
                  <a:txBody>
                    <a:bodyPr/>
                    <a:lstStyle/>
                    <a:p>
                      <a:pPr algn="l"/>
                      <a:r>
                        <a:rPr sz="1200" b="1" i="0">
                          <a:solidFill>
                            <a:srgbClr val="202B33"/>
                          </a:solidFill>
                          <a:latin typeface="Tahoma"/>
                        </a:rPr>
                        <a:t>Composition</a:t>
                      </a:r>
                    </a:p>
                  </a:txBody>
                  <a:tcPr marL="36576" marR="36576" marT="27432" marB="27432" anchor="ctr">
                    <a:solidFill>
                      <a:srgbClr val="FFFFFF"/>
                    </a:solidFill>
                  </a:tcPr>
                </a:tc>
                <a:tc>
                  <a:txBody>
                    <a:bodyPr/>
                    <a:lstStyle/>
                    <a:p>
                      <a:pPr algn="ctr"/>
                      <a:r>
                        <a:rPr sz="1200" b="0" i="0" dirty="0">
                          <a:solidFill>
                            <a:srgbClr val="202B33"/>
                          </a:solidFill>
                          <a:latin typeface="Tahoma"/>
                        </a:rPr>
                        <a:t>OPC/GGBS/SFA/hooked-</a:t>
                      </a:r>
                      <a:r>
                        <a:rPr sz="1200" b="0" i="0" dirty="0" err="1">
                          <a:solidFill>
                            <a:srgbClr val="202B33"/>
                          </a:solidFill>
                          <a:latin typeface="Tahoma"/>
                        </a:rPr>
                        <a:t>fibre</a:t>
                      </a:r>
                      <a:r>
                        <a:rPr sz="1200" b="0" i="0" dirty="0">
                          <a:solidFill>
                            <a:srgbClr val="202B33"/>
                          </a:solidFill>
                          <a:latin typeface="Tahoma"/>
                        </a:rPr>
                        <a:t> ranges and tested embodiments</a:t>
                      </a:r>
                    </a:p>
                  </a:txBody>
                  <a:tcPr marL="36576" marR="36576" marT="27432" marB="27432" anchor="ctr">
                    <a:solidFill>
                      <a:srgbClr val="FFFFFF"/>
                    </a:solidFill>
                  </a:tcPr>
                </a:tc>
                <a:extLst>
                  <a:ext uri="{0D108BD9-81ED-4DB2-BD59-A6C34878D82A}">
                    <a16:rowId xmlns:a16="http://schemas.microsoft.com/office/drawing/2014/main" val="10001"/>
                  </a:ext>
                </a:extLst>
              </a:tr>
              <a:tr h="708660">
                <a:tc>
                  <a:txBody>
                    <a:bodyPr/>
                    <a:lstStyle/>
                    <a:p>
                      <a:pPr algn="l"/>
                      <a:r>
                        <a:rPr sz="1200" b="1" i="0" dirty="0">
                          <a:solidFill>
                            <a:srgbClr val="202B33"/>
                          </a:solidFill>
                          <a:latin typeface="Tahoma"/>
                        </a:rPr>
                        <a:t>Manufacturing process</a:t>
                      </a:r>
                    </a:p>
                  </a:txBody>
                  <a:tcPr marL="36576" marR="36576" marT="27432" marB="27432" anchor="ctr">
                    <a:solidFill>
                      <a:srgbClr val="F8FAFB"/>
                    </a:solidFill>
                  </a:tcPr>
                </a:tc>
                <a:tc>
                  <a:txBody>
                    <a:bodyPr/>
                    <a:lstStyle/>
                    <a:p>
                      <a:pPr algn="ctr"/>
                      <a:r>
                        <a:rPr sz="1200" b="0" i="0" dirty="0">
                          <a:solidFill>
                            <a:srgbClr val="202B33"/>
                          </a:solidFill>
                          <a:latin typeface="Tahoma"/>
                        </a:rPr>
                        <a:t>Moisture conditioning, mixing sequence, dispersion and QC</a:t>
                      </a:r>
                    </a:p>
                  </a:txBody>
                  <a:tcPr marL="36576" marR="36576" marT="27432" marB="27432" anchor="ctr">
                    <a:solidFill>
                      <a:srgbClr val="F8FAFB"/>
                    </a:solidFill>
                  </a:tcPr>
                </a:tc>
                <a:extLst>
                  <a:ext uri="{0D108BD9-81ED-4DB2-BD59-A6C34878D82A}">
                    <a16:rowId xmlns:a16="http://schemas.microsoft.com/office/drawing/2014/main" val="10002"/>
                  </a:ext>
                </a:extLst>
              </a:tr>
              <a:tr h="708660">
                <a:tc>
                  <a:txBody>
                    <a:bodyPr/>
                    <a:lstStyle/>
                    <a:p>
                      <a:pPr algn="l"/>
                      <a:r>
                        <a:rPr sz="1200" b="1" i="0">
                          <a:solidFill>
                            <a:srgbClr val="202B33"/>
                          </a:solidFill>
                          <a:latin typeface="Tahoma"/>
                        </a:rPr>
                        <a:t>Barrier article</a:t>
                      </a:r>
                    </a:p>
                  </a:txBody>
                  <a:tcPr marL="36576" marR="36576" marT="27432" marB="27432" anchor="ctr">
                    <a:solidFill>
                      <a:srgbClr val="FFFFFF"/>
                    </a:solidFill>
                  </a:tcPr>
                </a:tc>
                <a:tc>
                  <a:txBody>
                    <a:bodyPr/>
                    <a:lstStyle/>
                    <a:p>
                      <a:pPr algn="ctr"/>
                      <a:r>
                        <a:rPr sz="1200" b="0" i="0">
                          <a:solidFill>
                            <a:srgbClr val="202B33"/>
                          </a:solidFill>
                          <a:latin typeface="Tahoma"/>
                        </a:rPr>
                        <a:t>New Jersey profile + reinforcement + invented concrete</a:t>
                      </a:r>
                    </a:p>
                  </a:txBody>
                  <a:tcPr marL="36576" marR="36576" marT="27432" marB="27432" anchor="ctr">
                    <a:solidFill>
                      <a:srgbClr val="FFFFFF"/>
                    </a:solidFill>
                  </a:tcPr>
                </a:tc>
                <a:extLst>
                  <a:ext uri="{0D108BD9-81ED-4DB2-BD59-A6C34878D82A}">
                    <a16:rowId xmlns:a16="http://schemas.microsoft.com/office/drawing/2014/main" val="10003"/>
                  </a:ext>
                </a:extLst>
              </a:tr>
              <a:tr h="708660">
                <a:tc>
                  <a:txBody>
                    <a:bodyPr/>
                    <a:lstStyle/>
                    <a:p>
                      <a:pPr algn="l"/>
                      <a:r>
                        <a:rPr sz="1200" b="1" i="0" dirty="0">
                          <a:solidFill>
                            <a:srgbClr val="202B33"/>
                          </a:solidFill>
                          <a:latin typeface="Tahoma"/>
                        </a:rPr>
                        <a:t>Performance</a:t>
                      </a:r>
                      <a:r>
                        <a:rPr lang="en-US" sz="1200" b="1" i="0" dirty="0">
                          <a:solidFill>
                            <a:srgbClr val="202B33"/>
                          </a:solidFill>
                          <a:latin typeface="Tahoma"/>
                        </a:rPr>
                        <a:t> </a:t>
                      </a:r>
                      <a:r>
                        <a:rPr sz="1200" b="1" i="0" dirty="0">
                          <a:solidFill>
                            <a:srgbClr val="202B33"/>
                          </a:solidFill>
                          <a:latin typeface="Tahoma"/>
                        </a:rPr>
                        <a:t>linked</a:t>
                      </a:r>
                    </a:p>
                  </a:txBody>
                  <a:tcPr marL="36576" marR="36576" marT="27432" marB="27432" anchor="ctr">
                    <a:solidFill>
                      <a:srgbClr val="F6EFE4"/>
                    </a:solidFill>
                  </a:tcPr>
                </a:tc>
                <a:tc>
                  <a:txBody>
                    <a:bodyPr/>
                    <a:lstStyle/>
                    <a:p>
                      <a:pPr algn="ctr"/>
                      <a:r>
                        <a:rPr sz="1200" b="0" i="0">
                          <a:solidFill>
                            <a:srgbClr val="202B33"/>
                          </a:solidFill>
                          <a:latin typeface="Tahoma"/>
                        </a:rPr>
                        <a:t>Density, strength, impact endurance and damage-control envelope</a:t>
                      </a:r>
                    </a:p>
                  </a:txBody>
                  <a:tcPr marL="36576" marR="36576" marT="27432" marB="27432" anchor="ctr">
                    <a:solidFill>
                      <a:srgbClr val="F6EFE4"/>
                    </a:solidFill>
                  </a:tcPr>
                </a:tc>
                <a:extLst>
                  <a:ext uri="{0D108BD9-81ED-4DB2-BD59-A6C34878D82A}">
                    <a16:rowId xmlns:a16="http://schemas.microsoft.com/office/drawing/2014/main" val="10004"/>
                  </a:ext>
                </a:extLst>
              </a:tr>
              <a:tr h="708660">
                <a:tc>
                  <a:txBody>
                    <a:bodyPr/>
                    <a:lstStyle/>
                    <a:p>
                      <a:pPr algn="l"/>
                      <a:r>
                        <a:rPr sz="1200" b="1" i="0" dirty="0">
                          <a:solidFill>
                            <a:srgbClr val="202B33"/>
                          </a:solidFill>
                          <a:latin typeface="Tahoma"/>
                        </a:rPr>
                        <a:t>System/use</a:t>
                      </a:r>
                    </a:p>
                  </a:txBody>
                  <a:tcPr marL="36576" marR="36576" marT="27432" marB="27432" anchor="ctr">
                    <a:solidFill>
                      <a:srgbClr val="FFFFFF"/>
                    </a:solidFill>
                  </a:tcPr>
                </a:tc>
                <a:tc>
                  <a:txBody>
                    <a:bodyPr/>
                    <a:lstStyle/>
                    <a:p>
                      <a:pPr algn="ctr"/>
                      <a:r>
                        <a:rPr sz="1200" b="0" i="0" dirty="0">
                          <a:solidFill>
                            <a:srgbClr val="202B33"/>
                          </a:solidFill>
                          <a:latin typeface="Tahoma"/>
                        </a:rPr>
                        <a:t>Precast transport-safety and protective-infrastructure applications</a:t>
                      </a:r>
                    </a:p>
                  </a:txBody>
                  <a:tcPr marL="36576" marR="3657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Arrow: Pentagon 15">
            <a:extLst>
              <a:ext uri="{FF2B5EF4-FFF2-40B4-BE49-F238E27FC236}">
                <a16:creationId xmlns:a16="http://schemas.microsoft.com/office/drawing/2014/main" id="{54A17CB2-DBD0-3355-FEA5-12D579C095C9}"/>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FUTURE WORK</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Research gaps and staged validation plan</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19</a:t>
            </a:r>
          </a:p>
        </p:txBody>
      </p:sp>
      <p:graphicFrame>
        <p:nvGraphicFramePr>
          <p:cNvPr id="11" name="Table 10"/>
          <p:cNvGraphicFramePr>
            <a:graphicFrameLocks noGrp="1"/>
          </p:cNvGraphicFramePr>
          <p:nvPr>
            <p:extLst>
              <p:ext uri="{D42A27DB-BD31-4B8C-83A1-F6EECF244321}">
                <p14:modId xmlns:p14="http://schemas.microsoft.com/office/powerpoint/2010/main" val="360735183"/>
              </p:ext>
            </p:extLst>
          </p:nvPr>
        </p:nvGraphicFramePr>
        <p:xfrm>
          <a:off x="658368" y="1084457"/>
          <a:ext cx="10863070" cy="4334256"/>
        </p:xfrm>
        <a:graphic>
          <a:graphicData uri="http://schemas.openxmlformats.org/drawingml/2006/table">
            <a:tbl>
              <a:tblPr firstRow="1" bandRow="1">
                <a:tableStyleId>{5C22544A-7EE6-4342-B048-85BDC9FD1C3A}</a:tableStyleId>
              </a:tblPr>
              <a:tblGrid>
                <a:gridCol w="1116764">
                  <a:extLst>
                    <a:ext uri="{9D8B030D-6E8A-4147-A177-3AD203B41FA5}">
                      <a16:colId xmlns:a16="http://schemas.microsoft.com/office/drawing/2014/main" val="20000"/>
                    </a:ext>
                  </a:extLst>
                </a:gridCol>
                <a:gridCol w="2487338">
                  <a:extLst>
                    <a:ext uri="{9D8B030D-6E8A-4147-A177-3AD203B41FA5}">
                      <a16:colId xmlns:a16="http://schemas.microsoft.com/office/drawing/2014/main" val="20001"/>
                    </a:ext>
                  </a:extLst>
                </a:gridCol>
                <a:gridCol w="3248769">
                  <a:extLst>
                    <a:ext uri="{9D8B030D-6E8A-4147-A177-3AD203B41FA5}">
                      <a16:colId xmlns:a16="http://schemas.microsoft.com/office/drawing/2014/main" val="20002"/>
                    </a:ext>
                  </a:extLst>
                </a:gridCol>
                <a:gridCol w="2741149">
                  <a:extLst>
                    <a:ext uri="{9D8B030D-6E8A-4147-A177-3AD203B41FA5}">
                      <a16:colId xmlns:a16="http://schemas.microsoft.com/office/drawing/2014/main" val="20003"/>
                    </a:ext>
                  </a:extLst>
                </a:gridCol>
                <a:gridCol w="1269050">
                  <a:extLst>
                    <a:ext uri="{9D8B030D-6E8A-4147-A177-3AD203B41FA5}">
                      <a16:colId xmlns:a16="http://schemas.microsoft.com/office/drawing/2014/main" val="20004"/>
                    </a:ext>
                  </a:extLst>
                </a:gridCol>
              </a:tblGrid>
              <a:tr h="722376">
                <a:tc>
                  <a:txBody>
                    <a:bodyPr/>
                    <a:lstStyle/>
                    <a:p>
                      <a:pPr algn="l"/>
                      <a:r>
                        <a:rPr sz="1200" b="1" i="0">
                          <a:solidFill>
                            <a:srgbClr val="FFFFFF"/>
                          </a:solidFill>
                          <a:latin typeface="Tahoma"/>
                        </a:rPr>
                        <a:t>Stage</a:t>
                      </a:r>
                    </a:p>
                  </a:txBody>
                  <a:tcPr marL="36576" marR="36576" marT="27432" marB="27432" anchor="ctr">
                    <a:solidFill>
                      <a:srgbClr val="17365D"/>
                    </a:solidFill>
                  </a:tcPr>
                </a:tc>
                <a:tc>
                  <a:txBody>
                    <a:bodyPr/>
                    <a:lstStyle/>
                    <a:p>
                      <a:pPr algn="ctr"/>
                      <a:r>
                        <a:rPr sz="1200" b="1" i="0">
                          <a:solidFill>
                            <a:srgbClr val="FFFFFF"/>
                          </a:solidFill>
                          <a:latin typeface="Tahoma"/>
                        </a:rPr>
                        <a:t>Research / IP question</a:t>
                      </a:r>
                    </a:p>
                  </a:txBody>
                  <a:tcPr marL="36576" marR="36576" marT="27432" marB="27432" anchor="ctr">
                    <a:solidFill>
                      <a:srgbClr val="17365D"/>
                    </a:solidFill>
                  </a:tcPr>
                </a:tc>
                <a:tc>
                  <a:txBody>
                    <a:bodyPr/>
                    <a:lstStyle/>
                    <a:p>
                      <a:pPr algn="ctr"/>
                      <a:r>
                        <a:rPr sz="1200" b="1" i="0">
                          <a:solidFill>
                            <a:srgbClr val="FFFFFF"/>
                          </a:solidFill>
                          <a:latin typeface="Tahoma"/>
                        </a:rPr>
                        <a:t>Method</a:t>
                      </a:r>
                    </a:p>
                  </a:txBody>
                  <a:tcPr marL="36576" marR="36576" marT="27432" marB="27432" anchor="ctr">
                    <a:solidFill>
                      <a:srgbClr val="17365D"/>
                    </a:solidFill>
                  </a:tcPr>
                </a:tc>
                <a:tc>
                  <a:txBody>
                    <a:bodyPr/>
                    <a:lstStyle/>
                    <a:p>
                      <a:pPr algn="ctr"/>
                      <a:r>
                        <a:rPr sz="1200" b="1" i="0">
                          <a:solidFill>
                            <a:srgbClr val="FFFFFF"/>
                          </a:solidFill>
                          <a:latin typeface="Tahoma"/>
                        </a:rPr>
                        <a:t>Decision criterion</a:t>
                      </a:r>
                    </a:p>
                  </a:txBody>
                  <a:tcPr marL="36576" marR="36576" marT="27432" marB="27432" anchor="ctr">
                    <a:solidFill>
                      <a:srgbClr val="17365D"/>
                    </a:solidFill>
                  </a:tcPr>
                </a:tc>
                <a:tc>
                  <a:txBody>
                    <a:bodyPr/>
                    <a:lstStyle/>
                    <a:p>
                      <a:pPr algn="ctr"/>
                      <a:r>
                        <a:rPr sz="1200" b="1" i="0">
                          <a:solidFill>
                            <a:srgbClr val="FFFFFF"/>
                          </a:solidFill>
                          <a:latin typeface="Tahoma"/>
                        </a:rPr>
                        <a:t>Indicative timing</a:t>
                      </a:r>
                    </a:p>
                  </a:txBody>
                  <a:tcPr marL="36576" marR="36576" marT="27432" marB="27432" anchor="ctr">
                    <a:solidFill>
                      <a:srgbClr val="17365D"/>
                    </a:solidFill>
                  </a:tcPr>
                </a:tc>
                <a:extLst>
                  <a:ext uri="{0D108BD9-81ED-4DB2-BD59-A6C34878D82A}">
                    <a16:rowId xmlns:a16="http://schemas.microsoft.com/office/drawing/2014/main" val="10000"/>
                  </a:ext>
                </a:extLst>
              </a:tr>
              <a:tr h="722376">
                <a:tc>
                  <a:txBody>
                    <a:bodyPr/>
                    <a:lstStyle/>
                    <a:p>
                      <a:pPr algn="l"/>
                      <a:r>
                        <a:rPr sz="1200" b="1" i="0">
                          <a:solidFill>
                            <a:srgbClr val="202B33"/>
                          </a:solidFill>
                          <a:latin typeface="Tahoma"/>
                        </a:rPr>
                        <a:t>1. Protect</a:t>
                      </a:r>
                    </a:p>
                  </a:txBody>
                  <a:tcPr marL="36576" marR="36576" marT="27432" marB="27432" anchor="ctr">
                    <a:solidFill>
                      <a:srgbClr val="EAF1F6"/>
                    </a:solidFill>
                  </a:tcPr>
                </a:tc>
                <a:tc>
                  <a:txBody>
                    <a:bodyPr/>
                    <a:lstStyle/>
                    <a:p>
                      <a:pPr algn="ctr"/>
                      <a:r>
                        <a:rPr sz="1200" b="0" i="0">
                          <a:solidFill>
                            <a:srgbClr val="202B33"/>
                          </a:solidFill>
                          <a:latin typeface="Tahoma"/>
                        </a:rPr>
                        <a:t>Is the integrated platform novel and enabled?</a:t>
                      </a:r>
                    </a:p>
                  </a:txBody>
                  <a:tcPr marL="36576" marR="36576" marT="27432" marB="27432" anchor="ctr">
                    <a:solidFill>
                      <a:srgbClr val="EAF1F6"/>
                    </a:solidFill>
                  </a:tcPr>
                </a:tc>
                <a:tc>
                  <a:txBody>
                    <a:bodyPr/>
                    <a:lstStyle/>
                    <a:p>
                      <a:pPr algn="ctr"/>
                      <a:r>
                        <a:rPr sz="1200" b="0" i="0">
                          <a:solidFill>
                            <a:srgbClr val="202B33"/>
                          </a:solidFill>
                          <a:latin typeface="Tahoma"/>
                        </a:rPr>
                        <a:t>Professional patent search; reconcile records; file</a:t>
                      </a:r>
                    </a:p>
                  </a:txBody>
                  <a:tcPr marL="36576" marR="36576" marT="27432" marB="27432" anchor="ctr">
                    <a:solidFill>
                      <a:srgbClr val="EAF1F6"/>
                    </a:solidFill>
                  </a:tcPr>
                </a:tc>
                <a:tc>
                  <a:txBody>
                    <a:bodyPr/>
                    <a:lstStyle/>
                    <a:p>
                      <a:pPr algn="ctr"/>
                      <a:r>
                        <a:rPr sz="1200" b="0" i="0">
                          <a:solidFill>
                            <a:srgbClr val="202B33"/>
                          </a:solidFill>
                          <a:latin typeface="Tahoma"/>
                        </a:rPr>
                        <a:t>IPR approval and filing</a:t>
                      </a:r>
                    </a:p>
                  </a:txBody>
                  <a:tcPr marL="36576" marR="36576" marT="27432" marB="27432" anchor="ctr">
                    <a:solidFill>
                      <a:srgbClr val="EAF1F6"/>
                    </a:solidFill>
                  </a:tcPr>
                </a:tc>
                <a:tc>
                  <a:txBody>
                    <a:bodyPr/>
                    <a:lstStyle/>
                    <a:p>
                      <a:pPr algn="ctr"/>
                      <a:r>
                        <a:rPr sz="1200" b="0" i="0">
                          <a:solidFill>
                            <a:srgbClr val="202B33"/>
                          </a:solidFill>
                          <a:latin typeface="Tahoma"/>
                        </a:rPr>
                        <a:t>Now</a:t>
                      </a:r>
                    </a:p>
                  </a:txBody>
                  <a:tcPr marL="36576" marR="36576" marT="27432" marB="27432" anchor="ctr">
                    <a:solidFill>
                      <a:srgbClr val="EAF1F6"/>
                    </a:solidFill>
                  </a:tcPr>
                </a:tc>
                <a:extLst>
                  <a:ext uri="{0D108BD9-81ED-4DB2-BD59-A6C34878D82A}">
                    <a16:rowId xmlns:a16="http://schemas.microsoft.com/office/drawing/2014/main" val="10001"/>
                  </a:ext>
                </a:extLst>
              </a:tr>
              <a:tr h="722376">
                <a:tc>
                  <a:txBody>
                    <a:bodyPr/>
                    <a:lstStyle/>
                    <a:p>
                      <a:pPr algn="l"/>
                      <a:r>
                        <a:rPr sz="1200" b="1" i="0">
                          <a:solidFill>
                            <a:srgbClr val="202B33"/>
                          </a:solidFill>
                          <a:latin typeface="Tahoma"/>
                        </a:rPr>
                        <a:t>2. Reproduce</a:t>
                      </a:r>
                    </a:p>
                  </a:txBody>
                  <a:tcPr marL="36576" marR="36576" marT="27432" marB="27432" anchor="ctr">
                    <a:solidFill>
                      <a:srgbClr val="F8FAFB"/>
                    </a:solidFill>
                  </a:tcPr>
                </a:tc>
                <a:tc>
                  <a:txBody>
                    <a:bodyPr/>
                    <a:lstStyle/>
                    <a:p>
                      <a:pPr algn="ctr"/>
                      <a:r>
                        <a:rPr sz="1200" b="0" i="0">
                          <a:solidFill>
                            <a:srgbClr val="202B33"/>
                          </a:solidFill>
                          <a:latin typeface="Tahoma"/>
                        </a:rPr>
                        <a:t>Are effect sizes repeatable?</a:t>
                      </a:r>
                    </a:p>
                  </a:txBody>
                  <a:tcPr marL="36576" marR="36576" marT="27432" marB="27432" anchor="ctr">
                    <a:solidFill>
                      <a:srgbClr val="F8FAFB"/>
                    </a:solidFill>
                  </a:tcPr>
                </a:tc>
                <a:tc>
                  <a:txBody>
                    <a:bodyPr/>
                    <a:lstStyle/>
                    <a:p>
                      <a:pPr algn="ctr"/>
                      <a:r>
                        <a:rPr sz="1200" b="0" i="0">
                          <a:solidFill>
                            <a:srgbClr val="202B33"/>
                          </a:solidFill>
                          <a:latin typeface="Tahoma"/>
                        </a:rPr>
                        <a:t>Specimen-level repeats; ≥3 barriers/mix; debris quantification</a:t>
                      </a:r>
                    </a:p>
                  </a:txBody>
                  <a:tcPr marL="36576" marR="36576" marT="27432" marB="27432" anchor="ctr">
                    <a:solidFill>
                      <a:srgbClr val="F8FAFB"/>
                    </a:solidFill>
                  </a:tcPr>
                </a:tc>
                <a:tc>
                  <a:txBody>
                    <a:bodyPr/>
                    <a:lstStyle/>
                    <a:p>
                      <a:pPr algn="ctr"/>
                      <a:r>
                        <a:rPr sz="1200" b="0" i="0">
                          <a:solidFill>
                            <a:srgbClr val="202B33"/>
                          </a:solidFill>
                          <a:latin typeface="Tahoma"/>
                        </a:rPr>
                        <a:t>Uncertainty and effect-size bounds</a:t>
                      </a:r>
                    </a:p>
                  </a:txBody>
                  <a:tcPr marL="36576" marR="36576" marT="27432" marB="27432" anchor="ctr">
                    <a:solidFill>
                      <a:srgbClr val="F8FAFB"/>
                    </a:solidFill>
                  </a:tcPr>
                </a:tc>
                <a:tc>
                  <a:txBody>
                    <a:bodyPr/>
                    <a:lstStyle/>
                    <a:p>
                      <a:pPr algn="ctr"/>
                      <a:r>
                        <a:rPr sz="1200" b="0" i="0">
                          <a:solidFill>
                            <a:srgbClr val="202B33"/>
                          </a:solidFill>
                          <a:latin typeface="Tahoma"/>
                        </a:rPr>
                        <a:t>0–6 months</a:t>
                      </a:r>
                    </a:p>
                  </a:txBody>
                  <a:tcPr marL="36576" marR="36576" marT="27432" marB="27432" anchor="ctr">
                    <a:solidFill>
                      <a:srgbClr val="F8FAFB"/>
                    </a:solidFill>
                  </a:tcPr>
                </a:tc>
                <a:extLst>
                  <a:ext uri="{0D108BD9-81ED-4DB2-BD59-A6C34878D82A}">
                    <a16:rowId xmlns:a16="http://schemas.microsoft.com/office/drawing/2014/main" val="10002"/>
                  </a:ext>
                </a:extLst>
              </a:tr>
              <a:tr h="722376">
                <a:tc>
                  <a:txBody>
                    <a:bodyPr/>
                    <a:lstStyle/>
                    <a:p>
                      <a:pPr algn="l"/>
                      <a:r>
                        <a:rPr sz="1200" b="1" i="0">
                          <a:solidFill>
                            <a:srgbClr val="202B33"/>
                          </a:solidFill>
                          <a:latin typeface="Tahoma"/>
                        </a:rPr>
                        <a:t>3. Mechanism + durability</a:t>
                      </a:r>
                    </a:p>
                  </a:txBody>
                  <a:tcPr marL="36576" marR="36576" marT="27432" marB="27432" anchor="ctr">
                    <a:solidFill>
                      <a:srgbClr val="FFFFFF"/>
                    </a:solidFill>
                  </a:tcPr>
                </a:tc>
                <a:tc>
                  <a:txBody>
                    <a:bodyPr/>
                    <a:lstStyle/>
                    <a:p>
                      <a:pPr algn="ctr"/>
                      <a:r>
                        <a:rPr sz="1200" b="0" i="0">
                          <a:solidFill>
                            <a:srgbClr val="202B33"/>
                          </a:solidFill>
                          <a:latin typeface="Tahoma"/>
                        </a:rPr>
                        <a:t>Does performance persist under ageing and repeated impact?</a:t>
                      </a:r>
                    </a:p>
                  </a:txBody>
                  <a:tcPr marL="36576" marR="36576" marT="27432" marB="27432" anchor="ctr">
                    <a:solidFill>
                      <a:srgbClr val="FFFFFF"/>
                    </a:solidFill>
                  </a:tcPr>
                </a:tc>
                <a:tc>
                  <a:txBody>
                    <a:bodyPr/>
                    <a:lstStyle/>
                    <a:p>
                      <a:pPr algn="ctr"/>
                      <a:r>
                        <a:rPr sz="1200" b="0" i="0">
                          <a:solidFill>
                            <a:srgbClr val="202B33"/>
                          </a:solidFill>
                          <a:latin typeface="Tahoma"/>
                        </a:rPr>
                        <a:t>FE calibration; fatigue; chloride; corrosion; fire/weather</a:t>
                      </a:r>
                    </a:p>
                  </a:txBody>
                  <a:tcPr marL="36576" marR="36576" marT="27432" marB="27432" anchor="ctr">
                    <a:solidFill>
                      <a:srgbClr val="FFFFFF"/>
                    </a:solidFill>
                  </a:tcPr>
                </a:tc>
                <a:tc>
                  <a:txBody>
                    <a:bodyPr/>
                    <a:lstStyle/>
                    <a:p>
                      <a:pPr algn="ctr"/>
                      <a:r>
                        <a:rPr sz="1200" b="0" i="0">
                          <a:solidFill>
                            <a:srgbClr val="202B33"/>
                          </a:solidFill>
                          <a:latin typeface="Tahoma"/>
                        </a:rPr>
                        <a:t>Validated model + durability envelope</a:t>
                      </a:r>
                    </a:p>
                  </a:txBody>
                  <a:tcPr marL="36576" marR="36576" marT="27432" marB="27432" anchor="ctr">
                    <a:solidFill>
                      <a:srgbClr val="FFFFFF"/>
                    </a:solidFill>
                  </a:tcPr>
                </a:tc>
                <a:tc>
                  <a:txBody>
                    <a:bodyPr/>
                    <a:lstStyle/>
                    <a:p>
                      <a:pPr algn="ctr"/>
                      <a:r>
                        <a:rPr sz="1200" b="0" i="0">
                          <a:solidFill>
                            <a:srgbClr val="202B33"/>
                          </a:solidFill>
                          <a:latin typeface="Tahoma"/>
                        </a:rPr>
                        <a:t>6–12 months</a:t>
                      </a:r>
                    </a:p>
                  </a:txBody>
                  <a:tcPr marL="36576" marR="36576" marT="27432" marB="27432" anchor="ctr">
                    <a:solidFill>
                      <a:srgbClr val="FFFFFF"/>
                    </a:solidFill>
                  </a:tcPr>
                </a:tc>
                <a:extLst>
                  <a:ext uri="{0D108BD9-81ED-4DB2-BD59-A6C34878D82A}">
                    <a16:rowId xmlns:a16="http://schemas.microsoft.com/office/drawing/2014/main" val="10003"/>
                  </a:ext>
                </a:extLst>
              </a:tr>
              <a:tr h="722376">
                <a:tc>
                  <a:txBody>
                    <a:bodyPr/>
                    <a:lstStyle/>
                    <a:p>
                      <a:pPr algn="l"/>
                      <a:r>
                        <a:rPr sz="1200" b="1" i="0">
                          <a:solidFill>
                            <a:srgbClr val="202B33"/>
                          </a:solidFill>
                          <a:latin typeface="Tahoma"/>
                        </a:rPr>
                        <a:t>4. Vehicle-scale safety</a:t>
                      </a:r>
                    </a:p>
                  </a:txBody>
                  <a:tcPr marL="36576" marR="36576" marT="27432" marB="27432" anchor="ctr">
                    <a:solidFill>
                      <a:srgbClr val="F6EFE4"/>
                    </a:solidFill>
                  </a:tcPr>
                </a:tc>
                <a:tc>
                  <a:txBody>
                    <a:bodyPr/>
                    <a:lstStyle/>
                    <a:p>
                      <a:pPr algn="ctr"/>
                      <a:r>
                        <a:rPr sz="1200" b="0" i="0">
                          <a:solidFill>
                            <a:srgbClr val="202B33"/>
                          </a:solidFill>
                          <a:latin typeface="Tahoma"/>
                        </a:rPr>
                        <a:t>Does the system contain and redirect vehicles safely?</a:t>
                      </a:r>
                    </a:p>
                  </a:txBody>
                  <a:tcPr marL="36576" marR="36576" marT="27432" marB="27432" anchor="ctr">
                    <a:solidFill>
                      <a:srgbClr val="F6EFE4"/>
                    </a:solidFill>
                  </a:tcPr>
                </a:tc>
                <a:tc>
                  <a:txBody>
                    <a:bodyPr/>
                    <a:lstStyle/>
                    <a:p>
                      <a:pPr algn="ctr"/>
                      <a:r>
                        <a:rPr sz="1200" b="0" i="0">
                          <a:solidFill>
                            <a:srgbClr val="202B33"/>
                          </a:solidFill>
                          <a:latin typeface="Tahoma"/>
                        </a:rPr>
                        <a:t>Full-scale IRC / EN 1317 / MASH-aligned tests; ASI/THIV</a:t>
                      </a:r>
                    </a:p>
                  </a:txBody>
                  <a:tcPr marL="36576" marR="36576" marT="27432" marB="27432" anchor="ctr">
                    <a:solidFill>
                      <a:srgbClr val="F6EFE4"/>
                    </a:solidFill>
                  </a:tcPr>
                </a:tc>
                <a:tc>
                  <a:txBody>
                    <a:bodyPr/>
                    <a:lstStyle/>
                    <a:p>
                      <a:pPr algn="ctr"/>
                      <a:r>
                        <a:rPr sz="1200" b="0" i="0">
                          <a:solidFill>
                            <a:srgbClr val="202B33"/>
                          </a:solidFill>
                          <a:latin typeface="Tahoma"/>
                        </a:rPr>
                        <a:t>Containment, redirection and occupant-risk compliance</a:t>
                      </a:r>
                    </a:p>
                  </a:txBody>
                  <a:tcPr marL="36576" marR="36576" marT="27432" marB="27432" anchor="ctr">
                    <a:solidFill>
                      <a:srgbClr val="F6EFE4"/>
                    </a:solidFill>
                  </a:tcPr>
                </a:tc>
                <a:tc>
                  <a:txBody>
                    <a:bodyPr/>
                    <a:lstStyle/>
                    <a:p>
                      <a:pPr algn="ctr"/>
                      <a:r>
                        <a:rPr sz="1200" b="0" i="0">
                          <a:solidFill>
                            <a:srgbClr val="202B33"/>
                          </a:solidFill>
                          <a:latin typeface="Tahoma"/>
                        </a:rPr>
                        <a:t>12–24 months</a:t>
                      </a:r>
                    </a:p>
                  </a:txBody>
                  <a:tcPr marL="36576" marR="36576" marT="27432" marB="27432" anchor="ctr">
                    <a:solidFill>
                      <a:srgbClr val="F6EFE4"/>
                    </a:solidFill>
                  </a:tcPr>
                </a:tc>
                <a:extLst>
                  <a:ext uri="{0D108BD9-81ED-4DB2-BD59-A6C34878D82A}">
                    <a16:rowId xmlns:a16="http://schemas.microsoft.com/office/drawing/2014/main" val="10004"/>
                  </a:ext>
                </a:extLst>
              </a:tr>
              <a:tr h="722376">
                <a:tc>
                  <a:txBody>
                    <a:bodyPr/>
                    <a:lstStyle/>
                    <a:p>
                      <a:pPr algn="l"/>
                      <a:r>
                        <a:rPr sz="1200" b="1" i="0">
                          <a:solidFill>
                            <a:srgbClr val="202B33"/>
                          </a:solidFill>
                          <a:latin typeface="Tahoma"/>
                        </a:rPr>
                        <a:t>5. Translation</a:t>
                      </a:r>
                    </a:p>
                  </a:txBody>
                  <a:tcPr marL="36576" marR="36576" marT="27432" marB="27432" anchor="ctr">
                    <a:solidFill>
                      <a:srgbClr val="FFFFFF"/>
                    </a:solidFill>
                  </a:tcPr>
                </a:tc>
                <a:tc>
                  <a:txBody>
                    <a:bodyPr/>
                    <a:lstStyle/>
                    <a:p>
                      <a:pPr algn="ctr"/>
                      <a:r>
                        <a:rPr sz="1200" b="0" i="0">
                          <a:solidFill>
                            <a:srgbClr val="202B33"/>
                          </a:solidFill>
                          <a:latin typeface="Tahoma"/>
                        </a:rPr>
                        <a:t>Is the system manufacturable and beneficial at installed scale?</a:t>
                      </a:r>
                    </a:p>
                  </a:txBody>
                  <a:tcPr marL="36576" marR="36576" marT="27432" marB="27432" anchor="ctr">
                    <a:solidFill>
                      <a:srgbClr val="FFFFFF"/>
                    </a:solidFill>
                  </a:tcPr>
                </a:tc>
                <a:tc>
                  <a:txBody>
                    <a:bodyPr/>
                    <a:lstStyle/>
                    <a:p>
                      <a:pPr algn="ctr"/>
                      <a:r>
                        <a:rPr sz="1200" b="0" i="0">
                          <a:solidFill>
                            <a:srgbClr val="202B33"/>
                          </a:solidFill>
                          <a:latin typeface="Tahoma"/>
                        </a:rPr>
                        <a:t>Precast QA; field pilot; comparative LCA and TEA</a:t>
                      </a:r>
                    </a:p>
                  </a:txBody>
                  <a:tcPr marL="36576" marR="36576" marT="27432" marB="27432" anchor="ctr">
                    <a:solidFill>
                      <a:srgbClr val="FFFFFF"/>
                    </a:solidFill>
                  </a:tcPr>
                </a:tc>
                <a:tc>
                  <a:txBody>
                    <a:bodyPr/>
                    <a:lstStyle/>
                    <a:p>
                      <a:pPr algn="ctr"/>
                      <a:r>
                        <a:rPr sz="1200" b="0" i="0">
                          <a:solidFill>
                            <a:srgbClr val="202B33"/>
                          </a:solidFill>
                          <a:latin typeface="Tahoma"/>
                        </a:rPr>
                        <a:t>Pilot readiness and licensing package</a:t>
                      </a:r>
                    </a:p>
                  </a:txBody>
                  <a:tcPr marL="36576" marR="36576" marT="27432" marB="27432" anchor="ctr">
                    <a:solidFill>
                      <a:srgbClr val="FFFFFF"/>
                    </a:solidFill>
                  </a:tcPr>
                </a:tc>
                <a:tc>
                  <a:txBody>
                    <a:bodyPr/>
                    <a:lstStyle/>
                    <a:p>
                      <a:pPr algn="ctr"/>
                      <a:r>
                        <a:rPr sz="1200" b="0" i="0" dirty="0">
                          <a:solidFill>
                            <a:srgbClr val="202B33"/>
                          </a:solidFill>
                          <a:latin typeface="Tahoma"/>
                        </a:rPr>
                        <a:t>24–36 months</a:t>
                      </a:r>
                    </a:p>
                  </a:txBody>
                  <a:tcPr marL="36576" marR="36576"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2" name="Rectangle 11"/>
          <p:cNvSpPr/>
          <p:nvPr/>
        </p:nvSpPr>
        <p:spPr>
          <a:xfrm>
            <a:off x="731520" y="5481306"/>
            <a:ext cx="10716768" cy="365760"/>
          </a:xfrm>
          <a:prstGeom prst="rect">
            <a:avLst/>
          </a:prstGeom>
          <a:solidFill>
            <a:srgbClr val="F6EAEC"/>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572746"/>
            <a:ext cx="10351008"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Critical uncertainties: full-scale vehicle response • </a:t>
            </a:r>
            <a:r>
              <a:rPr sz="1200" b="1" i="0" dirty="0" err="1">
                <a:solidFill>
                  <a:srgbClr val="9A4651"/>
                </a:solidFill>
                <a:latin typeface="Tahoma"/>
              </a:rPr>
              <a:t>fibre</a:t>
            </a:r>
            <a:r>
              <a:rPr sz="1200" b="1" i="0" dirty="0">
                <a:solidFill>
                  <a:srgbClr val="9A4651"/>
                </a:solidFill>
                <a:latin typeface="Tahoma"/>
              </a:rPr>
              <a:t> workability/balling • SFA moisture/variability • corrosion • installed cost • disclosure timing</a:t>
            </a:r>
          </a:p>
        </p:txBody>
      </p:sp>
      <p:sp>
        <p:nvSpPr>
          <p:cNvPr id="17" name="TextBox 16"/>
          <p:cNvSpPr txBox="1"/>
          <p:nvPr/>
        </p:nvSpPr>
        <p:spPr>
          <a:xfrm>
            <a:off x="667512" y="6108192"/>
            <a:ext cx="10652760" cy="256032"/>
          </a:xfrm>
          <a:prstGeom prst="rect">
            <a:avLst/>
          </a:prstGeom>
          <a:noFill/>
        </p:spPr>
        <p:txBody>
          <a:bodyPr wrap="square" lIns="0" rIns="0" tIns="0" bIns="0" anchor="ctr">
            <a:spAutoFit/>
          </a:bodyPr>
          <a:lstStyle/>
          <a:p>
            <a:pPr algn="l">
              <a:lnSpc>
                <a:spcPct val="100000"/>
              </a:lnSpc>
            </a:pPr>
            <a:r>
              <a:rPr sz="1000" b="0" i="0">
                <a:solidFill>
                  <a:srgbClr val="000000"/>
                </a:solidFill>
                <a:latin typeface="Tahoma"/>
              </a:rPr>
              <a:t>Source: Standards context: IRC:119-2015; EN 1317; AASHTO MASH. Timing is an author-proposed validation sequence.</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CONCLUSIONS</a:t>
            </a:r>
          </a:p>
        </p:txBody>
      </p:sp>
      <p:sp>
        <p:nvSpPr>
          <p:cNvPr id="4" name="TextBox 3"/>
          <p:cNvSpPr txBox="1"/>
          <p:nvPr/>
        </p:nvSpPr>
        <p:spPr>
          <a:xfrm>
            <a:off x="621792" y="465621"/>
            <a:ext cx="9966960" cy="339773"/>
          </a:xfrm>
          <a:prstGeom prst="rect">
            <a:avLst/>
          </a:prstGeom>
          <a:noFill/>
        </p:spPr>
        <p:txBody>
          <a:bodyPr wrap="square" lIns="0" tIns="0" rIns="0" bIns="0" anchor="ctr">
            <a:spAutoFit/>
          </a:bodyPr>
          <a:lstStyle/>
          <a:p>
            <a:pPr algn="l">
              <a:lnSpc>
                <a:spcPct val="92000"/>
              </a:lnSpc>
            </a:pPr>
            <a:r>
              <a:rPr sz="2400" b="1" i="0" dirty="0">
                <a:solidFill>
                  <a:srgbClr val="17365D"/>
                </a:solidFill>
                <a:latin typeface="Tahoma"/>
              </a:rPr>
              <a:t>Conclusions and request to the IPR committee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20</a:t>
            </a:r>
          </a:p>
        </p:txBody>
      </p:sp>
      <p:graphicFrame>
        <p:nvGraphicFramePr>
          <p:cNvPr id="11" name="Table 10"/>
          <p:cNvGraphicFramePr>
            <a:graphicFrameLocks noGrp="1"/>
          </p:cNvGraphicFramePr>
          <p:nvPr>
            <p:extLst>
              <p:ext uri="{D42A27DB-BD31-4B8C-83A1-F6EECF244321}">
                <p14:modId xmlns:p14="http://schemas.microsoft.com/office/powerpoint/2010/main" val="884852338"/>
              </p:ext>
            </p:extLst>
          </p:nvPr>
        </p:nvGraphicFramePr>
        <p:xfrm>
          <a:off x="573525" y="1243584"/>
          <a:ext cx="6720839" cy="3401568"/>
        </p:xfrm>
        <a:graphic>
          <a:graphicData uri="http://schemas.openxmlformats.org/drawingml/2006/table">
            <a:tbl>
              <a:tblPr firstRow="1" bandRow="1">
                <a:tableStyleId>{5C22544A-7EE6-4342-B048-85BDC9FD1C3A}</a:tableStyleId>
              </a:tblPr>
              <a:tblGrid>
                <a:gridCol w="531865">
                  <a:extLst>
                    <a:ext uri="{9D8B030D-6E8A-4147-A177-3AD203B41FA5}">
                      <a16:colId xmlns:a16="http://schemas.microsoft.com/office/drawing/2014/main" val="20000"/>
                    </a:ext>
                  </a:extLst>
                </a:gridCol>
                <a:gridCol w="4013163">
                  <a:extLst>
                    <a:ext uri="{9D8B030D-6E8A-4147-A177-3AD203B41FA5}">
                      <a16:colId xmlns:a16="http://schemas.microsoft.com/office/drawing/2014/main" val="20001"/>
                    </a:ext>
                  </a:extLst>
                </a:gridCol>
                <a:gridCol w="2175811">
                  <a:extLst>
                    <a:ext uri="{9D8B030D-6E8A-4147-A177-3AD203B41FA5}">
                      <a16:colId xmlns:a16="http://schemas.microsoft.com/office/drawing/2014/main" val="20002"/>
                    </a:ext>
                  </a:extLst>
                </a:gridCol>
              </a:tblGrid>
              <a:tr h="680313">
                <a:tc>
                  <a:txBody>
                    <a:bodyPr/>
                    <a:lstStyle/>
                    <a:p>
                      <a:pPr algn="l"/>
                      <a:r>
                        <a:rPr sz="1200" b="1" i="0">
                          <a:solidFill>
                            <a:srgbClr val="FFFFFF"/>
                          </a:solidFill>
                          <a:latin typeface="Tahoma"/>
                        </a:rPr>
                        <a:t>No.</a:t>
                      </a:r>
                    </a:p>
                  </a:txBody>
                  <a:tcPr marL="36576" marR="36576" marT="27432" marB="27432" anchor="ctr">
                    <a:solidFill>
                      <a:srgbClr val="17365D"/>
                    </a:solidFill>
                  </a:tcPr>
                </a:tc>
                <a:tc>
                  <a:txBody>
                    <a:bodyPr/>
                    <a:lstStyle/>
                    <a:p>
                      <a:pPr algn="ctr"/>
                      <a:r>
                        <a:rPr sz="1200" b="1" i="0">
                          <a:solidFill>
                            <a:srgbClr val="FFFFFF"/>
                          </a:solidFill>
                          <a:latin typeface="Tahoma"/>
                        </a:rPr>
                        <a:t>Conclusion from current evidence</a:t>
                      </a:r>
                    </a:p>
                  </a:txBody>
                  <a:tcPr marL="36576" marR="36576" marT="27432" marB="27432" anchor="ctr">
                    <a:solidFill>
                      <a:srgbClr val="17365D"/>
                    </a:solidFill>
                  </a:tcPr>
                </a:tc>
                <a:tc>
                  <a:txBody>
                    <a:bodyPr/>
                    <a:lstStyle/>
                    <a:p>
                      <a:pPr algn="ctr"/>
                      <a:r>
                        <a:rPr sz="1200" b="1" i="0">
                          <a:solidFill>
                            <a:srgbClr val="FFFFFF"/>
                          </a:solidFill>
                          <a:latin typeface="Tahoma"/>
                        </a:rPr>
                        <a:t>Quantitative basis</a:t>
                      </a:r>
                    </a:p>
                  </a:txBody>
                  <a:tcPr marL="36576" marR="36576" marT="27432" marB="27432" anchor="ctr">
                    <a:solidFill>
                      <a:srgbClr val="17365D"/>
                    </a:solidFill>
                  </a:tcPr>
                </a:tc>
                <a:extLst>
                  <a:ext uri="{0D108BD9-81ED-4DB2-BD59-A6C34878D82A}">
                    <a16:rowId xmlns:a16="http://schemas.microsoft.com/office/drawing/2014/main" val="10000"/>
                  </a:ext>
                </a:extLst>
              </a:tr>
              <a:tr h="680313">
                <a:tc>
                  <a:txBody>
                    <a:bodyPr/>
                    <a:lstStyle/>
                    <a:p>
                      <a:pPr algn="l"/>
                      <a:r>
                        <a:rPr sz="1200" b="1" i="0">
                          <a:solidFill>
                            <a:srgbClr val="202B33"/>
                          </a:solidFill>
                          <a:latin typeface="Tahoma"/>
                        </a:rPr>
                        <a:t>1</a:t>
                      </a:r>
                    </a:p>
                  </a:txBody>
                  <a:tcPr marL="36576" marR="36576" marT="27432" marB="27432" anchor="ctr">
                    <a:solidFill>
                      <a:srgbClr val="FFFFFF"/>
                    </a:solidFill>
                  </a:tcPr>
                </a:tc>
                <a:tc>
                  <a:txBody>
                    <a:bodyPr/>
                    <a:lstStyle/>
                    <a:p>
                      <a:pPr algn="ctr"/>
                      <a:r>
                        <a:rPr sz="1200" b="0" i="0">
                          <a:solidFill>
                            <a:srgbClr val="202B33"/>
                          </a:solidFill>
                          <a:latin typeface="Tahoma"/>
                        </a:rPr>
                        <a:t>The selected lightweight mixture clears the structural-strength gate.</a:t>
                      </a:r>
                    </a:p>
                  </a:txBody>
                  <a:tcPr marL="36576" marR="36576" marT="27432" marB="27432" anchor="ctr">
                    <a:solidFill>
                      <a:srgbClr val="FFFFFF"/>
                    </a:solidFill>
                  </a:tcPr>
                </a:tc>
                <a:tc>
                  <a:txBody>
                    <a:bodyPr/>
                    <a:lstStyle/>
                    <a:p>
                      <a:pPr algn="ctr"/>
                      <a:r>
                        <a:rPr sz="1200" b="0" i="0">
                          <a:solidFill>
                            <a:srgbClr val="202B33"/>
                          </a:solidFill>
                          <a:latin typeface="Tahoma"/>
                        </a:rPr>
                        <a:t>55.4 MPa; reported density −19.4% vs NWC</a:t>
                      </a:r>
                    </a:p>
                  </a:txBody>
                  <a:tcPr marL="36576" marR="36576" marT="27432" marB="27432" anchor="ctr">
                    <a:solidFill>
                      <a:srgbClr val="FFFFFF"/>
                    </a:solidFill>
                  </a:tcPr>
                </a:tc>
                <a:extLst>
                  <a:ext uri="{0D108BD9-81ED-4DB2-BD59-A6C34878D82A}">
                    <a16:rowId xmlns:a16="http://schemas.microsoft.com/office/drawing/2014/main" val="10001"/>
                  </a:ext>
                </a:extLst>
              </a:tr>
              <a:tr h="680313">
                <a:tc>
                  <a:txBody>
                    <a:bodyPr/>
                    <a:lstStyle/>
                    <a:p>
                      <a:pPr algn="l"/>
                      <a:r>
                        <a:rPr sz="1200" b="1" i="0">
                          <a:solidFill>
                            <a:srgbClr val="202B33"/>
                          </a:solidFill>
                          <a:latin typeface="Tahoma"/>
                        </a:rPr>
                        <a:t>2</a:t>
                      </a:r>
                    </a:p>
                  </a:txBody>
                  <a:tcPr marL="36576" marR="36576" marT="27432" marB="27432" anchor="ctr">
                    <a:solidFill>
                      <a:srgbClr val="F6EFE4"/>
                    </a:solidFill>
                  </a:tcPr>
                </a:tc>
                <a:tc>
                  <a:txBody>
                    <a:bodyPr/>
                    <a:lstStyle/>
                    <a:p>
                      <a:pPr algn="ctr"/>
                      <a:r>
                        <a:rPr sz="1200" b="0" i="0">
                          <a:solidFill>
                            <a:srgbClr val="202B33"/>
                          </a:solidFill>
                          <a:latin typeface="Tahoma"/>
                        </a:rPr>
                        <a:t>Crack-bridging reinforcement primarily improves tensile and post-cracking response.</a:t>
                      </a:r>
                    </a:p>
                  </a:txBody>
                  <a:tcPr marL="36576" marR="36576" marT="27432" marB="27432" anchor="ctr">
                    <a:solidFill>
                      <a:srgbClr val="F6EFE4"/>
                    </a:solidFill>
                  </a:tcPr>
                </a:tc>
                <a:tc>
                  <a:txBody>
                    <a:bodyPr/>
                    <a:lstStyle/>
                    <a:p>
                      <a:pPr algn="ctr"/>
                      <a:r>
                        <a:rPr sz="1200" b="0" i="0">
                          <a:solidFill>
                            <a:srgbClr val="202B33"/>
                          </a:solidFill>
                          <a:latin typeface="Tahoma"/>
                        </a:rPr>
                        <a:t>Split tension +76%; prism E₂ 55.3× NWC</a:t>
                      </a:r>
                    </a:p>
                  </a:txBody>
                  <a:tcPr marL="36576" marR="36576" marT="27432" marB="27432" anchor="ctr">
                    <a:solidFill>
                      <a:srgbClr val="F6EFE4"/>
                    </a:solidFill>
                  </a:tcPr>
                </a:tc>
                <a:extLst>
                  <a:ext uri="{0D108BD9-81ED-4DB2-BD59-A6C34878D82A}">
                    <a16:rowId xmlns:a16="http://schemas.microsoft.com/office/drawing/2014/main" val="10002"/>
                  </a:ext>
                </a:extLst>
              </a:tr>
              <a:tr h="680313">
                <a:tc>
                  <a:txBody>
                    <a:bodyPr/>
                    <a:lstStyle/>
                    <a:p>
                      <a:pPr algn="l"/>
                      <a:r>
                        <a:rPr sz="1200" b="1" i="0">
                          <a:solidFill>
                            <a:srgbClr val="202B33"/>
                          </a:solidFill>
                          <a:latin typeface="Tahoma"/>
                        </a:rPr>
                        <a:t>3</a:t>
                      </a:r>
                    </a:p>
                  </a:txBody>
                  <a:tcPr marL="36576" marR="36576" marT="27432" marB="27432" anchor="ctr">
                    <a:solidFill>
                      <a:srgbClr val="EAF2F3"/>
                    </a:solidFill>
                  </a:tcPr>
                </a:tc>
                <a:tc>
                  <a:txBody>
                    <a:bodyPr/>
                    <a:lstStyle/>
                    <a:p>
                      <a:pPr algn="ctr"/>
                      <a:r>
                        <a:rPr sz="1200" b="0" i="0">
                          <a:solidFill>
                            <a:srgbClr val="202B33"/>
                          </a:solidFill>
                          <a:latin typeface="Tahoma"/>
                        </a:rPr>
                        <a:t>The one-third-scale barrier reproduces the direction of benefit.</a:t>
                      </a:r>
                    </a:p>
                  </a:txBody>
                  <a:tcPr marL="36576" marR="36576" marT="27432" marB="27432" anchor="ctr">
                    <a:solidFill>
                      <a:srgbClr val="EAF2F3"/>
                    </a:solidFill>
                  </a:tcPr>
                </a:tc>
                <a:tc>
                  <a:txBody>
                    <a:bodyPr/>
                    <a:lstStyle/>
                    <a:p>
                      <a:pPr algn="ctr"/>
                      <a:r>
                        <a:rPr sz="1200" b="0" i="0">
                          <a:solidFill>
                            <a:srgbClr val="202B33"/>
                          </a:solidFill>
                          <a:latin typeface="Tahoma"/>
                        </a:rPr>
                        <a:t>E₂ 2.0×; deformation 3.01×; n = 1/mix</a:t>
                      </a:r>
                    </a:p>
                  </a:txBody>
                  <a:tcPr marL="36576" marR="36576" marT="27432" marB="27432" anchor="ctr">
                    <a:solidFill>
                      <a:srgbClr val="EAF2F3"/>
                    </a:solidFill>
                  </a:tcPr>
                </a:tc>
                <a:extLst>
                  <a:ext uri="{0D108BD9-81ED-4DB2-BD59-A6C34878D82A}">
                    <a16:rowId xmlns:a16="http://schemas.microsoft.com/office/drawing/2014/main" val="10003"/>
                  </a:ext>
                </a:extLst>
              </a:tr>
              <a:tr h="680316">
                <a:tc>
                  <a:txBody>
                    <a:bodyPr/>
                    <a:lstStyle/>
                    <a:p>
                      <a:pPr algn="l"/>
                      <a:r>
                        <a:rPr sz="1200" b="1" i="0">
                          <a:solidFill>
                            <a:srgbClr val="202B33"/>
                          </a:solidFill>
                          <a:latin typeface="Tahoma"/>
                        </a:rPr>
                        <a:t>4</a:t>
                      </a:r>
                    </a:p>
                  </a:txBody>
                  <a:tcPr marL="36576" marR="36576" marT="27432" marB="27432" anchor="ctr">
                    <a:solidFill>
                      <a:srgbClr val="F6EAEC"/>
                    </a:solidFill>
                  </a:tcPr>
                </a:tc>
                <a:tc>
                  <a:txBody>
                    <a:bodyPr/>
                    <a:lstStyle/>
                    <a:p>
                      <a:pPr algn="ctr"/>
                      <a:r>
                        <a:rPr sz="1200" b="0" i="0">
                          <a:solidFill>
                            <a:srgbClr val="202B33"/>
                          </a:solidFill>
                          <a:latin typeface="Tahoma"/>
                        </a:rPr>
                        <a:t>Occupant-safety and certification claims remain outside the present evidence.</a:t>
                      </a:r>
                    </a:p>
                  </a:txBody>
                  <a:tcPr marL="36576" marR="36576" marT="27432" marB="27432" anchor="ctr">
                    <a:solidFill>
                      <a:srgbClr val="F6EAEC"/>
                    </a:solidFill>
                  </a:tcPr>
                </a:tc>
                <a:tc>
                  <a:txBody>
                    <a:bodyPr/>
                    <a:lstStyle/>
                    <a:p>
                      <a:pPr algn="ctr"/>
                      <a:r>
                        <a:rPr sz="1200" b="0" i="0" dirty="0">
                          <a:solidFill>
                            <a:srgbClr val="202B33"/>
                          </a:solidFill>
                          <a:latin typeface="Tahoma"/>
                        </a:rPr>
                        <a:t>No vehicle containment, redirection, ASI or THIV test</a:t>
                      </a:r>
                    </a:p>
                  </a:txBody>
                  <a:tcPr marL="36576" marR="36576" marT="27432" marB="27432" anchor="ctr">
                    <a:solidFill>
                      <a:srgbClr val="F6EAEC"/>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99968605"/>
              </p:ext>
            </p:extLst>
          </p:nvPr>
        </p:nvGraphicFramePr>
        <p:xfrm>
          <a:off x="7503736" y="1243584"/>
          <a:ext cx="4310311" cy="3401568"/>
        </p:xfrm>
        <a:graphic>
          <a:graphicData uri="http://schemas.openxmlformats.org/drawingml/2006/table">
            <a:tbl>
              <a:tblPr firstRow="1" bandRow="1">
                <a:tableStyleId>{5C22544A-7EE6-4342-B048-85BDC9FD1C3A}</a:tableStyleId>
              </a:tblPr>
              <a:tblGrid>
                <a:gridCol w="1881668">
                  <a:extLst>
                    <a:ext uri="{9D8B030D-6E8A-4147-A177-3AD203B41FA5}">
                      <a16:colId xmlns:a16="http://schemas.microsoft.com/office/drawing/2014/main" val="20000"/>
                    </a:ext>
                  </a:extLst>
                </a:gridCol>
                <a:gridCol w="2428643">
                  <a:extLst>
                    <a:ext uri="{9D8B030D-6E8A-4147-A177-3AD203B41FA5}">
                      <a16:colId xmlns:a16="http://schemas.microsoft.com/office/drawing/2014/main" val="20001"/>
                    </a:ext>
                  </a:extLst>
                </a:gridCol>
              </a:tblGrid>
              <a:tr h="680313">
                <a:tc>
                  <a:txBody>
                    <a:bodyPr/>
                    <a:lstStyle/>
                    <a:p>
                      <a:pPr algn="l"/>
                      <a:r>
                        <a:rPr sz="1200" b="1" i="0">
                          <a:solidFill>
                            <a:srgbClr val="FFFFFF"/>
                          </a:solidFill>
                          <a:latin typeface="Tahoma"/>
                        </a:rPr>
                        <a:t>IPR decision requested</a:t>
                      </a:r>
                    </a:p>
                  </a:txBody>
                  <a:tcPr marL="36576" marR="36576" marT="27432" marB="27432" anchor="ctr">
                    <a:solidFill>
                      <a:srgbClr val="17365D"/>
                    </a:solidFill>
                  </a:tcPr>
                </a:tc>
                <a:tc>
                  <a:txBody>
                    <a:bodyPr/>
                    <a:lstStyle/>
                    <a:p>
                      <a:pPr algn="ctr"/>
                      <a:r>
                        <a:rPr sz="1200" b="1" i="0">
                          <a:solidFill>
                            <a:srgbClr val="FFFFFF"/>
                          </a:solidFill>
                          <a:latin typeface="Tahoma"/>
                        </a:rPr>
                        <a:t>Purpose</a:t>
                      </a:r>
                    </a:p>
                  </a:txBody>
                  <a:tcPr marL="36576" marR="36576" marT="27432" marB="27432" anchor="ctr">
                    <a:solidFill>
                      <a:srgbClr val="17365D"/>
                    </a:solidFill>
                  </a:tcPr>
                </a:tc>
                <a:extLst>
                  <a:ext uri="{0D108BD9-81ED-4DB2-BD59-A6C34878D82A}">
                    <a16:rowId xmlns:a16="http://schemas.microsoft.com/office/drawing/2014/main" val="10000"/>
                  </a:ext>
                </a:extLst>
              </a:tr>
              <a:tr h="680313">
                <a:tc>
                  <a:txBody>
                    <a:bodyPr/>
                    <a:lstStyle/>
                    <a:p>
                      <a:pPr algn="l"/>
                      <a:r>
                        <a:rPr sz="1200" b="1" i="0">
                          <a:solidFill>
                            <a:srgbClr val="202B33"/>
                          </a:solidFill>
                          <a:latin typeface="Tahoma"/>
                        </a:rPr>
                        <a:t>Approve patent filing</a:t>
                      </a:r>
                    </a:p>
                  </a:txBody>
                  <a:tcPr marL="36576" marR="36576" marT="27432" marB="27432" anchor="ctr">
                    <a:solidFill>
                      <a:srgbClr val="EAF1F6"/>
                    </a:solidFill>
                  </a:tcPr>
                </a:tc>
                <a:tc>
                  <a:txBody>
                    <a:bodyPr/>
                    <a:lstStyle/>
                    <a:p>
                      <a:pPr algn="ctr"/>
                      <a:r>
                        <a:rPr sz="1200" b="0" i="0">
                          <a:solidFill>
                            <a:srgbClr val="202B33"/>
                          </a:solidFill>
                          <a:latin typeface="Tahoma"/>
                        </a:rPr>
                        <a:t>Authorize professional search, drafting and filing</a:t>
                      </a:r>
                    </a:p>
                  </a:txBody>
                  <a:tcPr marL="36576" marR="36576" marT="27432" marB="27432" anchor="ctr">
                    <a:solidFill>
                      <a:srgbClr val="EAF1F6"/>
                    </a:solidFill>
                  </a:tcPr>
                </a:tc>
                <a:extLst>
                  <a:ext uri="{0D108BD9-81ED-4DB2-BD59-A6C34878D82A}">
                    <a16:rowId xmlns:a16="http://schemas.microsoft.com/office/drawing/2014/main" val="10001"/>
                  </a:ext>
                </a:extLst>
              </a:tr>
              <a:tr h="680313">
                <a:tc>
                  <a:txBody>
                    <a:bodyPr/>
                    <a:lstStyle/>
                    <a:p>
                      <a:pPr algn="l"/>
                      <a:r>
                        <a:rPr sz="1200" b="1" i="0">
                          <a:solidFill>
                            <a:srgbClr val="202B33"/>
                          </a:solidFill>
                          <a:latin typeface="Tahoma"/>
                        </a:rPr>
                        <a:t>Maintain confidentiality</a:t>
                      </a:r>
                    </a:p>
                  </a:txBody>
                  <a:tcPr marL="36576" marR="36576" marT="27432" marB="27432" anchor="ctr">
                    <a:solidFill>
                      <a:srgbClr val="F8FAFB"/>
                    </a:solidFill>
                  </a:tcPr>
                </a:tc>
                <a:tc>
                  <a:txBody>
                    <a:bodyPr/>
                    <a:lstStyle/>
                    <a:p>
                      <a:pPr algn="ctr"/>
                      <a:r>
                        <a:rPr sz="1200" b="0" i="0">
                          <a:solidFill>
                            <a:srgbClr val="202B33"/>
                          </a:solidFill>
                          <a:latin typeface="Tahoma"/>
                        </a:rPr>
                        <a:t>Coordinate manuscript/public release after filing</a:t>
                      </a:r>
                    </a:p>
                  </a:txBody>
                  <a:tcPr marL="36576" marR="36576" marT="27432" marB="27432" anchor="ctr">
                    <a:solidFill>
                      <a:srgbClr val="F8FAFB"/>
                    </a:solidFill>
                  </a:tcPr>
                </a:tc>
                <a:extLst>
                  <a:ext uri="{0D108BD9-81ED-4DB2-BD59-A6C34878D82A}">
                    <a16:rowId xmlns:a16="http://schemas.microsoft.com/office/drawing/2014/main" val="10002"/>
                  </a:ext>
                </a:extLst>
              </a:tr>
              <a:tr h="680313">
                <a:tc>
                  <a:txBody>
                    <a:bodyPr/>
                    <a:lstStyle/>
                    <a:p>
                      <a:pPr algn="l"/>
                      <a:r>
                        <a:rPr sz="1200" b="1" i="0">
                          <a:solidFill>
                            <a:srgbClr val="202B33"/>
                          </a:solidFill>
                          <a:latin typeface="Tahoma"/>
                        </a:rPr>
                        <a:t>Endorse staged validation</a:t>
                      </a:r>
                    </a:p>
                  </a:txBody>
                  <a:tcPr marL="36576" marR="36576" marT="27432" marB="27432" anchor="ctr">
                    <a:solidFill>
                      <a:srgbClr val="FFFFFF"/>
                    </a:solidFill>
                  </a:tcPr>
                </a:tc>
                <a:tc>
                  <a:txBody>
                    <a:bodyPr/>
                    <a:lstStyle/>
                    <a:p>
                      <a:pPr algn="ctr"/>
                      <a:r>
                        <a:rPr sz="1200" b="0" i="0">
                          <a:solidFill>
                            <a:srgbClr val="202B33"/>
                          </a:solidFill>
                          <a:latin typeface="Tahoma"/>
                        </a:rPr>
                        <a:t>Replicates, debris metrics, FE and full-scale crash</a:t>
                      </a:r>
                    </a:p>
                  </a:txBody>
                  <a:tcPr marL="36576" marR="36576" marT="27432" marB="27432" anchor="ctr">
                    <a:solidFill>
                      <a:srgbClr val="FFFFFF"/>
                    </a:solidFill>
                  </a:tcPr>
                </a:tc>
                <a:extLst>
                  <a:ext uri="{0D108BD9-81ED-4DB2-BD59-A6C34878D82A}">
                    <a16:rowId xmlns:a16="http://schemas.microsoft.com/office/drawing/2014/main" val="10003"/>
                  </a:ext>
                </a:extLst>
              </a:tr>
              <a:tr h="680316">
                <a:tc>
                  <a:txBody>
                    <a:bodyPr/>
                    <a:lstStyle/>
                    <a:p>
                      <a:pPr algn="l"/>
                      <a:r>
                        <a:rPr sz="1200" b="1" i="0">
                          <a:solidFill>
                            <a:srgbClr val="202B33"/>
                          </a:solidFill>
                          <a:latin typeface="Tahoma"/>
                        </a:rPr>
                        <a:t>Enable controlled transfer</a:t>
                      </a:r>
                    </a:p>
                  </a:txBody>
                  <a:tcPr marL="36576" marR="36576" marT="27432" marB="27432" anchor="ctr">
                    <a:solidFill>
                      <a:srgbClr val="F8FAFB"/>
                    </a:solidFill>
                  </a:tcPr>
                </a:tc>
                <a:tc>
                  <a:txBody>
                    <a:bodyPr/>
                    <a:lstStyle/>
                    <a:p>
                      <a:pPr algn="ctr"/>
                      <a:r>
                        <a:rPr sz="1200" b="0" i="0" dirty="0">
                          <a:solidFill>
                            <a:srgbClr val="202B33"/>
                          </a:solidFill>
                          <a:latin typeface="Tahoma"/>
                        </a:rPr>
                        <a:t>Engage CRRI/NHAI/precast partners under IP controls</a:t>
                      </a:r>
                    </a:p>
                  </a:txBody>
                  <a:tcPr marL="36576" marR="36576" marT="27432" marB="27432" anchor="ctr">
                    <a:solidFill>
                      <a:srgbClr val="F8FAFB"/>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731520" y="4786362"/>
            <a:ext cx="10716768" cy="658368"/>
          </a:xfrm>
          <a:prstGeom prst="rect">
            <a:avLst/>
          </a:prstGeom>
          <a:solidFill>
            <a:srgbClr val="EAF1F6"/>
          </a:solidFill>
          <a:ln w="1143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922673"/>
            <a:ext cx="10259568" cy="430887"/>
          </a:xfrm>
          <a:prstGeom prst="rect">
            <a:avLst/>
          </a:prstGeom>
          <a:noFill/>
        </p:spPr>
        <p:txBody>
          <a:bodyPr wrap="square" lIns="0" tIns="0" rIns="0" bIns="0" anchor="t">
            <a:spAutoFit/>
          </a:bodyPr>
          <a:lstStyle/>
          <a:p>
            <a:pPr algn="ctr">
              <a:lnSpc>
                <a:spcPct val="100000"/>
              </a:lnSpc>
            </a:pPr>
            <a:r>
              <a:rPr sz="1400" b="1" i="0" dirty="0">
                <a:solidFill>
                  <a:srgbClr val="17365D"/>
                </a:solidFill>
                <a:latin typeface="Tahoma"/>
              </a:rPr>
              <a:t>Recommendation: approve protection of the integrated material–mechanism–barrier platform; retain full-scale occupant-risk validation as the commercial release gate.</a:t>
            </a:r>
          </a:p>
        </p:txBody>
      </p:sp>
      <p:sp>
        <p:nvSpPr>
          <p:cNvPr id="15" name="Rectangle 14"/>
          <p:cNvSpPr/>
          <p:nvPr/>
        </p:nvSpPr>
        <p:spPr>
          <a:xfrm>
            <a:off x="731520" y="5563602"/>
            <a:ext cx="10716768" cy="320040"/>
          </a:xfrm>
          <a:prstGeom prst="rect">
            <a:avLst/>
          </a:prstGeom>
          <a:solidFill>
            <a:srgbClr val="FFFFFF"/>
          </a:solidFill>
          <a:ln w="7620">
            <a:solidFill>
              <a:srgbClr val="9A46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5636754"/>
            <a:ext cx="10314432" cy="184666"/>
          </a:xfrm>
          <a:prstGeom prst="rect">
            <a:avLst/>
          </a:prstGeom>
          <a:noFill/>
        </p:spPr>
        <p:txBody>
          <a:bodyPr wrap="square" lIns="0" tIns="0" rIns="0" bIns="0" anchor="t">
            <a:spAutoFit/>
          </a:bodyPr>
          <a:lstStyle/>
          <a:p>
            <a:pPr algn="l">
              <a:lnSpc>
                <a:spcPct val="100000"/>
              </a:lnSpc>
            </a:pPr>
            <a:r>
              <a:rPr sz="1200" b="1" i="0" dirty="0">
                <a:solidFill>
                  <a:srgbClr val="9A4651"/>
                </a:solidFill>
                <a:latin typeface="Tahoma"/>
              </a:rPr>
              <a:t>Technical assessment only: patentability, legal claim scope and safety certification require specialist review.</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Arrow: Pentagon 30">
            <a:extLst>
              <a:ext uri="{FF2B5EF4-FFF2-40B4-BE49-F238E27FC236}">
                <a16:creationId xmlns:a16="http://schemas.microsoft.com/office/drawing/2014/main" id="{A60DF1AD-C690-6198-B3C4-30D82B41C193}"/>
              </a:ext>
            </a:extLst>
          </p:cNvPr>
          <p:cNvSpPr/>
          <p:nvPr/>
        </p:nvSpPr>
        <p:spPr>
          <a:xfrm>
            <a:off x="91440" y="91440"/>
            <a:ext cx="1673352" cy="246888"/>
          </a:xfrm>
          <a:prstGeom prst="homePlate">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REFERENCES</a:t>
            </a:r>
          </a:p>
        </p:txBody>
      </p:sp>
      <p:sp>
        <p:nvSpPr>
          <p:cNvPr id="4" name="TextBox 3"/>
          <p:cNvSpPr txBox="1"/>
          <p:nvPr/>
        </p:nvSpPr>
        <p:spPr>
          <a:xfrm>
            <a:off x="621792" y="329184"/>
            <a:ext cx="9966960" cy="612648"/>
          </a:xfrm>
          <a:prstGeom prst="rect">
            <a:avLst/>
          </a:prstGeom>
          <a:noFill/>
        </p:spPr>
        <p:txBody>
          <a:bodyPr wrap="square" lIns="0" tIns="0" rIns="0" bIns="0" anchor="ctr">
            <a:spAutoFit/>
          </a:bodyPr>
          <a:lstStyle/>
          <a:p>
            <a:pPr algn="l">
              <a:lnSpc>
                <a:spcPct val="92000"/>
              </a:lnSpc>
            </a:pPr>
            <a:r>
              <a:rPr sz="2200" b="1" i="0">
                <a:solidFill>
                  <a:srgbClr val="17365D"/>
                </a:solidFill>
                <a:latin typeface="Tahoma"/>
              </a:rPr>
              <a:t>References: standards, datasets and sustainability</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21</a:t>
            </a:r>
          </a:p>
        </p:txBody>
      </p:sp>
      <p:sp>
        <p:nvSpPr>
          <p:cNvPr id="32" name="TextBox 31"/>
          <p:cNvSpPr txBox="1"/>
          <p:nvPr/>
        </p:nvSpPr>
        <p:spPr>
          <a:xfrm>
            <a:off x="658368" y="1188720"/>
            <a:ext cx="5257800" cy="5138928"/>
          </a:xfrm>
          <a:prstGeom prst="rect">
            <a:avLst/>
          </a:prstGeom>
          <a:noFill/>
        </p:spPr>
        <p:txBody>
          <a:bodyPr wrap="square" lIns="36576" rIns="36576" tIns="18288" bIns="18288">
            <a:spAutoFit/>
          </a:bodyPr>
          <a:lstStyle/>
          <a:p>
            <a:pPr marL="228600" hanging="228600">
              <a:lnSpc>
                <a:spcPct val="100000"/>
              </a:lnSpc>
              <a:spcAft>
                <a:spcPts val="500"/>
              </a:spcAft>
            </a:pPr>
            <a:r>
              <a:rPr sz="1200">
                <a:solidFill>
                  <a:srgbClr val="000000"/>
                </a:solidFill>
                <a:latin typeface="Tahoma"/>
              </a:rPr>
              <a:t>1. World Health Organization. (2023). Global Status Report on Road Safety 2023. https://www.who.int/publications/i/item/9789240086517</a:t>
            </a:r>
          </a:p>
          <a:p>
            <a:pPr marL="228600" hanging="228600">
              <a:lnSpc>
                <a:spcPct val="100000"/>
              </a:lnSpc>
              <a:spcAft>
                <a:spcPts val="500"/>
              </a:spcAft>
            </a:pPr>
            <a:r>
              <a:rPr sz="1200">
                <a:solidFill>
                  <a:srgbClr val="000000"/>
                </a:solidFill>
                <a:latin typeface="Tahoma"/>
              </a:rPr>
              <a:t>2. UNEP. (2022). Sand and Sustainability: 10 Strategic Recommendations to Avert a Crisis. https://wedocs.unep.org/20.500.11822/38362</a:t>
            </a:r>
          </a:p>
          <a:p>
            <a:pPr marL="228600" hanging="228600">
              <a:lnSpc>
                <a:spcPct val="100000"/>
              </a:lnSpc>
              <a:spcAft>
                <a:spcPts val="500"/>
              </a:spcAft>
            </a:pPr>
            <a:r>
              <a:rPr sz="1200">
                <a:solidFill>
                  <a:srgbClr val="000000"/>
                </a:solidFill>
                <a:latin typeface="Tahoma"/>
              </a:rPr>
              <a:t>3. U.S. Geological Survey. (2025). Mineral Commodity Summaries 2025—Cement. https://pubs.usgs.gov/periodicals/mcs2025/mcs2025-cement.pdf</a:t>
            </a:r>
          </a:p>
          <a:p>
            <a:pPr marL="228600" hanging="228600">
              <a:lnSpc>
                <a:spcPct val="100000"/>
              </a:lnSpc>
              <a:spcAft>
                <a:spcPts val="500"/>
              </a:spcAft>
            </a:pPr>
            <a:r>
              <a:rPr sz="1200">
                <a:solidFill>
                  <a:srgbClr val="000000"/>
                </a:solidFill>
                <a:latin typeface="Tahoma"/>
              </a:rPr>
              <a:t>4. International Energy Agency. (2023). Cement—Tracking Clean Energy Progress. https://www.iea.org/energy-system/industry/cement</a:t>
            </a:r>
          </a:p>
          <a:p>
            <a:pPr marL="228600" hanging="228600">
              <a:lnSpc>
                <a:spcPct val="100000"/>
              </a:lnSpc>
              <a:spcAft>
                <a:spcPts val="500"/>
              </a:spcAft>
            </a:pPr>
            <a:r>
              <a:rPr sz="1200">
                <a:solidFill>
                  <a:srgbClr val="000000"/>
                </a:solidFill>
                <a:latin typeface="Tahoma"/>
              </a:rPr>
              <a:t>5. Reid, I., Carpenter, A.M., &amp; Masili, A. (2020). Beneficial Uses of Coal Fly Ash. IEA CCC/303. ISBN 978-92-9029-626-3.</a:t>
            </a:r>
          </a:p>
          <a:p>
            <a:pPr marL="228600" hanging="228600">
              <a:lnSpc>
                <a:spcPct val="100000"/>
              </a:lnSpc>
              <a:spcAft>
                <a:spcPts val="500"/>
              </a:spcAft>
            </a:pPr>
            <a:r>
              <a:rPr sz="1200">
                <a:solidFill>
                  <a:srgbClr val="000000"/>
                </a:solidFill>
                <a:latin typeface="Tahoma"/>
              </a:rPr>
              <a:t>6. IRC:119-2015. Guidelines for Traffic Safety Barriers. Indian Roads Congress, New Delhi.</a:t>
            </a:r>
          </a:p>
          <a:p>
            <a:pPr marL="228600" hanging="228600">
              <a:lnSpc>
                <a:spcPct val="100000"/>
              </a:lnSpc>
              <a:spcAft>
                <a:spcPts val="500"/>
              </a:spcAft>
            </a:pPr>
            <a:r>
              <a:rPr sz="1200">
                <a:solidFill>
                  <a:srgbClr val="000000"/>
                </a:solidFill>
                <a:latin typeface="Tahoma"/>
              </a:rPr>
              <a:t>7. IRC:6-2016. Standard Specifications and Code of Practice for Road Bridges. Indian Roads Congress.</a:t>
            </a:r>
          </a:p>
          <a:p>
            <a:pPr marL="228600" hanging="228600">
              <a:lnSpc>
                <a:spcPct val="100000"/>
              </a:lnSpc>
              <a:spcAft>
                <a:spcPts val="500"/>
              </a:spcAft>
            </a:pPr>
            <a:r>
              <a:rPr sz="1200">
                <a:solidFill>
                  <a:srgbClr val="000000"/>
                </a:solidFill>
                <a:latin typeface="Tahoma"/>
              </a:rPr>
              <a:t>8. IRC:44-2017. Guidelines for Cement Concrete Mix Design for Pavements. Indian Roads Congress.</a:t>
            </a:r>
          </a:p>
        </p:txBody>
      </p:sp>
      <p:sp>
        <p:nvSpPr>
          <p:cNvPr id="33" name="TextBox 32"/>
          <p:cNvSpPr txBox="1"/>
          <p:nvPr/>
        </p:nvSpPr>
        <p:spPr>
          <a:xfrm>
            <a:off x="6144768" y="1188720"/>
            <a:ext cx="5257800" cy="5138928"/>
          </a:xfrm>
          <a:prstGeom prst="rect">
            <a:avLst/>
          </a:prstGeom>
          <a:noFill/>
        </p:spPr>
        <p:txBody>
          <a:bodyPr wrap="square" lIns="36576" rIns="36576" tIns="18288" bIns="18288">
            <a:spAutoFit/>
          </a:bodyPr>
          <a:lstStyle/>
          <a:p>
            <a:pPr marL="228600" hanging="228600">
              <a:lnSpc>
                <a:spcPct val="100000"/>
              </a:lnSpc>
              <a:spcAft>
                <a:spcPts val="500"/>
              </a:spcAft>
            </a:pPr>
            <a:r>
              <a:rPr sz="1200">
                <a:solidFill>
                  <a:srgbClr val="000000"/>
                </a:solidFill>
                <a:latin typeface="Tahoma"/>
              </a:rPr>
              <a:t>9. ACI 213R-14. Guide for Structural Lightweight-Aggregate Concrete. American Concrete Institute.</a:t>
            </a:r>
          </a:p>
          <a:p>
            <a:pPr marL="228600" hanging="228600">
              <a:lnSpc>
                <a:spcPct val="100000"/>
              </a:lnSpc>
              <a:spcAft>
                <a:spcPts val="500"/>
              </a:spcAft>
            </a:pPr>
            <a:r>
              <a:rPr sz="1200">
                <a:solidFill>
                  <a:srgbClr val="000000"/>
                </a:solidFill>
                <a:latin typeface="Tahoma"/>
              </a:rPr>
              <a:t>10. ASTM C567/C567M-23. Standard Test Method for Determining Density of Structural Lightweight Concrete. doi:10.1520/C0567_C0567M-23.</a:t>
            </a:r>
          </a:p>
          <a:p>
            <a:pPr marL="228600" hanging="228600">
              <a:lnSpc>
                <a:spcPct val="100000"/>
              </a:lnSpc>
              <a:spcAft>
                <a:spcPts val="500"/>
              </a:spcAft>
            </a:pPr>
            <a:r>
              <a:rPr sz="1200">
                <a:solidFill>
                  <a:srgbClr val="000000"/>
                </a:solidFill>
                <a:latin typeface="Tahoma"/>
              </a:rPr>
              <a:t>11. ACI 211.2-98. Standard Practice for Selecting Proportions for Structural Lightweight Concrete. American Concrete Institute.</a:t>
            </a:r>
          </a:p>
          <a:p>
            <a:pPr marL="228600" hanging="228600">
              <a:lnSpc>
                <a:spcPct val="100000"/>
              </a:lnSpc>
              <a:spcAft>
                <a:spcPts val="500"/>
              </a:spcAft>
            </a:pPr>
            <a:r>
              <a:rPr sz="1200">
                <a:solidFill>
                  <a:srgbClr val="000000"/>
                </a:solidFill>
                <a:latin typeface="Tahoma"/>
              </a:rPr>
              <a:t>12. ACI 544.2R-89. Measurement of Properties of Fiber Reinforced Concrete. American Concrete Institute.</a:t>
            </a:r>
          </a:p>
          <a:p>
            <a:pPr marL="228600" hanging="228600">
              <a:lnSpc>
                <a:spcPct val="100000"/>
              </a:lnSpc>
              <a:spcAft>
                <a:spcPts val="500"/>
              </a:spcAft>
            </a:pPr>
            <a:r>
              <a:rPr sz="1200">
                <a:solidFill>
                  <a:srgbClr val="000000"/>
                </a:solidFill>
                <a:latin typeface="Tahoma"/>
              </a:rPr>
              <a:t>13. IS 9142 (Part 2):2018. Artificial Lightweight Aggregates—Sintered Fly Ash Aggregate. Bureau of Indian Standards.</a:t>
            </a:r>
          </a:p>
          <a:p>
            <a:pPr marL="228600" hanging="228600">
              <a:lnSpc>
                <a:spcPct val="100000"/>
              </a:lnSpc>
              <a:spcAft>
                <a:spcPts val="500"/>
              </a:spcAft>
            </a:pPr>
            <a:r>
              <a:rPr sz="1200">
                <a:solidFill>
                  <a:srgbClr val="000000"/>
                </a:solidFill>
                <a:latin typeface="Tahoma"/>
              </a:rPr>
              <a:t>14. Turner, L.K., &amp; Collins, F.G. (2013). CO2-e emissions: geopolymer versus OPC concrete. Constr. Build. Mater., 43, 125–130. doi:10.1016/j.conbuildmat.2013.01.023.</a:t>
            </a:r>
          </a:p>
          <a:p>
            <a:pPr marL="228600" hanging="228600">
              <a:lnSpc>
                <a:spcPct val="100000"/>
              </a:lnSpc>
              <a:spcAft>
                <a:spcPts val="500"/>
              </a:spcAft>
            </a:pPr>
            <a:r>
              <a:rPr sz="1200">
                <a:solidFill>
                  <a:srgbClr val="000000"/>
                </a:solidFill>
                <a:latin typeface="Tahoma"/>
              </a:rPr>
              <a:t>15. Habert, G., d’Espinose de Lacaillerie, J.B., &amp; Roussel, N. (2011). Environmental evaluation of geopolymer concrete. J. Clean. Prod., 19, 1229–1238. doi:10.1016/j.jclepro.2011.03.012.</a:t>
            </a:r>
          </a:p>
          <a:p>
            <a:pPr marL="228600" hanging="228600">
              <a:lnSpc>
                <a:spcPct val="100000"/>
              </a:lnSpc>
              <a:spcAft>
                <a:spcPts val="500"/>
              </a:spcAft>
            </a:pPr>
            <a:r>
              <a:rPr sz="1200">
                <a:solidFill>
                  <a:srgbClr val="000000"/>
                </a:solidFill>
                <a:latin typeface="Tahoma"/>
              </a:rPr>
              <a:t>16. Raj, A., Nagarajan, P., &amp; Pallikkara, S.A. (2020). Application of fiber-reinforced rubcrete for crash barriers. J. Mater. Civ. Eng., 32, 04020358. doi:10.1061/(ASCE)MT.1943-5533.0003454.</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155448"/>
            <a:ext cx="2880360" cy="201168"/>
          </a:xfrm>
          <a:prstGeom prst="rect">
            <a:avLst/>
          </a:prstGeom>
          <a:noFill/>
        </p:spPr>
        <p:txBody>
          <a:bodyPr wrap="square" lIns="0" tIns="0" rIns="0" bIns="0" anchor="t">
            <a:spAutoFit/>
          </a:bodyPr>
          <a:lstStyle/>
          <a:p>
            <a:pPr algn="l">
              <a:lnSpc>
                <a:spcPct val="100000"/>
              </a:lnSpc>
            </a:pPr>
            <a:r>
              <a:rPr sz="1000" b="1" i="0">
                <a:solidFill>
                  <a:srgbClr val="2E6F9E"/>
                </a:solidFill>
                <a:latin typeface="Tahoma"/>
              </a:rPr>
              <a:t>REFERENCES</a:t>
            </a:r>
          </a:p>
        </p:txBody>
      </p:sp>
      <p:sp>
        <p:nvSpPr>
          <p:cNvPr id="4" name="TextBox 3"/>
          <p:cNvSpPr txBox="1"/>
          <p:nvPr/>
        </p:nvSpPr>
        <p:spPr>
          <a:xfrm>
            <a:off x="621792" y="329184"/>
            <a:ext cx="9966960" cy="612648"/>
          </a:xfrm>
          <a:prstGeom prst="rect">
            <a:avLst/>
          </a:prstGeom>
          <a:noFill/>
        </p:spPr>
        <p:txBody>
          <a:bodyPr wrap="square" lIns="0" tIns="0" rIns="0" bIns="0" anchor="ctr">
            <a:spAutoFit/>
          </a:bodyPr>
          <a:lstStyle/>
          <a:p>
            <a:pPr algn="l">
              <a:lnSpc>
                <a:spcPct val="92000"/>
              </a:lnSpc>
            </a:pPr>
            <a:r>
              <a:rPr sz="2200" b="1" i="0">
                <a:solidFill>
                  <a:srgbClr val="17365D"/>
                </a:solidFill>
                <a:latin typeface="Tahoma"/>
              </a:rPr>
              <a:t>References: peer-reviewed barrier and material studies</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itbbs_logo_official.png"/>
          <p:cNvPicPr>
            <a:picLocks noChangeAspect="1"/>
          </p:cNvPicPr>
          <p:nvPr/>
        </p:nvPicPr>
        <p:blipFill>
          <a:blip r:embed="rId3"/>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tIns="0" r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tIns="0" rIns="0" bIns="0" anchor="t">
            <a:spAutoFit/>
          </a:bodyPr>
          <a:lstStyle/>
          <a:p>
            <a:pPr algn="r">
              <a:lnSpc>
                <a:spcPct val="100000"/>
              </a:lnSpc>
            </a:pPr>
            <a:r>
              <a:rPr sz="1000" b="1" i="0">
                <a:solidFill>
                  <a:srgbClr val="000000"/>
                </a:solidFill>
                <a:latin typeface="Tahoma"/>
              </a:rPr>
              <a:t>22</a:t>
            </a:r>
          </a:p>
        </p:txBody>
      </p:sp>
      <p:sp>
        <p:nvSpPr>
          <p:cNvPr id="11" name="TextBox 10"/>
          <p:cNvSpPr txBox="1"/>
          <p:nvPr/>
        </p:nvSpPr>
        <p:spPr>
          <a:xfrm>
            <a:off x="658368" y="1188720"/>
            <a:ext cx="5257800" cy="5138928"/>
          </a:xfrm>
          <a:prstGeom prst="rect">
            <a:avLst/>
          </a:prstGeom>
          <a:noFill/>
        </p:spPr>
        <p:txBody>
          <a:bodyPr wrap="square" lIns="36576" rIns="36576" tIns="18288" bIns="18288">
            <a:spAutoFit/>
          </a:bodyPr>
          <a:lstStyle/>
          <a:p>
            <a:pPr marL="228600" hanging="228600">
              <a:lnSpc>
                <a:spcPct val="100000"/>
              </a:lnSpc>
              <a:spcAft>
                <a:spcPts val="500"/>
              </a:spcAft>
            </a:pPr>
            <a:r>
              <a:rPr sz="1200">
                <a:solidFill>
                  <a:srgbClr val="000000"/>
                </a:solidFill>
                <a:latin typeface="Tahoma"/>
              </a:rPr>
              <a:t>17. Shen, W. et al. (2014). Investigation on safety concrete for highway crash barriers. Constr. Build. Mater., 70, 394–398. doi:10.1016/j.conbuildmat.2014.07.060.</a:t>
            </a:r>
          </a:p>
          <a:p>
            <a:pPr marL="228600" hanging="228600">
              <a:lnSpc>
                <a:spcPct val="100000"/>
              </a:lnSpc>
              <a:spcAft>
                <a:spcPts val="500"/>
              </a:spcAft>
            </a:pPr>
            <a:r>
              <a:rPr sz="1200">
                <a:solidFill>
                  <a:srgbClr val="000000"/>
                </a:solidFill>
                <a:latin typeface="Tahoma"/>
              </a:rPr>
              <a:t>18. Zain, M.F.M., &amp; Mohammed, H.J. (2015). Concrete road barriers subjected to impact loads: an overview. Lat. Am. J. Solids Struct., 12, 1824–1858. doi:10.1590/1679-78251783.</a:t>
            </a:r>
          </a:p>
          <a:p>
            <a:pPr marL="228600" hanging="228600">
              <a:lnSpc>
                <a:spcPct val="100000"/>
              </a:lnSpc>
              <a:spcAft>
                <a:spcPts val="500"/>
              </a:spcAft>
            </a:pPr>
            <a:r>
              <a:rPr sz="1200">
                <a:solidFill>
                  <a:srgbClr val="000000"/>
                </a:solidFill>
                <a:latin typeface="Tahoma"/>
              </a:rPr>
              <a:t>19. Wang, H.T., &amp; Wang, L.C. (2013). Static and dynamic properties of steel-fibre lightweight concrete. Constr. Build. Mater., 38, 1146–1151. doi:10.1016/j.conbuildmat.2012.09.016.</a:t>
            </a:r>
          </a:p>
          <a:p>
            <a:pPr marL="228600" hanging="228600">
              <a:lnSpc>
                <a:spcPct val="100000"/>
              </a:lnSpc>
              <a:spcAft>
                <a:spcPts val="500"/>
              </a:spcAft>
            </a:pPr>
            <a:r>
              <a:rPr sz="1200">
                <a:solidFill>
                  <a:srgbClr val="000000"/>
                </a:solidFill>
                <a:latin typeface="Tahoma"/>
              </a:rPr>
              <a:t>20. Sahoo, S., Selvaraju, A.K., &amp; Suriya Prakash, S. (2020). Structural lightweight concrete with SFA and fibres. Cem. Concr. Compos., 113, 103712. doi:10.1016/j.cemconcomp.2020.103712.</a:t>
            </a:r>
          </a:p>
          <a:p>
            <a:pPr marL="228600" hanging="228600">
              <a:lnSpc>
                <a:spcPct val="100000"/>
              </a:lnSpc>
              <a:spcAft>
                <a:spcPts val="500"/>
              </a:spcAft>
            </a:pPr>
            <a:r>
              <a:rPr sz="1200">
                <a:solidFill>
                  <a:srgbClr val="000000"/>
                </a:solidFill>
                <a:latin typeface="Tahoma"/>
              </a:rPr>
              <a:t>21. Nadesan, M.S., &amp; Dinakar, P. (2017). Mix design and properties of fly-ash waste lightweight aggregates. Case Stud. Constr. Mater., 7, 336–347. doi:10.1016/j.cscm.2017.09.005.</a:t>
            </a:r>
          </a:p>
          <a:p>
            <a:pPr marL="228600" hanging="228600">
              <a:lnSpc>
                <a:spcPct val="100000"/>
              </a:lnSpc>
              <a:spcAft>
                <a:spcPts val="500"/>
              </a:spcAft>
            </a:pPr>
            <a:r>
              <a:rPr sz="1200">
                <a:solidFill>
                  <a:srgbClr val="000000"/>
                </a:solidFill>
                <a:latin typeface="Tahoma"/>
              </a:rPr>
              <a:t>22. Kim, W. et al. (2019). Concrete barriers with novel shock absorbers under impact. Arch. Civ. Mech. Eng., 19, 657–671. doi:10.1016/j.acme.2019.01.004.</a:t>
            </a:r>
          </a:p>
          <a:p>
            <a:pPr marL="228600" hanging="228600">
              <a:lnSpc>
                <a:spcPct val="100000"/>
              </a:lnSpc>
              <a:spcAft>
                <a:spcPts val="500"/>
              </a:spcAft>
            </a:pPr>
            <a:r>
              <a:rPr sz="1200">
                <a:solidFill>
                  <a:srgbClr val="000000"/>
                </a:solidFill>
                <a:latin typeface="Tahoma"/>
              </a:rPr>
              <a:t>23. Yang, J. et al. (2019). Crash performance of a movable median guardrail. Eng. Struct., 182, 459–472. doi:10.1016/j.engstruct.2018.12.090.</a:t>
            </a:r>
          </a:p>
          <a:p>
            <a:pPr marL="228600" hanging="228600">
              <a:lnSpc>
                <a:spcPct val="100000"/>
              </a:lnSpc>
              <a:spcAft>
                <a:spcPts val="500"/>
              </a:spcAft>
            </a:pPr>
            <a:r>
              <a:rPr sz="1200">
                <a:solidFill>
                  <a:srgbClr val="000000"/>
                </a:solidFill>
                <a:latin typeface="Tahoma"/>
              </a:rPr>
              <a:t>24. Abid, S.R. et al. (2020). Repeated drop-weight impact tests on microsteel-fibre concrete. Heliyon, 6, e03198. doi:10.1016/j.heliyon.2020.e03198.</a:t>
            </a:r>
          </a:p>
        </p:txBody>
      </p:sp>
      <p:sp>
        <p:nvSpPr>
          <p:cNvPr id="12" name="TextBox 11"/>
          <p:cNvSpPr txBox="1"/>
          <p:nvPr/>
        </p:nvSpPr>
        <p:spPr>
          <a:xfrm>
            <a:off x="6144768" y="1188720"/>
            <a:ext cx="5257800" cy="5138928"/>
          </a:xfrm>
          <a:prstGeom prst="rect">
            <a:avLst/>
          </a:prstGeom>
          <a:noFill/>
        </p:spPr>
        <p:txBody>
          <a:bodyPr wrap="square" lIns="36576" rIns="36576" tIns="18288" bIns="18288">
            <a:spAutoFit/>
          </a:bodyPr>
          <a:lstStyle/>
          <a:p>
            <a:pPr marL="228600" hanging="228600">
              <a:lnSpc>
                <a:spcPct val="100000"/>
              </a:lnSpc>
              <a:spcAft>
                <a:spcPts val="500"/>
              </a:spcAft>
            </a:pPr>
            <a:r>
              <a:rPr sz="1200">
                <a:solidFill>
                  <a:srgbClr val="000000"/>
                </a:solidFill>
                <a:latin typeface="Tahoma"/>
              </a:rPr>
              <a:t>25. Li, N., Park, B.B., &amp; Lambert, J.H. (2018). Guardrails and fatal/severe freeway injuries. J. Transp. Saf. Secur., 10, 455–470. doi:10.1080/19439962.2017.1297970.</a:t>
            </a:r>
          </a:p>
          <a:p>
            <a:pPr marL="228600" hanging="228600">
              <a:lnSpc>
                <a:spcPct val="100000"/>
              </a:lnSpc>
              <a:spcAft>
                <a:spcPts val="500"/>
              </a:spcAft>
            </a:pPr>
            <a:r>
              <a:rPr sz="1200">
                <a:solidFill>
                  <a:srgbClr val="000000"/>
                </a:solidFill>
                <a:latin typeface="Tahoma"/>
              </a:rPr>
              <a:t>26. Mohammed, H.J., &amp; Zain, M.F.M. (2016). EPS concrete in a prototype concrete barrier. Constr. Build. Mater., 124, 312–342. doi:10.1016/j.conbuildmat.2016.07.105.</a:t>
            </a:r>
          </a:p>
          <a:p>
            <a:pPr marL="228600" hanging="228600">
              <a:lnSpc>
                <a:spcPct val="100000"/>
              </a:lnSpc>
              <a:spcAft>
                <a:spcPts val="500"/>
              </a:spcAft>
            </a:pPr>
            <a:r>
              <a:rPr sz="1200">
                <a:solidFill>
                  <a:srgbClr val="000000"/>
                </a:solidFill>
                <a:latin typeface="Tahoma"/>
              </a:rPr>
              <a:t>27. Grzebieta, R.H. et al. (2005). Roadside Hazard and Barrier Crashworthiness Issues. Proc. 19th ESV Conference, Paper 05-0149-O.</a:t>
            </a:r>
          </a:p>
          <a:p>
            <a:pPr marL="228600" hanging="228600">
              <a:lnSpc>
                <a:spcPct val="100000"/>
              </a:lnSpc>
              <a:spcAft>
                <a:spcPts val="500"/>
              </a:spcAft>
            </a:pPr>
            <a:r>
              <a:rPr sz="1200">
                <a:solidFill>
                  <a:srgbClr val="000000"/>
                </a:solidFill>
                <a:latin typeface="Tahoma"/>
              </a:rPr>
              <a:t>28. Bonin, G., Cantisani, G., Loprencipe, G., &amp; Ranzo, A. (2004). Road safety barriers with short lightweight-concrete elements. Proc. II Int’l Congress SIIV.</a:t>
            </a:r>
          </a:p>
          <a:p>
            <a:pPr marL="228600" hanging="228600">
              <a:lnSpc>
                <a:spcPct val="100000"/>
              </a:lnSpc>
              <a:spcAft>
                <a:spcPts val="500"/>
              </a:spcAft>
            </a:pPr>
            <a:r>
              <a:rPr sz="1200">
                <a:solidFill>
                  <a:srgbClr val="000000"/>
                </a:solidFill>
                <a:latin typeface="Tahoma"/>
              </a:rPr>
              <a:t>29. Xue, W. et al. (2025). Safety performance evaluation of a UHPC semi-assembled barrier. Applied Sciences, 15, 3156. doi:10.3390/app15063156.</a:t>
            </a:r>
          </a:p>
          <a:p>
            <a:pPr marL="228600" hanging="228600">
              <a:lnSpc>
                <a:spcPct val="100000"/>
              </a:lnSpc>
              <a:spcAft>
                <a:spcPts val="500"/>
              </a:spcAft>
            </a:pPr>
            <a:r>
              <a:rPr sz="1200">
                <a:solidFill>
                  <a:srgbClr val="000000"/>
                </a:solidFill>
                <a:latin typeface="Tahoma"/>
              </a:rPr>
              <a:t>30. Pachocki, Ł., &amp; Bruski, D. (2020). Modelling and validation of a TB41 concrete restraint-system crash test. Arch. Civ. Mech. Eng. doi:10.1007/s43452-020-00065-7.</a:t>
            </a:r>
          </a:p>
          <a:p>
            <a:pPr marL="228600" hanging="228600">
              <a:lnSpc>
                <a:spcPct val="100000"/>
              </a:lnSpc>
              <a:spcAft>
                <a:spcPts val="500"/>
              </a:spcAft>
            </a:pPr>
            <a:r>
              <a:rPr sz="1200">
                <a:solidFill>
                  <a:srgbClr val="000000"/>
                </a:solidFill>
                <a:latin typeface="Tahoma"/>
              </a:rPr>
              <a:t>31. Elango, K.S. et al. (2021). Properties of lightweight concrete—a state-of-the-art review. Mater. Today Proc., 46, 4059–4062. doi:10.1016/j.matpr.2021.02.571.</a:t>
            </a:r>
          </a:p>
          <a:p>
            <a:pPr marL="228600" hanging="228600">
              <a:lnSpc>
                <a:spcPct val="100000"/>
              </a:lnSpc>
              <a:spcAft>
                <a:spcPts val="500"/>
              </a:spcAft>
            </a:pPr>
            <a:r>
              <a:rPr sz="1200">
                <a:solidFill>
                  <a:srgbClr val="000000"/>
                </a:solidFill>
                <a:latin typeface="Tahoma"/>
              </a:rPr>
              <a:t>32. Gao, J., Suqa, W., &amp; Morino, K. (1997). Steel-fibre-reinforced high-strength lightweight concrete. Cem. Concr. Compos., 19, 307–313. doi:10.1016/S0958-9465(97)00023-1.</a:t>
            </a:r>
          </a:p>
        </p:txBody>
      </p:sp>
    </p:spTree>
  </p:cSld>
  <p:clrMapOvr>
    <a:masterClrMapping/>
  </p:clrMapOvr>
  <p:transition spd="fast" advClick="1">
    <p:fade/>
  </p:transition>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155448"/>
            <a:ext cx="2880360" cy="201168"/>
          </a:xfrm>
          <a:prstGeom prst="rect">
            <a:avLst/>
          </a:prstGeom>
          <a:noFill/>
        </p:spPr>
        <p:txBody>
          <a:bodyPr wrap="square" lIns="0" rIns="0" tIns="0" bIns="0" anchor="t">
            <a:spAutoFit/>
          </a:bodyPr>
          <a:lstStyle/>
          <a:p>
            <a:pPr algn="l">
              <a:lnSpc>
                <a:spcPct val="100000"/>
              </a:lnSpc>
            </a:pPr>
            <a:r>
              <a:rPr sz="1000" b="1" i="0">
                <a:solidFill>
                  <a:srgbClr val="2E6F9E"/>
                </a:solidFill>
                <a:latin typeface="Tahoma"/>
              </a:rPr>
              <a:t>BACKGROUND</a:t>
            </a:r>
          </a:p>
        </p:txBody>
      </p:sp>
      <p:sp>
        <p:nvSpPr>
          <p:cNvPr id="4" name="TextBox 3"/>
          <p:cNvSpPr txBox="1"/>
          <p:nvPr/>
        </p:nvSpPr>
        <p:spPr>
          <a:xfrm>
            <a:off x="621792" y="329184"/>
            <a:ext cx="9966960" cy="612648"/>
          </a:xfrm>
          <a:prstGeom prst="rect">
            <a:avLst/>
          </a:prstGeom>
          <a:noFill/>
        </p:spPr>
        <p:txBody>
          <a:bodyPr wrap="square" lIns="0" rIns="0" tIns="0" bIns="0" anchor="ctr">
            <a:spAutoFit/>
          </a:bodyPr>
          <a:lstStyle/>
          <a:p>
            <a:pPr algn="l">
              <a:lnSpc>
                <a:spcPct val="92000"/>
              </a:lnSpc>
            </a:pPr>
            <a:r>
              <a:rPr sz="2200" b="1" i="0">
                <a:solidFill>
                  <a:srgbClr val="17365D"/>
                </a:solidFill>
                <a:latin typeface="Tahoma"/>
              </a:rPr>
              <a:t>Background: crash barriers and material rationale</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rIns="0" t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1000" b="1" i="0">
                <a:solidFill>
                  <a:srgbClr val="000000"/>
                </a:solidFill>
                <a:latin typeface="Tahoma"/>
              </a:rPr>
              <a:t>02</a:t>
            </a:r>
          </a:p>
        </p:txBody>
      </p:sp>
      <p:sp>
        <p:nvSpPr>
          <p:cNvPr id="11" name="TextBox 10"/>
          <p:cNvSpPr txBox="1"/>
          <p:nvPr/>
        </p:nvSpPr>
        <p:spPr>
          <a:xfrm>
            <a:off x="621792" y="1133856"/>
            <a:ext cx="3246120" cy="274320"/>
          </a:xfrm>
          <a:prstGeom prst="rect">
            <a:avLst/>
          </a:prstGeom>
          <a:noFill/>
        </p:spPr>
        <p:txBody>
          <a:bodyPr wrap="square" lIns="0" rIns="0" tIns="0" bIns="0" anchor="t">
            <a:spAutoFit/>
          </a:bodyPr>
          <a:lstStyle/>
          <a:p>
            <a:pPr algn="l">
              <a:lnSpc>
                <a:spcPct val="100000"/>
              </a:lnSpc>
            </a:pPr>
            <a:r>
              <a:rPr sz="1200" b="1" i="0">
                <a:solidFill>
                  <a:srgbClr val="17365D"/>
                </a:solidFill>
                <a:latin typeface="Tahoma"/>
              </a:rPr>
              <a:t>CRASH-BARRIER TAXONOMY AND USE</a:t>
            </a:r>
          </a:p>
        </p:txBody>
      </p:sp>
      <p:sp>
        <p:nvSpPr>
          <p:cNvPr id="12" name="Rectangle 11"/>
          <p:cNvSpPr/>
          <p:nvPr/>
        </p:nvSpPr>
        <p:spPr>
          <a:xfrm>
            <a:off x="621792" y="1517904"/>
            <a:ext cx="3246120" cy="877824"/>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59536" y="1673351"/>
            <a:ext cx="0" cy="521209"/>
          </a:xfrm>
          <a:prstGeom prst="line">
            <a:avLst/>
          </a:prstGeom>
          <a:ln w="25400">
            <a:solidFill>
              <a:srgbClr val="2E6F9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89888" y="1673351"/>
            <a:ext cx="0" cy="521209"/>
          </a:xfrm>
          <a:prstGeom prst="line">
            <a:avLst/>
          </a:prstGeom>
          <a:ln w="25400">
            <a:solidFill>
              <a:srgbClr val="2E6F9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920240" y="1673351"/>
            <a:ext cx="0" cy="521209"/>
          </a:xfrm>
          <a:prstGeom prst="line">
            <a:avLst/>
          </a:prstGeom>
          <a:ln w="25400">
            <a:solidFill>
              <a:srgbClr val="2E6F9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22959" y="1810511"/>
            <a:ext cx="1143001" cy="0"/>
          </a:xfrm>
          <a:prstGeom prst="line">
            <a:avLst/>
          </a:prstGeom>
          <a:ln w="16510">
            <a:solidFill>
              <a:srgbClr val="2E6F9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22959" y="1956815"/>
            <a:ext cx="1143001" cy="0"/>
          </a:xfrm>
          <a:prstGeom prst="line">
            <a:avLst/>
          </a:prstGeom>
          <a:ln w="16510">
            <a:solidFill>
              <a:srgbClr val="2E6F9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22959" y="2103120"/>
            <a:ext cx="1143001" cy="0"/>
          </a:xfrm>
          <a:prstGeom prst="line">
            <a:avLst/>
          </a:prstGeom>
          <a:ln w="16510">
            <a:solidFill>
              <a:srgbClr val="2E6F9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148840" y="1609344"/>
            <a:ext cx="1508760" cy="228600"/>
          </a:xfrm>
          <a:prstGeom prst="rect">
            <a:avLst/>
          </a:prstGeom>
          <a:noFill/>
        </p:spPr>
        <p:txBody>
          <a:bodyPr wrap="square" lIns="0" rIns="0" tIns="0" bIns="0" anchor="t">
            <a:spAutoFit/>
          </a:bodyPr>
          <a:lstStyle/>
          <a:p>
            <a:pPr algn="l">
              <a:lnSpc>
                <a:spcPct val="100000"/>
              </a:lnSpc>
            </a:pPr>
            <a:r>
              <a:rPr sz="1050" b="1" i="0">
                <a:solidFill>
                  <a:srgbClr val="17365D"/>
                </a:solidFill>
                <a:latin typeface="Tahoma"/>
              </a:rPr>
              <a:t>Flexible / cable</a:t>
            </a:r>
          </a:p>
        </p:txBody>
      </p:sp>
      <p:sp>
        <p:nvSpPr>
          <p:cNvPr id="20" name="TextBox 19"/>
          <p:cNvSpPr txBox="1"/>
          <p:nvPr/>
        </p:nvSpPr>
        <p:spPr>
          <a:xfrm>
            <a:off x="2148840" y="1874519"/>
            <a:ext cx="1508760" cy="429768"/>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Large deflection; open medians; energy absorbed by system movement</a:t>
            </a:r>
          </a:p>
        </p:txBody>
      </p:sp>
      <p:sp>
        <p:nvSpPr>
          <p:cNvPr id="21" name="Rectangle 20"/>
          <p:cNvSpPr/>
          <p:nvPr/>
        </p:nvSpPr>
        <p:spPr>
          <a:xfrm>
            <a:off x="621792" y="2523744"/>
            <a:ext cx="3246120" cy="877824"/>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896112" y="2779776"/>
            <a:ext cx="0" cy="448056"/>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44752" y="2779776"/>
            <a:ext cx="0" cy="448056"/>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975104" y="2779776"/>
            <a:ext cx="0" cy="448056"/>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2852928"/>
            <a:ext cx="1261871" cy="201168"/>
          </a:xfrm>
          <a:prstGeom prst="line">
            <a:avLst/>
          </a:prstGeom>
          <a:ln w="508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86384" y="2852928"/>
            <a:ext cx="1261871" cy="173736"/>
          </a:xfrm>
          <a:prstGeom prst="line">
            <a:avLst/>
          </a:prstGeom>
          <a:ln w="50800">
            <a:solidFill>
              <a:srgbClr val="2A9D8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148840" y="2615184"/>
            <a:ext cx="1508760" cy="228600"/>
          </a:xfrm>
          <a:prstGeom prst="rect">
            <a:avLst/>
          </a:prstGeom>
          <a:noFill/>
        </p:spPr>
        <p:txBody>
          <a:bodyPr wrap="square" lIns="0" rIns="0" tIns="0" bIns="0" anchor="t">
            <a:spAutoFit/>
          </a:bodyPr>
          <a:lstStyle/>
          <a:p>
            <a:pPr algn="l">
              <a:lnSpc>
                <a:spcPct val="100000"/>
              </a:lnSpc>
            </a:pPr>
            <a:r>
              <a:rPr sz="1050" b="1" i="0">
                <a:solidFill>
                  <a:srgbClr val="17365D"/>
                </a:solidFill>
                <a:latin typeface="Tahoma"/>
              </a:rPr>
              <a:t>Semi-rigid / W-beam</a:t>
            </a:r>
          </a:p>
        </p:txBody>
      </p:sp>
      <p:sp>
        <p:nvSpPr>
          <p:cNvPr id="28" name="TextBox 27"/>
          <p:cNvSpPr txBox="1"/>
          <p:nvPr/>
        </p:nvSpPr>
        <p:spPr>
          <a:xfrm>
            <a:off x="2148840" y="2880360"/>
            <a:ext cx="1508760" cy="429768"/>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Moderate deflection; roadside and median protection; repair after impact</a:t>
            </a:r>
          </a:p>
        </p:txBody>
      </p:sp>
      <p:sp>
        <p:nvSpPr>
          <p:cNvPr id="29" name="Rectangle 28"/>
          <p:cNvSpPr/>
          <p:nvPr/>
        </p:nvSpPr>
        <p:spPr>
          <a:xfrm>
            <a:off x="621792" y="3529584"/>
            <a:ext cx="3246120" cy="877824"/>
          </a:xfrm>
          <a:prstGeom prst="rect">
            <a:avLst/>
          </a:prstGeom>
          <a:solidFill>
            <a:srgbClr val="FFFFFF"/>
          </a:solidFill>
          <a:ln w="7620">
            <a:solidFill>
              <a:srgbClr val="CCD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88719" y="3694176"/>
            <a:ext cx="475488" cy="365760"/>
          </a:xfrm>
          <a:prstGeom prst="rect">
            <a:avLst/>
          </a:prstGeom>
          <a:solidFill>
            <a:srgbClr val="F4A261"/>
          </a:solidFill>
          <a:ln>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rapezoid 30"/>
          <p:cNvSpPr/>
          <p:nvPr/>
        </p:nvSpPr>
        <p:spPr>
          <a:xfrm>
            <a:off x="914400" y="3986784"/>
            <a:ext cx="1024128" cy="292608"/>
          </a:xfrm>
          <a:prstGeom prst="trapezoid">
            <a:avLst/>
          </a:prstGeom>
          <a:solidFill>
            <a:srgbClr val="F4A261"/>
          </a:solidFill>
          <a:ln>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48840" y="3621024"/>
            <a:ext cx="1508760" cy="228600"/>
          </a:xfrm>
          <a:prstGeom prst="rect">
            <a:avLst/>
          </a:prstGeom>
          <a:noFill/>
        </p:spPr>
        <p:txBody>
          <a:bodyPr wrap="square" lIns="0" rIns="0" tIns="0" bIns="0" anchor="t">
            <a:spAutoFit/>
          </a:bodyPr>
          <a:lstStyle/>
          <a:p>
            <a:pPr algn="l">
              <a:lnSpc>
                <a:spcPct val="100000"/>
              </a:lnSpc>
            </a:pPr>
            <a:r>
              <a:rPr sz="1050" b="1" i="0">
                <a:solidFill>
                  <a:srgbClr val="17365D"/>
                </a:solidFill>
                <a:latin typeface="Tahoma"/>
              </a:rPr>
              <a:t>Rigid / concrete</a:t>
            </a:r>
          </a:p>
        </p:txBody>
      </p:sp>
      <p:sp>
        <p:nvSpPr>
          <p:cNvPr id="33" name="TextBox 32"/>
          <p:cNvSpPr txBox="1"/>
          <p:nvPr/>
        </p:nvSpPr>
        <p:spPr>
          <a:xfrm>
            <a:off x="2148840" y="3886200"/>
            <a:ext cx="1508760" cy="429768"/>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Near-zero working width; bridges, medians and high-containment locations</a:t>
            </a:r>
          </a:p>
        </p:txBody>
      </p:sp>
      <p:sp>
        <p:nvSpPr>
          <p:cNvPr id="34" name="Rectangle 33"/>
          <p:cNvSpPr/>
          <p:nvPr/>
        </p:nvSpPr>
        <p:spPr>
          <a:xfrm>
            <a:off x="621792" y="4681728"/>
            <a:ext cx="3246120" cy="685800"/>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828032"/>
            <a:ext cx="2907792" cy="402336"/>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Primary function: contain, redirect and shield vehicles from opposing traffic, edges and fixed hazards.</a:t>
            </a:r>
          </a:p>
        </p:txBody>
      </p:sp>
      <p:sp>
        <p:nvSpPr>
          <p:cNvPr id="36" name="TextBox 35"/>
          <p:cNvSpPr txBox="1"/>
          <p:nvPr/>
        </p:nvSpPr>
        <p:spPr>
          <a:xfrm>
            <a:off x="4069080" y="1133856"/>
            <a:ext cx="3794760" cy="274320"/>
          </a:xfrm>
          <a:prstGeom prst="rect">
            <a:avLst/>
          </a:prstGeom>
          <a:noFill/>
        </p:spPr>
        <p:txBody>
          <a:bodyPr wrap="square" lIns="0" rIns="0" tIns="0" bIns="0" anchor="t">
            <a:spAutoFit/>
          </a:bodyPr>
          <a:lstStyle/>
          <a:p>
            <a:pPr algn="l">
              <a:lnSpc>
                <a:spcPct val="100000"/>
              </a:lnSpc>
            </a:pPr>
            <a:r>
              <a:rPr sz="1200" b="1" i="0">
                <a:solidFill>
                  <a:srgbClr val="17365D"/>
                </a:solidFill>
                <a:latin typeface="Tahoma"/>
              </a:rPr>
              <a:t>COMMERCIAL RIGID BARRIER VS PROPOSED MATERIAL</a:t>
            </a:r>
          </a:p>
        </p:txBody>
      </p:sp>
      <p:graphicFrame>
        <p:nvGraphicFramePr>
          <p:cNvPr id="37" name="Table 36"/>
          <p:cNvGraphicFramePr>
            <a:graphicFrameLocks noGrp="1"/>
          </p:cNvGraphicFramePr>
          <p:nvPr/>
        </p:nvGraphicFramePr>
        <p:xfrm>
          <a:off x="4069080" y="1499616"/>
          <a:ext cx="3794759" cy="3218688"/>
        </p:xfrm>
        <a:graphic>
          <a:graphicData uri="http://schemas.openxmlformats.org/drawingml/2006/table">
            <a:tbl>
              <a:tblPr firstRow="1" bandRow="1">
                <a:tableStyleId>{5C22544A-7EE6-4342-B048-85BDC9FD1C3A}</a:tableStyleId>
              </a:tblPr>
              <a:tblGrid>
                <a:gridCol w="1116105"/>
                <a:gridCol w="1339327"/>
                <a:gridCol w="1339327"/>
              </a:tblGrid>
              <a:tr h="536448">
                <a:tc>
                  <a:txBody>
                    <a:bodyPr/>
                    <a:lstStyle/>
                    <a:p>
                      <a:pPr algn="l"/>
                      <a:r>
                        <a:rPr sz="1000" b="1" i="0">
                          <a:solidFill>
                            <a:srgbClr val="FFFFFF"/>
                          </a:solidFill>
                          <a:latin typeface="Tahoma"/>
                        </a:rPr>
                        <a:t>Attribute</a:t>
                      </a:r>
                    </a:p>
                  </a:txBody>
                  <a:tcPr marL="36576" marR="36576" marT="27432" marB="27432" anchor="ctr">
                    <a:solidFill>
                      <a:srgbClr val="17365D"/>
                    </a:solidFill>
                  </a:tcPr>
                </a:tc>
                <a:tc>
                  <a:txBody>
                    <a:bodyPr/>
                    <a:lstStyle/>
                    <a:p>
                      <a:pPr algn="ctr"/>
                      <a:r>
                        <a:rPr sz="1000" b="1" i="0">
                          <a:solidFill>
                            <a:srgbClr val="FFFFFF"/>
                          </a:solidFill>
                          <a:latin typeface="Tahoma"/>
                        </a:rPr>
                        <a:t>Conventional RC</a:t>
                      </a:r>
                    </a:p>
                  </a:txBody>
                  <a:tcPr marL="36576" marR="36576" marT="27432" marB="27432" anchor="ctr">
                    <a:solidFill>
                      <a:srgbClr val="17365D"/>
                    </a:solidFill>
                  </a:tcPr>
                </a:tc>
                <a:tc>
                  <a:txBody>
                    <a:bodyPr/>
                    <a:lstStyle/>
                    <a:p>
                      <a:pPr algn="ctr"/>
                      <a:r>
                        <a:rPr sz="1000" b="1" i="0">
                          <a:solidFill>
                            <a:srgbClr val="FFFFFF"/>
                          </a:solidFill>
                          <a:latin typeface="Tahoma"/>
                        </a:rPr>
                        <a:t>Proposed LWC15</a:t>
                      </a:r>
                    </a:p>
                  </a:txBody>
                  <a:tcPr marL="36576" marR="36576" marT="27432" marB="27432" anchor="ctr">
                    <a:solidFill>
                      <a:srgbClr val="17365D"/>
                    </a:solidFill>
                  </a:tcPr>
                </a:tc>
              </a:tr>
              <a:tr h="536448">
                <a:tc>
                  <a:txBody>
                    <a:bodyPr/>
                    <a:lstStyle/>
                    <a:p>
                      <a:pPr algn="l"/>
                      <a:r>
                        <a:rPr sz="1000" b="1" i="0">
                          <a:solidFill>
                            <a:srgbClr val="202B33"/>
                          </a:solidFill>
                          <a:latin typeface="Tahoma"/>
                        </a:rPr>
                        <a:t>Reported density</a:t>
                      </a:r>
                    </a:p>
                  </a:txBody>
                  <a:tcPr marL="36576" marR="36576" marT="27432" marB="27432" anchor="ctr">
                    <a:solidFill>
                      <a:srgbClr val="FFFFFF"/>
                    </a:solidFill>
                  </a:tcPr>
                </a:tc>
                <a:tc>
                  <a:txBody>
                    <a:bodyPr/>
                    <a:lstStyle/>
                    <a:p>
                      <a:pPr algn="ctr"/>
                      <a:r>
                        <a:rPr sz="1000" b="0" i="0">
                          <a:solidFill>
                            <a:srgbClr val="202B33"/>
                          </a:solidFill>
                          <a:latin typeface="Tahoma"/>
                        </a:rPr>
                        <a:t>≈2,400–2,466 kg/m³</a:t>
                      </a:r>
                    </a:p>
                  </a:txBody>
                  <a:tcPr marL="36576" marR="36576" marT="27432" marB="27432" anchor="ctr">
                    <a:solidFill>
                      <a:srgbClr val="FFFFFF"/>
                    </a:solidFill>
                  </a:tcPr>
                </a:tc>
                <a:tc>
                  <a:txBody>
                    <a:bodyPr/>
                    <a:lstStyle/>
                    <a:p>
                      <a:pPr algn="ctr"/>
                      <a:r>
                        <a:rPr sz="1000" b="0" i="0">
                          <a:solidFill>
                            <a:srgbClr val="202B33"/>
                          </a:solidFill>
                          <a:latin typeface="Tahoma"/>
                        </a:rPr>
                        <a:t>1,987 kg/m³</a:t>
                      </a:r>
                    </a:p>
                  </a:txBody>
                  <a:tcPr marL="36576" marR="36576" marT="27432" marB="27432" anchor="ctr">
                    <a:solidFill>
                      <a:srgbClr val="FFFFFF"/>
                    </a:solidFill>
                  </a:tcPr>
                </a:tc>
              </a:tr>
              <a:tr h="536448">
                <a:tc>
                  <a:txBody>
                    <a:bodyPr/>
                    <a:lstStyle/>
                    <a:p>
                      <a:pPr algn="l"/>
                      <a:r>
                        <a:rPr sz="1000" b="1" i="0">
                          <a:solidFill>
                            <a:srgbClr val="202B33"/>
                          </a:solidFill>
                          <a:latin typeface="Tahoma"/>
                        </a:rPr>
                        <a:t>Dissipation mode</a:t>
                      </a:r>
                    </a:p>
                  </a:txBody>
                  <a:tcPr marL="36576" marR="36576" marT="27432" marB="27432" anchor="ctr">
                    <a:solidFill>
                      <a:srgbClr val="FBF1E4"/>
                    </a:solidFill>
                  </a:tcPr>
                </a:tc>
                <a:tc>
                  <a:txBody>
                    <a:bodyPr/>
                    <a:lstStyle/>
                    <a:p>
                      <a:pPr algn="ctr"/>
                      <a:r>
                        <a:rPr sz="1000" b="0" i="0">
                          <a:solidFill>
                            <a:srgbClr val="202B33"/>
                          </a:solidFill>
                          <a:latin typeface="Tahoma"/>
                        </a:rPr>
                        <a:t>Vehicle deformation + brittle cracking</a:t>
                      </a:r>
                    </a:p>
                  </a:txBody>
                  <a:tcPr marL="36576" marR="36576" marT="27432" marB="27432" anchor="ctr">
                    <a:solidFill>
                      <a:srgbClr val="FBF1E4"/>
                    </a:solidFill>
                  </a:tcPr>
                </a:tc>
                <a:tc>
                  <a:txBody>
                    <a:bodyPr/>
                    <a:lstStyle/>
                    <a:p>
                      <a:pPr algn="ctr"/>
                      <a:r>
                        <a:rPr sz="1000" b="0" i="0">
                          <a:solidFill>
                            <a:srgbClr val="202B33"/>
                          </a:solidFill>
                          <a:latin typeface="Tahoma"/>
                        </a:rPr>
                        <a:t>SFA crushing + fibre pull-out</a:t>
                      </a:r>
                    </a:p>
                  </a:txBody>
                  <a:tcPr marL="36576" marR="36576" marT="27432" marB="27432" anchor="ctr">
                    <a:solidFill>
                      <a:srgbClr val="FBF1E4"/>
                    </a:solidFill>
                  </a:tcPr>
                </a:tc>
              </a:tr>
              <a:tr h="536448">
                <a:tc>
                  <a:txBody>
                    <a:bodyPr/>
                    <a:lstStyle/>
                    <a:p>
                      <a:pPr algn="l"/>
                      <a:r>
                        <a:rPr sz="1000" b="1" i="0">
                          <a:solidFill>
                            <a:srgbClr val="202B33"/>
                          </a:solidFill>
                          <a:latin typeface="Tahoma"/>
                        </a:rPr>
                        <a:t>Fragmentation</a:t>
                      </a:r>
                    </a:p>
                  </a:txBody>
                  <a:tcPr marL="36576" marR="36576" marT="27432" marB="27432" anchor="ctr">
                    <a:solidFill>
                      <a:srgbClr val="E8F4F2"/>
                    </a:solidFill>
                  </a:tcPr>
                </a:tc>
                <a:tc>
                  <a:txBody>
                    <a:bodyPr/>
                    <a:lstStyle/>
                    <a:p>
                      <a:pPr algn="ctr"/>
                      <a:r>
                        <a:rPr sz="1000" b="0" i="0">
                          <a:solidFill>
                            <a:srgbClr val="202B33"/>
                          </a:solidFill>
                          <a:latin typeface="Tahoma"/>
                        </a:rPr>
                        <a:t>Large local fragments possible</a:t>
                      </a:r>
                    </a:p>
                  </a:txBody>
                  <a:tcPr marL="36576" marR="36576" marT="27432" marB="27432" anchor="ctr">
                    <a:solidFill>
                      <a:srgbClr val="E8F4F2"/>
                    </a:solidFill>
                  </a:tcPr>
                </a:tc>
                <a:tc>
                  <a:txBody>
                    <a:bodyPr/>
                    <a:lstStyle/>
                    <a:p>
                      <a:pPr algn="ctr"/>
                      <a:r>
                        <a:rPr sz="1000" b="0" i="0">
                          <a:solidFill>
                            <a:srgbClr val="202B33"/>
                          </a:solidFill>
                          <a:latin typeface="Tahoma"/>
                        </a:rPr>
                        <a:t>Finer/dispersed debris observed*</a:t>
                      </a:r>
                    </a:p>
                  </a:txBody>
                  <a:tcPr marL="36576" marR="36576" marT="27432" marB="27432" anchor="ctr">
                    <a:solidFill>
                      <a:srgbClr val="E8F4F2"/>
                    </a:solidFill>
                  </a:tcPr>
                </a:tc>
              </a:tr>
              <a:tr h="536448">
                <a:tc>
                  <a:txBody>
                    <a:bodyPr/>
                    <a:lstStyle/>
                    <a:p>
                      <a:pPr algn="l"/>
                      <a:r>
                        <a:rPr sz="1000" b="1" i="0">
                          <a:solidFill>
                            <a:srgbClr val="202B33"/>
                          </a:solidFill>
                          <a:latin typeface="Tahoma"/>
                        </a:rPr>
                        <a:t>Strength</a:t>
                      </a:r>
                    </a:p>
                  </a:txBody>
                  <a:tcPr marL="36576" marR="36576" marT="27432" marB="27432" anchor="ctr">
                    <a:solidFill>
                      <a:srgbClr val="F8FAFB"/>
                    </a:solidFill>
                  </a:tcPr>
                </a:tc>
                <a:tc>
                  <a:txBody>
                    <a:bodyPr/>
                    <a:lstStyle/>
                    <a:p>
                      <a:pPr algn="ctr"/>
                      <a:r>
                        <a:rPr sz="1000" b="0" i="0">
                          <a:solidFill>
                            <a:srgbClr val="202B33"/>
                          </a:solidFill>
                          <a:latin typeface="Tahoma"/>
                        </a:rPr>
                        <a:t>M40 class</a:t>
                      </a:r>
                    </a:p>
                  </a:txBody>
                  <a:tcPr marL="36576" marR="36576" marT="27432" marB="27432" anchor="ctr">
                    <a:solidFill>
                      <a:srgbClr val="F8FAFB"/>
                    </a:solidFill>
                  </a:tcPr>
                </a:tc>
                <a:tc>
                  <a:txBody>
                    <a:bodyPr/>
                    <a:lstStyle/>
                    <a:p>
                      <a:pPr algn="ctr"/>
                      <a:r>
                        <a:rPr sz="1000" b="0" i="0">
                          <a:solidFill>
                            <a:srgbClr val="202B33"/>
                          </a:solidFill>
                          <a:latin typeface="Tahoma"/>
                        </a:rPr>
                        <a:t>55.4 MPa at 28 d</a:t>
                      </a:r>
                    </a:p>
                  </a:txBody>
                  <a:tcPr marL="36576" marR="36576" marT="27432" marB="27432" anchor="ctr">
                    <a:solidFill>
                      <a:srgbClr val="F8FAFB"/>
                    </a:solidFill>
                  </a:tcPr>
                </a:tc>
              </a:tr>
              <a:tr h="536448">
                <a:tc>
                  <a:txBody>
                    <a:bodyPr/>
                    <a:lstStyle/>
                    <a:p>
                      <a:pPr algn="l"/>
                      <a:r>
                        <a:rPr sz="1000" b="1" i="0">
                          <a:solidFill>
                            <a:srgbClr val="202B33"/>
                          </a:solidFill>
                          <a:latin typeface="Tahoma"/>
                        </a:rPr>
                        <a:t>Validation</a:t>
                      </a:r>
                    </a:p>
                  </a:txBody>
                  <a:tcPr marL="36576" marR="36576" marT="27432" marB="27432" anchor="ctr">
                    <a:solidFill>
                      <a:srgbClr val="FFFFFF"/>
                    </a:solidFill>
                  </a:tcPr>
                </a:tc>
                <a:tc>
                  <a:txBody>
                    <a:bodyPr/>
                    <a:lstStyle/>
                    <a:p>
                      <a:pPr algn="ctr"/>
                      <a:r>
                        <a:rPr sz="1000" b="0" i="0">
                          <a:solidFill>
                            <a:srgbClr val="202B33"/>
                          </a:solidFill>
                          <a:latin typeface="Tahoma"/>
                        </a:rPr>
                        <a:t>Mature/full-scale systems</a:t>
                      </a:r>
                    </a:p>
                  </a:txBody>
                  <a:tcPr marL="36576" marR="36576" marT="27432" marB="27432" anchor="ctr">
                    <a:solidFill>
                      <a:srgbClr val="FFFFFF"/>
                    </a:solidFill>
                  </a:tcPr>
                </a:tc>
                <a:tc>
                  <a:txBody>
                    <a:bodyPr/>
                    <a:lstStyle/>
                    <a:p>
                      <a:pPr algn="ctr"/>
                      <a:r>
                        <a:rPr sz="1000" b="0" i="0">
                          <a:solidFill>
                            <a:srgbClr val="202B33"/>
                          </a:solidFill>
                          <a:latin typeface="Tahoma"/>
                        </a:rPr>
                        <a:t>Laboratory + one-third-scale proof</a:t>
                      </a:r>
                    </a:p>
                  </a:txBody>
                  <a:tcPr marL="36576" marR="36576" marT="27432" marB="27432" anchor="ctr">
                    <a:solidFill>
                      <a:srgbClr val="FFFFFF"/>
                    </a:solidFill>
                  </a:tcPr>
                </a:tc>
              </a:tr>
            </a:tbl>
          </a:graphicData>
        </a:graphic>
      </p:graphicFrame>
      <p:sp>
        <p:nvSpPr>
          <p:cNvPr id="38" name="Rectangle 37"/>
          <p:cNvSpPr/>
          <p:nvPr/>
        </p:nvSpPr>
        <p:spPr>
          <a:xfrm>
            <a:off x="4069080" y="4828032"/>
            <a:ext cx="3794760" cy="539496"/>
          </a:xfrm>
          <a:prstGeom prst="rect">
            <a:avLst/>
          </a:prstGeom>
          <a:solidFill>
            <a:srgbClr val="F8E9EC"/>
          </a:solidFill>
          <a:ln w="7620">
            <a:solidFill>
              <a:srgbClr val="C14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33672" y="4946904"/>
            <a:ext cx="3465576" cy="320040"/>
          </a:xfrm>
          <a:prstGeom prst="rect">
            <a:avLst/>
          </a:prstGeom>
          <a:noFill/>
        </p:spPr>
        <p:txBody>
          <a:bodyPr wrap="square" lIns="0" rIns="0" tIns="0" bIns="0" anchor="t">
            <a:spAutoFit/>
          </a:bodyPr>
          <a:lstStyle/>
          <a:p>
            <a:pPr algn="l">
              <a:lnSpc>
                <a:spcPct val="100000"/>
              </a:lnSpc>
            </a:pPr>
            <a:r>
              <a:rPr sz="1000" b="1" i="0">
                <a:solidFill>
                  <a:srgbClr val="C14953"/>
                </a:solidFill>
                <a:latin typeface="Tahoma"/>
              </a:rPr>
              <a:t>*Qualitative; full-scale containment, ASI/THIV and debris velocity remain untested.</a:t>
            </a:r>
          </a:p>
        </p:txBody>
      </p:sp>
      <p:sp>
        <p:nvSpPr>
          <p:cNvPr id="40" name="TextBox 39"/>
          <p:cNvSpPr txBox="1"/>
          <p:nvPr/>
        </p:nvSpPr>
        <p:spPr>
          <a:xfrm>
            <a:off x="8074152" y="1133856"/>
            <a:ext cx="3511296" cy="274320"/>
          </a:xfrm>
          <a:prstGeom prst="rect">
            <a:avLst/>
          </a:prstGeom>
          <a:noFill/>
        </p:spPr>
        <p:txBody>
          <a:bodyPr wrap="square" lIns="0" rIns="0" tIns="0" bIns="0" anchor="t">
            <a:spAutoFit/>
          </a:bodyPr>
          <a:lstStyle/>
          <a:p>
            <a:pPr algn="l">
              <a:lnSpc>
                <a:spcPct val="100000"/>
              </a:lnSpc>
            </a:pPr>
            <a:r>
              <a:rPr sz="1200" b="1" i="0">
                <a:solidFill>
                  <a:srgbClr val="17365D"/>
                </a:solidFill>
                <a:latin typeface="Tahoma"/>
              </a:rPr>
              <a:t>MATERIAL EDGE AND LOW-CARBON CONTEXT</a:t>
            </a:r>
          </a:p>
        </p:txBody>
      </p:sp>
      <p:sp>
        <p:nvSpPr>
          <p:cNvPr id="41" name="TextBox 40"/>
          <p:cNvSpPr txBox="1"/>
          <p:nvPr/>
        </p:nvSpPr>
        <p:spPr>
          <a:xfrm>
            <a:off x="8074152" y="1490472"/>
            <a:ext cx="3511296" cy="219456"/>
          </a:xfrm>
          <a:prstGeom prst="rect">
            <a:avLst/>
          </a:prstGeom>
          <a:noFill/>
        </p:spPr>
        <p:txBody>
          <a:bodyPr wrap="square" lIns="0" rIns="0" tIns="0" bIns="0" anchor="t">
            <a:spAutoFit/>
          </a:bodyPr>
          <a:lstStyle/>
          <a:p>
            <a:pPr algn="l">
              <a:lnSpc>
                <a:spcPct val="100000"/>
              </a:lnSpc>
            </a:pPr>
            <a:r>
              <a:rPr sz="1050" b="1" i="0">
                <a:solidFill>
                  <a:srgbClr val="17365D"/>
                </a:solidFill>
                <a:latin typeface="Tahoma"/>
              </a:rPr>
              <a:t>SFA versus crushed stone (experimental inputs)</a:t>
            </a:r>
          </a:p>
        </p:txBody>
      </p:sp>
      <p:sp>
        <p:nvSpPr>
          <p:cNvPr id="42" name="TextBox 41"/>
          <p:cNvSpPr txBox="1"/>
          <p:nvPr/>
        </p:nvSpPr>
        <p:spPr>
          <a:xfrm>
            <a:off x="8074152" y="1810512"/>
            <a:ext cx="1097280" cy="182880"/>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Specific gravity</a:t>
            </a:r>
          </a:p>
        </p:txBody>
      </p:sp>
      <p:sp>
        <p:nvSpPr>
          <p:cNvPr id="43" name="TextBox 42"/>
          <p:cNvSpPr txBox="1"/>
          <p:nvPr/>
        </p:nvSpPr>
        <p:spPr>
          <a:xfrm>
            <a:off x="8074152" y="2048256"/>
            <a:ext cx="502920" cy="164592"/>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SFA</a:t>
            </a:r>
          </a:p>
        </p:txBody>
      </p:sp>
      <p:sp>
        <p:nvSpPr>
          <p:cNvPr id="44" name="Rectangle 43"/>
          <p:cNvSpPr/>
          <p:nvPr/>
        </p:nvSpPr>
        <p:spPr>
          <a:xfrm>
            <a:off x="8631936" y="2066544"/>
            <a:ext cx="790302" cy="146304"/>
          </a:xfrm>
          <a:prstGeom prst="rect">
            <a:avLst/>
          </a:prstGeom>
          <a:solidFill>
            <a:srgbClr val="2A9D8F"/>
          </a:solidFill>
          <a:ln>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241280" y="2048256"/>
            <a:ext cx="548640" cy="164592"/>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1.43</a:t>
            </a:r>
          </a:p>
        </p:txBody>
      </p:sp>
      <p:sp>
        <p:nvSpPr>
          <p:cNvPr id="46" name="TextBox 45"/>
          <p:cNvSpPr txBox="1"/>
          <p:nvPr/>
        </p:nvSpPr>
        <p:spPr>
          <a:xfrm>
            <a:off x="8074152" y="2359152"/>
            <a:ext cx="502920" cy="164592"/>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Stone</a:t>
            </a:r>
          </a:p>
        </p:txBody>
      </p:sp>
      <p:sp>
        <p:nvSpPr>
          <p:cNvPr id="47" name="Rectangle 46"/>
          <p:cNvSpPr/>
          <p:nvPr/>
        </p:nvSpPr>
        <p:spPr>
          <a:xfrm>
            <a:off x="8631936" y="2377440"/>
            <a:ext cx="1508760" cy="146304"/>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41280" y="2359152"/>
            <a:ext cx="548640" cy="164592"/>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2.73</a:t>
            </a:r>
          </a:p>
        </p:txBody>
      </p:sp>
      <p:sp>
        <p:nvSpPr>
          <p:cNvPr id="49" name="TextBox 48"/>
          <p:cNvSpPr txBox="1"/>
          <p:nvPr/>
        </p:nvSpPr>
        <p:spPr>
          <a:xfrm>
            <a:off x="8074152" y="2706624"/>
            <a:ext cx="1097280" cy="182880"/>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Water absorption</a:t>
            </a:r>
          </a:p>
        </p:txBody>
      </p:sp>
      <p:sp>
        <p:nvSpPr>
          <p:cNvPr id="50" name="TextBox 49"/>
          <p:cNvSpPr txBox="1"/>
          <p:nvPr/>
        </p:nvSpPr>
        <p:spPr>
          <a:xfrm>
            <a:off x="8074152" y="2944368"/>
            <a:ext cx="502920" cy="164592"/>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SFA</a:t>
            </a:r>
          </a:p>
        </p:txBody>
      </p:sp>
      <p:sp>
        <p:nvSpPr>
          <p:cNvPr id="51" name="Rectangle 50"/>
          <p:cNvSpPr/>
          <p:nvPr/>
        </p:nvSpPr>
        <p:spPr>
          <a:xfrm>
            <a:off x="8631936" y="2962656"/>
            <a:ext cx="1508760" cy="146304"/>
          </a:xfrm>
          <a:prstGeom prst="rect">
            <a:avLst/>
          </a:prstGeom>
          <a:solidFill>
            <a:srgbClr val="F4A261"/>
          </a:solidFill>
          <a:ln>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41280" y="2944368"/>
            <a:ext cx="658368" cy="164592"/>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18.00%</a:t>
            </a:r>
          </a:p>
        </p:txBody>
      </p:sp>
      <p:sp>
        <p:nvSpPr>
          <p:cNvPr id="53" name="TextBox 52"/>
          <p:cNvSpPr txBox="1"/>
          <p:nvPr/>
        </p:nvSpPr>
        <p:spPr>
          <a:xfrm>
            <a:off x="8074152" y="3255264"/>
            <a:ext cx="502920" cy="164592"/>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Stone</a:t>
            </a:r>
          </a:p>
        </p:txBody>
      </p:sp>
      <p:sp>
        <p:nvSpPr>
          <p:cNvPr id="54" name="Rectangle 53"/>
          <p:cNvSpPr/>
          <p:nvPr/>
        </p:nvSpPr>
        <p:spPr>
          <a:xfrm>
            <a:off x="8631936" y="3273552"/>
            <a:ext cx="115671" cy="146304"/>
          </a:xfrm>
          <a:prstGeom prst="rect">
            <a:avLst/>
          </a:prstGeom>
          <a:solidFill>
            <a:srgbClr val="2E6F9E"/>
          </a:solidFill>
          <a:ln>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241280" y="3255264"/>
            <a:ext cx="658368" cy="164592"/>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1.38%</a:t>
            </a:r>
          </a:p>
        </p:txBody>
      </p:sp>
      <p:sp>
        <p:nvSpPr>
          <p:cNvPr id="56" name="TextBox 55"/>
          <p:cNvSpPr txBox="1"/>
          <p:nvPr/>
        </p:nvSpPr>
        <p:spPr>
          <a:xfrm>
            <a:off x="8074152" y="3593592"/>
            <a:ext cx="3310128" cy="411480"/>
          </a:xfrm>
          <a:prstGeom prst="rect">
            <a:avLst/>
          </a:prstGeom>
          <a:noFill/>
        </p:spPr>
        <p:txBody>
          <a:bodyPr wrap="square" lIns="0" rIns="0" tIns="0" bIns="0" anchor="t">
            <a:spAutoFit/>
          </a:bodyPr>
          <a:lstStyle/>
          <a:p>
            <a:pPr algn="l">
              <a:lnSpc>
                <a:spcPct val="100000"/>
              </a:lnSpc>
            </a:pPr>
            <a:r>
              <a:rPr sz="1000" b="0" i="0">
                <a:solidFill>
                  <a:srgbClr val="000000"/>
                </a:solidFill>
                <a:latin typeface="Tahoma"/>
              </a:rPr>
              <a:t>Edge: lower mass and internal damping. Trade-off: high absorption and lower aggregate toughness require moisture/workability control.</a:t>
            </a:r>
          </a:p>
        </p:txBody>
      </p:sp>
      <p:sp>
        <p:nvSpPr>
          <p:cNvPr id="57" name="TextBox 56"/>
          <p:cNvSpPr txBox="1"/>
          <p:nvPr/>
        </p:nvSpPr>
        <p:spPr>
          <a:xfrm>
            <a:off x="8074152" y="4114800"/>
            <a:ext cx="3337560" cy="210312"/>
          </a:xfrm>
          <a:prstGeom prst="rect">
            <a:avLst/>
          </a:prstGeom>
          <a:noFill/>
        </p:spPr>
        <p:txBody>
          <a:bodyPr wrap="square" lIns="0" rIns="0" tIns="0" bIns="0" anchor="t">
            <a:spAutoFit/>
          </a:bodyPr>
          <a:lstStyle/>
          <a:p>
            <a:pPr algn="l">
              <a:lnSpc>
                <a:spcPct val="100000"/>
              </a:lnSpc>
            </a:pPr>
            <a:r>
              <a:rPr sz="1050" b="1" i="0">
                <a:solidFill>
                  <a:srgbClr val="17365D"/>
                </a:solidFill>
                <a:latin typeface="Tahoma"/>
              </a:rPr>
              <a:t>Geopolymer efficiency context—not the present binder</a:t>
            </a:r>
          </a:p>
        </p:txBody>
      </p:sp>
      <p:sp>
        <p:nvSpPr>
          <p:cNvPr id="58" name="TextBox 57"/>
          <p:cNvSpPr txBox="1"/>
          <p:nvPr/>
        </p:nvSpPr>
        <p:spPr>
          <a:xfrm>
            <a:off x="8074152" y="4416552"/>
            <a:ext cx="640080" cy="164592"/>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OPC</a:t>
            </a:r>
          </a:p>
        </p:txBody>
      </p:sp>
      <p:sp>
        <p:nvSpPr>
          <p:cNvPr id="59" name="Rectangle 58"/>
          <p:cNvSpPr/>
          <p:nvPr/>
        </p:nvSpPr>
        <p:spPr>
          <a:xfrm>
            <a:off x="8705088" y="4416552"/>
            <a:ext cx="2148840" cy="164592"/>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27080" y="4389120"/>
            <a:ext cx="457200" cy="201168"/>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100</a:t>
            </a:r>
          </a:p>
        </p:txBody>
      </p:sp>
      <p:sp>
        <p:nvSpPr>
          <p:cNvPr id="61" name="TextBox 60"/>
          <p:cNvSpPr txBox="1"/>
          <p:nvPr/>
        </p:nvSpPr>
        <p:spPr>
          <a:xfrm>
            <a:off x="8074152" y="4709160"/>
            <a:ext cx="640080" cy="164592"/>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GPC</a:t>
            </a:r>
          </a:p>
        </p:txBody>
      </p:sp>
      <p:sp>
        <p:nvSpPr>
          <p:cNvPr id="62" name="Rectangle 61"/>
          <p:cNvSpPr/>
          <p:nvPr/>
        </p:nvSpPr>
        <p:spPr>
          <a:xfrm>
            <a:off x="8705088" y="4709160"/>
            <a:ext cx="1955444" cy="164592"/>
          </a:xfrm>
          <a:prstGeom prst="rect">
            <a:avLst/>
          </a:prstGeom>
          <a:solidFill>
            <a:srgbClr val="2A9D8F"/>
          </a:solidFill>
          <a:ln>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927080" y="4681728"/>
            <a:ext cx="457200" cy="201168"/>
          </a:xfrm>
          <a:prstGeom prst="rect">
            <a:avLst/>
          </a:prstGeom>
          <a:noFill/>
        </p:spPr>
        <p:txBody>
          <a:bodyPr wrap="square" lIns="0" rIns="0" tIns="0" bIns="0" anchor="t">
            <a:spAutoFit/>
          </a:bodyPr>
          <a:lstStyle/>
          <a:p>
            <a:pPr algn="l">
              <a:lnSpc>
                <a:spcPct val="100000"/>
              </a:lnSpc>
            </a:pPr>
            <a:r>
              <a:rPr sz="1000" b="1" i="0">
                <a:solidFill>
                  <a:srgbClr val="000000"/>
                </a:solidFill>
                <a:latin typeface="Tahoma"/>
              </a:rPr>
              <a:t>91</a:t>
            </a:r>
          </a:p>
        </p:txBody>
      </p:sp>
      <p:sp>
        <p:nvSpPr>
          <p:cNvPr id="64" name="TextBox 63"/>
          <p:cNvSpPr txBox="1"/>
          <p:nvPr/>
        </p:nvSpPr>
        <p:spPr>
          <a:xfrm>
            <a:off x="8074152" y="5010912"/>
            <a:ext cx="3337560" cy="457200"/>
          </a:xfrm>
          <a:prstGeom prst="rect">
            <a:avLst/>
          </a:prstGeom>
          <a:noFill/>
        </p:spPr>
        <p:txBody>
          <a:bodyPr wrap="square" lIns="0" rIns="0" tIns="0" bIns="0" anchor="t">
            <a:spAutoFit/>
          </a:bodyPr>
          <a:lstStyle/>
          <a:p>
            <a:pPr algn="l">
              <a:lnSpc>
                <a:spcPct val="100000"/>
              </a:lnSpc>
            </a:pPr>
            <a:r>
              <a:rPr sz="1000" b="1" i="0">
                <a:solidFill>
                  <a:srgbClr val="C14953"/>
                </a:solidFill>
                <a:latin typeface="Tahoma"/>
              </a:rPr>
              <a:t>Relative CO₂-e index from Turner &amp; Collins: 9% lower for GPC. Published outcomes are system-dependent. Present patent mix is OPC–GGBS, not geopolymer; product LCA is pending.</a:t>
            </a:r>
          </a:p>
        </p:txBody>
      </p:sp>
      <p:sp>
        <p:nvSpPr>
          <p:cNvPr id="65" name="TextBox 64"/>
          <p:cNvSpPr txBox="1"/>
          <p:nvPr/>
        </p:nvSpPr>
        <p:spPr>
          <a:xfrm>
            <a:off x="658368" y="5852160"/>
            <a:ext cx="10881360" cy="256032"/>
          </a:xfrm>
          <a:prstGeom prst="rect">
            <a:avLst/>
          </a:prstGeom>
          <a:noFill/>
        </p:spPr>
        <p:txBody>
          <a:bodyPr wrap="square" lIns="0" rIns="0" tIns="0" bIns="0" anchor="ctr">
            <a:spAutoFit/>
          </a:bodyPr>
          <a:lstStyle/>
          <a:p>
            <a:pPr algn="l">
              <a:lnSpc>
                <a:spcPct val="100000"/>
              </a:lnSpc>
            </a:pPr>
            <a:r>
              <a:rPr sz="1000" b="0" i="0">
                <a:solidFill>
                  <a:srgbClr val="000000"/>
                </a:solidFill>
                <a:latin typeface="Tahoma"/>
              </a:rPr>
              <a:t>Source: Zain &amp; Mohammed (2015); Turner &amp; Collins (2013), doi:10.1016/j.conbuildmat.2013.01.023; Habert et al. (2011), doi:10.1016/j.jclepro.2011.03.012; ACI 213R / ASTM C567.</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155448"/>
            <a:ext cx="2880360" cy="201168"/>
          </a:xfrm>
          <a:prstGeom prst="rect">
            <a:avLst/>
          </a:prstGeom>
          <a:noFill/>
        </p:spPr>
        <p:txBody>
          <a:bodyPr wrap="square" lIns="0" rIns="0" tIns="0" bIns="0" anchor="t">
            <a:spAutoFit/>
          </a:bodyPr>
          <a:lstStyle/>
          <a:p>
            <a:pPr algn="l">
              <a:lnSpc>
                <a:spcPct val="100000"/>
              </a:lnSpc>
            </a:pPr>
            <a:r>
              <a:rPr sz="1000" b="1" i="0">
                <a:solidFill>
                  <a:srgbClr val="2E6F9E"/>
                </a:solidFill>
                <a:latin typeface="Tahoma"/>
              </a:rPr>
              <a:t>PROPOSED CLAIM RANGE</a:t>
            </a:r>
          </a:p>
        </p:txBody>
      </p:sp>
      <p:sp>
        <p:nvSpPr>
          <p:cNvPr id="4" name="TextBox 3"/>
          <p:cNvSpPr txBox="1"/>
          <p:nvPr/>
        </p:nvSpPr>
        <p:spPr>
          <a:xfrm>
            <a:off x="621792" y="329184"/>
            <a:ext cx="9966960" cy="612648"/>
          </a:xfrm>
          <a:prstGeom prst="rect">
            <a:avLst/>
          </a:prstGeom>
          <a:noFill/>
        </p:spPr>
        <p:txBody>
          <a:bodyPr wrap="square" lIns="0" rIns="0" tIns="0" bIns="0" anchor="ctr">
            <a:spAutoFit/>
          </a:bodyPr>
          <a:lstStyle/>
          <a:p>
            <a:pPr algn="l">
              <a:lnSpc>
                <a:spcPct val="92000"/>
              </a:lnSpc>
            </a:pPr>
            <a:r>
              <a:rPr sz="2200" b="1" i="0">
                <a:solidFill>
                  <a:srgbClr val="17365D"/>
                </a:solidFill>
                <a:latin typeface="Tahoma"/>
              </a:rPr>
              <a:t>Tested experimental claim window: LWC05–LWC15</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rIns="0" t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1000" b="1" i="0">
                <a:solidFill>
                  <a:srgbClr val="000000"/>
                </a:solidFill>
                <a:latin typeface="Tahoma"/>
              </a:rPr>
              <a:t>17</a:t>
            </a:r>
          </a:p>
        </p:txBody>
      </p:sp>
      <p:sp>
        <p:nvSpPr>
          <p:cNvPr id="11" name="TextBox 10"/>
          <p:cNvSpPr txBox="1"/>
          <p:nvPr/>
        </p:nvSpPr>
        <p:spPr>
          <a:xfrm>
            <a:off x="658368" y="1115568"/>
            <a:ext cx="10835640" cy="256032"/>
          </a:xfrm>
          <a:prstGeom prst="rect">
            <a:avLst/>
          </a:prstGeom>
          <a:noFill/>
        </p:spPr>
        <p:txBody>
          <a:bodyPr wrap="square" lIns="0" rIns="0" tIns="0" bIns="0" anchor="t">
            <a:spAutoFit/>
          </a:bodyPr>
          <a:lstStyle/>
          <a:p>
            <a:pPr algn="l">
              <a:lnSpc>
                <a:spcPct val="100000"/>
              </a:lnSpc>
            </a:pPr>
            <a:r>
              <a:rPr sz="1050" b="1" i="0">
                <a:solidFill>
                  <a:srgbClr val="C14953"/>
                </a:solidFill>
                <a:latin typeface="Tahoma"/>
              </a:rPr>
              <a:t>Proposed experimental window—valid only for the three tested embodiments in this presentation; not a legal claim.</a:t>
            </a:r>
          </a:p>
        </p:txBody>
      </p:sp>
      <p:graphicFrame>
        <p:nvGraphicFramePr>
          <p:cNvPr id="12" name="Table 11"/>
          <p:cNvGraphicFramePr>
            <a:graphicFrameLocks noGrp="1"/>
          </p:cNvGraphicFramePr>
          <p:nvPr/>
        </p:nvGraphicFramePr>
        <p:xfrm>
          <a:off x="658368" y="1481328"/>
          <a:ext cx="10863069" cy="2395728"/>
        </p:xfrm>
        <a:graphic>
          <a:graphicData uri="http://schemas.openxmlformats.org/drawingml/2006/table">
            <a:tbl>
              <a:tblPr firstRow="1" bandRow="1">
                <a:tableStyleId>{5C22544A-7EE6-4342-B048-85BDC9FD1C3A}</a:tableStyleId>
              </a:tblPr>
              <a:tblGrid>
                <a:gridCol w="3095391"/>
                <a:gridCol w="1401686"/>
                <a:gridCol w="1401686"/>
                <a:gridCol w="1401686"/>
                <a:gridCol w="3562620"/>
              </a:tblGrid>
              <a:tr h="342246">
                <a:tc>
                  <a:txBody>
                    <a:bodyPr/>
                    <a:lstStyle/>
                    <a:p>
                      <a:pPr algn="l"/>
                      <a:r>
                        <a:rPr sz="1000" b="1" i="0">
                          <a:solidFill>
                            <a:srgbClr val="FFFFFF"/>
                          </a:solidFill>
                          <a:latin typeface="Tahoma"/>
                        </a:rPr>
                        <a:t>Constituent / parameter</a:t>
                      </a:r>
                    </a:p>
                  </a:txBody>
                  <a:tcPr marL="36576" marR="36576" marT="27432" marB="27432" anchor="ctr">
                    <a:solidFill>
                      <a:srgbClr val="17365D"/>
                    </a:solidFill>
                  </a:tcPr>
                </a:tc>
                <a:tc>
                  <a:txBody>
                    <a:bodyPr/>
                    <a:lstStyle/>
                    <a:p>
                      <a:pPr algn="ctr"/>
                      <a:r>
                        <a:rPr sz="1000" b="1" i="0">
                          <a:solidFill>
                            <a:srgbClr val="FFFFFF"/>
                          </a:solidFill>
                          <a:latin typeface="Tahoma"/>
                        </a:rPr>
                        <a:t>LWC05</a:t>
                      </a:r>
                    </a:p>
                  </a:txBody>
                  <a:tcPr marL="36576" marR="36576" marT="27432" marB="27432" anchor="ctr">
                    <a:solidFill>
                      <a:srgbClr val="17365D"/>
                    </a:solidFill>
                  </a:tcPr>
                </a:tc>
                <a:tc>
                  <a:txBody>
                    <a:bodyPr/>
                    <a:lstStyle/>
                    <a:p>
                      <a:pPr algn="ctr"/>
                      <a:r>
                        <a:rPr sz="1000" b="1" i="0">
                          <a:solidFill>
                            <a:srgbClr val="FFFFFF"/>
                          </a:solidFill>
                          <a:latin typeface="Tahoma"/>
                        </a:rPr>
                        <a:t>LWC10</a:t>
                      </a:r>
                    </a:p>
                  </a:txBody>
                  <a:tcPr marL="36576" marR="36576" marT="27432" marB="27432" anchor="ctr">
                    <a:solidFill>
                      <a:srgbClr val="17365D"/>
                    </a:solidFill>
                  </a:tcPr>
                </a:tc>
                <a:tc>
                  <a:txBody>
                    <a:bodyPr/>
                    <a:lstStyle/>
                    <a:p>
                      <a:pPr algn="ctr"/>
                      <a:r>
                        <a:rPr sz="1000" b="1" i="0">
                          <a:solidFill>
                            <a:srgbClr val="FFFFFF"/>
                          </a:solidFill>
                          <a:latin typeface="Tahoma"/>
                        </a:rPr>
                        <a:t>LWC15</a:t>
                      </a:r>
                    </a:p>
                  </a:txBody>
                  <a:tcPr marL="36576" marR="36576" marT="27432" marB="27432" anchor="ctr">
                    <a:solidFill>
                      <a:srgbClr val="17365D"/>
                    </a:solidFill>
                  </a:tcPr>
                </a:tc>
                <a:tc>
                  <a:txBody>
                    <a:bodyPr/>
                    <a:lstStyle/>
                    <a:p>
                      <a:pPr algn="ctr"/>
                      <a:r>
                        <a:rPr sz="1000" b="1" i="0">
                          <a:solidFill>
                            <a:srgbClr val="FFFFFF"/>
                          </a:solidFill>
                          <a:latin typeface="Tahoma"/>
                        </a:rPr>
                        <a:t>Test-supported window</a:t>
                      </a:r>
                    </a:p>
                  </a:txBody>
                  <a:tcPr marL="36576" marR="36576" marT="27432" marB="27432" anchor="ctr">
                    <a:solidFill>
                      <a:srgbClr val="17365D"/>
                    </a:solidFill>
                  </a:tcPr>
                </a:tc>
              </a:tr>
              <a:tr h="342246">
                <a:tc>
                  <a:txBody>
                    <a:bodyPr/>
                    <a:lstStyle/>
                    <a:p>
                      <a:pPr algn="l"/>
                      <a:r>
                        <a:rPr sz="1000" b="1" i="0">
                          <a:solidFill>
                            <a:srgbClr val="202B33"/>
                          </a:solidFill>
                          <a:latin typeface="Tahoma"/>
                        </a:rPr>
                        <a:t>OPC (kg/m³)</a:t>
                      </a:r>
                    </a:p>
                  </a:txBody>
                  <a:tcPr marL="36576" marR="36576" marT="27432" marB="27432" anchor="ctr">
                    <a:solidFill>
                      <a:srgbClr val="FFFFFF"/>
                    </a:solidFill>
                  </a:tcPr>
                </a:tc>
                <a:tc>
                  <a:txBody>
                    <a:bodyPr/>
                    <a:lstStyle/>
                    <a:p>
                      <a:pPr algn="ctr"/>
                      <a:r>
                        <a:rPr sz="1000" b="0" i="0">
                          <a:solidFill>
                            <a:srgbClr val="202B33"/>
                          </a:solidFill>
                          <a:latin typeface="Tahoma"/>
                        </a:rPr>
                        <a:t>422.4</a:t>
                      </a:r>
                    </a:p>
                  </a:txBody>
                  <a:tcPr marL="36576" marR="36576" marT="27432" marB="27432" anchor="ctr">
                    <a:solidFill>
                      <a:srgbClr val="FFFFFF"/>
                    </a:solidFill>
                  </a:tcPr>
                </a:tc>
                <a:tc>
                  <a:txBody>
                    <a:bodyPr/>
                    <a:lstStyle/>
                    <a:p>
                      <a:pPr algn="ctr"/>
                      <a:r>
                        <a:rPr sz="1000" b="0" i="0">
                          <a:solidFill>
                            <a:srgbClr val="202B33"/>
                          </a:solidFill>
                          <a:latin typeface="Tahoma"/>
                        </a:rPr>
                        <a:t>422.4</a:t>
                      </a:r>
                    </a:p>
                  </a:txBody>
                  <a:tcPr marL="36576" marR="36576" marT="27432" marB="27432" anchor="ctr">
                    <a:solidFill>
                      <a:srgbClr val="FFFFFF"/>
                    </a:solidFill>
                  </a:tcPr>
                </a:tc>
                <a:tc>
                  <a:txBody>
                    <a:bodyPr/>
                    <a:lstStyle/>
                    <a:p>
                      <a:pPr algn="ctr"/>
                      <a:r>
                        <a:rPr sz="1000" b="0" i="0">
                          <a:solidFill>
                            <a:srgbClr val="202B33"/>
                          </a:solidFill>
                          <a:latin typeface="Tahoma"/>
                        </a:rPr>
                        <a:t>422.4</a:t>
                      </a:r>
                    </a:p>
                  </a:txBody>
                  <a:tcPr marL="36576" marR="36576" marT="27432" marB="27432" anchor="ctr">
                    <a:solidFill>
                      <a:srgbClr val="FFFFFF"/>
                    </a:solidFill>
                  </a:tcPr>
                </a:tc>
                <a:tc>
                  <a:txBody>
                    <a:bodyPr/>
                    <a:lstStyle/>
                    <a:p>
                      <a:pPr algn="ctr"/>
                      <a:r>
                        <a:rPr sz="1000" b="0" i="0">
                          <a:solidFill>
                            <a:srgbClr val="202B33"/>
                          </a:solidFill>
                          <a:latin typeface="Tahoma"/>
                        </a:rPr>
                        <a:t>422.4 fixed</a:t>
                      </a:r>
                    </a:p>
                  </a:txBody>
                  <a:tcPr marL="36576" marR="36576" marT="27432" marB="27432" anchor="ctr">
                    <a:solidFill>
                      <a:srgbClr val="FFFFFF"/>
                    </a:solidFill>
                  </a:tcPr>
                </a:tc>
              </a:tr>
              <a:tr h="342246">
                <a:tc>
                  <a:txBody>
                    <a:bodyPr/>
                    <a:lstStyle/>
                    <a:p>
                      <a:pPr algn="l"/>
                      <a:r>
                        <a:rPr sz="1000" b="1" i="0">
                          <a:solidFill>
                            <a:srgbClr val="202B33"/>
                          </a:solidFill>
                          <a:latin typeface="Tahoma"/>
                        </a:rPr>
                        <a:t>GGBS (kg/m³)</a:t>
                      </a:r>
                    </a:p>
                  </a:txBody>
                  <a:tcPr marL="36576" marR="36576" marT="27432" marB="27432" anchor="ctr">
                    <a:solidFill>
                      <a:srgbClr val="F8FAFB"/>
                    </a:solidFill>
                  </a:tcPr>
                </a:tc>
                <a:tc>
                  <a:txBody>
                    <a:bodyPr/>
                    <a:lstStyle/>
                    <a:p>
                      <a:pPr algn="ctr"/>
                      <a:r>
                        <a:rPr sz="1000" b="0" i="0">
                          <a:solidFill>
                            <a:srgbClr val="202B33"/>
                          </a:solidFill>
                          <a:latin typeface="Tahoma"/>
                        </a:rPr>
                        <a:t>105.6</a:t>
                      </a:r>
                    </a:p>
                  </a:txBody>
                  <a:tcPr marL="36576" marR="36576" marT="27432" marB="27432" anchor="ctr">
                    <a:solidFill>
                      <a:srgbClr val="F8FAFB"/>
                    </a:solidFill>
                  </a:tcPr>
                </a:tc>
                <a:tc>
                  <a:txBody>
                    <a:bodyPr/>
                    <a:lstStyle/>
                    <a:p>
                      <a:pPr algn="ctr"/>
                      <a:r>
                        <a:rPr sz="1000" b="0" i="0">
                          <a:solidFill>
                            <a:srgbClr val="202B33"/>
                          </a:solidFill>
                          <a:latin typeface="Tahoma"/>
                        </a:rPr>
                        <a:t>105.6</a:t>
                      </a:r>
                    </a:p>
                  </a:txBody>
                  <a:tcPr marL="36576" marR="36576" marT="27432" marB="27432" anchor="ctr">
                    <a:solidFill>
                      <a:srgbClr val="F8FAFB"/>
                    </a:solidFill>
                  </a:tcPr>
                </a:tc>
                <a:tc>
                  <a:txBody>
                    <a:bodyPr/>
                    <a:lstStyle/>
                    <a:p>
                      <a:pPr algn="ctr"/>
                      <a:r>
                        <a:rPr sz="1000" b="0" i="0">
                          <a:solidFill>
                            <a:srgbClr val="202B33"/>
                          </a:solidFill>
                          <a:latin typeface="Tahoma"/>
                        </a:rPr>
                        <a:t>105.6</a:t>
                      </a:r>
                    </a:p>
                  </a:txBody>
                  <a:tcPr marL="36576" marR="36576" marT="27432" marB="27432" anchor="ctr">
                    <a:solidFill>
                      <a:srgbClr val="F8FAFB"/>
                    </a:solidFill>
                  </a:tcPr>
                </a:tc>
                <a:tc>
                  <a:txBody>
                    <a:bodyPr/>
                    <a:lstStyle/>
                    <a:p>
                      <a:pPr algn="ctr"/>
                      <a:r>
                        <a:rPr sz="1000" b="0" i="0">
                          <a:solidFill>
                            <a:srgbClr val="202B33"/>
                          </a:solidFill>
                          <a:latin typeface="Tahoma"/>
                        </a:rPr>
                        <a:t>105.6 fixed; 20% binder</a:t>
                      </a:r>
                    </a:p>
                  </a:txBody>
                  <a:tcPr marL="36576" marR="36576" marT="27432" marB="27432" anchor="ctr">
                    <a:solidFill>
                      <a:srgbClr val="F8FAFB"/>
                    </a:solidFill>
                  </a:tcPr>
                </a:tc>
              </a:tr>
              <a:tr h="342246">
                <a:tc>
                  <a:txBody>
                    <a:bodyPr/>
                    <a:lstStyle/>
                    <a:p>
                      <a:pPr algn="l"/>
                      <a:r>
                        <a:rPr sz="1000" b="1" i="0">
                          <a:solidFill>
                            <a:srgbClr val="202B33"/>
                          </a:solidFill>
                          <a:latin typeface="Tahoma"/>
                        </a:rPr>
                        <a:t>Fine aggregate (kg/m³)</a:t>
                      </a:r>
                    </a:p>
                  </a:txBody>
                  <a:tcPr marL="36576" marR="36576" marT="27432" marB="27432" anchor="ctr">
                    <a:solidFill>
                      <a:srgbClr val="FFFFFF"/>
                    </a:solidFill>
                  </a:tcPr>
                </a:tc>
                <a:tc>
                  <a:txBody>
                    <a:bodyPr/>
                    <a:lstStyle/>
                    <a:p>
                      <a:pPr algn="ctr"/>
                      <a:r>
                        <a:rPr sz="1000" b="0" i="0">
                          <a:solidFill>
                            <a:srgbClr val="202B33"/>
                          </a:solidFill>
                          <a:latin typeface="Tahoma"/>
                        </a:rPr>
                        <a:t>466.46</a:t>
                      </a:r>
                    </a:p>
                  </a:txBody>
                  <a:tcPr marL="36576" marR="36576" marT="27432" marB="27432" anchor="ctr">
                    <a:solidFill>
                      <a:srgbClr val="FFFFFF"/>
                    </a:solidFill>
                  </a:tcPr>
                </a:tc>
                <a:tc>
                  <a:txBody>
                    <a:bodyPr/>
                    <a:lstStyle/>
                    <a:p>
                      <a:pPr algn="ctr"/>
                      <a:r>
                        <a:rPr sz="1000" b="0" i="0">
                          <a:solidFill>
                            <a:srgbClr val="202B33"/>
                          </a:solidFill>
                          <a:latin typeface="Tahoma"/>
                        </a:rPr>
                        <a:t>466.46</a:t>
                      </a:r>
                    </a:p>
                  </a:txBody>
                  <a:tcPr marL="36576" marR="36576" marT="27432" marB="27432" anchor="ctr">
                    <a:solidFill>
                      <a:srgbClr val="FFFFFF"/>
                    </a:solidFill>
                  </a:tcPr>
                </a:tc>
                <a:tc>
                  <a:txBody>
                    <a:bodyPr/>
                    <a:lstStyle/>
                    <a:p>
                      <a:pPr algn="ctr"/>
                      <a:r>
                        <a:rPr sz="1000" b="0" i="0">
                          <a:solidFill>
                            <a:srgbClr val="202B33"/>
                          </a:solidFill>
                          <a:latin typeface="Tahoma"/>
                        </a:rPr>
                        <a:t>466.46</a:t>
                      </a:r>
                    </a:p>
                  </a:txBody>
                  <a:tcPr marL="36576" marR="36576" marT="27432" marB="27432" anchor="ctr">
                    <a:solidFill>
                      <a:srgbClr val="FFFFFF"/>
                    </a:solidFill>
                  </a:tcPr>
                </a:tc>
                <a:tc>
                  <a:txBody>
                    <a:bodyPr/>
                    <a:lstStyle/>
                    <a:p>
                      <a:pPr algn="ctr"/>
                      <a:r>
                        <a:rPr sz="1000" b="0" i="0">
                          <a:solidFill>
                            <a:srgbClr val="202B33"/>
                          </a:solidFill>
                          <a:latin typeface="Tahoma"/>
                        </a:rPr>
                        <a:t>466.46 fixed</a:t>
                      </a:r>
                    </a:p>
                  </a:txBody>
                  <a:tcPr marL="36576" marR="36576" marT="27432" marB="27432" anchor="ctr">
                    <a:solidFill>
                      <a:srgbClr val="FFFFFF"/>
                    </a:solidFill>
                  </a:tcPr>
                </a:tc>
              </a:tr>
              <a:tr h="342246">
                <a:tc>
                  <a:txBody>
                    <a:bodyPr/>
                    <a:lstStyle/>
                    <a:p>
                      <a:pPr algn="l"/>
                      <a:r>
                        <a:rPr sz="1000" b="1" i="0">
                          <a:solidFill>
                            <a:srgbClr val="202B33"/>
                          </a:solidFill>
                          <a:latin typeface="Tahoma"/>
                        </a:rPr>
                        <a:t>SFA coarse aggregate (kg/m³)</a:t>
                      </a:r>
                    </a:p>
                  </a:txBody>
                  <a:tcPr marL="36576" marR="36576" marT="27432" marB="27432" anchor="ctr">
                    <a:solidFill>
                      <a:srgbClr val="F8FAFB"/>
                    </a:solidFill>
                  </a:tcPr>
                </a:tc>
                <a:tc>
                  <a:txBody>
                    <a:bodyPr/>
                    <a:lstStyle/>
                    <a:p>
                      <a:pPr algn="ctr"/>
                      <a:r>
                        <a:rPr sz="1000" b="0" i="0">
                          <a:solidFill>
                            <a:srgbClr val="202B33"/>
                          </a:solidFill>
                          <a:latin typeface="Tahoma"/>
                        </a:rPr>
                        <a:t>596.31</a:t>
                      </a:r>
                    </a:p>
                  </a:txBody>
                  <a:tcPr marL="36576" marR="36576" marT="27432" marB="27432" anchor="ctr">
                    <a:solidFill>
                      <a:srgbClr val="F8FAFB"/>
                    </a:solidFill>
                  </a:tcPr>
                </a:tc>
                <a:tc>
                  <a:txBody>
                    <a:bodyPr/>
                    <a:lstStyle/>
                    <a:p>
                      <a:pPr algn="ctr"/>
                      <a:r>
                        <a:rPr sz="1000" b="0" i="0">
                          <a:solidFill>
                            <a:srgbClr val="202B33"/>
                          </a:solidFill>
                          <a:latin typeface="Tahoma"/>
                        </a:rPr>
                        <a:t>596.31</a:t>
                      </a:r>
                    </a:p>
                  </a:txBody>
                  <a:tcPr marL="36576" marR="36576" marT="27432" marB="27432" anchor="ctr">
                    <a:solidFill>
                      <a:srgbClr val="F8FAFB"/>
                    </a:solidFill>
                  </a:tcPr>
                </a:tc>
                <a:tc>
                  <a:txBody>
                    <a:bodyPr/>
                    <a:lstStyle/>
                    <a:p>
                      <a:pPr algn="ctr"/>
                      <a:r>
                        <a:rPr sz="1000" b="0" i="0">
                          <a:solidFill>
                            <a:srgbClr val="202B33"/>
                          </a:solidFill>
                          <a:latin typeface="Tahoma"/>
                        </a:rPr>
                        <a:t>596.31</a:t>
                      </a:r>
                    </a:p>
                  </a:txBody>
                  <a:tcPr marL="36576" marR="36576" marT="27432" marB="27432" anchor="ctr">
                    <a:solidFill>
                      <a:srgbClr val="F8FAFB"/>
                    </a:solidFill>
                  </a:tcPr>
                </a:tc>
                <a:tc>
                  <a:txBody>
                    <a:bodyPr/>
                    <a:lstStyle/>
                    <a:p>
                      <a:pPr algn="ctr"/>
                      <a:r>
                        <a:rPr sz="1000" b="0" i="0">
                          <a:solidFill>
                            <a:srgbClr val="202B33"/>
                          </a:solidFill>
                          <a:latin typeface="Tahoma"/>
                        </a:rPr>
                        <a:t>596.31; 100% coarse replacement</a:t>
                      </a:r>
                    </a:p>
                  </a:txBody>
                  <a:tcPr marL="36576" marR="36576" marT="27432" marB="27432" anchor="ctr">
                    <a:solidFill>
                      <a:srgbClr val="F8FAFB"/>
                    </a:solidFill>
                  </a:tcPr>
                </a:tc>
              </a:tr>
              <a:tr h="342246">
                <a:tc>
                  <a:txBody>
                    <a:bodyPr/>
                    <a:lstStyle/>
                    <a:p>
                      <a:pPr algn="l"/>
                      <a:r>
                        <a:rPr sz="1000" b="1" i="0">
                          <a:solidFill>
                            <a:srgbClr val="202B33"/>
                          </a:solidFill>
                          <a:latin typeface="Tahoma"/>
                        </a:rPr>
                        <a:t>Hooked steel fibre (kg/m³)</a:t>
                      </a:r>
                    </a:p>
                  </a:txBody>
                  <a:tcPr marL="36576" marR="36576" marT="27432" marB="27432" anchor="ctr">
                    <a:solidFill>
                      <a:srgbClr val="FBF1E4"/>
                    </a:solidFill>
                  </a:tcPr>
                </a:tc>
                <a:tc>
                  <a:txBody>
                    <a:bodyPr/>
                    <a:lstStyle/>
                    <a:p>
                      <a:pPr algn="ctr"/>
                      <a:r>
                        <a:rPr sz="1000" b="0" i="0">
                          <a:solidFill>
                            <a:srgbClr val="202B33"/>
                          </a:solidFill>
                          <a:latin typeface="Tahoma"/>
                        </a:rPr>
                        <a:t>39.25</a:t>
                      </a:r>
                    </a:p>
                  </a:txBody>
                  <a:tcPr marL="36576" marR="36576" marT="27432" marB="27432" anchor="ctr">
                    <a:solidFill>
                      <a:srgbClr val="FBF1E4"/>
                    </a:solidFill>
                  </a:tcPr>
                </a:tc>
                <a:tc>
                  <a:txBody>
                    <a:bodyPr/>
                    <a:lstStyle/>
                    <a:p>
                      <a:pPr algn="ctr"/>
                      <a:r>
                        <a:rPr sz="1000" b="0" i="0">
                          <a:solidFill>
                            <a:srgbClr val="202B33"/>
                          </a:solidFill>
                          <a:latin typeface="Tahoma"/>
                        </a:rPr>
                        <a:t>78.50</a:t>
                      </a:r>
                    </a:p>
                  </a:txBody>
                  <a:tcPr marL="36576" marR="36576" marT="27432" marB="27432" anchor="ctr">
                    <a:solidFill>
                      <a:srgbClr val="FBF1E4"/>
                    </a:solidFill>
                  </a:tcPr>
                </a:tc>
                <a:tc>
                  <a:txBody>
                    <a:bodyPr/>
                    <a:lstStyle/>
                    <a:p>
                      <a:pPr algn="ctr"/>
                      <a:r>
                        <a:rPr sz="1000" b="0" i="0">
                          <a:solidFill>
                            <a:srgbClr val="202B33"/>
                          </a:solidFill>
                          <a:latin typeface="Tahoma"/>
                        </a:rPr>
                        <a:t>117.80</a:t>
                      </a:r>
                    </a:p>
                  </a:txBody>
                  <a:tcPr marL="36576" marR="36576" marT="27432" marB="27432" anchor="ctr">
                    <a:solidFill>
                      <a:srgbClr val="FBF1E4"/>
                    </a:solidFill>
                  </a:tcPr>
                </a:tc>
                <a:tc>
                  <a:txBody>
                    <a:bodyPr/>
                    <a:lstStyle/>
                    <a:p>
                      <a:pPr algn="ctr"/>
                      <a:r>
                        <a:rPr sz="1000" b="0" i="0">
                          <a:solidFill>
                            <a:srgbClr val="202B33"/>
                          </a:solidFill>
                          <a:latin typeface="Tahoma"/>
                        </a:rPr>
                        <a:t>39.25–117.80 (0.5–1.5 vol%)</a:t>
                      </a:r>
                    </a:p>
                  </a:txBody>
                  <a:tcPr marL="36576" marR="36576" marT="27432" marB="27432" anchor="ctr">
                    <a:solidFill>
                      <a:srgbClr val="FBF1E4"/>
                    </a:solidFill>
                  </a:tcPr>
                </a:tc>
              </a:tr>
              <a:tr h="342252">
                <a:tc>
                  <a:txBody>
                    <a:bodyPr/>
                    <a:lstStyle/>
                    <a:p>
                      <a:pPr algn="l"/>
                      <a:r>
                        <a:rPr sz="1000" b="1" i="0">
                          <a:solidFill>
                            <a:srgbClr val="202B33"/>
                          </a:solidFill>
                          <a:latin typeface="Tahoma"/>
                        </a:rPr>
                        <a:t>PCE (kg/m³)</a:t>
                      </a:r>
                    </a:p>
                  </a:txBody>
                  <a:tcPr marL="36576" marR="36576" marT="27432" marB="27432" anchor="ctr">
                    <a:solidFill>
                      <a:srgbClr val="F8FAFB"/>
                    </a:solidFill>
                  </a:tcPr>
                </a:tc>
                <a:tc>
                  <a:txBody>
                    <a:bodyPr/>
                    <a:lstStyle/>
                    <a:p>
                      <a:pPr algn="ctr"/>
                      <a:r>
                        <a:rPr sz="1000" b="0" i="0">
                          <a:solidFill>
                            <a:srgbClr val="202B33"/>
                          </a:solidFill>
                          <a:latin typeface="Tahoma"/>
                        </a:rPr>
                        <a:t>2.79</a:t>
                      </a:r>
                    </a:p>
                  </a:txBody>
                  <a:tcPr marL="36576" marR="36576" marT="27432" marB="27432" anchor="ctr">
                    <a:solidFill>
                      <a:srgbClr val="F8FAFB"/>
                    </a:solidFill>
                  </a:tcPr>
                </a:tc>
                <a:tc>
                  <a:txBody>
                    <a:bodyPr/>
                    <a:lstStyle/>
                    <a:p>
                      <a:pPr algn="ctr"/>
                      <a:r>
                        <a:rPr sz="1000" b="0" i="0">
                          <a:solidFill>
                            <a:srgbClr val="202B33"/>
                          </a:solidFill>
                          <a:latin typeface="Tahoma"/>
                        </a:rPr>
                        <a:t>2.79</a:t>
                      </a:r>
                    </a:p>
                  </a:txBody>
                  <a:tcPr marL="36576" marR="36576" marT="27432" marB="27432" anchor="ctr">
                    <a:solidFill>
                      <a:srgbClr val="F8FAFB"/>
                    </a:solidFill>
                  </a:tcPr>
                </a:tc>
                <a:tc>
                  <a:txBody>
                    <a:bodyPr/>
                    <a:lstStyle/>
                    <a:p>
                      <a:pPr algn="ctr"/>
                      <a:r>
                        <a:rPr sz="1000" b="0" i="0">
                          <a:solidFill>
                            <a:srgbClr val="202B33"/>
                          </a:solidFill>
                          <a:latin typeface="Tahoma"/>
                        </a:rPr>
                        <a:t>2.79</a:t>
                      </a:r>
                    </a:p>
                  </a:txBody>
                  <a:tcPr marL="36576" marR="36576" marT="27432" marB="27432" anchor="ctr">
                    <a:solidFill>
                      <a:srgbClr val="F8FAFB"/>
                    </a:solidFill>
                  </a:tcPr>
                </a:tc>
                <a:tc>
                  <a:txBody>
                    <a:bodyPr/>
                    <a:lstStyle/>
                    <a:p>
                      <a:pPr algn="ctr"/>
                      <a:r>
                        <a:rPr sz="1000" b="0" i="0">
                          <a:solidFill>
                            <a:srgbClr val="202B33"/>
                          </a:solidFill>
                          <a:latin typeface="Tahoma"/>
                        </a:rPr>
                        <a:t>2.79 fixed</a:t>
                      </a:r>
                    </a:p>
                  </a:txBody>
                  <a:tcPr marL="36576" marR="36576" marT="27432" marB="27432" anchor="ctr">
                    <a:solidFill>
                      <a:srgbClr val="F8FAFB"/>
                    </a:solidFill>
                  </a:tcPr>
                </a:tc>
              </a:tr>
            </a:tbl>
          </a:graphicData>
        </a:graphic>
      </p:graphicFrame>
      <p:graphicFrame>
        <p:nvGraphicFramePr>
          <p:cNvPr id="13" name="Table 12"/>
          <p:cNvGraphicFramePr>
            <a:graphicFrameLocks noGrp="1"/>
          </p:cNvGraphicFramePr>
          <p:nvPr/>
        </p:nvGraphicFramePr>
        <p:xfrm>
          <a:off x="658368" y="4087368"/>
          <a:ext cx="10863069" cy="1572768"/>
        </p:xfrm>
        <a:graphic>
          <a:graphicData uri="http://schemas.openxmlformats.org/drawingml/2006/table">
            <a:tbl>
              <a:tblPr firstRow="1" bandRow="1">
                <a:tableStyleId>{5C22544A-7EE6-4342-B048-85BDC9FD1C3A}</a:tableStyleId>
              </a:tblPr>
              <a:tblGrid>
                <a:gridCol w="3095391"/>
                <a:gridCol w="1401686"/>
                <a:gridCol w="1401686"/>
                <a:gridCol w="1401686"/>
                <a:gridCol w="3562620"/>
              </a:tblGrid>
              <a:tr h="262128">
                <a:tc>
                  <a:txBody>
                    <a:bodyPr/>
                    <a:lstStyle/>
                    <a:p>
                      <a:pPr algn="l"/>
                      <a:r>
                        <a:rPr sz="1000" b="1" i="0">
                          <a:solidFill>
                            <a:srgbClr val="FFFFFF"/>
                          </a:solidFill>
                          <a:latin typeface="Tahoma"/>
                        </a:rPr>
                        <a:t>Performance response</a:t>
                      </a:r>
                    </a:p>
                  </a:txBody>
                  <a:tcPr marL="36576" marR="36576" marT="27432" marB="27432" anchor="ctr">
                    <a:solidFill>
                      <a:srgbClr val="17365D"/>
                    </a:solidFill>
                  </a:tcPr>
                </a:tc>
                <a:tc>
                  <a:txBody>
                    <a:bodyPr/>
                    <a:lstStyle/>
                    <a:p>
                      <a:pPr algn="ctr"/>
                      <a:r>
                        <a:rPr sz="1000" b="1" i="0">
                          <a:solidFill>
                            <a:srgbClr val="FFFFFF"/>
                          </a:solidFill>
                          <a:latin typeface="Tahoma"/>
                        </a:rPr>
                        <a:t>LWC05</a:t>
                      </a:r>
                    </a:p>
                  </a:txBody>
                  <a:tcPr marL="36576" marR="36576" marT="27432" marB="27432" anchor="ctr">
                    <a:solidFill>
                      <a:srgbClr val="17365D"/>
                    </a:solidFill>
                  </a:tcPr>
                </a:tc>
                <a:tc>
                  <a:txBody>
                    <a:bodyPr/>
                    <a:lstStyle/>
                    <a:p>
                      <a:pPr algn="ctr"/>
                      <a:r>
                        <a:rPr sz="1000" b="1" i="0">
                          <a:solidFill>
                            <a:srgbClr val="FFFFFF"/>
                          </a:solidFill>
                          <a:latin typeface="Tahoma"/>
                        </a:rPr>
                        <a:t>LWC10</a:t>
                      </a:r>
                    </a:p>
                  </a:txBody>
                  <a:tcPr marL="36576" marR="36576" marT="27432" marB="27432" anchor="ctr">
                    <a:solidFill>
                      <a:srgbClr val="17365D"/>
                    </a:solidFill>
                  </a:tcPr>
                </a:tc>
                <a:tc>
                  <a:txBody>
                    <a:bodyPr/>
                    <a:lstStyle/>
                    <a:p>
                      <a:pPr algn="ctr"/>
                      <a:r>
                        <a:rPr sz="1000" b="1" i="0">
                          <a:solidFill>
                            <a:srgbClr val="FFFFFF"/>
                          </a:solidFill>
                          <a:latin typeface="Tahoma"/>
                        </a:rPr>
                        <a:t>LWC15</a:t>
                      </a:r>
                    </a:p>
                  </a:txBody>
                  <a:tcPr marL="36576" marR="36576" marT="27432" marB="27432" anchor="ctr">
                    <a:solidFill>
                      <a:srgbClr val="17365D"/>
                    </a:solidFill>
                  </a:tcPr>
                </a:tc>
                <a:tc>
                  <a:txBody>
                    <a:bodyPr/>
                    <a:lstStyle/>
                    <a:p>
                      <a:pPr algn="ctr"/>
                      <a:r>
                        <a:rPr sz="1000" b="1" i="0">
                          <a:solidFill>
                            <a:srgbClr val="FFFFFF"/>
                          </a:solidFill>
                          <a:latin typeface="Tahoma"/>
                        </a:rPr>
                        <a:t>Observed range</a:t>
                      </a:r>
                    </a:p>
                  </a:txBody>
                  <a:tcPr marL="36576" marR="36576" marT="27432" marB="27432" anchor="ctr">
                    <a:solidFill>
                      <a:srgbClr val="17365D"/>
                    </a:solidFill>
                  </a:tcPr>
                </a:tc>
              </a:tr>
              <a:tr h="262128">
                <a:tc>
                  <a:txBody>
                    <a:bodyPr/>
                    <a:lstStyle/>
                    <a:p>
                      <a:pPr algn="l"/>
                      <a:r>
                        <a:rPr sz="1000" b="1" i="0">
                          <a:solidFill>
                            <a:srgbClr val="202B33"/>
                          </a:solidFill>
                          <a:latin typeface="Tahoma"/>
                        </a:rPr>
                        <a:t>Reported density (kg/m³)</a:t>
                      </a:r>
                    </a:p>
                  </a:txBody>
                  <a:tcPr marL="36576" marR="36576" marT="27432" marB="27432" anchor="ctr">
                    <a:solidFill>
                      <a:srgbClr val="FFFFFF"/>
                    </a:solidFill>
                  </a:tcPr>
                </a:tc>
                <a:tc>
                  <a:txBody>
                    <a:bodyPr/>
                    <a:lstStyle/>
                    <a:p>
                      <a:pPr algn="ctr"/>
                      <a:r>
                        <a:rPr sz="1000" b="0" i="0">
                          <a:solidFill>
                            <a:srgbClr val="202B33"/>
                          </a:solidFill>
                          <a:latin typeface="Tahoma"/>
                        </a:rPr>
                        <a:t>1,923</a:t>
                      </a:r>
                    </a:p>
                  </a:txBody>
                  <a:tcPr marL="36576" marR="36576" marT="27432" marB="27432" anchor="ctr">
                    <a:solidFill>
                      <a:srgbClr val="FFFFFF"/>
                    </a:solidFill>
                  </a:tcPr>
                </a:tc>
                <a:tc>
                  <a:txBody>
                    <a:bodyPr/>
                    <a:lstStyle/>
                    <a:p>
                      <a:pPr algn="ctr"/>
                      <a:r>
                        <a:rPr sz="1000" b="0" i="0">
                          <a:solidFill>
                            <a:srgbClr val="202B33"/>
                          </a:solidFill>
                          <a:latin typeface="Tahoma"/>
                        </a:rPr>
                        <a:t>1,951</a:t>
                      </a:r>
                    </a:p>
                  </a:txBody>
                  <a:tcPr marL="36576" marR="36576" marT="27432" marB="27432" anchor="ctr">
                    <a:solidFill>
                      <a:srgbClr val="FFFFFF"/>
                    </a:solidFill>
                  </a:tcPr>
                </a:tc>
                <a:tc>
                  <a:txBody>
                    <a:bodyPr/>
                    <a:lstStyle/>
                    <a:p>
                      <a:pPr algn="ctr"/>
                      <a:r>
                        <a:rPr sz="1000" b="0" i="0">
                          <a:solidFill>
                            <a:srgbClr val="202B33"/>
                          </a:solidFill>
                          <a:latin typeface="Tahoma"/>
                        </a:rPr>
                        <a:t>1,987</a:t>
                      </a:r>
                    </a:p>
                  </a:txBody>
                  <a:tcPr marL="36576" marR="36576" marT="27432" marB="27432" anchor="ctr">
                    <a:solidFill>
                      <a:srgbClr val="FFFFFF"/>
                    </a:solidFill>
                  </a:tcPr>
                </a:tc>
                <a:tc>
                  <a:txBody>
                    <a:bodyPr/>
                    <a:lstStyle/>
                    <a:p>
                      <a:pPr algn="ctr"/>
                      <a:r>
                        <a:rPr sz="1000" b="0" i="0">
                          <a:solidFill>
                            <a:srgbClr val="202B33"/>
                          </a:solidFill>
                          <a:latin typeface="Tahoma"/>
                        </a:rPr>
                        <a:t>1,923–1,987</a:t>
                      </a:r>
                    </a:p>
                  </a:txBody>
                  <a:tcPr marL="36576" marR="36576" marT="27432" marB="27432" anchor="ctr">
                    <a:solidFill>
                      <a:srgbClr val="FFFFFF"/>
                    </a:solidFill>
                  </a:tcPr>
                </a:tc>
              </a:tr>
              <a:tr h="262128">
                <a:tc>
                  <a:txBody>
                    <a:bodyPr/>
                    <a:lstStyle/>
                    <a:p>
                      <a:pPr algn="l"/>
                      <a:r>
                        <a:rPr sz="1000" b="1" i="0">
                          <a:solidFill>
                            <a:srgbClr val="202B33"/>
                          </a:solidFill>
                          <a:latin typeface="Tahoma"/>
                        </a:rPr>
                        <a:t>28 d compression (MPa)</a:t>
                      </a:r>
                    </a:p>
                  </a:txBody>
                  <a:tcPr marL="36576" marR="36576" marT="27432" marB="27432" anchor="ctr">
                    <a:solidFill>
                      <a:srgbClr val="F8FAFB"/>
                    </a:solidFill>
                  </a:tcPr>
                </a:tc>
                <a:tc>
                  <a:txBody>
                    <a:bodyPr/>
                    <a:lstStyle/>
                    <a:p>
                      <a:pPr algn="ctr"/>
                      <a:r>
                        <a:rPr sz="1000" b="0" i="0">
                          <a:solidFill>
                            <a:srgbClr val="202B33"/>
                          </a:solidFill>
                          <a:latin typeface="Tahoma"/>
                        </a:rPr>
                        <a:t>53.7</a:t>
                      </a:r>
                    </a:p>
                  </a:txBody>
                  <a:tcPr marL="36576" marR="36576" marT="27432" marB="27432" anchor="ctr">
                    <a:solidFill>
                      <a:srgbClr val="F8FAFB"/>
                    </a:solidFill>
                  </a:tcPr>
                </a:tc>
                <a:tc>
                  <a:txBody>
                    <a:bodyPr/>
                    <a:lstStyle/>
                    <a:p>
                      <a:pPr algn="ctr"/>
                      <a:r>
                        <a:rPr sz="1000" b="0" i="0">
                          <a:solidFill>
                            <a:srgbClr val="202B33"/>
                          </a:solidFill>
                          <a:latin typeface="Tahoma"/>
                        </a:rPr>
                        <a:t>56.8</a:t>
                      </a:r>
                    </a:p>
                  </a:txBody>
                  <a:tcPr marL="36576" marR="36576" marT="27432" marB="27432" anchor="ctr">
                    <a:solidFill>
                      <a:srgbClr val="F8FAFB"/>
                    </a:solidFill>
                  </a:tcPr>
                </a:tc>
                <a:tc>
                  <a:txBody>
                    <a:bodyPr/>
                    <a:lstStyle/>
                    <a:p>
                      <a:pPr algn="ctr"/>
                      <a:r>
                        <a:rPr sz="1000" b="0" i="0">
                          <a:solidFill>
                            <a:srgbClr val="202B33"/>
                          </a:solidFill>
                          <a:latin typeface="Tahoma"/>
                        </a:rPr>
                        <a:t>55.4</a:t>
                      </a:r>
                    </a:p>
                  </a:txBody>
                  <a:tcPr marL="36576" marR="36576" marT="27432" marB="27432" anchor="ctr">
                    <a:solidFill>
                      <a:srgbClr val="F8FAFB"/>
                    </a:solidFill>
                  </a:tcPr>
                </a:tc>
                <a:tc>
                  <a:txBody>
                    <a:bodyPr/>
                    <a:lstStyle/>
                    <a:p>
                      <a:pPr algn="ctr"/>
                      <a:r>
                        <a:rPr sz="1000" b="0" i="0">
                          <a:solidFill>
                            <a:srgbClr val="202B33"/>
                          </a:solidFill>
                          <a:latin typeface="Tahoma"/>
                        </a:rPr>
                        <a:t>53.7–56.8</a:t>
                      </a:r>
                    </a:p>
                  </a:txBody>
                  <a:tcPr marL="36576" marR="36576" marT="27432" marB="27432" anchor="ctr">
                    <a:solidFill>
                      <a:srgbClr val="F8FAFB"/>
                    </a:solidFill>
                  </a:tcPr>
                </a:tc>
              </a:tr>
              <a:tr h="262128">
                <a:tc>
                  <a:txBody>
                    <a:bodyPr/>
                    <a:lstStyle/>
                    <a:p>
                      <a:pPr algn="l"/>
                      <a:r>
                        <a:rPr sz="1000" b="1" i="0">
                          <a:solidFill>
                            <a:srgbClr val="202B33"/>
                          </a:solidFill>
                          <a:latin typeface="Tahoma"/>
                        </a:rPr>
                        <a:t>Split tension (MPa)</a:t>
                      </a:r>
                    </a:p>
                  </a:txBody>
                  <a:tcPr marL="36576" marR="36576" marT="27432" marB="27432" anchor="ctr">
                    <a:solidFill>
                      <a:srgbClr val="FFFFFF"/>
                    </a:solidFill>
                  </a:tcPr>
                </a:tc>
                <a:tc>
                  <a:txBody>
                    <a:bodyPr/>
                    <a:lstStyle/>
                    <a:p>
                      <a:pPr algn="ctr"/>
                      <a:r>
                        <a:rPr sz="1000" b="0" i="0">
                          <a:solidFill>
                            <a:srgbClr val="202B33"/>
                          </a:solidFill>
                          <a:latin typeface="Tahoma"/>
                        </a:rPr>
                        <a:t>4.77</a:t>
                      </a:r>
                    </a:p>
                  </a:txBody>
                  <a:tcPr marL="36576" marR="36576" marT="27432" marB="27432" anchor="ctr">
                    <a:solidFill>
                      <a:srgbClr val="FFFFFF"/>
                    </a:solidFill>
                  </a:tcPr>
                </a:tc>
                <a:tc>
                  <a:txBody>
                    <a:bodyPr/>
                    <a:lstStyle/>
                    <a:p>
                      <a:pPr algn="ctr"/>
                      <a:r>
                        <a:rPr sz="1000" b="0" i="0">
                          <a:solidFill>
                            <a:srgbClr val="202B33"/>
                          </a:solidFill>
                          <a:latin typeface="Tahoma"/>
                        </a:rPr>
                        <a:t>5.92</a:t>
                      </a:r>
                    </a:p>
                  </a:txBody>
                  <a:tcPr marL="36576" marR="36576" marT="27432" marB="27432" anchor="ctr">
                    <a:solidFill>
                      <a:srgbClr val="FFFFFF"/>
                    </a:solidFill>
                  </a:tcPr>
                </a:tc>
                <a:tc>
                  <a:txBody>
                    <a:bodyPr/>
                    <a:lstStyle/>
                    <a:p>
                      <a:pPr algn="ctr"/>
                      <a:r>
                        <a:rPr sz="1000" b="0" i="0">
                          <a:solidFill>
                            <a:srgbClr val="202B33"/>
                          </a:solidFill>
                          <a:latin typeface="Tahoma"/>
                        </a:rPr>
                        <a:t>7.60</a:t>
                      </a:r>
                    </a:p>
                  </a:txBody>
                  <a:tcPr marL="36576" marR="36576" marT="27432" marB="27432" anchor="ctr">
                    <a:solidFill>
                      <a:srgbClr val="FFFFFF"/>
                    </a:solidFill>
                  </a:tcPr>
                </a:tc>
                <a:tc>
                  <a:txBody>
                    <a:bodyPr/>
                    <a:lstStyle/>
                    <a:p>
                      <a:pPr algn="ctr"/>
                      <a:r>
                        <a:rPr sz="1000" b="0" i="0">
                          <a:solidFill>
                            <a:srgbClr val="202B33"/>
                          </a:solidFill>
                          <a:latin typeface="Tahoma"/>
                        </a:rPr>
                        <a:t>4.77–7.60</a:t>
                      </a:r>
                    </a:p>
                  </a:txBody>
                  <a:tcPr marL="36576" marR="36576" marT="27432" marB="27432" anchor="ctr">
                    <a:solidFill>
                      <a:srgbClr val="FFFFFF"/>
                    </a:solidFill>
                  </a:tcPr>
                </a:tc>
              </a:tr>
              <a:tr h="262128">
                <a:tc>
                  <a:txBody>
                    <a:bodyPr/>
                    <a:lstStyle/>
                    <a:p>
                      <a:pPr algn="l"/>
                      <a:r>
                        <a:rPr sz="1000" b="1" i="0">
                          <a:solidFill>
                            <a:srgbClr val="202B33"/>
                          </a:solidFill>
                          <a:latin typeface="Tahoma"/>
                        </a:rPr>
                        <a:t>Failure energy E₂ (N·m)</a:t>
                      </a:r>
                    </a:p>
                  </a:txBody>
                  <a:tcPr marL="36576" marR="36576" marT="27432" marB="27432" anchor="ctr">
                    <a:solidFill>
                      <a:srgbClr val="E8F4F2"/>
                    </a:solidFill>
                  </a:tcPr>
                </a:tc>
                <a:tc>
                  <a:txBody>
                    <a:bodyPr/>
                    <a:lstStyle/>
                    <a:p>
                      <a:pPr algn="ctr"/>
                      <a:r>
                        <a:rPr sz="1000" b="0" i="0">
                          <a:solidFill>
                            <a:srgbClr val="202B33"/>
                          </a:solidFill>
                          <a:latin typeface="Tahoma"/>
                        </a:rPr>
                        <a:t>264.87</a:t>
                      </a:r>
                    </a:p>
                  </a:txBody>
                  <a:tcPr marL="36576" marR="36576" marT="27432" marB="27432" anchor="ctr">
                    <a:solidFill>
                      <a:srgbClr val="E8F4F2"/>
                    </a:solidFill>
                  </a:tcPr>
                </a:tc>
                <a:tc>
                  <a:txBody>
                    <a:bodyPr/>
                    <a:lstStyle/>
                    <a:p>
                      <a:pPr algn="ctr"/>
                      <a:r>
                        <a:rPr sz="1000" b="0" i="0">
                          <a:solidFill>
                            <a:srgbClr val="202B33"/>
                          </a:solidFill>
                          <a:latin typeface="Tahoma"/>
                        </a:rPr>
                        <a:t>595.96</a:t>
                      </a:r>
                    </a:p>
                  </a:txBody>
                  <a:tcPr marL="36576" marR="36576" marT="27432" marB="27432" anchor="ctr">
                    <a:solidFill>
                      <a:srgbClr val="E8F4F2"/>
                    </a:solidFill>
                  </a:tcPr>
                </a:tc>
                <a:tc>
                  <a:txBody>
                    <a:bodyPr/>
                    <a:lstStyle/>
                    <a:p>
                      <a:pPr algn="ctr"/>
                      <a:r>
                        <a:rPr sz="1000" b="0" i="0">
                          <a:solidFill>
                            <a:srgbClr val="202B33"/>
                          </a:solidFill>
                          <a:latin typeface="Tahoma"/>
                        </a:rPr>
                        <a:t>2,927.81</a:t>
                      </a:r>
                    </a:p>
                  </a:txBody>
                  <a:tcPr marL="36576" marR="36576" marT="27432" marB="27432" anchor="ctr">
                    <a:solidFill>
                      <a:srgbClr val="E8F4F2"/>
                    </a:solidFill>
                  </a:tcPr>
                </a:tc>
                <a:tc>
                  <a:txBody>
                    <a:bodyPr/>
                    <a:lstStyle/>
                    <a:p>
                      <a:pPr algn="ctr"/>
                      <a:r>
                        <a:rPr sz="1000" b="0" i="0">
                          <a:solidFill>
                            <a:srgbClr val="202B33"/>
                          </a:solidFill>
                          <a:latin typeface="Tahoma"/>
                        </a:rPr>
                        <a:t>264.87–2,927.81</a:t>
                      </a:r>
                    </a:p>
                  </a:txBody>
                  <a:tcPr marL="36576" marR="36576" marT="27432" marB="27432" anchor="ctr">
                    <a:solidFill>
                      <a:srgbClr val="E8F4F2"/>
                    </a:solidFill>
                  </a:tcPr>
                </a:tc>
              </a:tr>
              <a:tr h="262128">
                <a:tc>
                  <a:txBody>
                    <a:bodyPr/>
                    <a:lstStyle/>
                    <a:p>
                      <a:pPr algn="l"/>
                      <a:r>
                        <a:rPr sz="1000" b="1" i="0">
                          <a:solidFill>
                            <a:srgbClr val="202B33"/>
                          </a:solidFill>
                          <a:latin typeface="Tahoma"/>
                        </a:rPr>
                        <a:t>Cost / E₂ [₹/(N·m)]</a:t>
                      </a:r>
                    </a:p>
                  </a:txBody>
                  <a:tcPr marL="36576" marR="36576" marT="27432" marB="27432" anchor="ctr">
                    <a:solidFill>
                      <a:srgbClr val="EAF1F6"/>
                    </a:solidFill>
                  </a:tcPr>
                </a:tc>
                <a:tc>
                  <a:txBody>
                    <a:bodyPr/>
                    <a:lstStyle/>
                    <a:p>
                      <a:pPr algn="ctr"/>
                      <a:r>
                        <a:rPr sz="1000" b="0" i="0">
                          <a:solidFill>
                            <a:srgbClr val="202B33"/>
                          </a:solidFill>
                          <a:latin typeface="Tahoma"/>
                        </a:rPr>
                        <a:t>31.47</a:t>
                      </a:r>
                    </a:p>
                  </a:txBody>
                  <a:tcPr marL="36576" marR="36576" marT="27432" marB="27432" anchor="ctr">
                    <a:solidFill>
                      <a:srgbClr val="EAF1F6"/>
                    </a:solidFill>
                  </a:tcPr>
                </a:tc>
                <a:tc>
                  <a:txBody>
                    <a:bodyPr/>
                    <a:lstStyle/>
                    <a:p>
                      <a:pPr algn="ctr"/>
                      <a:r>
                        <a:rPr sz="1000" b="0" i="0">
                          <a:solidFill>
                            <a:srgbClr val="202B33"/>
                          </a:solidFill>
                          <a:latin typeface="Tahoma"/>
                        </a:rPr>
                        <a:t>20.57</a:t>
                      </a:r>
                    </a:p>
                  </a:txBody>
                  <a:tcPr marL="36576" marR="36576" marT="27432" marB="27432" anchor="ctr">
                    <a:solidFill>
                      <a:srgbClr val="EAF1F6"/>
                    </a:solidFill>
                  </a:tcPr>
                </a:tc>
                <a:tc>
                  <a:txBody>
                    <a:bodyPr/>
                    <a:lstStyle/>
                    <a:p>
                      <a:pPr algn="ctr"/>
                      <a:r>
                        <a:rPr sz="1000" b="0" i="0">
                          <a:solidFill>
                            <a:srgbClr val="202B33"/>
                          </a:solidFill>
                          <a:latin typeface="Tahoma"/>
                        </a:rPr>
                        <a:t>5.53</a:t>
                      </a:r>
                    </a:p>
                  </a:txBody>
                  <a:tcPr marL="36576" marR="36576" marT="27432" marB="27432" anchor="ctr">
                    <a:solidFill>
                      <a:srgbClr val="EAF1F6"/>
                    </a:solidFill>
                  </a:tcPr>
                </a:tc>
                <a:tc>
                  <a:txBody>
                    <a:bodyPr/>
                    <a:lstStyle/>
                    <a:p>
                      <a:pPr algn="ctr"/>
                      <a:r>
                        <a:rPr sz="1000" b="0" i="0">
                          <a:solidFill>
                            <a:srgbClr val="202B33"/>
                          </a:solidFill>
                          <a:latin typeface="Tahoma"/>
                        </a:rPr>
                        <a:t>5.53–31.47</a:t>
                      </a:r>
                    </a:p>
                  </a:txBody>
                  <a:tcPr marL="36576" marR="36576" marT="27432" marB="27432" anchor="ctr">
                    <a:solidFill>
                      <a:srgbClr val="EAF1F6"/>
                    </a:solidFill>
                  </a:tcPr>
                </a:tc>
              </a:tr>
            </a:tbl>
          </a:graphicData>
        </a:graphic>
      </p:graphicFrame>
      <p:sp>
        <p:nvSpPr>
          <p:cNvPr id="14" name="Rectangle 13"/>
          <p:cNvSpPr/>
          <p:nvPr/>
        </p:nvSpPr>
        <p:spPr>
          <a:xfrm>
            <a:off x="658368" y="5797296"/>
            <a:ext cx="10863072" cy="402336"/>
          </a:xfrm>
          <a:prstGeom prst="rect">
            <a:avLst/>
          </a:prstGeom>
          <a:solidFill>
            <a:srgbClr val="F8E9EC"/>
          </a:solidFill>
          <a:ln w="7620">
            <a:solidFill>
              <a:srgbClr val="C14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888736"/>
            <a:ext cx="10497312" cy="219456"/>
          </a:xfrm>
          <a:prstGeom prst="rect">
            <a:avLst/>
          </a:prstGeom>
          <a:noFill/>
        </p:spPr>
        <p:txBody>
          <a:bodyPr wrap="square" lIns="0" rIns="0" tIns="0" bIns="0" anchor="t">
            <a:spAutoFit/>
          </a:bodyPr>
          <a:lstStyle/>
          <a:p>
            <a:pPr algn="ctr">
              <a:lnSpc>
                <a:spcPct val="100000"/>
              </a:lnSpc>
            </a:pPr>
            <a:r>
              <a:rPr sz="1000" b="1" i="0">
                <a:solidFill>
                  <a:srgbClr val="C14953"/>
                </a:solidFill>
                <a:latin typeface="Tahoma"/>
              </a:rPr>
              <a:t>Claim boundary: no interpolation beyond the tested range; extra-water protocol and density basis must be reconciled before drafting.</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155448"/>
            <a:ext cx="2880360" cy="201168"/>
          </a:xfrm>
          <a:prstGeom prst="rect">
            <a:avLst/>
          </a:prstGeom>
          <a:noFill/>
        </p:spPr>
        <p:txBody>
          <a:bodyPr wrap="square" lIns="0" rIns="0" tIns="0" bIns="0" anchor="t">
            <a:spAutoFit/>
          </a:bodyPr>
          <a:lstStyle/>
          <a:p>
            <a:pPr algn="l">
              <a:lnSpc>
                <a:spcPct val="100000"/>
              </a:lnSpc>
            </a:pPr>
            <a:r>
              <a:rPr sz="1000" b="1" i="0">
                <a:solidFill>
                  <a:srgbClr val="2E6F9E"/>
                </a:solidFill>
                <a:latin typeface="Tahoma"/>
              </a:rPr>
              <a:t>COMPARATIVE CLAIMS</a:t>
            </a:r>
          </a:p>
        </p:txBody>
      </p:sp>
      <p:sp>
        <p:nvSpPr>
          <p:cNvPr id="4" name="TextBox 3"/>
          <p:cNvSpPr txBox="1"/>
          <p:nvPr/>
        </p:nvSpPr>
        <p:spPr>
          <a:xfrm>
            <a:off x="621792" y="329184"/>
            <a:ext cx="9966960" cy="612648"/>
          </a:xfrm>
          <a:prstGeom prst="rect">
            <a:avLst/>
          </a:prstGeom>
          <a:noFill/>
        </p:spPr>
        <p:txBody>
          <a:bodyPr wrap="square" lIns="0" rIns="0" tIns="0" bIns="0" anchor="ctr">
            <a:spAutoFit/>
          </a:bodyPr>
          <a:lstStyle/>
          <a:p>
            <a:pPr algn="l">
              <a:lnSpc>
                <a:spcPct val="92000"/>
              </a:lnSpc>
            </a:pPr>
            <a:r>
              <a:rPr sz="2200" b="1" i="0">
                <a:solidFill>
                  <a:srgbClr val="17365D"/>
                </a:solidFill>
                <a:latin typeface="Tahoma"/>
              </a:rPr>
              <a:t>Evidence-based claims relative to published approaches</a:t>
            </a:r>
          </a:p>
        </p:txBody>
      </p:sp>
      <p:sp>
        <p:nvSpPr>
          <p:cNvPr id="5" name="Rectangle 4"/>
          <p:cNvSpPr/>
          <p:nvPr/>
        </p:nvSpPr>
        <p:spPr>
          <a:xfrm>
            <a:off x="11155680" y="109728"/>
            <a:ext cx="768096"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283696" y="164592"/>
            <a:ext cx="530352" cy="493776"/>
          </a:xfrm>
          <a:prstGeom prst="rect">
            <a:avLst/>
          </a:prstGeom>
        </p:spPr>
      </p:pic>
      <p:cxnSp>
        <p:nvCxnSpPr>
          <p:cNvPr id="7" name="Connector 6"/>
          <p:cNvCxnSpPr/>
          <p:nvPr/>
        </p:nvCxnSpPr>
        <p:spPr>
          <a:xfrm>
            <a:off x="621792" y="987552"/>
            <a:ext cx="10917936" cy="0"/>
          </a:xfrm>
          <a:prstGeom prst="line">
            <a:avLst/>
          </a:prstGeom>
          <a:ln w="14604">
            <a:solidFill>
              <a:srgbClr val="17365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1792" y="6473952"/>
            <a:ext cx="10917936" cy="0"/>
          </a:xfrm>
          <a:prstGeom prst="line">
            <a:avLst/>
          </a:prstGeom>
          <a:ln w="8255">
            <a:solidFill>
              <a:srgbClr val="CCD6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47104"/>
            <a:ext cx="9966960" cy="164592"/>
          </a:xfrm>
          <a:prstGeom prst="rect">
            <a:avLst/>
          </a:prstGeom>
          <a:noFill/>
        </p:spPr>
        <p:txBody>
          <a:bodyPr wrap="square" lIns="0" rIns="0" tIns="0" bIns="0" anchor="t">
            <a:spAutoFit/>
          </a:bodyPr>
          <a:lstStyle/>
          <a:p>
            <a:pPr algn="l">
              <a:lnSpc>
                <a:spcPct val="100000"/>
              </a:lnSpc>
            </a:pPr>
            <a:r>
              <a:rPr sz="1000" b="1" i="0">
                <a:solidFill>
                  <a:srgbClr val="9A4651"/>
                </a:solidFill>
                <a:latin typeface="Tahoma"/>
              </a:rPr>
              <a:t>CONFIDENTIAL • PRE-FILING IITBBS IPR COMMITTEE EVALUATION • NOT YET FILED</a:t>
            </a:r>
          </a:p>
        </p:txBody>
      </p:sp>
      <p:sp>
        <p:nvSpPr>
          <p:cNvPr id="10" name="TextBox 9"/>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1000" b="1" i="0">
                <a:solidFill>
                  <a:srgbClr val="000000"/>
                </a:solidFill>
                <a:latin typeface="Tahoma"/>
              </a:rPr>
              <a:t>18</a:t>
            </a:r>
          </a:p>
        </p:txBody>
      </p:sp>
      <p:graphicFrame>
        <p:nvGraphicFramePr>
          <p:cNvPr id="11" name="Table 10"/>
          <p:cNvGraphicFramePr>
            <a:graphicFrameLocks noGrp="1"/>
          </p:cNvGraphicFramePr>
          <p:nvPr/>
        </p:nvGraphicFramePr>
        <p:xfrm>
          <a:off x="658368" y="1225296"/>
          <a:ext cx="10863070" cy="1627632"/>
        </p:xfrm>
        <a:graphic>
          <a:graphicData uri="http://schemas.openxmlformats.org/drawingml/2006/table">
            <a:tbl>
              <a:tblPr firstRow="1" bandRow="1">
                <a:tableStyleId>{5C22544A-7EE6-4342-B048-85BDC9FD1C3A}</a:tableStyleId>
              </a:tblPr>
              <a:tblGrid>
                <a:gridCol w="1566789"/>
                <a:gridCol w="1619015"/>
                <a:gridCol w="1619015"/>
                <a:gridCol w="1201205"/>
                <a:gridCol w="1462336"/>
                <a:gridCol w="3394710"/>
              </a:tblGrid>
              <a:tr h="406908">
                <a:tc>
                  <a:txBody>
                    <a:bodyPr/>
                    <a:lstStyle/>
                    <a:p>
                      <a:pPr algn="l"/>
                      <a:r>
                        <a:rPr sz="1000" b="1" i="0">
                          <a:solidFill>
                            <a:srgbClr val="FFFFFF"/>
                          </a:solidFill>
                          <a:latin typeface="Tahoma"/>
                        </a:rPr>
                        <a:t>Tested product tier</a:t>
                      </a:r>
                    </a:p>
                  </a:txBody>
                  <a:tcPr marL="36576" marR="36576" marT="27432" marB="27432" anchor="ctr">
                    <a:solidFill>
                      <a:srgbClr val="17365D"/>
                    </a:solidFill>
                  </a:tcPr>
                </a:tc>
                <a:tc>
                  <a:txBody>
                    <a:bodyPr/>
                    <a:lstStyle/>
                    <a:p>
                      <a:pPr algn="ctr"/>
                      <a:r>
                        <a:rPr sz="1000" b="1" i="0">
                          <a:solidFill>
                            <a:srgbClr val="FFFFFF"/>
                          </a:solidFill>
                          <a:latin typeface="Tahoma"/>
                        </a:rPr>
                        <a:t>28 d compression</a:t>
                      </a:r>
                    </a:p>
                  </a:txBody>
                  <a:tcPr marL="36576" marR="36576" marT="27432" marB="27432" anchor="ctr">
                    <a:solidFill>
                      <a:srgbClr val="17365D"/>
                    </a:solidFill>
                  </a:tcPr>
                </a:tc>
                <a:tc>
                  <a:txBody>
                    <a:bodyPr/>
                    <a:lstStyle/>
                    <a:p>
                      <a:pPr algn="ctr"/>
                      <a:r>
                        <a:rPr sz="1000" b="1" i="0">
                          <a:solidFill>
                            <a:srgbClr val="FFFFFF"/>
                          </a:solidFill>
                          <a:latin typeface="Tahoma"/>
                        </a:rPr>
                        <a:t>Prism E₂</a:t>
                      </a:r>
                    </a:p>
                  </a:txBody>
                  <a:tcPr marL="36576" marR="36576" marT="27432" marB="27432" anchor="ctr">
                    <a:solidFill>
                      <a:srgbClr val="17365D"/>
                    </a:solidFill>
                  </a:tcPr>
                </a:tc>
                <a:tc>
                  <a:txBody>
                    <a:bodyPr/>
                    <a:lstStyle/>
                    <a:p>
                      <a:pPr algn="ctr"/>
                      <a:r>
                        <a:rPr sz="1000" b="1" i="0">
                          <a:solidFill>
                            <a:srgbClr val="FFFFFF"/>
                          </a:solidFill>
                          <a:latin typeface="Tahoma"/>
                        </a:rPr>
                        <a:t>E₂ / NWC</a:t>
                      </a:r>
                    </a:p>
                  </a:txBody>
                  <a:tcPr marL="36576" marR="36576" marT="27432" marB="27432" anchor="ctr">
                    <a:solidFill>
                      <a:srgbClr val="17365D"/>
                    </a:solidFill>
                  </a:tcPr>
                </a:tc>
                <a:tc>
                  <a:txBody>
                    <a:bodyPr/>
                    <a:lstStyle/>
                    <a:p>
                      <a:pPr algn="ctr"/>
                      <a:r>
                        <a:rPr sz="1000" b="1" i="0">
                          <a:solidFill>
                            <a:srgbClr val="FFFFFF"/>
                          </a:solidFill>
                          <a:latin typeface="Tahoma"/>
                        </a:rPr>
                        <a:t>Cost / E₂</a:t>
                      </a:r>
                    </a:p>
                  </a:txBody>
                  <a:tcPr marL="36576" marR="36576" marT="27432" marB="27432" anchor="ctr">
                    <a:solidFill>
                      <a:srgbClr val="17365D"/>
                    </a:solidFill>
                  </a:tcPr>
                </a:tc>
                <a:tc>
                  <a:txBody>
                    <a:bodyPr/>
                    <a:lstStyle/>
                    <a:p>
                      <a:pPr algn="ctr"/>
                      <a:r>
                        <a:rPr sz="1000" b="1" i="0">
                          <a:solidFill>
                            <a:srgbClr val="FFFFFF"/>
                          </a:solidFill>
                          <a:latin typeface="Tahoma"/>
                        </a:rPr>
                        <a:t>Potential commercial role</a:t>
                      </a:r>
                    </a:p>
                  </a:txBody>
                  <a:tcPr marL="36576" marR="36576" marT="27432" marB="27432" anchor="ctr">
                    <a:solidFill>
                      <a:srgbClr val="17365D"/>
                    </a:solidFill>
                  </a:tcPr>
                </a:tc>
              </a:tr>
              <a:tr h="406908">
                <a:tc>
                  <a:txBody>
                    <a:bodyPr/>
                    <a:lstStyle/>
                    <a:p>
                      <a:pPr algn="l"/>
                      <a:r>
                        <a:rPr sz="1000" b="1" i="0">
                          <a:solidFill>
                            <a:srgbClr val="202B33"/>
                          </a:solidFill>
                          <a:latin typeface="Tahoma"/>
                        </a:rPr>
                        <a:t>LWC05</a:t>
                      </a:r>
                    </a:p>
                  </a:txBody>
                  <a:tcPr marL="36576" marR="36576" marT="27432" marB="27432" anchor="ctr">
                    <a:solidFill>
                      <a:srgbClr val="FFFFFF"/>
                    </a:solidFill>
                  </a:tcPr>
                </a:tc>
                <a:tc>
                  <a:txBody>
                    <a:bodyPr/>
                    <a:lstStyle/>
                    <a:p>
                      <a:pPr algn="ctr"/>
                      <a:r>
                        <a:rPr sz="1000" b="0" i="0">
                          <a:solidFill>
                            <a:srgbClr val="202B33"/>
                          </a:solidFill>
                          <a:latin typeface="Tahoma"/>
                        </a:rPr>
                        <a:t>53.7 MPa</a:t>
                      </a:r>
                    </a:p>
                  </a:txBody>
                  <a:tcPr marL="36576" marR="36576" marT="27432" marB="27432" anchor="ctr">
                    <a:solidFill>
                      <a:srgbClr val="FFFFFF"/>
                    </a:solidFill>
                  </a:tcPr>
                </a:tc>
                <a:tc>
                  <a:txBody>
                    <a:bodyPr/>
                    <a:lstStyle/>
                    <a:p>
                      <a:pPr algn="ctr"/>
                      <a:r>
                        <a:rPr sz="1000" b="0" i="0">
                          <a:solidFill>
                            <a:srgbClr val="202B33"/>
                          </a:solidFill>
                          <a:latin typeface="Tahoma"/>
                        </a:rPr>
                        <a:t>264.87 N·m</a:t>
                      </a:r>
                    </a:p>
                  </a:txBody>
                  <a:tcPr marL="36576" marR="36576" marT="27432" marB="27432" anchor="ctr">
                    <a:solidFill>
                      <a:srgbClr val="FFFFFF"/>
                    </a:solidFill>
                  </a:tcPr>
                </a:tc>
                <a:tc>
                  <a:txBody>
                    <a:bodyPr/>
                    <a:lstStyle/>
                    <a:p>
                      <a:pPr algn="ctr"/>
                      <a:r>
                        <a:rPr sz="1000" b="0" i="0">
                          <a:solidFill>
                            <a:srgbClr val="202B33"/>
                          </a:solidFill>
                          <a:latin typeface="Tahoma"/>
                        </a:rPr>
                        <a:t>5.0×</a:t>
                      </a:r>
                    </a:p>
                  </a:txBody>
                  <a:tcPr marL="36576" marR="36576" marT="27432" marB="27432" anchor="ctr">
                    <a:solidFill>
                      <a:srgbClr val="FFFFFF"/>
                    </a:solidFill>
                  </a:tcPr>
                </a:tc>
                <a:tc>
                  <a:txBody>
                    <a:bodyPr/>
                    <a:lstStyle/>
                    <a:p>
                      <a:pPr algn="ctr"/>
                      <a:r>
                        <a:rPr sz="1000" b="0" i="0">
                          <a:solidFill>
                            <a:srgbClr val="202B33"/>
                          </a:solidFill>
                          <a:latin typeface="Tahoma"/>
                        </a:rPr>
                        <a:t>₹31.47/(N·m)</a:t>
                      </a:r>
                    </a:p>
                  </a:txBody>
                  <a:tcPr marL="36576" marR="36576" marT="27432" marB="27432" anchor="ctr">
                    <a:solidFill>
                      <a:srgbClr val="FFFFFF"/>
                    </a:solidFill>
                  </a:tcPr>
                </a:tc>
                <a:tc>
                  <a:txBody>
                    <a:bodyPr/>
                    <a:lstStyle/>
                    <a:p>
                      <a:pPr algn="ctr"/>
                      <a:r>
                        <a:rPr sz="1000" b="0" i="0">
                          <a:solidFill>
                            <a:srgbClr val="202B33"/>
                          </a:solidFill>
                          <a:latin typeface="Tahoma"/>
                        </a:rPr>
                        <a:t>Moderate-impact / lower fibre input</a:t>
                      </a:r>
                    </a:p>
                  </a:txBody>
                  <a:tcPr marL="36576" marR="36576" marT="27432" marB="27432" anchor="ctr">
                    <a:solidFill>
                      <a:srgbClr val="FFFFFF"/>
                    </a:solidFill>
                  </a:tcPr>
                </a:tc>
              </a:tr>
              <a:tr h="406908">
                <a:tc>
                  <a:txBody>
                    <a:bodyPr/>
                    <a:lstStyle/>
                    <a:p>
                      <a:pPr algn="l"/>
                      <a:r>
                        <a:rPr sz="1000" b="1" i="0">
                          <a:solidFill>
                            <a:srgbClr val="202B33"/>
                          </a:solidFill>
                          <a:latin typeface="Tahoma"/>
                        </a:rPr>
                        <a:t>LWC10</a:t>
                      </a:r>
                    </a:p>
                  </a:txBody>
                  <a:tcPr marL="36576" marR="36576" marT="27432" marB="27432" anchor="ctr">
                    <a:solidFill>
                      <a:srgbClr val="F8FAFB"/>
                    </a:solidFill>
                  </a:tcPr>
                </a:tc>
                <a:tc>
                  <a:txBody>
                    <a:bodyPr/>
                    <a:lstStyle/>
                    <a:p>
                      <a:pPr algn="ctr"/>
                      <a:r>
                        <a:rPr sz="1000" b="0" i="0">
                          <a:solidFill>
                            <a:srgbClr val="202B33"/>
                          </a:solidFill>
                          <a:latin typeface="Tahoma"/>
                        </a:rPr>
                        <a:t>56.8 MPa</a:t>
                      </a:r>
                    </a:p>
                  </a:txBody>
                  <a:tcPr marL="36576" marR="36576" marT="27432" marB="27432" anchor="ctr">
                    <a:solidFill>
                      <a:srgbClr val="F8FAFB"/>
                    </a:solidFill>
                  </a:tcPr>
                </a:tc>
                <a:tc>
                  <a:txBody>
                    <a:bodyPr/>
                    <a:lstStyle/>
                    <a:p>
                      <a:pPr algn="ctr"/>
                      <a:r>
                        <a:rPr sz="1000" b="0" i="0">
                          <a:solidFill>
                            <a:srgbClr val="202B33"/>
                          </a:solidFill>
                          <a:latin typeface="Tahoma"/>
                        </a:rPr>
                        <a:t>595.96 N·m</a:t>
                      </a:r>
                    </a:p>
                  </a:txBody>
                  <a:tcPr marL="36576" marR="36576" marT="27432" marB="27432" anchor="ctr">
                    <a:solidFill>
                      <a:srgbClr val="F8FAFB"/>
                    </a:solidFill>
                  </a:tcPr>
                </a:tc>
                <a:tc>
                  <a:txBody>
                    <a:bodyPr/>
                    <a:lstStyle/>
                    <a:p>
                      <a:pPr algn="ctr"/>
                      <a:r>
                        <a:rPr sz="1000" b="0" i="0">
                          <a:solidFill>
                            <a:srgbClr val="202B33"/>
                          </a:solidFill>
                          <a:latin typeface="Tahoma"/>
                        </a:rPr>
                        <a:t>11.3×</a:t>
                      </a:r>
                    </a:p>
                  </a:txBody>
                  <a:tcPr marL="36576" marR="36576" marT="27432" marB="27432" anchor="ctr">
                    <a:solidFill>
                      <a:srgbClr val="F8FAFB"/>
                    </a:solidFill>
                  </a:tcPr>
                </a:tc>
                <a:tc>
                  <a:txBody>
                    <a:bodyPr/>
                    <a:lstStyle/>
                    <a:p>
                      <a:pPr algn="ctr"/>
                      <a:r>
                        <a:rPr sz="1000" b="0" i="0">
                          <a:solidFill>
                            <a:srgbClr val="202B33"/>
                          </a:solidFill>
                          <a:latin typeface="Tahoma"/>
                        </a:rPr>
                        <a:t>₹20.57/(N·m)</a:t>
                      </a:r>
                    </a:p>
                  </a:txBody>
                  <a:tcPr marL="36576" marR="36576" marT="27432" marB="27432" anchor="ctr">
                    <a:solidFill>
                      <a:srgbClr val="F8FAFB"/>
                    </a:solidFill>
                  </a:tcPr>
                </a:tc>
                <a:tc>
                  <a:txBody>
                    <a:bodyPr/>
                    <a:lstStyle/>
                    <a:p>
                      <a:pPr algn="ctr"/>
                      <a:r>
                        <a:rPr sz="1000" b="0" i="0">
                          <a:solidFill>
                            <a:srgbClr val="202B33"/>
                          </a:solidFill>
                          <a:latin typeface="Tahoma"/>
                        </a:rPr>
                        <a:t>Balanced strength–impact tier</a:t>
                      </a:r>
                    </a:p>
                  </a:txBody>
                  <a:tcPr marL="36576" marR="36576" marT="27432" marB="27432" anchor="ctr">
                    <a:solidFill>
                      <a:srgbClr val="F8FAFB"/>
                    </a:solidFill>
                  </a:tcPr>
                </a:tc>
              </a:tr>
              <a:tr h="406908">
                <a:tc>
                  <a:txBody>
                    <a:bodyPr/>
                    <a:lstStyle/>
                    <a:p>
                      <a:pPr algn="l"/>
                      <a:r>
                        <a:rPr sz="1000" b="1" i="0">
                          <a:solidFill>
                            <a:srgbClr val="202B33"/>
                          </a:solidFill>
                          <a:latin typeface="Tahoma"/>
                        </a:rPr>
                        <a:t>LWC15</a:t>
                      </a:r>
                    </a:p>
                  </a:txBody>
                  <a:tcPr marL="36576" marR="36576" marT="27432" marB="27432" anchor="ctr">
                    <a:solidFill>
                      <a:srgbClr val="E8F4F2"/>
                    </a:solidFill>
                  </a:tcPr>
                </a:tc>
                <a:tc>
                  <a:txBody>
                    <a:bodyPr/>
                    <a:lstStyle/>
                    <a:p>
                      <a:pPr algn="ctr"/>
                      <a:r>
                        <a:rPr sz="1000" b="0" i="0">
                          <a:solidFill>
                            <a:srgbClr val="202B33"/>
                          </a:solidFill>
                          <a:latin typeface="Tahoma"/>
                        </a:rPr>
                        <a:t>55.4 MPa</a:t>
                      </a:r>
                    </a:p>
                  </a:txBody>
                  <a:tcPr marL="36576" marR="36576" marT="27432" marB="27432" anchor="ctr">
                    <a:solidFill>
                      <a:srgbClr val="E8F4F2"/>
                    </a:solidFill>
                  </a:tcPr>
                </a:tc>
                <a:tc>
                  <a:txBody>
                    <a:bodyPr/>
                    <a:lstStyle/>
                    <a:p>
                      <a:pPr algn="ctr"/>
                      <a:r>
                        <a:rPr sz="1000" b="0" i="0">
                          <a:solidFill>
                            <a:srgbClr val="202B33"/>
                          </a:solidFill>
                          <a:latin typeface="Tahoma"/>
                        </a:rPr>
                        <a:t>2,927.81 N·m</a:t>
                      </a:r>
                    </a:p>
                  </a:txBody>
                  <a:tcPr marL="36576" marR="36576" marT="27432" marB="27432" anchor="ctr">
                    <a:solidFill>
                      <a:srgbClr val="E8F4F2"/>
                    </a:solidFill>
                  </a:tcPr>
                </a:tc>
                <a:tc>
                  <a:txBody>
                    <a:bodyPr/>
                    <a:lstStyle/>
                    <a:p>
                      <a:pPr algn="ctr"/>
                      <a:r>
                        <a:rPr sz="1000" b="0" i="0">
                          <a:solidFill>
                            <a:srgbClr val="202B33"/>
                          </a:solidFill>
                          <a:latin typeface="Tahoma"/>
                        </a:rPr>
                        <a:t>55.3×</a:t>
                      </a:r>
                    </a:p>
                  </a:txBody>
                  <a:tcPr marL="36576" marR="36576" marT="27432" marB="27432" anchor="ctr">
                    <a:solidFill>
                      <a:srgbClr val="E8F4F2"/>
                    </a:solidFill>
                  </a:tcPr>
                </a:tc>
                <a:tc>
                  <a:txBody>
                    <a:bodyPr/>
                    <a:lstStyle/>
                    <a:p>
                      <a:pPr algn="ctr"/>
                      <a:r>
                        <a:rPr sz="1000" b="0" i="0">
                          <a:solidFill>
                            <a:srgbClr val="202B33"/>
                          </a:solidFill>
                          <a:latin typeface="Tahoma"/>
                        </a:rPr>
                        <a:t>₹5.53/(N·m)</a:t>
                      </a:r>
                    </a:p>
                  </a:txBody>
                  <a:tcPr marL="36576" marR="36576" marT="27432" marB="27432" anchor="ctr">
                    <a:solidFill>
                      <a:srgbClr val="E8F4F2"/>
                    </a:solidFill>
                  </a:tcPr>
                </a:tc>
                <a:tc>
                  <a:txBody>
                    <a:bodyPr/>
                    <a:lstStyle/>
                    <a:p>
                      <a:pPr algn="ctr"/>
                      <a:r>
                        <a:rPr sz="1000" b="0" i="0">
                          <a:solidFill>
                            <a:srgbClr val="202B33"/>
                          </a:solidFill>
                          <a:latin typeface="Tahoma"/>
                        </a:rPr>
                        <a:t>Highest tested impact-demand tier</a:t>
                      </a:r>
                    </a:p>
                  </a:txBody>
                  <a:tcPr marL="36576" marR="36576" marT="27432" marB="27432" anchor="ctr">
                    <a:solidFill>
                      <a:srgbClr val="E8F4F2"/>
                    </a:solidFill>
                  </a:tcPr>
                </a:tc>
              </a:tr>
            </a:tbl>
          </a:graphicData>
        </a:graphic>
      </p:graphicFrame>
      <p:graphicFrame>
        <p:nvGraphicFramePr>
          <p:cNvPr id="12" name="Table 11"/>
          <p:cNvGraphicFramePr>
            <a:graphicFrameLocks noGrp="1"/>
          </p:cNvGraphicFramePr>
          <p:nvPr/>
        </p:nvGraphicFramePr>
        <p:xfrm>
          <a:off x="658368" y="3108960"/>
          <a:ext cx="10863071" cy="2167128"/>
        </p:xfrm>
        <a:graphic>
          <a:graphicData uri="http://schemas.openxmlformats.org/drawingml/2006/table">
            <a:tbl>
              <a:tblPr firstRow="1" bandRow="1">
                <a:tableStyleId>{5C22544A-7EE6-4342-B048-85BDC9FD1C3A}</a:tableStyleId>
              </a:tblPr>
              <a:tblGrid>
                <a:gridCol w="1975104"/>
                <a:gridCol w="2419502"/>
                <a:gridCol w="4937760"/>
                <a:gridCol w="1530705"/>
              </a:tblGrid>
              <a:tr h="433425">
                <a:tc>
                  <a:txBody>
                    <a:bodyPr/>
                    <a:lstStyle/>
                    <a:p>
                      <a:pPr algn="l"/>
                      <a:r>
                        <a:rPr sz="1000" b="1" i="0">
                          <a:solidFill>
                            <a:srgbClr val="FFFFFF"/>
                          </a:solidFill>
                          <a:latin typeface="Tahoma"/>
                        </a:rPr>
                        <a:t>Published approach</a:t>
                      </a:r>
                    </a:p>
                  </a:txBody>
                  <a:tcPr marL="36576" marR="36576" marT="27432" marB="27432" anchor="ctr">
                    <a:solidFill>
                      <a:srgbClr val="17365D"/>
                    </a:solidFill>
                  </a:tcPr>
                </a:tc>
                <a:tc>
                  <a:txBody>
                    <a:bodyPr/>
                    <a:lstStyle/>
                    <a:p>
                      <a:pPr algn="ctr"/>
                      <a:r>
                        <a:rPr sz="1000" b="1" i="0">
                          <a:solidFill>
                            <a:srgbClr val="FFFFFF"/>
                          </a:solidFill>
                          <a:latin typeface="Tahoma"/>
                        </a:rPr>
                        <a:t>Published benchmark</a:t>
                      </a:r>
                    </a:p>
                  </a:txBody>
                  <a:tcPr marL="36576" marR="36576" marT="27432" marB="27432" anchor="ctr">
                    <a:solidFill>
                      <a:srgbClr val="17365D"/>
                    </a:solidFill>
                  </a:tcPr>
                </a:tc>
                <a:tc>
                  <a:txBody>
                    <a:bodyPr/>
                    <a:lstStyle/>
                    <a:p>
                      <a:pPr algn="ctr"/>
                      <a:r>
                        <a:rPr sz="1000" b="1" i="0">
                          <a:solidFill>
                            <a:srgbClr val="FFFFFF"/>
                          </a:solidFill>
                          <a:latin typeface="Tahoma"/>
                        </a:rPr>
                        <a:t>Specific distinction supported here</a:t>
                      </a:r>
                    </a:p>
                  </a:txBody>
                  <a:tcPr marL="36576" marR="36576" marT="27432" marB="27432" anchor="ctr">
                    <a:solidFill>
                      <a:srgbClr val="17365D"/>
                    </a:solidFill>
                  </a:tcPr>
                </a:tc>
                <a:tc>
                  <a:txBody>
                    <a:bodyPr/>
                    <a:lstStyle/>
                    <a:p>
                      <a:pPr algn="ctr"/>
                      <a:r>
                        <a:rPr sz="1000" b="1" i="0">
                          <a:solidFill>
                            <a:srgbClr val="FFFFFF"/>
                          </a:solidFill>
                          <a:latin typeface="Tahoma"/>
                        </a:rPr>
                        <a:t>Citation</a:t>
                      </a:r>
                    </a:p>
                  </a:txBody>
                  <a:tcPr marL="36576" marR="36576" marT="27432" marB="27432" anchor="ctr">
                    <a:solidFill>
                      <a:srgbClr val="17365D"/>
                    </a:solidFill>
                  </a:tcPr>
                </a:tc>
              </a:tr>
              <a:tr h="433425">
                <a:tc>
                  <a:txBody>
                    <a:bodyPr/>
                    <a:lstStyle/>
                    <a:p>
                      <a:pPr algn="l"/>
                      <a:r>
                        <a:rPr sz="1000" b="1" i="0">
                          <a:solidFill>
                            <a:srgbClr val="202B33"/>
                          </a:solidFill>
                          <a:latin typeface="Tahoma"/>
                        </a:rPr>
                        <a:t>Steel-fibre rubcrete barrier</a:t>
                      </a:r>
                    </a:p>
                  </a:txBody>
                  <a:tcPr marL="36576" marR="36576" marT="27432" marB="27432" anchor="ctr">
                    <a:solidFill>
                      <a:srgbClr val="FBF1E4"/>
                    </a:solidFill>
                  </a:tcPr>
                </a:tc>
                <a:tc>
                  <a:txBody>
                    <a:bodyPr/>
                    <a:lstStyle/>
                    <a:p>
                      <a:pPr algn="ctr"/>
                      <a:r>
                        <a:rPr sz="1000" b="0" i="0">
                          <a:solidFill>
                            <a:srgbClr val="202B33"/>
                          </a:solidFill>
                          <a:latin typeface="Tahoma"/>
                        </a:rPr>
                        <a:t>Up to 3× impact energy vs conventional concrete</a:t>
                      </a:r>
                    </a:p>
                  </a:txBody>
                  <a:tcPr marL="36576" marR="36576" marT="27432" marB="27432" anchor="ctr">
                    <a:solidFill>
                      <a:srgbClr val="FBF1E4"/>
                    </a:solidFill>
                  </a:tcPr>
                </a:tc>
                <a:tc>
                  <a:txBody>
                    <a:bodyPr/>
                    <a:lstStyle/>
                    <a:p>
                      <a:pPr algn="ctr"/>
                      <a:r>
                        <a:rPr sz="1000" b="0" i="0">
                          <a:solidFill>
                            <a:srgbClr val="202B33"/>
                          </a:solidFill>
                          <a:latin typeface="Tahoma"/>
                        </a:rPr>
                        <a:t>Within-study prism ratios: 5.0×, 11.3× and 55.3× for LWC05/10/15</a:t>
                      </a:r>
                    </a:p>
                  </a:txBody>
                  <a:tcPr marL="36576" marR="36576" marT="27432" marB="27432" anchor="ctr">
                    <a:solidFill>
                      <a:srgbClr val="FBF1E4"/>
                    </a:solidFill>
                  </a:tcPr>
                </a:tc>
                <a:tc>
                  <a:txBody>
                    <a:bodyPr/>
                    <a:lstStyle/>
                    <a:p>
                      <a:pPr algn="ctr"/>
                      <a:r>
                        <a:rPr sz="1000" b="0" i="0">
                          <a:solidFill>
                            <a:srgbClr val="202B33"/>
                          </a:solidFill>
                          <a:latin typeface="Tahoma"/>
                        </a:rPr>
                        <a:t>Raj et al. (2020)</a:t>
                      </a:r>
                    </a:p>
                  </a:txBody>
                  <a:tcPr marL="36576" marR="36576" marT="27432" marB="27432" anchor="ctr">
                    <a:solidFill>
                      <a:srgbClr val="FBF1E4"/>
                    </a:solidFill>
                  </a:tcPr>
                </a:tc>
              </a:tr>
              <a:tr h="433425">
                <a:tc>
                  <a:txBody>
                    <a:bodyPr/>
                    <a:lstStyle/>
                    <a:p>
                      <a:pPr algn="l"/>
                      <a:r>
                        <a:rPr sz="1000" b="1" i="0">
                          <a:solidFill>
                            <a:srgbClr val="202B33"/>
                          </a:solidFill>
                          <a:latin typeface="Tahoma"/>
                        </a:rPr>
                        <a:t>AAS no-fines safety concrete</a:t>
                      </a:r>
                    </a:p>
                  </a:txBody>
                  <a:tcPr marL="36576" marR="36576" marT="27432" marB="27432" anchor="ctr">
                    <a:solidFill>
                      <a:srgbClr val="EAF1F6"/>
                    </a:solidFill>
                  </a:tcPr>
                </a:tc>
                <a:tc>
                  <a:txBody>
                    <a:bodyPr/>
                    <a:lstStyle/>
                    <a:p>
                      <a:pPr algn="ctr"/>
                      <a:r>
                        <a:rPr sz="1000" b="0" i="0">
                          <a:solidFill>
                            <a:srgbClr val="202B33"/>
                          </a:solidFill>
                          <a:latin typeface="Tahoma"/>
                        </a:rPr>
                        <a:t>≈20 MPa with high absorption / fragmentability</a:t>
                      </a:r>
                    </a:p>
                  </a:txBody>
                  <a:tcPr marL="36576" marR="36576" marT="27432" marB="27432" anchor="ctr">
                    <a:solidFill>
                      <a:srgbClr val="EAF1F6"/>
                    </a:solidFill>
                  </a:tcPr>
                </a:tc>
                <a:tc>
                  <a:txBody>
                    <a:bodyPr/>
                    <a:lstStyle/>
                    <a:p>
                      <a:pPr algn="ctr"/>
                      <a:r>
                        <a:rPr sz="1000" b="0" i="0">
                          <a:solidFill>
                            <a:srgbClr val="202B33"/>
                          </a:solidFill>
                          <a:latin typeface="Tahoma"/>
                        </a:rPr>
                        <a:t>53.7–56.8 MPa across proposed reinforced window</a:t>
                      </a:r>
                    </a:p>
                  </a:txBody>
                  <a:tcPr marL="36576" marR="36576" marT="27432" marB="27432" anchor="ctr">
                    <a:solidFill>
                      <a:srgbClr val="EAF1F6"/>
                    </a:solidFill>
                  </a:tcPr>
                </a:tc>
                <a:tc>
                  <a:txBody>
                    <a:bodyPr/>
                    <a:lstStyle/>
                    <a:p>
                      <a:pPr algn="ctr"/>
                      <a:r>
                        <a:rPr sz="1000" b="0" i="0">
                          <a:solidFill>
                            <a:srgbClr val="202B33"/>
                          </a:solidFill>
                          <a:latin typeface="Tahoma"/>
                        </a:rPr>
                        <a:t>Shen et al. (2014)</a:t>
                      </a:r>
                    </a:p>
                  </a:txBody>
                  <a:tcPr marL="36576" marR="36576" marT="27432" marB="27432" anchor="ctr">
                    <a:solidFill>
                      <a:srgbClr val="EAF1F6"/>
                    </a:solidFill>
                  </a:tcPr>
                </a:tc>
              </a:tr>
              <a:tr h="433425">
                <a:tc>
                  <a:txBody>
                    <a:bodyPr/>
                    <a:lstStyle/>
                    <a:p>
                      <a:pPr algn="l"/>
                      <a:r>
                        <a:rPr sz="1000" b="1" i="0">
                          <a:solidFill>
                            <a:srgbClr val="202B33"/>
                          </a:solidFill>
                          <a:latin typeface="Tahoma"/>
                        </a:rPr>
                        <a:t>Steel-fibre lightweight concrete</a:t>
                      </a:r>
                    </a:p>
                  </a:txBody>
                  <a:tcPr marL="36576" marR="36576" marT="27432" marB="27432" anchor="ctr">
                    <a:solidFill>
                      <a:srgbClr val="FFFFFF"/>
                    </a:solidFill>
                  </a:tcPr>
                </a:tc>
                <a:tc>
                  <a:txBody>
                    <a:bodyPr/>
                    <a:lstStyle/>
                    <a:p>
                      <a:pPr algn="ctr"/>
                      <a:r>
                        <a:rPr sz="1000" b="0" i="0">
                          <a:solidFill>
                            <a:srgbClr val="202B33"/>
                          </a:solidFill>
                          <a:latin typeface="Tahoma"/>
                        </a:rPr>
                        <a:t>Improved static and dynamic response</a:t>
                      </a:r>
                    </a:p>
                  </a:txBody>
                  <a:tcPr marL="36576" marR="36576" marT="27432" marB="27432" anchor="ctr">
                    <a:solidFill>
                      <a:srgbClr val="FFFFFF"/>
                    </a:solidFill>
                  </a:tcPr>
                </a:tc>
                <a:tc>
                  <a:txBody>
                    <a:bodyPr/>
                    <a:lstStyle/>
                    <a:p>
                      <a:pPr algn="ctr"/>
                      <a:r>
                        <a:rPr sz="1000" b="0" i="0">
                          <a:solidFill>
                            <a:srgbClr val="202B33"/>
                          </a:solidFill>
                          <a:latin typeface="Tahoma"/>
                        </a:rPr>
                        <a:t>Specific SFA–GGBS–hooked-fibre barrier embodiment and 1:3 proof</a:t>
                      </a:r>
                    </a:p>
                  </a:txBody>
                  <a:tcPr marL="36576" marR="36576" marT="27432" marB="27432" anchor="ctr">
                    <a:solidFill>
                      <a:srgbClr val="FFFFFF"/>
                    </a:solidFill>
                  </a:tcPr>
                </a:tc>
                <a:tc>
                  <a:txBody>
                    <a:bodyPr/>
                    <a:lstStyle/>
                    <a:p>
                      <a:pPr algn="ctr"/>
                      <a:r>
                        <a:rPr sz="1000" b="0" i="0">
                          <a:solidFill>
                            <a:srgbClr val="202B33"/>
                          </a:solidFill>
                          <a:latin typeface="Tahoma"/>
                        </a:rPr>
                        <a:t>Wang &amp; Wang (2013)</a:t>
                      </a:r>
                    </a:p>
                  </a:txBody>
                  <a:tcPr marL="36576" marR="36576" marT="27432" marB="27432" anchor="ctr">
                    <a:solidFill>
                      <a:srgbClr val="FFFFFF"/>
                    </a:solidFill>
                  </a:tcPr>
                </a:tc>
              </a:tr>
              <a:tr h="433428">
                <a:tc>
                  <a:txBody>
                    <a:bodyPr/>
                    <a:lstStyle/>
                    <a:p>
                      <a:pPr algn="l"/>
                      <a:r>
                        <a:rPr sz="1000" b="1" i="0">
                          <a:solidFill>
                            <a:srgbClr val="202B33"/>
                          </a:solidFill>
                          <a:latin typeface="Tahoma"/>
                        </a:rPr>
                        <a:t>Lightweight barrier elements</a:t>
                      </a:r>
                    </a:p>
                  </a:txBody>
                  <a:tcPr marL="36576" marR="36576" marT="27432" marB="27432" anchor="ctr">
                    <a:solidFill>
                      <a:srgbClr val="F8FAFB"/>
                    </a:solidFill>
                  </a:tcPr>
                </a:tc>
                <a:tc>
                  <a:txBody>
                    <a:bodyPr/>
                    <a:lstStyle/>
                    <a:p>
                      <a:pPr algn="ctr"/>
                      <a:r>
                        <a:rPr sz="1000" b="0" i="0">
                          <a:solidFill>
                            <a:srgbClr val="202B33"/>
                          </a:solidFill>
                          <a:latin typeface="Tahoma"/>
                        </a:rPr>
                        <a:t>Application concept predates this work</a:t>
                      </a:r>
                    </a:p>
                  </a:txBody>
                  <a:tcPr marL="36576" marR="36576" marT="27432" marB="27432" anchor="ctr">
                    <a:solidFill>
                      <a:srgbClr val="F8FAFB"/>
                    </a:solidFill>
                  </a:tcPr>
                </a:tc>
                <a:tc>
                  <a:txBody>
                    <a:bodyPr/>
                    <a:lstStyle/>
                    <a:p>
                      <a:pPr algn="ctr"/>
                      <a:r>
                        <a:rPr sz="1000" b="0" i="0">
                          <a:solidFill>
                            <a:srgbClr val="202B33"/>
                          </a:solidFill>
                          <a:latin typeface="Tahoma"/>
                        </a:rPr>
                        <a:t>Composition, dual mechanism, tested range and cost/E₂ package are narrower</a:t>
                      </a:r>
                    </a:p>
                  </a:txBody>
                  <a:tcPr marL="36576" marR="36576" marT="27432" marB="27432" anchor="ctr">
                    <a:solidFill>
                      <a:srgbClr val="F8FAFB"/>
                    </a:solidFill>
                  </a:tcPr>
                </a:tc>
                <a:tc>
                  <a:txBody>
                    <a:bodyPr/>
                    <a:lstStyle/>
                    <a:p>
                      <a:pPr algn="ctr"/>
                      <a:r>
                        <a:rPr sz="1000" b="0" i="0">
                          <a:solidFill>
                            <a:srgbClr val="202B33"/>
                          </a:solidFill>
                          <a:latin typeface="Tahoma"/>
                        </a:rPr>
                        <a:t>Bonin et al. (2004)</a:t>
                      </a:r>
                    </a:p>
                  </a:txBody>
                  <a:tcPr marL="36576" marR="36576" marT="27432" marB="27432" anchor="ctr">
                    <a:solidFill>
                      <a:srgbClr val="F8FAFB"/>
                    </a:solidFill>
                  </a:tcPr>
                </a:tc>
              </a:tr>
            </a:tbl>
          </a:graphicData>
        </a:graphic>
      </p:graphicFrame>
      <p:sp>
        <p:nvSpPr>
          <p:cNvPr id="13" name="Rectangle 12"/>
          <p:cNvSpPr/>
          <p:nvPr/>
        </p:nvSpPr>
        <p:spPr>
          <a:xfrm>
            <a:off x="658368" y="5458968"/>
            <a:ext cx="10863072" cy="438912"/>
          </a:xfrm>
          <a:prstGeom prst="rect">
            <a:avLst/>
          </a:prstGeom>
          <a:solidFill>
            <a:srgbClr val="EAF1F6"/>
          </a:solidFill>
          <a:ln w="762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550408"/>
            <a:ext cx="10460736" cy="256032"/>
          </a:xfrm>
          <a:prstGeom prst="rect">
            <a:avLst/>
          </a:prstGeom>
          <a:noFill/>
        </p:spPr>
        <p:txBody>
          <a:bodyPr wrap="square" lIns="0" rIns="0" tIns="0" bIns="0" anchor="t">
            <a:spAutoFit/>
          </a:bodyPr>
          <a:lstStyle/>
          <a:p>
            <a:pPr algn="ctr">
              <a:lnSpc>
                <a:spcPct val="100000"/>
              </a:lnSpc>
            </a:pPr>
            <a:r>
              <a:rPr sz="1000" b="1" i="0">
                <a:solidFill>
                  <a:srgbClr val="17365D"/>
                </a:solidFill>
                <a:latin typeface="Tahoma"/>
              </a:rPr>
              <a:t>Claim utility: fibre dosage provides a three-tier energy-absorption product family; cost per absorbed N·m improves as the tested impact tier increases.</a:t>
            </a:r>
          </a:p>
        </p:txBody>
      </p:sp>
      <p:sp>
        <p:nvSpPr>
          <p:cNvPr id="15" name="Rectangle 14"/>
          <p:cNvSpPr/>
          <p:nvPr/>
        </p:nvSpPr>
        <p:spPr>
          <a:xfrm>
            <a:off x="658368" y="5961888"/>
            <a:ext cx="10863072" cy="256032"/>
          </a:xfrm>
          <a:prstGeom prst="rect">
            <a:avLst/>
          </a:prstGeom>
          <a:solidFill>
            <a:srgbClr val="F8E9EC"/>
          </a:solidFill>
          <a:ln w="6350">
            <a:solidFill>
              <a:srgbClr val="C14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6007608"/>
            <a:ext cx="10460736" cy="164592"/>
          </a:xfrm>
          <a:prstGeom prst="rect">
            <a:avLst/>
          </a:prstGeom>
          <a:noFill/>
        </p:spPr>
        <p:txBody>
          <a:bodyPr wrap="square" lIns="0" rIns="0" tIns="0" bIns="0" anchor="t">
            <a:spAutoFit/>
          </a:bodyPr>
          <a:lstStyle/>
          <a:p>
            <a:pPr algn="ctr">
              <a:lnSpc>
                <a:spcPct val="100000"/>
              </a:lnSpc>
            </a:pPr>
            <a:r>
              <a:rPr sz="1000" b="1" i="0">
                <a:solidFill>
                  <a:srgbClr val="C14953"/>
                </a:solidFill>
                <a:latin typeface="Tahoma"/>
              </a:rPr>
              <a:t>Cross-study values are directional only because specimen geometry and impact protocols differ.</a:t>
            </a:r>
          </a:p>
        </p:txBody>
      </p:sp>
      <p:sp>
        <p:nvSpPr>
          <p:cNvPr id="17" name="TextBox 16"/>
          <p:cNvSpPr txBox="1"/>
          <p:nvPr/>
        </p:nvSpPr>
        <p:spPr>
          <a:xfrm>
            <a:off x="658368" y="6236208"/>
            <a:ext cx="10863072" cy="256032"/>
          </a:xfrm>
          <a:prstGeom prst="rect">
            <a:avLst/>
          </a:prstGeom>
          <a:noFill/>
        </p:spPr>
        <p:txBody>
          <a:bodyPr wrap="square" lIns="0" rIns="0" tIns="0" bIns="0" anchor="ctr">
            <a:spAutoFit/>
          </a:bodyPr>
          <a:lstStyle/>
          <a:p>
            <a:pPr algn="l">
              <a:lnSpc>
                <a:spcPct val="100000"/>
              </a:lnSpc>
            </a:pPr>
            <a:r>
              <a:rPr sz="1000" b="0" i="0">
                <a:solidFill>
                  <a:srgbClr val="000000"/>
                </a:solidFill>
                <a:latin typeface="Tahoma"/>
              </a:rPr>
              <a:t>Source: Published comparators: Raj et al. (2020); Shen et al. (2014); Wang &amp; Wang (2013); Bonin et al. (2004). Full details and DOIs are listed in the references.</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6949</Words>
  <Application>Microsoft Office PowerPoint</Application>
  <PresentationFormat>Widescreen</PresentationFormat>
  <Paragraphs>644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 Concrete Composition for Impact Energy Dissipating Crash Barriers</dc:title>
  <dc:subject>Editable academic internal confidential IPR presentation with experimental evidence and references</dc:subject>
  <dc:creator>IIT Bhubaneswar invention team</dc:creator>
  <cp:keywords>crash barrier, lightweight concrete, impact energy, patent, IIT Bhubaneswar</cp:keywords>
  <dc:description>Academic research presentation generated from inventor-supplied documents; claims and certification statements are evidence-qualified.</dc:description>
  <cp:lastModifiedBy>Pratik Kanungo</cp:lastModifiedBy>
  <cp:revision>6</cp:revision>
  <dcterms:created xsi:type="dcterms:W3CDTF">2013-01-27T09:14:16Z</dcterms:created>
  <dcterms:modified xsi:type="dcterms:W3CDTF">2026-08-14T09:50:18Z</dcterms:modified>
  <cp:category/>
</cp:coreProperties>
</file>