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doughnutChart>
        <c:varyColors val="1"/>
        <c:ser>
          <c:idx val="0"/>
          <c:order val="0"/>
          <c:tx>
            <c:strRef>
              <c:f>Sheet1!$B$1</c:f>
              <c:strCache>
                <c:ptCount val="1"/>
                <c:pt idx="0">
                  <c:v>Share</c:v>
                </c:pt>
              </c:strCache>
            </c:strRef>
          </c:tx>
          <c:dPt>
            <c:idx val="0"/>
            <c:spPr>
              <a:solidFill>
                <a:srgbClr val="2B78A6"/>
              </a:solidFill>
              <a:ln>
                <a:solidFill>
                  <a:srgbClr val="2B78A6"/>
                </a:solidFill>
              </a:ln>
            </c:spPr>
          </c:dPt>
          <c:dPt>
            <c:idx val="1"/>
            <c:spPr>
              <a:solidFill>
                <a:srgbClr val="22B8C7"/>
              </a:solidFill>
              <a:ln>
                <a:solidFill>
                  <a:srgbClr val="22B8C7"/>
                </a:solidFill>
              </a:ln>
            </c:spPr>
          </c:dPt>
          <c:dPt>
            <c:idx val="2"/>
            <c:spPr>
              <a:solidFill>
                <a:srgbClr val="F39C3D"/>
              </a:solidFill>
              <a:ln>
                <a:solidFill>
                  <a:srgbClr val="F39C3D"/>
                </a:solidFill>
              </a:ln>
            </c:spPr>
          </c:dPt>
          <c:dPt>
            <c:idx val="3"/>
            <c:spPr>
              <a:solidFill>
                <a:srgbClr val="D8E2E8"/>
              </a:solidFill>
              <a:ln>
                <a:solidFill>
                  <a:srgbClr val="D8E2E8"/>
                </a:solidFill>
              </a:ln>
            </c:spPr>
          </c:dPt>
          <c:cat>
            <c:strRef>
              <c:f>Sheet1!$A$2:$A$5</c:f>
              <c:strCache>
                <c:ptCount val="4"/>
                <c:pt idx="0">
                  <c:v>Upper-middle</c:v>
                </c:pt>
                <c:pt idx="1">
                  <c:v>Lower-middle</c:v>
                </c:pt>
                <c:pt idx="2">
                  <c:v>Low</c:v>
                </c:pt>
                <c:pt idx="3">
                  <c:v>High</c:v>
                </c:pt>
              </c:strCache>
            </c:strRef>
          </c:cat>
          <c:val>
            <c:numRef>
              <c:f>Sheet1!$B$2:$B$5</c:f>
              <c:numCache>
                <c:formatCode>General</c:formatCode>
                <c:ptCount val="4"/>
                <c:pt idx="0">
                  <c:v>35</c:v>
                </c:pt>
                <c:pt idx="1">
                  <c:v>44</c:v>
                </c:pt>
                <c:pt idx="2">
                  <c:v>13</c:v>
                </c:pt>
                <c:pt idx="3">
                  <c:v>8</c:v>
                </c:pt>
              </c:numCache>
            </c:numRef>
          </c:val>
        </c:ser>
        <c:firstSliceAng val="0"/>
        <c:holeSize val="50"/>
      </c:doughnutChart>
    </c:plotArea>
    <c:legend>
      <c:legendPos val="b"/>
      <c:layout/>
      <c:overlay val="0"/>
      <c:txPr>
        <a:bodyPr/>
        <a:lstStyle/>
        <a:p>
          <a:pPr>
            <a:defRPr sz="800">
              <a:solidFill>
                <a:srgbClr val="596C78"/>
              </a:solidFill>
              <a:latin typeface="Aptos"/>
            </a:defRPr>
          </a:pPr>
        </a:p>
      </c:txPr>
    </c:legend>
    <c:plotVisOnly val="1"/>
    <c:dispBlanksAs val="gap"/>
    <c:showDLblsOverMax val="0"/>
  </c:chart>
  <c:txPr>
    <a:bodyPr/>
    <a:lstStyle/>
    <a:p>
      <a:pPr>
        <a:defRPr sz="800">
          <a:solidFill>
            <a:srgbClr val="596C78"/>
          </a:solidFill>
          <a:latin typeface="Aptos"/>
        </a:defRPr>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Reported density</c:v>
                </c:pt>
              </c:strCache>
            </c:strRef>
          </c:tx>
          <c:spPr>
            <a:solidFill>
              <a:srgbClr val="2B78A6"/>
            </a:solidFill>
            <a:ln>
              <a:solidFill>
                <a:srgbClr val="2B78A6"/>
              </a:solidFill>
            </a:ln>
          </c:spPr>
          <c:cat>
            <c:strRef>
              <c:f>Sheet1!$A$2:$A$6</c:f>
              <c:strCache>
                <c:ptCount val="5"/>
                <c:pt idx="0">
                  <c:v>NWC</c:v>
                </c:pt>
                <c:pt idx="1">
                  <c:v>LWC00</c:v>
                </c:pt>
                <c:pt idx="2">
                  <c:v>LWC05</c:v>
                </c:pt>
                <c:pt idx="3">
                  <c:v>LWC10</c:v>
                </c:pt>
                <c:pt idx="4">
                  <c:v>LWC15</c:v>
                </c:pt>
              </c:strCache>
            </c:strRef>
          </c:cat>
          <c:val>
            <c:numRef>
              <c:f>Sheet1!$B$2:$B$6</c:f>
              <c:numCache>
                <c:formatCode>General</c:formatCode>
                <c:ptCount val="5"/>
                <c:pt idx="0">
                  <c:v>2466</c:v>
                </c:pt>
                <c:pt idx="1">
                  <c:v>1885</c:v>
                </c:pt>
                <c:pt idx="2">
                  <c:v>1923</c:v>
                </c:pt>
                <c:pt idx="3">
                  <c:v>1951</c:v>
                </c:pt>
                <c:pt idx="4">
                  <c:v>1987</c:v>
                </c:pt>
              </c:numCache>
            </c:numRef>
          </c:val>
        </c:ser>
        <c:dLbls>
          <c:numFmt formatCode="0" sourceLinked="0"/>
          <c:txPr>
            <a:bodyPr/>
            <a:lstStyle/>
            <a:p>
              <a:pPr>
                <a:defRPr sz="750">
                  <a:solidFill>
                    <a:srgbClr val="172733"/>
                  </a:solidFill>
                  <a:latin typeface="Aptos"/>
                </a:defRPr>
              </a:pPr>
            </a:p>
          </c:txPr>
          <c:dLblPos val="outEnd"/>
          <c:showLegendKey val="0"/>
          <c:showVal val="1"/>
          <c:showCatName val="0"/>
          <c:showSerName val="0"/>
          <c:showPercent val="0"/>
          <c:showBubbleSize val="0"/>
          <c:showLeaderLines val="1"/>
        </c:dLbls>
        <c:gapWidth val="62"/>
        <c:axId val="-2068027336"/>
        <c:axId val="-2113994440"/>
      </c:barChart>
      <c:catAx>
        <c:axId val="-2068027336"/>
        <c:scaling>
          <c:orientation val="minMax"/>
        </c:scaling>
        <c:delete val="0"/>
        <c:axPos val="b"/>
        <c:majorTickMark val="out"/>
        <c:minorTickMark val="none"/>
        <c:tickLblPos val="nextTo"/>
        <c:spPr>
          <a:ln>
            <a:solidFill>
              <a:srgbClr val="D8E2E8"/>
            </a:solidFill>
          </a:ln>
        </c:spPr>
        <c:txPr>
          <a:bodyPr/>
          <a:lstStyle/>
          <a:p>
            <a:pPr>
              <a:defRPr sz="800">
                <a:latin typeface="Aptos"/>
              </a:defRPr>
            </a:pPr>
          </a:p>
        </c:txPr>
        <c:crossAx val="-2113994440"/>
        <c:crosses val="autoZero"/>
        <c:auto val="1"/>
        <c:lblAlgn val="ctr"/>
        <c:lblOffset val="100"/>
        <c:noMultiLvlLbl val="0"/>
      </c:catAx>
      <c:valAx>
        <c:axId val="-2113994440"/>
        <c:scaling>
          <c:max val="2700.0"/>
          <c:min val="0.0"/>
        </c:scaling>
        <c:delete val="0"/>
        <c:axPos val="l"/>
        <c:majorGridlines>
          <c:spPr>
            <a:ln>
              <a:solidFill>
                <a:srgbClr val="D8E2E8"/>
              </a:solidFill>
            </a:ln>
          </c:spPr>
        </c:majorGridlines>
        <c:title>
          <c:tx>
            <c:rich>
              <a:bodyPr/>
              <a:lstStyle/>
              <a:p>
                <a:r>
                  <a:rPr sz="800"/>
                  <a:t>kg/m³</a:t>
                </a:r>
              </a:p>
            </c:rich>
          </c:tx>
          <c:layout/>
          <c:overlay val="0"/>
        </c:title>
        <c:majorTickMark val="out"/>
        <c:minorTickMark val="none"/>
        <c:tickLblPos val="nextTo"/>
        <c:spPr>
          <a:ln>
            <a:solidFill>
              <a:srgbClr val="D8E2E8"/>
            </a:solidFill>
          </a:ln>
        </c:spPr>
        <c:txPr>
          <a:bodyPr/>
          <a:lstStyle/>
          <a:p>
            <a:pPr>
              <a:defRPr sz="750">
                <a:latin typeface="Aptos"/>
              </a:defRPr>
            </a:pPr>
          </a:p>
        </c:txPr>
        <c:crossAx val="-2068027336"/>
        <c:crosses val="autoZero"/>
      </c:valAx>
    </c:plotArea>
    <c:dispBlanksAs val="gap"/>
  </c:chart>
  <c:txPr>
    <a:bodyPr/>
    <a:lstStyle/>
    <a:p>
      <a:pPr>
        <a:defRPr sz="800">
          <a:solidFill>
            <a:srgbClr val="596C78"/>
          </a:solidFill>
          <a:latin typeface="Aptos"/>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Compression</c:v>
                </c:pt>
              </c:strCache>
            </c:strRef>
          </c:tx>
          <c:spPr>
            <a:solidFill>
              <a:srgbClr val="178D86"/>
            </a:solidFill>
            <a:ln>
              <a:solidFill>
                <a:srgbClr val="178D86"/>
              </a:solidFill>
            </a:ln>
          </c:spPr>
          <c:cat>
            <c:strRef>
              <c:f>Sheet1!$A$2:$A$6</c:f>
              <c:strCache>
                <c:ptCount val="5"/>
                <c:pt idx="0">
                  <c:v>NWC</c:v>
                </c:pt>
                <c:pt idx="1">
                  <c:v>LWC00</c:v>
                </c:pt>
                <c:pt idx="2">
                  <c:v>LWC05</c:v>
                </c:pt>
                <c:pt idx="3">
                  <c:v>LWC10</c:v>
                </c:pt>
                <c:pt idx="4">
                  <c:v>LWC15</c:v>
                </c:pt>
              </c:strCache>
            </c:strRef>
          </c:cat>
          <c:val>
            <c:numRef>
              <c:f>Sheet1!$B$2:$B$6</c:f>
              <c:numCache>
                <c:formatCode>General</c:formatCode>
                <c:ptCount val="5"/>
                <c:pt idx="0">
                  <c:v>49.62</c:v>
                </c:pt>
                <c:pt idx="1">
                  <c:v>51.1</c:v>
                </c:pt>
                <c:pt idx="2">
                  <c:v>53.7</c:v>
                </c:pt>
                <c:pt idx="3">
                  <c:v>56.8</c:v>
                </c:pt>
                <c:pt idx="4">
                  <c:v>55.4</c:v>
                </c:pt>
              </c:numCache>
            </c:numRef>
          </c:val>
        </c:ser>
        <c:dLbls>
          <c:numFmt formatCode="0.0" sourceLinked="0"/>
          <c:txPr>
            <a:bodyPr/>
            <a:lstStyle/>
            <a:p>
              <a:pPr>
                <a:defRPr sz="750">
                  <a:solidFill>
                    <a:srgbClr val="172733"/>
                  </a:solidFill>
                  <a:latin typeface="Aptos"/>
                </a:defRPr>
              </a:pPr>
            </a:p>
          </c:txPr>
          <c:dLblPos val="outEnd"/>
          <c:showLegendKey val="0"/>
          <c:showVal val="1"/>
          <c:showCatName val="0"/>
          <c:showSerName val="0"/>
          <c:showPercent val="0"/>
          <c:showBubbleSize val="0"/>
          <c:showLeaderLines val="1"/>
        </c:dLbls>
        <c:gapWidth val="62"/>
        <c:axId val="-2068027336"/>
        <c:axId val="-2113994440"/>
      </c:barChart>
      <c:catAx>
        <c:axId val="-2068027336"/>
        <c:scaling>
          <c:orientation val="minMax"/>
        </c:scaling>
        <c:delete val="0"/>
        <c:axPos val="b"/>
        <c:majorTickMark val="out"/>
        <c:minorTickMark val="none"/>
        <c:tickLblPos val="nextTo"/>
        <c:spPr>
          <a:ln>
            <a:solidFill>
              <a:srgbClr val="D8E2E8"/>
            </a:solidFill>
          </a:ln>
        </c:spPr>
        <c:txPr>
          <a:bodyPr/>
          <a:lstStyle/>
          <a:p>
            <a:pPr>
              <a:defRPr sz="800">
                <a:latin typeface="Aptos"/>
              </a:defRPr>
            </a:pPr>
          </a:p>
        </c:txPr>
        <c:crossAx val="-2113994440"/>
        <c:crosses val="autoZero"/>
        <c:auto val="1"/>
        <c:lblAlgn val="ctr"/>
        <c:lblOffset val="100"/>
        <c:noMultiLvlLbl val="0"/>
      </c:catAx>
      <c:valAx>
        <c:axId val="-2113994440"/>
        <c:scaling>
          <c:max val="65.0"/>
          <c:min val="0.0"/>
        </c:scaling>
        <c:delete val="0"/>
        <c:axPos val="l"/>
        <c:majorGridlines>
          <c:spPr>
            <a:ln>
              <a:solidFill>
                <a:srgbClr val="D8E2E8"/>
              </a:solidFill>
            </a:ln>
          </c:spPr>
        </c:majorGridlines>
        <c:title>
          <c:tx>
            <c:rich>
              <a:bodyPr/>
              <a:lstStyle/>
              <a:p>
                <a:r>
                  <a:rPr sz="800"/>
                  <a:t>MPa</a:t>
                </a:r>
              </a:p>
            </c:rich>
          </c:tx>
          <c:layout/>
          <c:overlay val="0"/>
        </c:title>
        <c:majorTickMark val="out"/>
        <c:minorTickMark val="none"/>
        <c:tickLblPos val="nextTo"/>
        <c:spPr>
          <a:ln>
            <a:solidFill>
              <a:srgbClr val="D8E2E8"/>
            </a:solidFill>
          </a:ln>
        </c:spPr>
        <c:txPr>
          <a:bodyPr/>
          <a:lstStyle/>
          <a:p>
            <a:pPr>
              <a:defRPr sz="750">
                <a:latin typeface="Aptos"/>
              </a:defRPr>
            </a:pPr>
          </a:p>
        </c:txPr>
        <c:crossAx val="-2068027336"/>
        <c:crosses val="autoZero"/>
      </c:valAx>
    </c:plotArea>
    <c:dispBlanksAs val="gap"/>
  </c:chart>
  <c:txPr>
    <a:bodyPr/>
    <a:lstStyle/>
    <a:p>
      <a:pPr>
        <a:defRPr sz="800">
          <a:solidFill>
            <a:srgbClr val="596C78"/>
          </a:solidFill>
          <a:latin typeface="Aptos"/>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Split tension</c:v>
                </c:pt>
              </c:strCache>
            </c:strRef>
          </c:tx>
          <c:spPr>
            <a:solidFill>
              <a:srgbClr val="F39C3D"/>
            </a:solidFill>
            <a:ln>
              <a:solidFill>
                <a:srgbClr val="F39C3D"/>
              </a:solidFill>
            </a:ln>
          </c:spPr>
          <c:cat>
            <c:strRef>
              <c:f>Sheet1!$A$2:$A$6</c:f>
              <c:strCache>
                <c:ptCount val="5"/>
                <c:pt idx="0">
                  <c:v>NWC</c:v>
                </c:pt>
                <c:pt idx="1">
                  <c:v>LWC00</c:v>
                </c:pt>
                <c:pt idx="2">
                  <c:v>LWC05</c:v>
                </c:pt>
                <c:pt idx="3">
                  <c:v>LWC10</c:v>
                </c:pt>
                <c:pt idx="4">
                  <c:v>LWC15</c:v>
                </c:pt>
              </c:strCache>
            </c:strRef>
          </c:cat>
          <c:val>
            <c:numRef>
              <c:f>Sheet1!$B$2:$B$6</c:f>
              <c:numCache>
                <c:formatCode>General</c:formatCode>
                <c:ptCount val="5"/>
                <c:pt idx="0">
                  <c:v>4.32</c:v>
                </c:pt>
                <c:pt idx="1">
                  <c:v>3.36</c:v>
                </c:pt>
                <c:pt idx="2">
                  <c:v>4.77</c:v>
                </c:pt>
                <c:pt idx="3">
                  <c:v>5.92</c:v>
                </c:pt>
                <c:pt idx="4">
                  <c:v>7.6</c:v>
                </c:pt>
              </c:numCache>
            </c:numRef>
          </c:val>
        </c:ser>
        <c:dLbls>
          <c:numFmt formatCode="0.00" sourceLinked="0"/>
          <c:txPr>
            <a:bodyPr/>
            <a:lstStyle/>
            <a:p>
              <a:pPr>
                <a:defRPr sz="750">
                  <a:solidFill>
                    <a:srgbClr val="172733"/>
                  </a:solidFill>
                  <a:latin typeface="Aptos"/>
                </a:defRPr>
              </a:pPr>
            </a:p>
          </c:txPr>
          <c:dLblPos val="outEnd"/>
          <c:showLegendKey val="0"/>
          <c:showVal val="1"/>
          <c:showCatName val="0"/>
          <c:showSerName val="0"/>
          <c:showPercent val="0"/>
          <c:showBubbleSize val="0"/>
          <c:showLeaderLines val="1"/>
        </c:dLbls>
        <c:gapWidth val="62"/>
        <c:axId val="-2068027336"/>
        <c:axId val="-2113994440"/>
      </c:barChart>
      <c:catAx>
        <c:axId val="-2068027336"/>
        <c:scaling>
          <c:orientation val="minMax"/>
        </c:scaling>
        <c:delete val="0"/>
        <c:axPos val="b"/>
        <c:majorTickMark val="out"/>
        <c:minorTickMark val="none"/>
        <c:tickLblPos val="nextTo"/>
        <c:spPr>
          <a:ln>
            <a:solidFill>
              <a:srgbClr val="D8E2E8"/>
            </a:solidFill>
          </a:ln>
        </c:spPr>
        <c:txPr>
          <a:bodyPr/>
          <a:lstStyle/>
          <a:p>
            <a:pPr>
              <a:defRPr sz="800">
                <a:latin typeface="Aptos"/>
              </a:defRPr>
            </a:pPr>
          </a:p>
        </c:txPr>
        <c:crossAx val="-2113994440"/>
        <c:crosses val="autoZero"/>
        <c:auto val="1"/>
        <c:lblAlgn val="ctr"/>
        <c:lblOffset val="100"/>
        <c:noMultiLvlLbl val="0"/>
      </c:catAx>
      <c:valAx>
        <c:axId val="-2113994440"/>
        <c:scaling>
          <c:max val="9.0"/>
          <c:min val="0.0"/>
        </c:scaling>
        <c:delete val="0"/>
        <c:axPos val="l"/>
        <c:majorGridlines>
          <c:spPr>
            <a:ln>
              <a:solidFill>
                <a:srgbClr val="D8E2E8"/>
              </a:solidFill>
            </a:ln>
          </c:spPr>
        </c:majorGridlines>
        <c:title>
          <c:tx>
            <c:rich>
              <a:bodyPr/>
              <a:lstStyle/>
              <a:p>
                <a:r>
                  <a:rPr sz="800"/>
                  <a:t>MPa</a:t>
                </a:r>
              </a:p>
            </c:rich>
          </c:tx>
          <c:layout/>
          <c:overlay val="0"/>
        </c:title>
        <c:majorTickMark val="out"/>
        <c:minorTickMark val="none"/>
        <c:tickLblPos val="nextTo"/>
        <c:spPr>
          <a:ln>
            <a:solidFill>
              <a:srgbClr val="D8E2E8"/>
            </a:solidFill>
          </a:ln>
        </c:spPr>
        <c:txPr>
          <a:bodyPr/>
          <a:lstStyle/>
          <a:p>
            <a:pPr>
              <a:defRPr sz="750">
                <a:latin typeface="Aptos"/>
              </a:defRPr>
            </a:pPr>
          </a:p>
        </c:txPr>
        <c:crossAx val="-2068027336"/>
        <c:crosses val="autoZero"/>
      </c:valAx>
    </c:plotArea>
    <c:dispBlanksAs val="gap"/>
  </c:chart>
  <c:txPr>
    <a:bodyPr/>
    <a:lstStyle/>
    <a:p>
      <a:pPr>
        <a:defRPr sz="800">
          <a:solidFill>
            <a:srgbClr val="596C78"/>
          </a:solidFill>
          <a:latin typeface="Aptos"/>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spPr>
            <a:solidFill>
              <a:srgbClr val="2B78A6"/>
            </a:solidFill>
            <a:ln>
              <a:solidFill>
                <a:srgbClr val="2B78A6"/>
              </a:solidFill>
            </a:ln>
          </c:spPr>
          <c:dPt>
            <c:idx val="0"/>
            <c:spPr>
              <a:solidFill>
                <a:srgbClr val="D8E2E8"/>
              </a:solidFill>
              <a:ln>
                <a:solidFill>
                  <a:srgbClr val="D8E2E8"/>
                </a:solidFill>
              </a:ln>
            </c:spPr>
          </c:dPt>
          <c:dPt>
            <c:idx val="1"/>
            <c:spPr>
              <a:solidFill>
                <a:srgbClr val="9ABFD1"/>
              </a:solidFill>
              <a:ln>
                <a:solidFill>
                  <a:srgbClr val="9ABFD1"/>
                </a:solidFill>
              </a:ln>
            </c:spPr>
          </c:dPt>
          <c:dPt>
            <c:idx val="2"/>
            <c:spPr>
              <a:solidFill>
                <a:srgbClr val="22B8C7"/>
              </a:solidFill>
              <a:ln>
                <a:solidFill>
                  <a:srgbClr val="22B8C7"/>
                </a:solidFill>
              </a:ln>
            </c:spPr>
          </c:dPt>
          <c:dPt>
            <c:idx val="3"/>
            <c:spPr>
              <a:solidFill>
                <a:srgbClr val="F39C3D"/>
              </a:solidFill>
              <a:ln>
                <a:solidFill>
                  <a:srgbClr val="F39C3D"/>
                </a:solidFill>
              </a:ln>
            </c:spPr>
          </c:dPt>
          <c:dPt>
            <c:idx val="4"/>
            <c:spPr>
              <a:solidFill>
                <a:srgbClr val="D95D5D"/>
              </a:solidFill>
              <a:ln>
                <a:solidFill>
                  <a:srgbClr val="D95D5D"/>
                </a:solidFill>
              </a:ln>
            </c:spPr>
          </c:dPt>
          <c:cat>
            <c:strRef>
              <c:f>Sheet1!$A$2:$A$6</c:f>
              <c:strCache>
                <c:ptCount val="5"/>
                <c:pt idx="0">
                  <c:v>NWC</c:v>
                </c:pt>
                <c:pt idx="1">
                  <c:v>LWC00</c:v>
                </c:pt>
                <c:pt idx="2">
                  <c:v>LWC05</c:v>
                </c:pt>
                <c:pt idx="3">
                  <c:v>LWC10</c:v>
                </c:pt>
                <c:pt idx="4">
                  <c:v>LWC15</c:v>
                </c:pt>
              </c:strCache>
            </c:strRef>
          </c:cat>
          <c:val>
            <c:numRef>
              <c:f>Sheet1!$B$2:$B$6</c:f>
              <c:numCache>
                <c:formatCode>General</c:formatCode>
                <c:ptCount val="5"/>
                <c:pt idx="0">
                  <c:v>52.97</c:v>
                </c:pt>
                <c:pt idx="1">
                  <c:v>26.49</c:v>
                </c:pt>
                <c:pt idx="2">
                  <c:v>264.87</c:v>
                </c:pt>
                <c:pt idx="3">
                  <c:v>595.96</c:v>
                </c:pt>
                <c:pt idx="4">
                  <c:v>2927.81</c:v>
                </c:pt>
              </c:numCache>
            </c:numRef>
          </c:val>
        </c:ser>
        <c:dLbls>
          <c:numFmt formatCode="0" sourceLinked="0"/>
          <c:txPr>
            <a:bodyPr/>
            <a:lstStyle/>
            <a:p>
              <a:pPr>
                <a:defRPr sz="800">
                  <a:solidFill>
                    <a:srgbClr val="172733"/>
                  </a:solidFill>
                  <a:latin typeface="Aptos"/>
                </a:defRPr>
              </a:pPr>
            </a:p>
          </c:txPr>
          <c:dLblPos val="outEnd"/>
          <c:showLegendKey val="0"/>
          <c:showVal val="1"/>
          <c:showCatName val="0"/>
          <c:showSerName val="0"/>
          <c:showPercent val="0"/>
          <c:showBubbleSize val="0"/>
          <c:showLeaderLines val="1"/>
        </c:dLbls>
        <c:gapWidth val="58"/>
        <c:axId val="-2068027336"/>
        <c:axId val="-2113994440"/>
      </c:barChart>
      <c:catAx>
        <c:axId val="-2068027336"/>
        <c:scaling>
          <c:orientation val="maxMin"/>
        </c:scaling>
        <c:delete val="0"/>
        <c:axPos val="l"/>
        <c:majorTickMark val="out"/>
        <c:minorTickMark val="none"/>
        <c:tickLblPos val="nextTo"/>
        <c:spPr>
          <a:ln>
            <a:solidFill>
              <a:srgbClr val="D8E2E8"/>
            </a:solidFill>
          </a:ln>
        </c:spPr>
        <c:txPr>
          <a:bodyPr/>
          <a:lstStyle/>
          <a:p>
            <a:pPr>
              <a:defRPr sz="830">
                <a:latin typeface="Aptos"/>
              </a:defRPr>
            </a:pPr>
          </a:p>
        </c:txPr>
        <c:crossAx val="-2113994440"/>
        <c:crosses val="autoZero"/>
        <c:auto val="1"/>
        <c:lblAlgn val="ctr"/>
        <c:lblOffset val="100"/>
        <c:noMultiLvlLbl val="0"/>
      </c:catAx>
      <c:valAx>
        <c:axId val="-2113994440"/>
        <c:scaling>
          <c:max val="3300.0"/>
          <c:min val="0.0"/>
        </c:scaling>
        <c:delete val="0"/>
        <c:axPos val="b"/>
        <c:majorGridlines>
          <c:spPr>
            <a:ln>
              <a:solidFill>
                <a:srgbClr val="D8E2E8"/>
              </a:solidFill>
            </a:ln>
          </c:spPr>
        </c:majorGridlines>
        <c:majorTickMark val="out"/>
        <c:minorTickMark val="none"/>
        <c:tickLblPos val="nextTo"/>
        <c:spPr>
          <a:ln>
            <a:solidFill>
              <a:srgbClr val="D8E2E8"/>
            </a:solidFill>
          </a:ln>
        </c:spPr>
        <c:txPr>
          <a:bodyPr/>
          <a:lstStyle/>
          <a:p>
            <a:pPr>
              <a:defRPr sz="750"/>
            </a:pPr>
          </a:p>
        </c:txPr>
        <c:crossAx val="-2068027336"/>
        <c:crosses val="autoZero"/>
      </c:valAx>
    </c:plotArea>
    <c:dispBlanksAs val="gap"/>
  </c:chart>
  <c:txPr>
    <a:bodyPr/>
    <a:lstStyle/>
    <a:p>
      <a:pPr>
        <a:defRPr sz="819">
          <a:solidFill>
            <a:srgbClr val="596C78"/>
          </a:solidFill>
          <a:latin typeface="Aptos"/>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First crack N₁</c:v>
                </c:pt>
              </c:strCache>
            </c:strRef>
          </c:tx>
          <c:spPr>
            <a:solidFill>
              <a:srgbClr val="22B8C7"/>
            </a:solidFill>
            <a:ln>
              <a:solidFill>
                <a:srgbClr val="22B8C7"/>
              </a:solidFill>
            </a:ln>
          </c:spPr>
          <c:cat>
            <c:strRef>
              <c:f>Sheet1!$A$2:$A$6</c:f>
              <c:strCache>
                <c:ptCount val="5"/>
                <c:pt idx="0">
                  <c:v>NWC</c:v>
                </c:pt>
                <c:pt idx="1">
                  <c:v>LWC00</c:v>
                </c:pt>
                <c:pt idx="2">
                  <c:v>LWC05</c:v>
                </c:pt>
                <c:pt idx="3">
                  <c:v>LWC10</c:v>
                </c:pt>
                <c:pt idx="4">
                  <c:v>LWC15</c:v>
                </c:pt>
              </c:strCache>
            </c:strRef>
          </c:cat>
          <c:val>
            <c:numRef>
              <c:f>Sheet1!$B$2:$B$6</c:f>
              <c:numCache>
                <c:formatCode>General</c:formatCode>
                <c:ptCount val="5"/>
                <c:pt idx="0">
                  <c:v>2</c:v>
                </c:pt>
                <c:pt idx="1">
                  <c:v>1</c:v>
                </c:pt>
                <c:pt idx="2">
                  <c:v>5</c:v>
                </c:pt>
                <c:pt idx="3">
                  <c:v>15</c:v>
                </c:pt>
                <c:pt idx="4">
                  <c:v>35</c:v>
                </c:pt>
              </c:numCache>
            </c:numRef>
          </c:val>
        </c:ser>
        <c:ser>
          <c:idx val="1"/>
          <c:order val="1"/>
          <c:tx>
            <c:strRef>
              <c:f>Sheet1!$C$1</c:f>
              <c:strCache>
                <c:ptCount val="1"/>
                <c:pt idx="0">
                  <c:v>Failure N₂</c:v>
                </c:pt>
              </c:strCache>
            </c:strRef>
          </c:tx>
          <c:spPr>
            <a:solidFill>
              <a:srgbClr val="08243A"/>
            </a:solidFill>
            <a:ln>
              <a:solidFill>
                <a:srgbClr val="08243A"/>
              </a:solidFill>
            </a:ln>
          </c:spPr>
          <c:cat>
            <c:strRef>
              <c:f>Sheet1!$A$2:$A$6</c:f>
              <c:strCache>
                <c:ptCount val="5"/>
                <c:pt idx="0">
                  <c:v>NWC</c:v>
                </c:pt>
                <c:pt idx="1">
                  <c:v>LWC00</c:v>
                </c:pt>
                <c:pt idx="2">
                  <c:v>LWC05</c:v>
                </c:pt>
                <c:pt idx="3">
                  <c:v>LWC10</c:v>
                </c:pt>
                <c:pt idx="4">
                  <c:v>LWC15</c:v>
                </c:pt>
              </c:strCache>
            </c:strRef>
          </c:cat>
          <c:val>
            <c:numRef>
              <c:f>Sheet1!$C$2:$C$6</c:f>
              <c:numCache>
                <c:formatCode>General</c:formatCode>
                <c:ptCount val="5"/>
                <c:pt idx="0">
                  <c:v>4</c:v>
                </c:pt>
                <c:pt idx="1">
                  <c:v>2</c:v>
                </c:pt>
                <c:pt idx="2">
                  <c:v>20</c:v>
                </c:pt>
                <c:pt idx="3">
                  <c:v>45</c:v>
                </c:pt>
                <c:pt idx="4">
                  <c:v>221</c:v>
                </c:pt>
              </c:numCache>
            </c:numRef>
          </c:val>
        </c:ser>
        <c:dLbls>
          <c:numFmt formatCode="0" sourceLinked="0"/>
          <c:txPr>
            <a:bodyPr/>
            <a:lstStyle/>
            <a:p>
              <a:pPr>
                <a:defRPr sz="750">
                  <a:solidFill>
                    <a:srgbClr val="172733"/>
                  </a:solidFill>
                  <a:latin typeface="Aptos"/>
                </a:defRPr>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out"/>
        <c:minorTickMark val="none"/>
        <c:tickLblPos val="nextTo"/>
        <c:spPr>
          <a:ln>
            <a:solidFill>
              <a:srgbClr val="D8E2E8"/>
            </a:solidFill>
          </a:ln>
        </c:spPr>
        <c:txPr>
          <a:bodyPr/>
          <a:lstStyle/>
          <a:p>
            <a:pPr>
              <a:defRPr sz="800">
                <a:latin typeface="Aptos"/>
              </a:defRPr>
            </a:pPr>
          </a:p>
        </c:txPr>
        <c:crossAx val="-2113994440"/>
        <c:crosses val="autoZero"/>
        <c:auto val="1"/>
        <c:lblAlgn val="ctr"/>
        <c:lblOffset val="100"/>
        <c:noMultiLvlLbl val="0"/>
      </c:catAx>
      <c:valAx>
        <c:axId val="-2113994440"/>
        <c:scaling>
          <c:max val="250.0"/>
          <c:min val="0.0"/>
        </c:scaling>
        <c:delete val="0"/>
        <c:axPos val="l"/>
        <c:majorGridlines>
          <c:spPr>
            <a:ln>
              <a:solidFill>
                <a:srgbClr val="D8E2E8"/>
              </a:solidFill>
            </a:ln>
          </c:spPr>
        </c:majorGridlines>
        <c:title>
          <c:tx>
            <c:rich>
              <a:bodyPr/>
              <a:lstStyle/>
              <a:p>
                <a:r>
                  <a:rPr sz="800"/>
                  <a:t>blows</a:t>
                </a:r>
              </a:p>
            </c:rich>
          </c:tx>
          <c:layout/>
          <c:overlay val="0"/>
        </c:title>
        <c:majorTickMark val="out"/>
        <c:minorTickMark val="none"/>
        <c:tickLblPos val="nextTo"/>
        <c:spPr>
          <a:ln>
            <a:solidFill>
              <a:srgbClr val="D8E2E8"/>
            </a:solidFill>
          </a:ln>
        </c:spPr>
        <c:txPr>
          <a:bodyPr/>
          <a:lstStyle/>
          <a:p>
            <a:pPr>
              <a:defRPr sz="750">
                <a:latin typeface="Aptos"/>
              </a:defRPr>
            </a:pPr>
          </a:p>
        </c:txPr>
        <c:crossAx val="-2068027336"/>
        <c:crosses val="autoZero"/>
      </c:valAx>
    </c:plotArea>
    <c:legend>
      <c:legendPos val="b"/>
      <c:overlay val="0"/>
      <c:txPr>
        <a:bodyPr/>
        <a:lstStyle/>
        <a:p>
          <a:pPr>
            <a:defRPr sz="800">
              <a:solidFill>
                <a:srgbClr val="596C78"/>
              </a:solidFill>
              <a:latin typeface="Aptos"/>
            </a:defRPr>
          </a:pPr>
        </a:p>
      </c:txPr>
    </c:legend>
    <c:dispBlanksAs val="gap"/>
  </c:chart>
  <c:txPr>
    <a:bodyPr/>
    <a:lstStyle/>
    <a:p>
      <a:pPr>
        <a:defRPr sz="800">
          <a:solidFill>
            <a:srgbClr val="596C78"/>
          </a:solidFill>
          <a:latin typeface="Aptos"/>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Peak displacement</c:v>
                </c:pt>
              </c:strCache>
            </c:strRef>
          </c:tx>
          <c:spPr>
            <a:solidFill>
              <a:srgbClr val="F39C3D"/>
            </a:solidFill>
            <a:ln>
              <a:solidFill>
                <a:srgbClr val="F39C3D"/>
              </a:solidFill>
            </a:ln>
          </c:spPr>
          <c:cat>
            <c:strRef>
              <c:f>Sheet1!$A$2:$A$6</c:f>
              <c:strCache>
                <c:ptCount val="5"/>
                <c:pt idx="0">
                  <c:v>NWC</c:v>
                </c:pt>
                <c:pt idx="1">
                  <c:v>LWC00</c:v>
                </c:pt>
                <c:pt idx="2">
                  <c:v>LWC05</c:v>
                </c:pt>
                <c:pt idx="3">
                  <c:v>LWC10</c:v>
                </c:pt>
                <c:pt idx="4">
                  <c:v>LWC15</c:v>
                </c:pt>
              </c:strCache>
            </c:strRef>
          </c:cat>
          <c:val>
            <c:numRef>
              <c:f>Sheet1!$B$2:$B$6</c:f>
              <c:numCache>
                <c:formatCode>General</c:formatCode>
                <c:ptCount val="5"/>
                <c:pt idx="0">
                  <c:v>0.28</c:v>
                </c:pt>
                <c:pt idx="1">
                  <c:v>0.08</c:v>
                </c:pt>
                <c:pt idx="2">
                  <c:v>0.14</c:v>
                </c:pt>
                <c:pt idx="3">
                  <c:v>0.85</c:v>
                </c:pt>
                <c:pt idx="4">
                  <c:v>0.71</c:v>
                </c:pt>
              </c:numCache>
            </c:numRef>
          </c:val>
        </c:ser>
        <c:dLbls>
          <c:numFmt formatCode="0.00" sourceLinked="0"/>
          <c:txPr>
            <a:bodyPr/>
            <a:lstStyle/>
            <a:p>
              <a:pPr>
                <a:defRPr sz="750">
                  <a:solidFill>
                    <a:srgbClr val="172733"/>
                  </a:solidFill>
                  <a:latin typeface="Aptos"/>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8E2E8"/>
            </a:solidFill>
          </a:ln>
        </c:spPr>
        <c:txPr>
          <a:bodyPr/>
          <a:lstStyle/>
          <a:p>
            <a:pPr>
              <a:defRPr sz="800">
                <a:latin typeface="Aptos"/>
              </a:defRPr>
            </a:pPr>
          </a:p>
        </c:txPr>
        <c:crossAx val="-2113994440"/>
        <c:crosses val="autoZero"/>
        <c:auto val="1"/>
        <c:lblAlgn val="ctr"/>
        <c:lblOffset val="100"/>
        <c:noMultiLvlLbl val="0"/>
      </c:catAx>
      <c:valAx>
        <c:axId val="-2113994440"/>
        <c:scaling>
          <c:max val="1.0"/>
          <c:min val="0.0"/>
        </c:scaling>
        <c:delete val="0"/>
        <c:axPos val="l"/>
        <c:majorGridlines>
          <c:spPr>
            <a:ln>
              <a:solidFill>
                <a:srgbClr val="D8E2E8"/>
              </a:solidFill>
            </a:ln>
          </c:spPr>
        </c:majorGridlines>
        <c:title>
          <c:tx>
            <c:rich>
              <a:bodyPr/>
              <a:lstStyle/>
              <a:p>
                <a:r>
                  <a:rPr sz="800"/>
                  <a:t>mm</a:t>
                </a:r>
              </a:p>
            </c:rich>
          </c:tx>
          <c:layout/>
          <c:overlay val="0"/>
        </c:title>
        <c:majorTickMark val="out"/>
        <c:minorTickMark val="none"/>
        <c:tickLblPos val="nextTo"/>
        <c:spPr>
          <a:ln>
            <a:solidFill>
              <a:srgbClr val="D8E2E8"/>
            </a:solidFill>
          </a:ln>
        </c:spPr>
        <c:txPr>
          <a:bodyPr/>
          <a:lstStyle/>
          <a:p>
            <a:pPr>
              <a:defRPr sz="750">
                <a:latin typeface="Aptos"/>
              </a:defRPr>
            </a:pPr>
          </a:p>
        </c:txPr>
        <c:crossAx val="-2068027336"/>
        <c:crosses val="autoZero"/>
      </c:valAx>
    </c:plotArea>
    <c:dispBlanksAs val="gap"/>
  </c:chart>
  <c:txPr>
    <a:bodyPr/>
    <a:lstStyle/>
    <a:p>
      <a:pPr>
        <a:defRPr sz="800">
          <a:solidFill>
            <a:srgbClr val="596C78"/>
          </a:solidFill>
          <a:latin typeface="Aptos"/>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Material cost</c:v>
                </c:pt>
              </c:strCache>
            </c:strRef>
          </c:tx>
          <c:spPr>
            <a:solidFill>
              <a:srgbClr val="08243A"/>
            </a:solidFill>
            <a:ln>
              <a:solidFill>
                <a:srgbClr val="08243A"/>
              </a:solidFill>
            </a:ln>
          </c:spPr>
          <c:cat>
            <c:strRef>
              <c:f>Sheet1!$A$2:$A$6</c:f>
              <c:strCache>
                <c:ptCount val="5"/>
                <c:pt idx="0">
                  <c:v>NWC</c:v>
                </c:pt>
                <c:pt idx="1">
                  <c:v>LWC00</c:v>
                </c:pt>
                <c:pt idx="2">
                  <c:v>LWC05</c:v>
                </c:pt>
                <c:pt idx="3">
                  <c:v>LWC10</c:v>
                </c:pt>
                <c:pt idx="4">
                  <c:v>LWC15</c:v>
                </c:pt>
              </c:strCache>
            </c:strRef>
          </c:cat>
          <c:val>
            <c:numRef>
              <c:f>Sheet1!$B$2:$B$6</c:f>
              <c:numCache>
                <c:formatCode>General</c:formatCode>
                <c:ptCount val="5"/>
                <c:pt idx="0">
                  <c:v>4945.24</c:v>
                </c:pt>
                <c:pt idx="1">
                  <c:v>4411.62</c:v>
                </c:pt>
                <c:pt idx="2">
                  <c:v>8336.62</c:v>
                </c:pt>
                <c:pt idx="3">
                  <c:v>12261.62</c:v>
                </c:pt>
                <c:pt idx="4">
                  <c:v>16191.62</c:v>
                </c:pt>
              </c:numCache>
            </c:numRef>
          </c:val>
        </c:ser>
        <c:dLbls>
          <c:numFmt formatCode="₹#,##0" sourceLinked="0"/>
          <c:txPr>
            <a:bodyPr/>
            <a:lstStyle/>
            <a:p>
              <a:pPr>
                <a:defRPr sz="750">
                  <a:solidFill>
                    <a:srgbClr val="172733"/>
                  </a:solidFill>
                  <a:latin typeface="Aptos"/>
                </a:defRPr>
              </a:pPr>
            </a:p>
          </c:txPr>
          <c:dLblPos val="outEnd"/>
          <c:showLegendKey val="0"/>
          <c:showVal val="1"/>
          <c:showCatName val="0"/>
          <c:showSerName val="0"/>
          <c:showPercent val="0"/>
          <c:showBubbleSize val="0"/>
          <c:showLeaderLines val="1"/>
        </c:dLbls>
        <c:gapWidth val="58"/>
        <c:axId val="-2068027336"/>
        <c:axId val="-2113994440"/>
      </c:barChart>
      <c:catAx>
        <c:axId val="-2068027336"/>
        <c:scaling>
          <c:orientation val="minMax"/>
        </c:scaling>
        <c:delete val="0"/>
        <c:axPos val="b"/>
        <c:majorTickMark val="out"/>
        <c:minorTickMark val="none"/>
        <c:tickLblPos val="nextTo"/>
        <c:spPr>
          <a:ln>
            <a:solidFill>
              <a:srgbClr val="D8E2E8"/>
            </a:solidFill>
          </a:ln>
        </c:spPr>
        <c:txPr>
          <a:bodyPr/>
          <a:lstStyle/>
          <a:p>
            <a:pPr>
              <a:defRPr sz="800">
                <a:latin typeface="Aptos"/>
              </a:defRPr>
            </a:pPr>
          </a:p>
        </c:txPr>
        <c:crossAx val="-2113994440"/>
        <c:crosses val="autoZero"/>
        <c:auto val="1"/>
        <c:lblAlgn val="ctr"/>
        <c:lblOffset val="100"/>
        <c:noMultiLvlLbl val="0"/>
      </c:catAx>
      <c:valAx>
        <c:axId val="-2113994440"/>
        <c:scaling>
          <c:max val="18000.0"/>
          <c:min val="0.0"/>
        </c:scaling>
        <c:delete val="0"/>
        <c:axPos val="l"/>
        <c:majorGridlines>
          <c:spPr>
            <a:ln>
              <a:solidFill>
                <a:srgbClr val="D8E2E8"/>
              </a:solidFill>
            </a:ln>
          </c:spPr>
        </c:majorGridlines>
        <c:title>
          <c:tx>
            <c:rich>
              <a:bodyPr/>
              <a:lstStyle/>
              <a:p>
                <a:r>
                  <a:rPr sz="800"/>
                  <a:t>₹/m³</a:t>
                </a:r>
              </a:p>
            </c:rich>
          </c:tx>
          <c:layout/>
          <c:overlay val="0"/>
        </c:title>
        <c:majorTickMark val="out"/>
        <c:minorTickMark val="none"/>
        <c:tickLblPos val="nextTo"/>
        <c:spPr>
          <a:ln>
            <a:solidFill>
              <a:srgbClr val="D8E2E8"/>
            </a:solidFill>
          </a:ln>
        </c:spPr>
        <c:txPr>
          <a:bodyPr/>
          <a:lstStyle/>
          <a:p>
            <a:pPr>
              <a:defRPr sz="750">
                <a:latin typeface="Aptos"/>
              </a:defRPr>
            </a:pPr>
          </a:p>
        </c:txPr>
        <c:crossAx val="-2068027336"/>
        <c:crosses val="autoZero"/>
      </c:valAx>
    </c:plotArea>
    <c:dispBlanksAs val="gap"/>
  </c:chart>
  <c:txPr>
    <a:bodyPr/>
    <a:lstStyle/>
    <a:p>
      <a:pPr>
        <a:defRPr sz="800">
          <a:solidFill>
            <a:srgbClr val="596C78"/>
          </a:solidFill>
          <a:latin typeface="Aptos"/>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Cost / failure energy</c:v>
                </c:pt>
              </c:strCache>
            </c:strRef>
          </c:tx>
          <c:spPr>
            <a:solidFill>
              <a:srgbClr val="F39C3D"/>
            </a:solidFill>
            <a:ln>
              <a:solidFill>
                <a:srgbClr val="F39C3D"/>
              </a:solidFill>
            </a:ln>
          </c:spPr>
          <c:cat>
            <c:strRef>
              <c:f>Sheet1!$A$2:$A$6</c:f>
              <c:strCache>
                <c:ptCount val="5"/>
                <c:pt idx="0">
                  <c:v>NWC</c:v>
                </c:pt>
                <c:pt idx="1">
                  <c:v>LWC00</c:v>
                </c:pt>
                <c:pt idx="2">
                  <c:v>LWC05</c:v>
                </c:pt>
                <c:pt idx="3">
                  <c:v>LWC10</c:v>
                </c:pt>
                <c:pt idx="4">
                  <c:v>LWC15</c:v>
                </c:pt>
              </c:strCache>
            </c:strRef>
          </c:cat>
          <c:val>
            <c:numRef>
              <c:f>Sheet1!$B$2:$B$6</c:f>
              <c:numCache>
                <c:formatCode>General</c:formatCode>
                <c:ptCount val="5"/>
                <c:pt idx="0">
                  <c:v>93.36</c:v>
                </c:pt>
                <c:pt idx="1">
                  <c:v>166.54</c:v>
                </c:pt>
                <c:pt idx="2">
                  <c:v>31.47</c:v>
                </c:pt>
                <c:pt idx="3">
                  <c:v>20.57</c:v>
                </c:pt>
                <c:pt idx="4">
                  <c:v>5.53</c:v>
                </c:pt>
              </c:numCache>
            </c:numRef>
          </c:val>
        </c:ser>
        <c:dLbls>
          <c:numFmt formatCode="0.00" sourceLinked="0"/>
          <c:txPr>
            <a:bodyPr/>
            <a:lstStyle/>
            <a:p>
              <a:pPr>
                <a:defRPr sz="750">
                  <a:solidFill>
                    <a:srgbClr val="172733"/>
                  </a:solidFill>
                  <a:latin typeface="Aptos"/>
                </a:defRPr>
              </a:pPr>
            </a:p>
          </c:txPr>
          <c:dLblPos val="outEnd"/>
          <c:showLegendKey val="0"/>
          <c:showVal val="1"/>
          <c:showCatName val="0"/>
          <c:showSerName val="0"/>
          <c:showPercent val="0"/>
          <c:showBubbleSize val="0"/>
          <c:showLeaderLines val="1"/>
        </c:dLbls>
        <c:gapWidth val="58"/>
        <c:axId val="-2068027336"/>
        <c:axId val="-2113994440"/>
      </c:barChart>
      <c:catAx>
        <c:axId val="-2068027336"/>
        <c:scaling>
          <c:orientation val="minMax"/>
        </c:scaling>
        <c:delete val="0"/>
        <c:axPos val="b"/>
        <c:majorTickMark val="out"/>
        <c:minorTickMark val="none"/>
        <c:tickLblPos val="nextTo"/>
        <c:spPr>
          <a:ln>
            <a:solidFill>
              <a:srgbClr val="D8E2E8"/>
            </a:solidFill>
          </a:ln>
        </c:spPr>
        <c:txPr>
          <a:bodyPr/>
          <a:lstStyle/>
          <a:p>
            <a:pPr>
              <a:defRPr sz="800">
                <a:latin typeface="Aptos"/>
              </a:defRPr>
            </a:pPr>
          </a:p>
        </c:txPr>
        <c:crossAx val="-2113994440"/>
        <c:crosses val="autoZero"/>
        <c:auto val="1"/>
        <c:lblAlgn val="ctr"/>
        <c:lblOffset val="100"/>
        <c:noMultiLvlLbl val="0"/>
      </c:catAx>
      <c:valAx>
        <c:axId val="-2113994440"/>
        <c:scaling>
          <c:max val="185.0"/>
          <c:min val="0.0"/>
        </c:scaling>
        <c:delete val="0"/>
        <c:axPos val="l"/>
        <c:majorGridlines>
          <c:spPr>
            <a:ln>
              <a:solidFill>
                <a:srgbClr val="D8E2E8"/>
              </a:solidFill>
            </a:ln>
          </c:spPr>
        </c:majorGridlines>
        <c:title>
          <c:tx>
            <c:rich>
              <a:bodyPr/>
              <a:lstStyle/>
              <a:p>
                <a:r>
                  <a:rPr sz="800"/>
                  <a:t>₹/(N·m)</a:t>
                </a:r>
              </a:p>
            </c:rich>
          </c:tx>
          <c:layout/>
          <c:overlay val="0"/>
        </c:title>
        <c:majorTickMark val="out"/>
        <c:minorTickMark val="none"/>
        <c:tickLblPos val="nextTo"/>
        <c:spPr>
          <a:ln>
            <a:solidFill>
              <a:srgbClr val="D8E2E8"/>
            </a:solidFill>
          </a:ln>
        </c:spPr>
        <c:txPr>
          <a:bodyPr/>
          <a:lstStyle/>
          <a:p>
            <a:pPr>
              <a:defRPr sz="750">
                <a:latin typeface="Aptos"/>
              </a:defRPr>
            </a:pPr>
          </a:p>
        </c:txPr>
        <c:crossAx val="-2068027336"/>
        <c:crosses val="autoZero"/>
      </c:valAx>
    </c:plotArea>
    <c:dispBlanksAs val="gap"/>
  </c:chart>
  <c:txPr>
    <a:bodyPr/>
    <a:lstStyle/>
    <a:p>
      <a:pPr>
        <a:defRPr sz="800">
          <a:solidFill>
            <a:srgbClr val="596C78"/>
          </a:solidFill>
          <a:latin typeface="Aptos"/>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Failure energy</c:v>
                </c:pt>
              </c:strCache>
            </c:strRef>
          </c:tx>
          <c:spPr>
            <a:solidFill>
              <a:srgbClr val="D95D5D"/>
            </a:solidFill>
            <a:ln>
              <a:solidFill>
                <a:srgbClr val="D95D5D"/>
              </a:solidFill>
            </a:ln>
          </c:spPr>
          <c:cat>
            <c:strRef>
              <c:f>Sheet1!$A$2:$A$3</c:f>
              <c:strCache>
                <c:ptCount val="2"/>
                <c:pt idx="0">
                  <c:v>NWC</c:v>
                </c:pt>
                <c:pt idx="1">
                  <c:v>LWC15</c:v>
                </c:pt>
              </c:strCache>
            </c:strRef>
          </c:cat>
          <c:val>
            <c:numRef>
              <c:f>Sheet1!$B$2:$B$3</c:f>
              <c:numCache>
                <c:formatCode>General</c:formatCode>
                <c:ptCount val="2"/>
                <c:pt idx="0">
                  <c:v>1373</c:v>
                </c:pt>
                <c:pt idx="1">
                  <c:v>2746</c:v>
                </c:pt>
              </c:numCache>
            </c:numRef>
          </c:val>
        </c:ser>
        <c:dLbls>
          <c:numFmt formatCode="0" sourceLinked="0"/>
          <c:txPr>
            <a:bodyPr/>
            <a:lstStyle/>
            <a:p>
              <a:pPr>
                <a:defRPr sz="750">
                  <a:solidFill>
                    <a:srgbClr val="172733"/>
                  </a:solidFill>
                  <a:latin typeface="Aptos"/>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b"/>
        <c:majorTickMark val="out"/>
        <c:minorTickMark val="none"/>
        <c:tickLblPos val="nextTo"/>
        <c:spPr>
          <a:ln>
            <a:solidFill>
              <a:srgbClr val="D8E2E8"/>
            </a:solidFill>
          </a:ln>
        </c:spPr>
        <c:txPr>
          <a:bodyPr/>
          <a:lstStyle/>
          <a:p>
            <a:pPr>
              <a:defRPr sz="800">
                <a:latin typeface="Aptos"/>
              </a:defRPr>
            </a:pPr>
          </a:p>
        </c:txPr>
        <c:crossAx val="-2113994440"/>
        <c:crosses val="autoZero"/>
        <c:auto val="1"/>
        <c:lblAlgn val="ctr"/>
        <c:lblOffset val="100"/>
        <c:noMultiLvlLbl val="0"/>
      </c:catAx>
      <c:valAx>
        <c:axId val="-2113994440"/>
        <c:scaling>
          <c:max val="3100.0"/>
          <c:min val="0.0"/>
        </c:scaling>
        <c:delete val="0"/>
        <c:axPos val="l"/>
        <c:majorGridlines>
          <c:spPr>
            <a:ln>
              <a:solidFill>
                <a:srgbClr val="D8E2E8"/>
              </a:solidFill>
            </a:ln>
          </c:spPr>
        </c:majorGridlines>
        <c:title>
          <c:tx>
            <c:rich>
              <a:bodyPr/>
              <a:lstStyle/>
              <a:p>
                <a:r>
                  <a:rPr sz="800"/>
                  <a:t>N·m</a:t>
                </a:r>
              </a:p>
            </c:rich>
          </c:tx>
          <c:layout/>
          <c:overlay val="0"/>
        </c:title>
        <c:majorTickMark val="out"/>
        <c:minorTickMark val="none"/>
        <c:tickLblPos val="nextTo"/>
        <c:spPr>
          <a:ln>
            <a:solidFill>
              <a:srgbClr val="D8E2E8"/>
            </a:solidFill>
          </a:ln>
        </c:spPr>
        <c:txPr>
          <a:bodyPr/>
          <a:lstStyle/>
          <a:p>
            <a:pPr>
              <a:defRPr sz="750">
                <a:latin typeface="Aptos"/>
              </a:defRPr>
            </a:pPr>
          </a:p>
        </c:txPr>
        <c:crossAx val="-2068027336"/>
        <c:crosses val="autoZero"/>
      </c:valAx>
    </c:plotArea>
    <c:dispBlanksAs val="gap"/>
  </c:chart>
  <c:txPr>
    <a:bodyPr/>
    <a:lstStyle/>
    <a:p>
      <a:pPr>
        <a:defRPr sz="800">
          <a:solidFill>
            <a:srgbClr val="596C78"/>
          </a:solidFill>
          <a:latin typeface="Aptos"/>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Deformation</c:v>
                </c:pt>
              </c:strCache>
            </c:strRef>
          </c:tx>
          <c:spPr>
            <a:solidFill>
              <a:srgbClr val="F39C3D"/>
            </a:solidFill>
            <a:ln>
              <a:solidFill>
                <a:srgbClr val="F39C3D"/>
              </a:solidFill>
            </a:ln>
          </c:spPr>
          <c:cat>
            <c:strRef>
              <c:f>Sheet1!$A$2:$A$3</c:f>
              <c:strCache>
                <c:ptCount val="2"/>
                <c:pt idx="0">
                  <c:v>NWC</c:v>
                </c:pt>
                <c:pt idx="1">
                  <c:v>LWC15</c:v>
                </c:pt>
              </c:strCache>
            </c:strRef>
          </c:cat>
          <c:val>
            <c:numRef>
              <c:f>Sheet1!$B$2:$B$3</c:f>
              <c:numCache>
                <c:formatCode>General</c:formatCode>
                <c:ptCount val="2"/>
                <c:pt idx="0">
                  <c:v>4.22</c:v>
                </c:pt>
                <c:pt idx="1">
                  <c:v>12.7</c:v>
                </c:pt>
              </c:numCache>
            </c:numRef>
          </c:val>
        </c:ser>
        <c:dLbls>
          <c:numFmt formatCode="0.00" sourceLinked="0"/>
          <c:txPr>
            <a:bodyPr/>
            <a:lstStyle/>
            <a:p>
              <a:pPr>
                <a:defRPr sz="750">
                  <a:solidFill>
                    <a:srgbClr val="172733"/>
                  </a:solidFill>
                  <a:latin typeface="Aptos"/>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b"/>
        <c:majorTickMark val="out"/>
        <c:minorTickMark val="none"/>
        <c:tickLblPos val="nextTo"/>
        <c:spPr>
          <a:ln>
            <a:solidFill>
              <a:srgbClr val="D8E2E8"/>
            </a:solidFill>
          </a:ln>
        </c:spPr>
        <c:txPr>
          <a:bodyPr/>
          <a:lstStyle/>
          <a:p>
            <a:pPr>
              <a:defRPr sz="800">
                <a:latin typeface="Aptos"/>
              </a:defRPr>
            </a:pPr>
          </a:p>
        </c:txPr>
        <c:crossAx val="-2113994440"/>
        <c:crosses val="autoZero"/>
        <c:auto val="1"/>
        <c:lblAlgn val="ctr"/>
        <c:lblOffset val="100"/>
        <c:noMultiLvlLbl val="0"/>
      </c:catAx>
      <c:valAx>
        <c:axId val="-2113994440"/>
        <c:scaling>
          <c:max val="15.0"/>
          <c:min val="0.0"/>
        </c:scaling>
        <c:delete val="0"/>
        <c:axPos val="l"/>
        <c:majorGridlines>
          <c:spPr>
            <a:ln>
              <a:solidFill>
                <a:srgbClr val="D8E2E8"/>
              </a:solidFill>
            </a:ln>
          </c:spPr>
        </c:majorGridlines>
        <c:title>
          <c:tx>
            <c:rich>
              <a:bodyPr/>
              <a:lstStyle/>
              <a:p>
                <a:r>
                  <a:rPr sz="800"/>
                  <a:t>mm</a:t>
                </a:r>
              </a:p>
            </c:rich>
          </c:tx>
          <c:layout/>
          <c:overlay val="0"/>
        </c:title>
        <c:majorTickMark val="out"/>
        <c:minorTickMark val="none"/>
        <c:tickLblPos val="nextTo"/>
        <c:spPr>
          <a:ln>
            <a:solidFill>
              <a:srgbClr val="D8E2E8"/>
            </a:solidFill>
          </a:ln>
        </c:spPr>
        <c:txPr>
          <a:bodyPr/>
          <a:lstStyle/>
          <a:p>
            <a:pPr>
              <a:defRPr sz="750">
                <a:latin typeface="Aptos"/>
              </a:defRPr>
            </a:pPr>
          </a:p>
        </c:txPr>
        <c:crossAx val="-2068027336"/>
        <c:crosses val="autoZero"/>
      </c:valAx>
    </c:plotArea>
    <c:dispBlanksAs val="gap"/>
  </c:chart>
  <c:txPr>
    <a:bodyPr/>
    <a:lstStyle/>
    <a:p>
      <a:pPr>
        <a:defRPr sz="800">
          <a:solidFill>
            <a:srgbClr val="596C78"/>
          </a:solidFill>
          <a:latin typeface="Apto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i="0">
                <a:solidFill>
                  <a:srgbClr val="172733"/>
                </a:solidFill>
                <a:latin typeface="Aptos"/>
              </a:rPr>
              <a:t>OPENING — approximately 45 seconds</a:t>
            </a:r>
          </a:p>
          <a:p/>
          <a:p>
            <a:r>
              <a:rPr sz="1200" b="0" i="0">
                <a:solidFill>
                  <a:srgbClr val="172733"/>
                </a:solidFill>
                <a:latin typeface="Aptos"/>
              </a:rPr>
              <a:t>• This presentation evaluates an experimentally reduced-to-practice material platform for impact-energy-dissipating crash barriers. It is not a legal patentability opinion.</a:t>
            </a:r>
          </a:p>
          <a:p>
            <a:r>
              <a:rPr sz="1200" b="0" i="0">
                <a:solidFill>
                  <a:srgbClr val="172733"/>
                </a:solidFill>
                <a:latin typeface="Aptos"/>
              </a:rPr>
              <a:t>• The invention team is Haruna Al-Amir Saleh, Pratik Kanungo, Dr Anush K. Chandrappa and Prof Dinakar Pasla, School of Infrastructure, IIT Bhubaneswar.</a:t>
            </a:r>
          </a:p>
          <a:p>
            <a:r>
              <a:rPr sz="1200" b="0" i="0">
                <a:solidFill>
                  <a:srgbClr val="172733"/>
                </a:solidFill>
                <a:latin typeface="Aptos"/>
              </a:rPr>
              <a:t>• The internal disclosure states that no patent had been filed as of 16 July 2026 and that a related manuscript was submitted on 18 July 2026. Treat this deck accordingly: EXTERNAL REDACTED DRAFT • IP STATUS TO CONFIRM • DISTRIBUTE ONLY WITH IITBBS IP APPROVAL.</a:t>
            </a:r>
          </a:p>
          <a:p>
            <a:r>
              <a:rPr sz="1200" b="0" i="0">
                <a:solidFill>
                  <a:srgbClr val="172733"/>
                </a:solidFill>
                <a:latin typeface="Aptos"/>
              </a:rPr>
              <a:t>• The central question is not whether the concrete is merely lighter. It is whether the tested combination creates a defensible, multi-mechanism improvement in energy absorption, post-cracking integrity and controlled damage while retaining structural-grade strength.</a:t>
            </a:r>
          </a:p>
          <a:p>
            <a:r>
              <a:rPr sz="1200" b="0" i="0">
                <a:solidFill>
                  <a:srgbClr val="172733"/>
                </a:solidFill>
                <a:latin typeface="Aptos"/>
              </a:rPr>
              <a:t>• The presentation separates measured evidence from proposed occupant-safety benefit. Full-scale vehicle testing is still required before any claim of reduced occupant injury or standards compliance.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i="0">
                <a:solidFill>
                  <a:srgbClr val="172733"/>
                </a:solidFill>
                <a:latin typeface="Aptos"/>
              </a:rPr>
              <a:t>KEY MESSAGE — approximately 60 seconds</a:t>
            </a:r>
          </a:p>
          <a:p/>
          <a:p>
            <a:r>
              <a:rPr sz="1200" b="0" i="0">
                <a:solidFill>
                  <a:srgbClr val="172733"/>
                </a:solidFill>
                <a:latin typeface="Aptos"/>
              </a:rPr>
              <a:t>• Lead with the evidence: relative to normal-weight concrete, the selected lightweight mixture has 19.4% lower reported density and 75.9% higher splitting tensile strength. In the repeated drop-weight prism test it absorbed 55.3 times the failure energy of NWC.</a:t>
            </a:r>
          </a:p>
          <a:p>
            <a:r>
              <a:rPr sz="1200" b="0" i="0">
                <a:solidFill>
                  <a:srgbClr val="172733"/>
                </a:solidFill>
                <a:latin typeface="Aptos"/>
              </a:rPr>
              <a:t>• At the barrier scale, the one-third model absorbed twice the cumulative pendulum energy before failure and deformed approximately three times as much as the NWC model. That is the most application-relevant result, but it is preliminary because only one barrier per mix was tested.</a:t>
            </a:r>
          </a:p>
          <a:p>
            <a:r>
              <a:rPr sz="1200" b="0" i="0">
                <a:solidFill>
                  <a:srgbClr val="172733"/>
                </a:solidFill>
                <a:latin typeface="Aptos"/>
              </a:rPr>
              <a:t>• The potentially protectable value is the integrated material architecture, crash-barrier application, dual energy-dissipation mechanism and demonstrated performance combination. Exact formulation and processing details are redacted from this version.</a:t>
            </a:r>
          </a:p>
          <a:p>
            <a:r>
              <a:rPr sz="1200" b="0" i="0">
                <a:solidFill>
                  <a:srgbClr val="172733"/>
                </a:solidFill>
                <a:latin typeface="Aptos"/>
              </a:rPr>
              <a:t>• Commercially, the material can use conventional concrete/precast infrastructure. The cost per unit of laboratory impact energy is favourable, but no lifecycle cost analysis or environmental life-cycle assessment has yet been performed.</a:t>
            </a:r>
          </a:p>
          <a:p>
            <a:r>
              <a:rPr sz="1200" b="0" i="0">
                <a:solidFill>
                  <a:srgbClr val="172733"/>
                </a:solidFill>
                <a:latin typeface="Aptos"/>
              </a:rPr>
              <a:t>• Do not state that occupant injury has been reduced. Say that the measured deformation and energy absorption support a hypothesis of lower force transmission that must be tested at full scale.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i="0">
                <a:solidFill>
                  <a:srgbClr val="172733"/>
                </a:solidFill>
                <a:latin typeface="Aptos"/>
              </a:rPr>
              <a:t>GLOBAL CONTEXT — approximately 75 seconds</a:t>
            </a:r>
          </a:p>
          <a:p/>
          <a:p>
            <a:r>
              <a:rPr sz="1200" b="0" i="0">
                <a:solidFill>
                  <a:srgbClr val="172733"/>
                </a:solidFill>
                <a:latin typeface="Aptos"/>
              </a:rPr>
              <a:t>• The global road-safety burden is about 1.19 million deaths annually. WHO estimates that 92% occur in low- and middle-income countries. The pie chart is a global dataset: 35% upper-middle, 44% lower-middle, 13% low-income and 8% high-income countries.</a:t>
            </a:r>
          </a:p>
          <a:p>
            <a:r>
              <a:rPr sz="1200" b="0" i="0">
                <a:solidFill>
                  <a:srgbClr val="172733"/>
                </a:solidFill>
                <a:latin typeface="Aptos"/>
              </a:rPr>
              <a:t>• At the same time, construction operates at planetary material scale: UNEP estimates 50 billion tonnes of sand and gravel are used each year; USGS estimates about 4.0 billion tonnes of cement were produced in 2024, while IEA reports direct cement-emissions intensity just under 0.6 tonnes of CO₂ per tonne.</a:t>
            </a:r>
          </a:p>
          <a:p>
            <a:r>
              <a:rPr sz="1200" b="0" i="0">
                <a:solidFill>
                  <a:srgbClr val="172733"/>
                </a:solidFill>
                <a:latin typeface="Aptos"/>
              </a:rPr>
              <a:t>• Coal combustion also generates more than one billion tonnes of fly ash annually by order of magnitude. Availability and specification vary regionally, so this figure supports the resource opportunity—not a guaranteed feedstock claim.</a:t>
            </a:r>
          </a:p>
          <a:p>
            <a:r>
              <a:rPr sz="1200" b="0" i="0">
                <a:solidFill>
                  <a:srgbClr val="172733"/>
                </a:solidFill>
                <a:latin typeface="Aptos"/>
              </a:rPr>
              <a:t>• The invention sits at the intersection of three needs: safer roadside infrastructure, lower self-weight and virgin-aggregate demand, and productive use of industrial by-products.</a:t>
            </a:r>
          </a:p>
          <a:p>
            <a:r>
              <a:rPr sz="1200" b="0" i="0">
                <a:solidFill>
                  <a:srgbClr val="172733"/>
                </a:solidFill>
                <a:latin typeface="Aptos"/>
              </a:rPr>
              <a:t>• Be explicit about the environmental boundary. The technology incorporates industrial by-product pathways, but aggregate processing and the reinforcing phase also carry embodied impacts; exact constituents are redacted. A comparative, region-specific LCA is required before claiming a net carbon reduction.</a:t>
            </a:r>
          </a:p>
          <a:p>
            <a:r>
              <a:rPr sz="1200" b="0" i="0">
                <a:solidFill>
                  <a:srgbClr val="172733"/>
                </a:solidFill>
                <a:latin typeface="Aptos"/>
              </a:rPr>
              <a:t>• Transition: global need alone does not establish novelty. The next slide maps the prior-art trade space.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i="0">
                <a:solidFill>
                  <a:srgbClr val="172733"/>
                </a:solidFill>
                <a:latin typeface="Aptos"/>
              </a:rPr>
              <a:t>PRIOR ART AND DIFFERENTIATION — approximately 90 seconds</a:t>
            </a:r>
          </a:p>
          <a:p/>
          <a:p>
            <a:r>
              <a:rPr sz="1200" b="0" i="0">
                <a:solidFill>
                  <a:srgbClr val="172733"/>
                </a:solidFill>
                <a:latin typeface="Aptos"/>
              </a:rPr>
              <a:t>• Conventional rigid concrete barriers are mature and effective for containment, but their low deflection can create a severe vehicle pulse, and brittle damage can generate debris under severe impact.</a:t>
            </a:r>
          </a:p>
          <a:p>
            <a:r>
              <a:rPr sz="1200" b="0" i="0">
                <a:solidFill>
                  <a:srgbClr val="172733"/>
                </a:solidFill>
                <a:latin typeface="Aptos"/>
              </a:rPr>
              <a:t>• Flexible and semi-rigid systems dissipate energy through global deflection, but require working width and post-impact repair. Rubberised, UHPC and ECC concepts each solve part of the problem, while introducing strength, cost, stiffness or processing trade-offs.</a:t>
            </a:r>
          </a:p>
          <a:p>
            <a:r>
              <a:rPr sz="1200" b="0" i="0">
                <a:solidFill>
                  <a:srgbClr val="172733"/>
                </a:solidFill>
                <a:latin typeface="Aptos"/>
              </a:rPr>
              <a:t>• A critical patentability point: prior conference literature includes lightweight concrete road-safety barrier concepts—for example Bonin and co-authors at the 2004 SIIV congress. Therefore, do not rely on a sweeping “first lightweight barrier” proposition.</a:t>
            </a:r>
          </a:p>
          <a:p>
            <a:r>
              <a:rPr sz="1200" b="0" i="0">
                <a:solidFill>
                  <a:srgbClr val="172733"/>
                </a:solidFill>
                <a:latin typeface="Aptos"/>
              </a:rPr>
              <a:t>• The narrower differentiation thesis is the protected integrated architecture, its crash-barrier use and the measured combination of structural strength, lower reported density, post-cracking impact resistance and controlled damage. Exact formulation details are intentionally omitted from this version.</a:t>
            </a:r>
          </a:p>
          <a:p>
            <a:r>
              <a:rPr sz="1200" b="0" i="0">
                <a:solidFill>
                  <a:srgbClr val="172733"/>
                </a:solidFill>
                <a:latin typeface="Aptos"/>
              </a:rPr>
              <a:t>• The literature and patent searches documented by the inventors are preliminary. A professional claim-by-claim patentability and freedom-to-operate search is still required, including material-platform, manufacturing, barrier-article and system-use claims.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i="0">
                <a:solidFill>
                  <a:srgbClr val="172733"/>
                </a:solidFill>
                <a:latin typeface="Aptos"/>
              </a:rPr>
              <a:t>MECHANISM — approximately 80 seconds</a:t>
            </a:r>
          </a:p>
          <a:p/>
          <a:p>
            <a:r>
              <a:rPr sz="1200" b="0" i="0">
                <a:solidFill>
                  <a:srgbClr val="172733"/>
                </a:solidFill>
                <a:latin typeface="Aptos"/>
              </a:rPr>
              <a:t>• The concept intentionally combines three functions. First, a porous lightweight phase can crush locally and contribute internal damping. Second, a discrete crack-bridging phase dissipates energy through progressive debonding, friction and pull-out. Third, a structural matrix maintains the load path. Exact constituent identity and proportions are redacted.</a:t>
            </a:r>
          </a:p>
          <a:p>
            <a:r>
              <a:rPr sz="1200" b="0" i="0">
                <a:solidFill>
                  <a:srgbClr val="172733"/>
                </a:solidFill>
                <a:latin typeface="Aptos"/>
              </a:rPr>
              <a:t>• The expected sequence is crack initiation, distributed bridging and controlled deformation, followed by progressive internal energy dissipation and improved residual integrity.</a:t>
            </a:r>
          </a:p>
          <a:p>
            <a:r>
              <a:rPr sz="1200" b="0" i="0">
                <a:solidFill>
                  <a:srgbClr val="172733"/>
                </a:solidFill>
                <a:latin typeface="Aptos"/>
              </a:rPr>
              <a:t>• This mechanism is consistent with published composite-material literature, but the invention’s value proposition is the protected integration and crash-barrier application supported by the experimental results.</a:t>
            </a:r>
          </a:p>
          <a:p>
            <a:r>
              <a:rPr sz="1200" b="0" i="0">
                <a:solidFill>
                  <a:srgbClr val="172733"/>
                </a:solidFill>
                <a:latin typeface="Aptos"/>
              </a:rPr>
              <a:t>• Phrase the final outcome carefully. The experiments demonstrate increased specimen deformation and cumulative absorbed energy. They do not directly demonstrate a lower peak vehicle force, reduced ASI or reduced occupant injury. Those remain mechanistically plausible validation targets.</a:t>
            </a:r>
          </a:p>
          <a:p>
            <a:r>
              <a:rPr sz="1200" b="0" i="0">
                <a:solidFill>
                  <a:srgbClr val="172733"/>
                </a:solidFill>
                <a:latin typeface="Aptos"/>
              </a:rPr>
              <a:t>• This redacted version should not be used to disclose formulation ranges or process controls. Release detailed claim-enabling information only after filing and IITBBS IP approval.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i="0">
                <a:solidFill>
                  <a:srgbClr val="172733"/>
                </a:solidFill>
                <a:latin typeface="Aptos"/>
              </a:rPr>
              <a:t>EXPERIMENTAL LOGIC — approximately 75 seconds</a:t>
            </a:r>
          </a:p>
          <a:p/>
          <a:p>
            <a:r>
              <a:rPr sz="1200" b="0" i="0">
                <a:solidFill>
                  <a:srgbClr val="172733"/>
                </a:solidFill>
                <a:latin typeface="Aptos"/>
              </a:rPr>
              <a:t>• The evidence was built in five layers: constituent characterization, mixture screening, static mechanical tests, repeated drop-weight impact testing and a one-third-scale barrier comparison.</a:t>
            </a:r>
          </a:p>
          <a:p>
            <a:r>
              <a:rPr sz="1200" b="0" i="0">
                <a:solidFill>
                  <a:srgbClr val="172733"/>
                </a:solidFill>
                <a:latin typeface="Aptos"/>
              </a:rPr>
              <a:t>• Four lightweight variants with progressively increasing crack-bridging reinforcement were evaluated alongside an M40 normal-weight reference; exact proportions are redacted.</a:t>
            </a:r>
          </a:p>
          <a:p>
            <a:r>
              <a:rPr sz="1200" b="0" i="0">
                <a:solidFill>
                  <a:srgbClr val="172733"/>
                </a:solidFill>
                <a:latin typeface="Aptos"/>
              </a:rPr>
              <a:t>• Static tests provide the strength and density boundary. The repeated impact test provides the key post-cracking energy evidence. Acceleration signals were processed to derive displacement. The selected highest-performing mixture was then used in a New Jersey barrier model and compared with NWC.</a:t>
            </a:r>
          </a:p>
          <a:p>
            <a:r>
              <a:rPr sz="1200" b="0" i="0">
                <a:solidFill>
                  <a:srgbClr val="172733"/>
                </a:solidFill>
                <a:latin typeface="Aptos"/>
              </a:rPr>
              <a:t>• This is a coherent reduction-to-practice chain and is valuable for enablement. However, the uncertainty reporting is incomplete. The article states that three cubes, three cylinders and four beams were cast per mix, but the impact result tables do not provide N1/N2 dispersion. Only one NWC and one selected lightweight barrier were cast.</a:t>
            </a:r>
          </a:p>
          <a:p>
            <a:r>
              <a:rPr sz="1200" b="0" i="0">
                <a:solidFill>
                  <a:srgbClr val="172733"/>
                </a:solidFill>
                <a:latin typeface="Aptos"/>
              </a:rPr>
              <a:t>• The deck therefore uses measured ratios as experimental observations—not as statistically generalized performance guarantees.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i="0">
                <a:solidFill>
                  <a:srgbClr val="172733"/>
                </a:solidFill>
                <a:latin typeface="Aptos"/>
              </a:rPr>
              <a:t>TESTED EMBODIMENTS — approximately 60 seconds</a:t>
            </a:r>
          </a:p>
          <a:p/>
          <a:p>
            <a:r>
              <a:rPr sz="1200" b="0" i="0">
                <a:solidFill>
                  <a:srgbClr val="172733"/>
                </a:solidFill>
                <a:latin typeface="Aptos"/>
              </a:rPr>
              <a:t>• The programme compares a normal-weight structural reference, an unreinforced lightweight control and three progressively reinforced lightweight variants.</a:t>
            </a:r>
          </a:p>
          <a:p>
            <a:r>
              <a:rPr sz="1200" b="0" i="0">
                <a:solidFill>
                  <a:srgbClr val="172733"/>
                </a:solidFill>
                <a:latin typeface="Aptos"/>
              </a:rPr>
              <a:t>• The highest-performing tested variant was selected for the barrier comparison because it maximized repeated-impact endurance and laboratory cost per unit of absorbed energy while maintaining strength above M40.</a:t>
            </a:r>
          </a:p>
          <a:p>
            <a:r>
              <a:rPr sz="1200" b="0" i="0">
                <a:solidFill>
                  <a:srgbClr val="172733"/>
                </a:solidFill>
                <a:latin typeface="Aptos"/>
              </a:rPr>
              <a:t>• Exact material identities, dosages, moisture-conditioning protocol, mixing sequence and quality-control limits are intentionally excluded from this external version.</a:t>
            </a:r>
          </a:p>
          <a:p>
            <a:r>
              <a:rPr sz="1200" b="0" i="0">
                <a:solidFill>
                  <a:srgbClr val="172733"/>
                </a:solidFill>
                <a:latin typeface="Aptos"/>
              </a:rPr>
              <a:t>• The source alternates between “wet” and “dry” density; the deck therefore uses the neutral phrase “reported density.”</a:t>
            </a:r>
          </a:p>
          <a:p>
            <a:r>
              <a:rPr sz="1200" b="0" i="0">
                <a:solidFill>
                  <a:srgbClr val="172733"/>
                </a:solidFill>
                <a:latin typeface="Aptos"/>
              </a:rPr>
              <a:t>• Do not provide the internal formulation table or related speaker notes to an external audience until the patent filing is complete and IITBBS IP approval is documented.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i="0">
                <a:solidFill>
                  <a:srgbClr val="172733"/>
                </a:solidFill>
                <a:latin typeface="Aptos"/>
              </a:rPr>
              <a:t>STATIC RESULTS — approximately 75 seconds</a:t>
            </a:r>
          </a:p>
          <a:p/>
          <a:p>
            <a:r>
              <a:rPr sz="1200" b="0" i="0">
                <a:solidFill>
                  <a:srgbClr val="172733"/>
                </a:solidFill>
                <a:latin typeface="Aptos"/>
              </a:rPr>
              <a:t>• The material clears the first gate: all mixtures are reported above the M40 target used for rigid crash barriers in the source.</a:t>
            </a:r>
          </a:p>
          <a:p>
            <a:r>
              <a:rPr sz="1200" b="0" i="0">
                <a:solidFill>
                  <a:srgbClr val="172733"/>
                </a:solidFill>
                <a:latin typeface="Aptos"/>
              </a:rPr>
              <a:t>• The selected LWC15 mixture has a reported density of 1,987 kg per cubic metre versus 2,466 for NWC—a 19.4% reduction. Because the manuscript alternates between wet and dry density, describe this as the reported value until the test basis is confirmed.</a:t>
            </a:r>
          </a:p>
          <a:p>
            <a:r>
              <a:rPr sz="1200" b="0" i="0">
                <a:solidFill>
                  <a:srgbClr val="172733"/>
                </a:solidFill>
                <a:latin typeface="Aptos"/>
              </a:rPr>
              <a:t>• Compressive strength is not the main source of the impact benefit, but it is preserved. LWC10 has the maximum measured value at 56.8 MPa; LWC15 remains at 55.4 MPa, 11.7% above NWC.</a:t>
            </a:r>
          </a:p>
          <a:p>
            <a:r>
              <a:rPr sz="1200" b="0" i="0">
                <a:solidFill>
                  <a:srgbClr val="172733"/>
                </a:solidFill>
                <a:latin typeface="Aptos"/>
              </a:rPr>
              <a:t>• The more important shift is tensile: LWC15 reaches 7.60 MPa versus 4.32 MPa for NWC, a 75.9% increase. This supports crack bridging and post-cracking integrity.</a:t>
            </a:r>
          </a:p>
          <a:p>
            <a:r>
              <a:rPr sz="1200" b="0" i="0">
                <a:solidFill>
                  <a:srgbClr val="172733"/>
                </a:solidFill>
                <a:latin typeface="Aptos"/>
              </a:rPr>
              <a:t>• The manufacturing trade-off is workability. Slump decreases to 87 mm at the highest fibre content. Mixing energy, fibre addition rate, moisture condition and compaction therefore belong in the process know-how and quality-control package.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i="0">
                <a:solidFill>
                  <a:srgbClr val="172733"/>
                </a:solidFill>
                <a:latin typeface="Aptos"/>
              </a:rPr>
              <a:t>REPEATED-IMPACT METHOD — approximately 75 seconds</a:t>
            </a:r>
          </a:p>
          <a:p/>
          <a:p>
            <a:r>
              <a:rPr sz="1200" b="0" i="0">
                <a:solidFill>
                  <a:srgbClr val="172733"/>
                </a:solidFill>
                <a:latin typeface="Aptos"/>
              </a:rPr>
              <a:t>• The prism test uses a 13.5-kilogram hammer dropped 100 millimetres onto a simply supported 100-by-100-by-500-millimetre beam. Each impact supplies approximately 13.24 joules.</a:t>
            </a:r>
          </a:p>
          <a:p>
            <a:r>
              <a:rPr sz="1200" b="0" i="0">
                <a:solidFill>
                  <a:srgbClr val="172733"/>
                </a:solidFill>
                <a:latin typeface="Aptos"/>
              </a:rPr>
              <a:t>• N1 is the number of blows to the first visible crack; N2 is the number to complete failure. Multiplying the counts by mgh gives first-crack and failure energy.</a:t>
            </a:r>
          </a:p>
          <a:p>
            <a:r>
              <a:rPr sz="1200" b="0" i="0">
                <a:solidFill>
                  <a:srgbClr val="172733"/>
                </a:solidFill>
                <a:latin typeface="Aptos"/>
              </a:rPr>
              <a:t>• This test is especially useful for the invention because the differentiating mechanism is expected after cracking. The gap N2 minus N1 is a direct, if simplified, indicator of residual post-cracking endurance.</a:t>
            </a:r>
          </a:p>
          <a:p>
            <a:r>
              <a:rPr sz="1200" b="0" i="0">
                <a:solidFill>
                  <a:srgbClr val="172733"/>
                </a:solidFill>
                <a:latin typeface="Aptos"/>
              </a:rPr>
              <a:t>• An accelerometer recorded the first-impact response. The manuscript describes linear detrending, a fourth-order zero-phase Butterworth high-pass filter at 3 hertz, trapezoidal integration, drift correction and a second integration to derive displacement.</a:t>
            </a:r>
          </a:p>
          <a:p>
            <a:r>
              <a:rPr sz="1200" b="0" i="0">
                <a:solidFill>
                  <a:srgbClr val="172733"/>
                </a:solidFill>
                <a:latin typeface="Aptos"/>
              </a:rPr>
              <a:t>• This is technically stronger than relying only on compressive strength. However, repeated low-velocity drop-weight tests are screening tests—not a substitute for a full-scale oblique vehicle–barrier crash under MASH, EN 1317 or the applicable IRC protocol.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i="0">
                <a:solidFill>
                  <a:srgbClr val="172733"/>
                </a:solidFill>
                <a:latin typeface="Aptos"/>
              </a:rPr>
              <a:t>PRISM IMPACT RESULTS — approximately 80 seconds</a:t>
            </a:r>
          </a:p>
          <a:p/>
          <a:p>
            <a:r>
              <a:rPr sz="1200" b="0" i="0">
                <a:solidFill>
                  <a:srgbClr val="172733"/>
                </a:solidFill>
                <a:latin typeface="Aptos"/>
              </a:rPr>
              <a:t>• Plain lightweight concrete is more brittle than NWC in this test: LWC00 fails after two blows and absorbs 26.49 newton-metres.</a:t>
            </a:r>
          </a:p>
          <a:p>
            <a:r>
              <a:rPr sz="1200" b="0" i="0">
                <a:solidFill>
                  <a:srgbClr val="172733"/>
                </a:solidFill>
                <a:latin typeface="Aptos"/>
              </a:rPr>
              <a:t>• Progressive crack-bridging reinforcement changes the response nonlinearly. The three reinforced variants reach 264.9, 596.0 and 2,927.8 newton-metres at failure, respectively.</a:t>
            </a:r>
          </a:p>
          <a:p>
            <a:r>
              <a:rPr sz="1200" b="0" i="0">
                <a:solidFill>
                  <a:srgbClr val="172733"/>
                </a:solidFill>
                <a:latin typeface="Aptos"/>
              </a:rPr>
              <a:t>• Relative to NWC, LWC15 absorbs 55.3 times the cumulative failure energy. Relative to the plain lightweight control, the factor is 110.5. These very large ratios are driven by post-cracking endurance rather than a comparable increase in compressive strength.</a:t>
            </a:r>
          </a:p>
          <a:p>
            <a:r>
              <a:rPr sz="1200" b="0" i="0">
                <a:solidFill>
                  <a:srgbClr val="172733"/>
                </a:solidFill>
                <a:latin typeface="Aptos"/>
              </a:rPr>
              <a:t>• LWC15 cracks after 35 blows but does not fail until 221 blows, leaving 186 blows in the post-cracking phase. This directly supports the crack-bridging and fibre pull-out mechanism.</a:t>
            </a:r>
          </a:p>
          <a:p>
            <a:r>
              <a:rPr sz="1200" b="0" i="0">
                <a:solidFill>
                  <a:srgbClr val="172733"/>
                </a:solidFill>
                <a:latin typeface="Aptos"/>
              </a:rPr>
              <a:t>• Use the magnitude as strong experimental evidence, but avoid implying a universal material factor. The table does not report dispersion for N1 and N2, and drop-weight impact counts often show high variability. Repeat testing with raw specimen-level data and a suitable statistical model should be a next-step validation task.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i="0">
                <a:solidFill>
                  <a:srgbClr val="172733"/>
                </a:solidFill>
                <a:latin typeface="Aptos"/>
              </a:rPr>
              <a:t>DEFORMATION AND MECHANISM — approximately 75 seconds</a:t>
            </a:r>
          </a:p>
          <a:p/>
          <a:p>
            <a:r>
              <a:rPr sz="1200" b="0" i="0">
                <a:solidFill>
                  <a:srgbClr val="172733"/>
                </a:solidFill>
                <a:latin typeface="Aptos"/>
              </a:rPr>
              <a:t>• Peak displacement after the first impact rises sharply with reinforcement. The intermediate high-reinforcement variant reaches 0.85 millimetres and the selected variant reaches 0.71, compared with 0.28 for NWC and only 0.08 for plain LWC.</a:t>
            </a:r>
          </a:p>
          <a:p>
            <a:r>
              <a:rPr sz="1200" b="0" i="0">
                <a:solidFill>
                  <a:srgbClr val="172733"/>
                </a:solidFill>
                <a:latin typeface="Aptos"/>
              </a:rPr>
              <a:t>• The lower displacement of plain LWC should not be interpreted as superior stiffness. In the context of its immediate failure, it indicates a brittle, low-deformation response.</a:t>
            </a:r>
          </a:p>
          <a:p>
            <a:r>
              <a:rPr sz="1200" b="0" i="0">
                <a:solidFill>
                  <a:srgbClr val="172733"/>
                </a:solidFill>
                <a:latin typeface="Aptos"/>
              </a:rPr>
              <a:t>• The selected variant is slightly less deformable than the preceding variant on the first impact, plausibly because the denser reinforcement network increases stiffness. Yet it has vastly greater repeated-impact endurance. First-impact displacement and cumulative post-cracking toughness are different response dimensions.</a:t>
            </a:r>
          </a:p>
          <a:p>
            <a:r>
              <a:rPr sz="1200" b="0" i="0">
                <a:solidFill>
                  <a:srgbClr val="172733"/>
                </a:solidFill>
                <a:latin typeface="Aptos"/>
              </a:rPr>
              <a:t>• The protected material mechanism couples local crushing in an energy-absorbing phase with bridging, debonding and frictional pull-out in a reinforcing phase. Constituent identity and proportions remain redacted.</a:t>
            </a:r>
          </a:p>
          <a:p>
            <a:r>
              <a:rPr sz="1200" b="0" i="0">
                <a:solidFill>
                  <a:srgbClr val="172733"/>
                </a:solidFill>
                <a:latin typeface="Aptos"/>
              </a:rPr>
              <a:t>• The source supplies standard deviations for displacement; a future analysis should present full time histories, filtering sensitivity, uncertainty bands and independent displacement verification, because double integration of acceleration is sensitive to drift and cutoff selection.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i="0">
                <a:solidFill>
                  <a:srgbClr val="172733"/>
                </a:solidFill>
                <a:latin typeface="Aptos"/>
              </a:rPr>
              <a:t>TECHNO-ECONOMIC RESULT — approximately 80 seconds</a:t>
            </a:r>
          </a:p>
          <a:p/>
          <a:p>
            <a:r>
              <a:rPr sz="1200" b="0" i="0">
                <a:solidFill>
                  <a:srgbClr val="172733"/>
                </a:solidFill>
                <a:latin typeface="Aptos"/>
              </a:rPr>
              <a:t>• The selected lightweight variant is not the cheapest concrete. Its inventor-estimated material cost is about 16,192 rupees per cubic metre, 3.27 times NWC, primarily because of the high reinforcement dosage.</a:t>
            </a:r>
          </a:p>
          <a:p>
            <a:r>
              <a:rPr sz="1200" b="0" i="0">
                <a:solidFill>
                  <a:srgbClr val="172733"/>
                </a:solidFill>
                <a:latin typeface="Aptos"/>
              </a:rPr>
              <a:t>• The relevant engineering denominator is failure energy. When the reported prism impact capacity is included, LWC15 costs 5.53 rupees per newton-metre versus 93.36 for NWC—about 16.9 times better on this laboratory metric.</a:t>
            </a:r>
          </a:p>
          <a:p>
            <a:r>
              <a:rPr sz="1200" b="0" i="0">
                <a:solidFill>
                  <a:srgbClr val="172733"/>
                </a:solidFill>
                <a:latin typeface="Aptos"/>
              </a:rPr>
              <a:t>• This supports selection of LWC15 for the barrier test and creates a compelling value narrative: pay more per unit volume, receive substantially more post-cracking impact capacity.</a:t>
            </a:r>
          </a:p>
          <a:p>
            <a:r>
              <a:rPr sz="1200" b="0" i="0">
                <a:solidFill>
                  <a:srgbClr val="172733"/>
                </a:solidFill>
                <a:latin typeface="Aptos"/>
              </a:rPr>
              <a:t>• Keep the boundary explicit. This is not a full barrier cost, lifecycle cost or cost-benefit analysis. It omits reinforcement, formwork, labour, transport, curing, installation, repair frequency, downtime and uncertainty. Prices are local and time-specific.</a:t>
            </a:r>
          </a:p>
          <a:p>
            <a:r>
              <a:rPr sz="1200" b="0" i="0">
                <a:solidFill>
                  <a:srgbClr val="172733"/>
                </a:solidFill>
                <a:latin typeface="Aptos"/>
              </a:rPr>
              <a:t>• The commercial study should therefore compare complete installed systems and include lower transport mass, bridge-deck dead load, expected repair after impact, quality-control cost, industrial-aggregate logistics and any savings from modular precast deployment.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i="0">
                <a:solidFill>
                  <a:srgbClr val="172733"/>
                </a:solidFill>
                <a:latin typeface="Aptos"/>
              </a:rPr>
              <a:t>SCALED BARRIER TEST — approximately 80 seconds</a:t>
            </a:r>
          </a:p>
          <a:p/>
          <a:p>
            <a:r>
              <a:rPr sz="1200" b="0" i="0">
                <a:solidFill>
                  <a:srgbClr val="172733"/>
                </a:solidFill>
                <a:latin typeface="Aptos"/>
              </a:rPr>
              <a:t>• To move beyond material coupons, the team fabricated one-third-scale New Jersey-profile barriers using NWC and the selected LWC15 mixture.</a:t>
            </a:r>
          </a:p>
          <a:p>
            <a:r>
              <a:rPr sz="1200" b="0" i="0">
                <a:solidFill>
                  <a:srgbClr val="172733"/>
                </a:solidFill>
                <a:latin typeface="Aptos"/>
              </a:rPr>
              <a:t>• The dimensions were reduced by a factor of three, and a pendulum rig applied repeated impact at mid-height. The impactor mass was 40 kilograms, the vertical rise 0.35 metres and the energy approximately 137.3 joules per blow.</a:t>
            </a:r>
          </a:p>
          <a:p>
            <a:r>
              <a:rPr sz="1200" b="0" i="0">
                <a:solidFill>
                  <a:srgbClr val="172733"/>
                </a:solidFill>
                <a:latin typeface="Aptos"/>
              </a:rPr>
              <a:t>• An accelerometer on the rear face captured the response for the same filtering and integration workflow used in the beam tests.</a:t>
            </a:r>
          </a:p>
          <a:p>
            <a:r>
              <a:rPr sz="1200" b="0" i="0">
                <a:solidFill>
                  <a:srgbClr val="172733"/>
                </a:solidFill>
                <a:latin typeface="Aptos"/>
              </a:rPr>
              <a:t>• This experiment is valuable as an application-scale proof of concept and supports reduction to practice. It also provides comparative failure patterns and cumulative impact energy.</a:t>
            </a:r>
          </a:p>
          <a:p>
            <a:r>
              <a:rPr sz="1200" b="0" i="0">
                <a:solidFill>
                  <a:srgbClr val="172733"/>
                </a:solidFill>
                <a:latin typeface="Aptos"/>
              </a:rPr>
              <a:t>• It is not a standards-compliant crash test. Geometric similarity alone does not guarantee similitude of strain rate, fracture, reinforcement bond, contact, mass, velocity and gravity effects. The specimen was restrained, and there was no vehicle to evaluate containment, redirection, wheel climb, rollover, occupant compartment intrusion, ASI or THIV.</a:t>
            </a:r>
          </a:p>
          <a:p>
            <a:r>
              <a:rPr sz="1200" b="0" i="0">
                <a:solidFill>
                  <a:srgbClr val="172733"/>
                </a:solidFill>
                <a:latin typeface="Aptos"/>
              </a:rPr>
              <a:t>• Also note the sample size: one barrier per material. Treat the result as preliminary but decision-relevant.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i="0">
                <a:solidFill>
                  <a:srgbClr val="172733"/>
                </a:solidFill>
                <a:latin typeface="Aptos"/>
              </a:rPr>
              <a:t>BARRIER RESULTS — approximately 90 seconds</a:t>
            </a:r>
          </a:p>
          <a:p/>
          <a:p>
            <a:r>
              <a:rPr sz="1200" b="0" i="0">
                <a:solidFill>
                  <a:srgbClr val="172733"/>
                </a:solidFill>
                <a:latin typeface="Aptos"/>
              </a:rPr>
              <a:t>• The application-scale result points in the same direction as the prism tests. The NWC barrier failed after 10 blows and 1,373 newton-metres; LWC15 reached 20 blows and 2,746 newton-metres—exactly twice the cumulative impact energy in the reported setup.</a:t>
            </a:r>
          </a:p>
          <a:p>
            <a:r>
              <a:rPr sz="1200" b="0" i="0">
                <a:solidFill>
                  <a:srgbClr val="172733"/>
                </a:solidFill>
                <a:latin typeface="Aptos"/>
              </a:rPr>
              <a:t>• Peak deformation increased from 4.22 to 12.70 millimetres, a factor of approximately 3.01. Controlled deformation is consistent with the intended energy-dissipation philosophy.</a:t>
            </a:r>
          </a:p>
          <a:p>
            <a:r>
              <a:rPr sz="1200" b="0" i="0">
                <a:solidFill>
                  <a:srgbClr val="172733"/>
                </a:solidFill>
                <a:latin typeface="Aptos"/>
              </a:rPr>
              <a:t>• The failure photographs show a broader, more brittle crack and large localized fragments in NWC, while LWC15 exhibits a narrower crack path and finer, more distributed debris after more impacts.</a:t>
            </a:r>
          </a:p>
          <a:p>
            <a:r>
              <a:rPr sz="1200" b="0" i="0">
                <a:solidFill>
                  <a:srgbClr val="172733"/>
                </a:solidFill>
                <a:latin typeface="Aptos"/>
              </a:rPr>
              <a:t>• That fragmentation finding is qualitative. A stronger patent and commercialization evidence package should sieve and weigh debris, map crack width and density, measure ejection velocity, and assess residual load capacity after prescribed impacts.</a:t>
            </a:r>
          </a:p>
          <a:p>
            <a:r>
              <a:rPr sz="1200" b="0" i="0">
                <a:solidFill>
                  <a:srgbClr val="172733"/>
                </a:solidFill>
                <a:latin typeface="Aptos"/>
              </a:rPr>
              <a:t>• Because n equals one per mix, do not attach confidence intervals or claim a guaranteed two-times product performance. State that the single comparative barrier experiment reproduced the direction of the material-level benefit and justifies replicated/full-scale validation.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i="0">
                <a:solidFill>
                  <a:srgbClr val="172733"/>
                </a:solidFill>
                <a:latin typeface="Aptos"/>
              </a:rPr>
              <a:t>EVIDENCE-TO-VALUE MAP — approximately 75 seconds</a:t>
            </a:r>
          </a:p>
          <a:p/>
          <a:p>
            <a:r>
              <a:rPr sz="1200" b="0" i="0">
                <a:solidFill>
                  <a:srgbClr val="172733"/>
                </a:solidFill>
                <a:latin typeface="Aptos"/>
              </a:rPr>
              <a:t>• This slide separates measured performance from the protectable value categories that may be relevant after filing.</a:t>
            </a:r>
          </a:p>
          <a:p>
            <a:r>
              <a:rPr sz="1200" b="0" i="0">
                <a:solidFill>
                  <a:srgbClr val="172733"/>
                </a:solidFill>
                <a:latin typeface="Aptos"/>
              </a:rPr>
              <a:t>• Static strength, tensile resistance, repeated-impact energy, scaled-barrier response and observed damage control together support a coherent technology platform.</a:t>
            </a:r>
          </a:p>
          <a:p>
            <a:r>
              <a:rPr sz="1200" b="0" i="0">
                <a:solidFill>
                  <a:srgbClr val="172733"/>
                </a:solidFill>
                <a:latin typeface="Aptos"/>
              </a:rPr>
              <a:t>• The barrier result remains preliminary because only one barrier per material was tested and no standards-compliant vehicle test was performed.</a:t>
            </a:r>
          </a:p>
          <a:p>
            <a:r>
              <a:rPr sz="1200" b="0" i="0">
                <a:solidFill>
                  <a:srgbClr val="172733"/>
                </a:solidFill>
                <a:latin typeface="Aptos"/>
              </a:rPr>
              <a:t>• Detailed composition ranges, processing parameters, conditioning controls and claim fallbacks are intentionally excluded from this external presentation.</a:t>
            </a:r>
          </a:p>
          <a:p>
            <a:r>
              <a:rPr sz="1200" b="0" i="0">
                <a:solidFill>
                  <a:srgbClr val="172733"/>
                </a:solidFill>
                <a:latin typeface="Aptos"/>
              </a:rPr>
              <a:t>• Do not answer external questions about formulation or manufacturing specifics from memory. Refer them to the IITBBS technology-transfer/IP team after filing and approval.</a:t>
            </a:r>
          </a:p>
          <a:p>
            <a:r>
              <a:rPr sz="1200" b="0" i="0">
                <a:solidFill>
                  <a:srgbClr val="172733"/>
                </a:solidFill>
                <a:latin typeface="Aptos"/>
              </a:rPr>
              <a:t>• The claim/value structure shown here is a technical communication aid, not legal advice or a patentability assurance.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i="0">
                <a:solidFill>
                  <a:srgbClr val="172733"/>
                </a:solidFill>
                <a:latin typeface="Aptos"/>
              </a:rPr>
              <a:t>TRANSLATION ROADMAP — approximately 90 seconds</a:t>
            </a:r>
          </a:p>
          <a:p/>
          <a:p>
            <a:r>
              <a:rPr sz="1200" b="0" i="0">
                <a:solidFill>
                  <a:srgbClr val="172733"/>
                </a:solidFill>
                <a:latin typeface="Aptos"/>
              </a:rPr>
              <a:t>• The immediate action is protection: reconcile the technical record, complete professional searching and file before any publication, conference presentation, industry pitch or external distribution.</a:t>
            </a:r>
          </a:p>
          <a:p>
            <a:r>
              <a:rPr sz="1200" b="0" i="0">
                <a:solidFill>
                  <a:srgbClr val="172733"/>
                </a:solidFill>
                <a:latin typeface="Aptos"/>
              </a:rPr>
              <a:t>• In the first six months, repeat the key tests with specimen-level data, quantify uncertainty, resolve the method and density conflicts, replicate barrier specimens and turn fragmentation into a measured particle-size, mass and velocity dataset.</a:t>
            </a:r>
          </a:p>
          <a:p>
            <a:r>
              <a:rPr sz="1200" b="0" i="0">
                <a:solidFill>
                  <a:srgbClr val="172733"/>
                </a:solidFill>
                <a:latin typeface="Aptos"/>
              </a:rPr>
              <a:t>• In parallel, calibrate an LS-DYNA or ABAQUS vehicle–barrier model against the experiments, and add durability, corrosion, environmental exposure, repeated-impact and repairability studies.</a:t>
            </a:r>
          </a:p>
          <a:p>
            <a:r>
              <a:rPr sz="1200" b="0" i="0">
                <a:solidFill>
                  <a:srgbClr val="172733"/>
                </a:solidFill>
                <a:latin typeface="Aptos"/>
              </a:rPr>
              <a:t>• The decisive commercialization gate is a full-scale vehicle crash conducted to the required jurisdictional standard. It must evaluate containment, redirection, stability, debris, occupant compartment performance and occupant-risk measures such as ASI or THIV where applicable.</a:t>
            </a:r>
          </a:p>
          <a:p>
            <a:r>
              <a:rPr sz="1200" b="0" i="0">
                <a:solidFill>
                  <a:srgbClr val="172733"/>
                </a:solidFill>
                <a:latin typeface="Aptos"/>
              </a:rPr>
              <a:t>• A pilot then needs precast quality controls and protected material/process acceptance limits, a full installed-system cost model and comparative LCA.</a:t>
            </a:r>
          </a:p>
          <a:p>
            <a:r>
              <a:rPr sz="1200" b="0" i="0">
                <a:solidFill>
                  <a:srgbClr val="172733"/>
                </a:solidFill>
                <a:latin typeface="Aptos"/>
              </a:rPr>
              <a:t>• Candidate partners listed by the inventors include CRRI, MoRTH/NHAI, state PWDs, precast manufacturers, barrier suppliers and major infrastructure contractors.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i="0">
                <a:solidFill>
                  <a:srgbClr val="172733"/>
                </a:solidFill>
                <a:latin typeface="Aptos"/>
              </a:rPr>
              <a:t>CLOSE — approximately 60 seconds</a:t>
            </a:r>
          </a:p>
          <a:p/>
          <a:p>
            <a:r>
              <a:rPr sz="1200" b="0" i="0">
                <a:solidFill>
                  <a:srgbClr val="172733"/>
                </a:solidFill>
                <a:latin typeface="Aptos"/>
              </a:rPr>
              <a:t>• The recommendation is to proceed with a focused patent filing, because the team has reduced the concept to practice and demonstrated a distinctive combination of lower reported density, retained structural strength, major repeated-impact endurance and a positive one-third-scale barrier result.</a:t>
            </a:r>
          </a:p>
          <a:p>
            <a:r>
              <a:rPr sz="1200" b="0" i="0">
                <a:solidFill>
                  <a:srgbClr val="172733"/>
                </a:solidFill>
                <a:latin typeface="Aptos"/>
              </a:rPr>
              <a:t>• The evidence does not yet support a certified occupant-safety claim. The commercial release gate must be a full-scale standards-compliant vehicle test with occupant-risk, containment, redirection, stability and debris criteria.</a:t>
            </a:r>
          </a:p>
          <a:p>
            <a:r>
              <a:rPr sz="1200" b="0" i="0">
                <a:solidFill>
                  <a:srgbClr val="172733"/>
                </a:solidFill>
                <a:latin typeface="Aptos"/>
              </a:rPr>
              <a:t>• Four approvals are requested: authorize professional drafting and searching; coordinate or pause public disclosure until filing; fund a staged validation programme; and engage a crash-test/precast partner.</a:t>
            </a:r>
          </a:p>
          <a:p>
            <a:r>
              <a:rPr sz="1200" b="0" i="0">
                <a:solidFill>
                  <a:srgbClr val="172733"/>
                </a:solidFill>
                <a:latin typeface="Aptos"/>
              </a:rPr>
              <a:t>• The claim strategy should protect the integrated platform rather than a single recipe: material composition and ranges, process controls, a barrier article, and the use/performance relationship where legally enabled.</a:t>
            </a:r>
          </a:p>
          <a:p>
            <a:r>
              <a:rPr sz="1200" b="0" i="0">
                <a:solidFill>
                  <a:srgbClr val="172733"/>
                </a:solidFill>
                <a:latin typeface="Aptos"/>
              </a:rPr>
              <a:t>• Final line: protect the invention now, validate the occupant benefit next, and commercialize only after the full-scale safety gate is passed.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i="0">
                <a:solidFill>
                  <a:srgbClr val="172733"/>
                </a:solidFill>
                <a:latin typeface="Aptos"/>
              </a:rPr>
              <a:t>REFERENCE SLIDE — do not normally read aloud.</a:t>
            </a:r>
          </a:p>
          <a:p/>
          <a:p>
            <a:r>
              <a:rPr sz="1200" b="0" i="0">
                <a:solidFill>
                  <a:srgbClr val="172733"/>
                </a:solidFill>
                <a:latin typeface="Aptos"/>
              </a:rPr>
              <a:t>• These are the primary inventor documents, global datasets and design/test standards used in the presentation.</a:t>
            </a:r>
          </a:p>
          <a:p>
            <a:r>
              <a:rPr sz="1200" b="0" i="0">
                <a:solidFill>
                  <a:srgbClr val="172733"/>
                </a:solidFill>
                <a:latin typeface="Aptos"/>
              </a:rPr>
              <a:t>• The inventor manuscript is not represented as published or peer reviewed. It is identified as an inventor-supplied manuscript submitted on 18 July 2026.</a:t>
            </a:r>
          </a:p>
          <a:p>
            <a:r>
              <a:rPr sz="1200" b="0" i="0">
                <a:solidFill>
                  <a:srgbClr val="172733"/>
                </a:solidFill>
                <a:latin typeface="Aptos"/>
              </a:rPr>
              <a:t>• The WHO global road-death distribution, UNEP materials estimate, USGS cement-production estimate and IEA cement-emissions context are independently sourced.</a:t>
            </a:r>
          </a:p>
          <a:p>
            <a:r>
              <a:rPr sz="1200" b="0" i="0">
                <a:solidFill>
                  <a:srgbClr val="172733"/>
                </a:solidFill>
                <a:latin typeface="Aptos"/>
              </a:rPr>
              <a:t>• Confirm the current editions and legal applicability of IRC, BIS, ACI, MASH and EN 1317 requirements with the intended certification authority before test planning or product claims.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i="0">
                <a:solidFill>
                  <a:srgbClr val="172733"/>
                </a:solidFill>
                <a:latin typeface="Aptos"/>
              </a:rPr>
              <a:t>REFERENCE SLIDE — do not normally read aloud.</a:t>
            </a:r>
          </a:p>
          <a:p/>
          <a:p>
            <a:r>
              <a:rPr sz="1200" b="0" i="0">
                <a:solidFill>
                  <a:srgbClr val="172733"/>
                </a:solidFill>
                <a:latin typeface="Aptos"/>
              </a:rPr>
              <a:t>• This list deliberately includes both reputable journal literature and conference/symposium proceedings relevant to concrete-barrier crashworthiness and lightweight material concepts.</a:t>
            </a:r>
          </a:p>
          <a:p>
            <a:r>
              <a:rPr sz="1200" b="0" i="0">
                <a:solidFill>
                  <a:srgbClr val="172733"/>
                </a:solidFill>
                <a:latin typeface="Aptos"/>
              </a:rPr>
              <a:t>• Bonin et al. is particularly important for novelty framing because it shows that lightweight-concrete road-safety barrier concepts existed before this invention. The proposed patent position must therefore be narrower and evidence-led.</a:t>
            </a:r>
          </a:p>
          <a:p>
            <a:r>
              <a:rPr sz="1200" b="0" i="0">
                <a:solidFill>
                  <a:srgbClr val="172733"/>
                </a:solidFill>
                <a:latin typeface="Aptos"/>
              </a:rPr>
              <a:t>• The literature supports the plausibility of fibre bridging, lightweight-aggregate energy dissipation and the importance of occupant-risk metrics; it does not independently validate the exact invented formulation.</a:t>
            </a:r>
          </a:p>
          <a:p>
            <a:r>
              <a:rPr sz="1200" b="0" i="0">
                <a:solidFill>
                  <a:srgbClr val="172733"/>
                </a:solidFill>
                <a:latin typeface="Aptos"/>
              </a:rPr>
              <a:t>• A patent professional should expand this literature review into a jurisdiction-specific patentability and freedom-to-operate search before claims are finalized.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chart" Target="../charts/char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chart" Target="../charts/chart2.xml"/><Relationship Id="rId4" Type="http://schemas.openxmlformats.org/officeDocument/2006/relationships/chart" Target="../charts/chart3.xml"/><Relationship Id="rId5" Type="http://schemas.openxmlformats.org/officeDocument/2006/relationships/chart" Target="../charts/chart4.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chart" Target="../charts/chart5.xml"/><Relationship Id="rId4" Type="http://schemas.openxmlformats.org/officeDocument/2006/relationships/chart" Target="../charts/chart6.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chart" Target="../charts/chart7.xml"/><Relationship Id="rId4" Type="http://schemas.openxmlformats.org/officeDocument/2006/relationships/image" Target="../media/image4.jpg"/><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chart" Target="../charts/chart8.xml"/><Relationship Id="rId4" Type="http://schemas.openxmlformats.org/officeDocument/2006/relationships/chart" Target="../charts/chart9.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jpg"/><Relationship Id="rId4" Type="http://schemas.openxmlformats.org/officeDocument/2006/relationships/image" Target="../media/image6.jpg"/><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7.jpg"/><Relationship Id="rId4" Type="http://schemas.openxmlformats.org/officeDocument/2006/relationships/chart" Target="../charts/chart10.xml"/><Relationship Id="rId5" Type="http://schemas.openxmlformats.org/officeDocument/2006/relationships/chart" Target="../charts/chart1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61B2C"/>
        </a:solidFill>
        <a:effectLst/>
      </p:bgPr>
    </p:bg>
    <p:spTree>
      <p:nvGrpSpPr>
        <p:cNvPr id="1" name=""/>
        <p:cNvGrpSpPr/>
        <p:nvPr/>
      </p:nvGrpSpPr>
      <p:grpSpPr/>
      <p:pic>
        <p:nvPicPr>
          <p:cNvPr id="2" name="Picture 1" descr="title_test_rig.jpg"/>
          <p:cNvPicPr>
            <a:picLocks noChangeAspect="1"/>
          </p:cNvPicPr>
          <p:nvPr/>
        </p:nvPicPr>
        <p:blipFill>
          <a:blip r:embed="rId2"/>
          <a:stretch>
            <a:fillRect/>
          </a:stretch>
        </p:blipFill>
        <p:spPr>
          <a:xfrm>
            <a:off x="8001000" y="0"/>
            <a:ext cx="4187952" cy="6858000"/>
          </a:xfrm>
          <a:prstGeom prst="rect">
            <a:avLst/>
          </a:prstGeom>
        </p:spPr>
      </p:pic>
      <p:sp>
        <p:nvSpPr>
          <p:cNvPr id="3" name="Rectangle 2"/>
          <p:cNvSpPr/>
          <p:nvPr/>
        </p:nvSpPr>
        <p:spPr>
          <a:xfrm>
            <a:off x="7955279" y="0"/>
            <a:ext cx="73152" cy="6858000"/>
          </a:xfrm>
          <a:prstGeom prst="rect">
            <a:avLst/>
          </a:prstGeom>
          <a:solidFill>
            <a:srgbClr val="22B8C7"/>
          </a:solidFill>
          <a:ln>
            <a:solidFill>
              <a:srgbClr val="22B8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1173968" y="128016"/>
            <a:ext cx="749808" cy="58521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itbbs_logo_official.png"/>
          <p:cNvPicPr>
            <a:picLocks noChangeAspect="1"/>
          </p:cNvPicPr>
          <p:nvPr/>
        </p:nvPicPr>
        <p:blipFill>
          <a:blip r:embed="rId3"/>
          <a:stretch>
            <a:fillRect/>
          </a:stretch>
        </p:blipFill>
        <p:spPr>
          <a:xfrm>
            <a:off x="11283696" y="164592"/>
            <a:ext cx="530352" cy="493776"/>
          </a:xfrm>
          <a:prstGeom prst="rect">
            <a:avLst/>
          </a:prstGeom>
        </p:spPr>
      </p:pic>
      <p:sp>
        <p:nvSpPr>
          <p:cNvPr id="6" name="Rounded Rectangle 5"/>
          <p:cNvSpPr/>
          <p:nvPr/>
        </p:nvSpPr>
        <p:spPr>
          <a:xfrm>
            <a:off x="713232" y="566928"/>
            <a:ext cx="2468880" cy="292608"/>
          </a:xfrm>
          <a:prstGeom prst="roundRect">
            <a:avLst>
              <a:gd name="adj" fmla="val 50000"/>
            </a:avLst>
          </a:prstGeom>
          <a:solidFill>
            <a:srgbClr val="14364B"/>
          </a:solidFill>
          <a:ln w="10160">
            <a:solidFill>
              <a:srgbClr val="1436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580644"/>
            <a:ext cx="2395728" cy="246888"/>
          </a:xfrm>
          <a:prstGeom prst="rect">
            <a:avLst/>
          </a:prstGeom>
          <a:noFill/>
        </p:spPr>
        <p:txBody>
          <a:bodyPr wrap="square" lIns="0" rIns="0" tIns="0" bIns="0" anchor="ctr">
            <a:spAutoFit/>
          </a:bodyPr>
          <a:lstStyle/>
          <a:p>
            <a:pPr algn="ctr">
              <a:lnSpc>
                <a:spcPct val="100000"/>
              </a:lnSpc>
            </a:pPr>
            <a:r>
              <a:rPr sz="900" b="1" i="0">
                <a:solidFill>
                  <a:srgbClr val="22B8C7"/>
                </a:solidFill>
                <a:latin typeface="Aptos"/>
              </a:rPr>
              <a:t>EXTERNAL TECHNOLOGY OVERVIEW</a:t>
            </a:r>
          </a:p>
        </p:txBody>
      </p:sp>
      <p:sp>
        <p:nvSpPr>
          <p:cNvPr id="8" name="TextBox 7"/>
          <p:cNvSpPr txBox="1"/>
          <p:nvPr/>
        </p:nvSpPr>
        <p:spPr>
          <a:xfrm>
            <a:off x="713232" y="1143000"/>
            <a:ext cx="6812280" cy="1874519"/>
          </a:xfrm>
          <a:prstGeom prst="rect">
            <a:avLst/>
          </a:prstGeom>
          <a:noFill/>
        </p:spPr>
        <p:txBody>
          <a:bodyPr wrap="square" lIns="0" rIns="0" tIns="0" bIns="0" anchor="t">
            <a:spAutoFit/>
          </a:bodyPr>
          <a:lstStyle/>
          <a:p>
            <a:pPr algn="l">
              <a:lnSpc>
                <a:spcPct val="88000"/>
              </a:lnSpc>
            </a:pPr>
            <a:r>
              <a:rPr sz="3050" b="1" i="0">
                <a:solidFill>
                  <a:srgbClr val="FFFFFF"/>
                </a:solidFill>
                <a:latin typeface="Aptos Display"/>
              </a:rPr>
              <a:t>Novel concrete composition for
impact-energy-dissipating
crash barriers</a:t>
            </a:r>
          </a:p>
        </p:txBody>
      </p:sp>
      <p:sp>
        <p:nvSpPr>
          <p:cNvPr id="9" name="TextBox 8"/>
          <p:cNvSpPr txBox="1"/>
          <p:nvPr/>
        </p:nvSpPr>
        <p:spPr>
          <a:xfrm>
            <a:off x="749808" y="3264408"/>
            <a:ext cx="6720840" cy="640080"/>
          </a:xfrm>
          <a:prstGeom prst="rect">
            <a:avLst/>
          </a:prstGeom>
          <a:noFill/>
        </p:spPr>
        <p:txBody>
          <a:bodyPr wrap="square" lIns="0" rIns="0" tIns="0" bIns="0" anchor="t">
            <a:spAutoFit/>
          </a:bodyPr>
          <a:lstStyle/>
          <a:p>
            <a:pPr algn="l">
              <a:lnSpc>
                <a:spcPct val="105000"/>
              </a:lnSpc>
            </a:pPr>
            <a:r>
              <a:rPr sz="1500" b="0" i="0">
                <a:solidFill>
                  <a:srgbClr val="C6D8E2"/>
                </a:solidFill>
                <a:latin typeface="Aptos"/>
              </a:rPr>
              <a:t>A lightweight, ductile concrete platform for safer and more sustainable rigid barriers</a:t>
            </a:r>
          </a:p>
        </p:txBody>
      </p:sp>
      <p:cxnSp>
        <p:nvCxnSpPr>
          <p:cNvPr id="10" name="Connector 9"/>
          <p:cNvCxnSpPr/>
          <p:nvPr/>
        </p:nvCxnSpPr>
        <p:spPr>
          <a:xfrm>
            <a:off x="749808" y="4151376"/>
            <a:ext cx="6336792" cy="0"/>
          </a:xfrm>
          <a:prstGeom prst="line">
            <a:avLst/>
          </a:prstGeom>
          <a:ln w="12700">
            <a:solidFill>
              <a:srgbClr val="315267"/>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49808" y="4407408"/>
            <a:ext cx="6766560" cy="548640"/>
          </a:xfrm>
          <a:prstGeom prst="rect">
            <a:avLst/>
          </a:prstGeom>
          <a:noFill/>
        </p:spPr>
        <p:txBody>
          <a:bodyPr wrap="square" lIns="0" rIns="0" tIns="0" bIns="0" anchor="t">
            <a:spAutoFit/>
          </a:bodyPr>
          <a:lstStyle/>
          <a:p>
            <a:pPr algn="l">
              <a:lnSpc>
                <a:spcPct val="100000"/>
              </a:lnSpc>
            </a:pPr>
            <a:r>
              <a:rPr sz="1120" b="1" i="0">
                <a:solidFill>
                  <a:srgbClr val="FFFFFF"/>
                </a:solidFill>
                <a:latin typeface="Aptos"/>
              </a:rPr>
              <a:t>Haruna Al-Amir Saleh  •  Pratik Kanungo  •  Anush K. Chandrappa  •  Dinakar Pasla</a:t>
            </a:r>
          </a:p>
        </p:txBody>
      </p:sp>
      <p:sp>
        <p:nvSpPr>
          <p:cNvPr id="12" name="TextBox 11"/>
          <p:cNvSpPr txBox="1"/>
          <p:nvPr/>
        </p:nvSpPr>
        <p:spPr>
          <a:xfrm>
            <a:off x="749808" y="5010912"/>
            <a:ext cx="5303520" cy="438912"/>
          </a:xfrm>
          <a:prstGeom prst="rect">
            <a:avLst/>
          </a:prstGeom>
          <a:noFill/>
        </p:spPr>
        <p:txBody>
          <a:bodyPr wrap="square" lIns="0" rIns="0" tIns="0" bIns="0" anchor="t">
            <a:spAutoFit/>
          </a:bodyPr>
          <a:lstStyle/>
          <a:p>
            <a:pPr algn="l">
              <a:lnSpc>
                <a:spcPct val="100000"/>
              </a:lnSpc>
            </a:pPr>
            <a:r>
              <a:rPr sz="1019" b="0" i="0">
                <a:solidFill>
                  <a:srgbClr val="AFC3CE"/>
                </a:solidFill>
                <a:latin typeface="Aptos"/>
              </a:rPr>
              <a:t>School of Infrastructure  |  IIT Bhubaneswar  |  13 August 2026</a:t>
            </a:r>
          </a:p>
        </p:txBody>
      </p:sp>
      <p:sp>
        <p:nvSpPr>
          <p:cNvPr id="13" name="TextBox 12"/>
          <p:cNvSpPr txBox="1"/>
          <p:nvPr/>
        </p:nvSpPr>
        <p:spPr>
          <a:xfrm>
            <a:off x="749808" y="5733288"/>
            <a:ext cx="6766560" cy="438912"/>
          </a:xfrm>
          <a:prstGeom prst="rect">
            <a:avLst/>
          </a:prstGeom>
          <a:noFill/>
        </p:spPr>
        <p:txBody>
          <a:bodyPr wrap="square" lIns="0" rIns="0" tIns="0" bIns="0" anchor="t">
            <a:spAutoFit/>
          </a:bodyPr>
          <a:lstStyle/>
          <a:p>
            <a:pPr algn="l">
              <a:lnSpc>
                <a:spcPct val="100000"/>
              </a:lnSpc>
            </a:pPr>
            <a:r>
              <a:rPr sz="950" b="1" i="0">
                <a:solidFill>
                  <a:srgbClr val="F39C3D"/>
                </a:solidFill>
                <a:latin typeface="Aptos"/>
              </a:rPr>
              <a:t>Supplied disclosure: not filed as of 16 Jul 2026  •  Reduction to practice: Apr 2026</a:t>
            </a:r>
          </a:p>
        </p:txBody>
      </p:sp>
      <p:sp>
        <p:nvSpPr>
          <p:cNvPr id="14" name="TextBox 13"/>
          <p:cNvSpPr txBox="1"/>
          <p:nvPr/>
        </p:nvSpPr>
        <p:spPr>
          <a:xfrm>
            <a:off x="8293608" y="5971032"/>
            <a:ext cx="3520440" cy="384048"/>
          </a:xfrm>
          <a:prstGeom prst="rect">
            <a:avLst/>
          </a:prstGeom>
          <a:noFill/>
        </p:spPr>
        <p:txBody>
          <a:bodyPr wrap="square" lIns="0" rIns="0" tIns="0" bIns="0" anchor="t">
            <a:spAutoFit/>
          </a:bodyPr>
          <a:lstStyle/>
          <a:p>
            <a:pPr algn="r">
              <a:lnSpc>
                <a:spcPct val="100000"/>
              </a:lnSpc>
            </a:pPr>
            <a:r>
              <a:rPr sz="710" b="0" i="0">
                <a:solidFill>
                  <a:srgbClr val="D8E5EB"/>
                </a:solidFill>
                <a:latin typeface="Aptos"/>
              </a:rPr>
              <a:t>Source: inventor-supplied manuscript Fig. 7 — 1:3 barrier impact setup</a:t>
            </a:r>
          </a:p>
        </p:txBody>
      </p:sp>
      <p:cxnSp>
        <p:nvCxnSpPr>
          <p:cNvPr id="15" name="Connector 14"/>
          <p:cNvCxnSpPr/>
          <p:nvPr/>
        </p:nvCxnSpPr>
        <p:spPr>
          <a:xfrm>
            <a:off x="640080" y="6473952"/>
            <a:ext cx="10899648" cy="0"/>
          </a:xfrm>
          <a:prstGeom prst="line">
            <a:avLst/>
          </a:prstGeom>
          <a:ln w="8890">
            <a:solidFill>
              <a:srgbClr val="284A6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58368" y="6547104"/>
            <a:ext cx="9784080" cy="164592"/>
          </a:xfrm>
          <a:prstGeom prst="rect">
            <a:avLst/>
          </a:prstGeom>
          <a:noFill/>
        </p:spPr>
        <p:txBody>
          <a:bodyPr wrap="square" lIns="0" rIns="0" tIns="0" bIns="0" anchor="t">
            <a:spAutoFit/>
          </a:bodyPr>
          <a:lstStyle/>
          <a:p>
            <a:pPr algn="l">
              <a:lnSpc>
                <a:spcPct val="100000"/>
              </a:lnSpc>
            </a:pPr>
            <a:r>
              <a:rPr sz="760" b="1" i="0">
                <a:solidFill>
                  <a:srgbClr val="AEC0CA"/>
                </a:solidFill>
                <a:latin typeface="Aptos"/>
              </a:rPr>
              <a:t>EXTERNAL REDACTED DRAFT • IP STATUS TO CONFIRM • DISTRIBUTE ONLY WITH IITBBS IP APPROVAL</a:t>
            </a:r>
          </a:p>
        </p:txBody>
      </p:sp>
      <p:sp>
        <p:nvSpPr>
          <p:cNvPr id="17" name="TextBox 16"/>
          <p:cNvSpPr txBox="1"/>
          <p:nvPr/>
        </p:nvSpPr>
        <p:spPr>
          <a:xfrm>
            <a:off x="10972800" y="6528816"/>
            <a:ext cx="548640" cy="173736"/>
          </a:xfrm>
          <a:prstGeom prst="rect">
            <a:avLst/>
          </a:prstGeom>
          <a:noFill/>
        </p:spPr>
        <p:txBody>
          <a:bodyPr wrap="square" lIns="0" rIns="0" tIns="0" bIns="0" anchor="t">
            <a:spAutoFit/>
          </a:bodyPr>
          <a:lstStyle/>
          <a:p>
            <a:pPr algn="r">
              <a:lnSpc>
                <a:spcPct val="100000"/>
              </a:lnSpc>
            </a:pPr>
            <a:r>
              <a:rPr sz="830" b="1" i="0">
                <a:solidFill>
                  <a:srgbClr val="AEC0CA"/>
                </a:solidFill>
                <a:latin typeface="Aptos"/>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640080" y="164592"/>
            <a:ext cx="2514600" cy="201168"/>
          </a:xfrm>
          <a:prstGeom prst="rect">
            <a:avLst/>
          </a:prstGeom>
          <a:noFill/>
        </p:spPr>
        <p:txBody>
          <a:bodyPr wrap="square" lIns="0" rIns="0" tIns="0" bIns="0" anchor="t">
            <a:spAutoFit/>
          </a:bodyPr>
          <a:lstStyle/>
          <a:p>
            <a:pPr algn="l">
              <a:lnSpc>
                <a:spcPct val="100000"/>
              </a:lnSpc>
            </a:pPr>
            <a:r>
              <a:rPr sz="850" b="1" i="0">
                <a:solidFill>
                  <a:srgbClr val="2B78A6"/>
                </a:solidFill>
                <a:latin typeface="Aptos"/>
              </a:rPr>
              <a:t>EXECUTIVE THESIS</a:t>
            </a:r>
          </a:p>
        </p:txBody>
      </p:sp>
      <p:sp>
        <p:nvSpPr>
          <p:cNvPr id="3" name="TextBox 2"/>
          <p:cNvSpPr txBox="1"/>
          <p:nvPr/>
        </p:nvSpPr>
        <p:spPr>
          <a:xfrm>
            <a:off x="640080" y="338328"/>
            <a:ext cx="9921240" cy="612648"/>
          </a:xfrm>
          <a:prstGeom prst="rect">
            <a:avLst/>
          </a:prstGeom>
          <a:noFill/>
        </p:spPr>
        <p:txBody>
          <a:bodyPr wrap="square" lIns="0" rIns="0" tIns="0" bIns="0" anchor="ctr">
            <a:spAutoFit/>
          </a:bodyPr>
          <a:lstStyle/>
          <a:p>
            <a:pPr algn="l">
              <a:lnSpc>
                <a:spcPct val="92000"/>
              </a:lnSpc>
            </a:pPr>
            <a:r>
              <a:rPr sz="2250" b="1" i="0">
                <a:solidFill>
                  <a:srgbClr val="172733"/>
                </a:solidFill>
                <a:latin typeface="Aptos Display"/>
              </a:rPr>
              <a:t>The value case in one view</a:t>
            </a:r>
          </a:p>
        </p:txBody>
      </p:sp>
      <p:sp>
        <p:nvSpPr>
          <p:cNvPr id="4" name="Rounded Rectangle 3"/>
          <p:cNvSpPr/>
          <p:nvPr/>
        </p:nvSpPr>
        <p:spPr>
          <a:xfrm>
            <a:off x="11173968" y="128016"/>
            <a:ext cx="749808" cy="58521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itbbs_logo_official.png"/>
          <p:cNvPicPr>
            <a:picLocks noChangeAspect="1"/>
          </p:cNvPicPr>
          <p:nvPr/>
        </p:nvPicPr>
        <p:blipFill>
          <a:blip r:embed="rId2"/>
          <a:stretch>
            <a:fillRect/>
          </a:stretch>
        </p:blipFill>
        <p:spPr>
          <a:xfrm>
            <a:off x="11283696" y="164592"/>
            <a:ext cx="530352" cy="493776"/>
          </a:xfrm>
          <a:prstGeom prst="rect">
            <a:avLst/>
          </a:prstGeom>
        </p:spPr>
      </p:pic>
      <p:cxnSp>
        <p:nvCxnSpPr>
          <p:cNvPr id="6" name="Connector 5"/>
          <p:cNvCxnSpPr/>
          <p:nvPr/>
        </p:nvCxnSpPr>
        <p:spPr>
          <a:xfrm>
            <a:off x="640080" y="1005840"/>
            <a:ext cx="10899648" cy="0"/>
          </a:xfrm>
          <a:prstGeom prst="line">
            <a:avLst/>
          </a:prstGeom>
          <a:ln w="10160">
            <a:solidFill>
              <a:srgbClr val="D8E2E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473952"/>
            <a:ext cx="10899648" cy="0"/>
          </a:xfrm>
          <a:prstGeom prst="line">
            <a:avLst/>
          </a:prstGeom>
          <a:ln w="8890">
            <a:solidFill>
              <a:srgbClr val="D8E2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58368" y="6547104"/>
            <a:ext cx="9784080" cy="164592"/>
          </a:xfrm>
          <a:prstGeom prst="rect">
            <a:avLst/>
          </a:prstGeom>
          <a:noFill/>
        </p:spPr>
        <p:txBody>
          <a:bodyPr wrap="square" lIns="0" rIns="0" tIns="0" bIns="0" anchor="t">
            <a:spAutoFit/>
          </a:bodyPr>
          <a:lstStyle/>
          <a:p>
            <a:pPr algn="l">
              <a:lnSpc>
                <a:spcPct val="100000"/>
              </a:lnSpc>
            </a:pPr>
            <a:r>
              <a:rPr sz="760" b="1" i="0">
                <a:solidFill>
                  <a:srgbClr val="596C78"/>
                </a:solidFill>
                <a:latin typeface="Aptos"/>
              </a:rPr>
              <a:t>EXTERNAL REDACTED DRAFT • IP STATUS TO CONFIRM • DISTRIBUTE ONLY WITH IITBBS IP APPROVAL</a:t>
            </a:r>
          </a:p>
        </p:txBody>
      </p:sp>
      <p:sp>
        <p:nvSpPr>
          <p:cNvPr id="9" name="TextBox 8"/>
          <p:cNvSpPr txBox="1"/>
          <p:nvPr/>
        </p:nvSpPr>
        <p:spPr>
          <a:xfrm>
            <a:off x="10972800" y="6528816"/>
            <a:ext cx="548640" cy="173736"/>
          </a:xfrm>
          <a:prstGeom prst="rect">
            <a:avLst/>
          </a:prstGeom>
          <a:noFill/>
        </p:spPr>
        <p:txBody>
          <a:bodyPr wrap="square" lIns="0" rIns="0" tIns="0" bIns="0" anchor="t">
            <a:spAutoFit/>
          </a:bodyPr>
          <a:lstStyle/>
          <a:p>
            <a:pPr algn="r">
              <a:lnSpc>
                <a:spcPct val="100000"/>
              </a:lnSpc>
            </a:pPr>
            <a:r>
              <a:rPr sz="830" b="1" i="0">
                <a:solidFill>
                  <a:srgbClr val="596C78"/>
                </a:solidFill>
                <a:latin typeface="Aptos"/>
              </a:rPr>
              <a:t>02</a:t>
            </a:r>
          </a:p>
        </p:txBody>
      </p:sp>
      <p:sp>
        <p:nvSpPr>
          <p:cNvPr id="10" name="TextBox 9"/>
          <p:cNvSpPr txBox="1"/>
          <p:nvPr/>
        </p:nvSpPr>
        <p:spPr>
          <a:xfrm>
            <a:off x="667512" y="1069848"/>
            <a:ext cx="10835640" cy="402336"/>
          </a:xfrm>
          <a:prstGeom prst="rect">
            <a:avLst/>
          </a:prstGeom>
          <a:noFill/>
        </p:spPr>
        <p:txBody>
          <a:bodyPr wrap="square" lIns="0" rIns="0" tIns="0" bIns="0" anchor="t">
            <a:spAutoFit/>
          </a:bodyPr>
          <a:lstStyle/>
          <a:p>
            <a:pPr algn="l">
              <a:lnSpc>
                <a:spcPct val="100000"/>
              </a:lnSpc>
            </a:pPr>
            <a:r>
              <a:rPr sz="1620" b="1" i="0">
                <a:solidFill>
                  <a:srgbClr val="08243A"/>
                </a:solidFill>
                <a:latin typeface="Aptos Display"/>
              </a:rPr>
              <a:t>A rigid-barrier material that trades brittle force transfer for controlled, multi-scale energy dissipation.</a:t>
            </a:r>
          </a:p>
        </p:txBody>
      </p:sp>
      <p:sp>
        <p:nvSpPr>
          <p:cNvPr id="11" name="Rounded Rectangle 10"/>
          <p:cNvSpPr/>
          <p:nvPr/>
        </p:nvSpPr>
        <p:spPr>
          <a:xfrm>
            <a:off x="667512" y="1664208"/>
            <a:ext cx="2542032" cy="1481328"/>
          </a:xfrm>
          <a:prstGeom prst="round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3" y="1810512"/>
            <a:ext cx="2212848" cy="438912"/>
          </a:xfrm>
          <a:prstGeom prst="rect">
            <a:avLst/>
          </a:prstGeom>
          <a:noFill/>
        </p:spPr>
        <p:txBody>
          <a:bodyPr wrap="square" lIns="0" rIns="0" tIns="0" bIns="0" anchor="ctr">
            <a:spAutoFit/>
          </a:bodyPr>
          <a:lstStyle/>
          <a:p>
            <a:pPr algn="l">
              <a:lnSpc>
                <a:spcPct val="100000"/>
              </a:lnSpc>
            </a:pPr>
            <a:r>
              <a:rPr sz="2400" b="1" i="0">
                <a:solidFill>
                  <a:srgbClr val="2B78A6"/>
                </a:solidFill>
                <a:latin typeface="Aptos Display"/>
              </a:rPr>
              <a:t>19.4%</a:t>
            </a:r>
          </a:p>
        </p:txBody>
      </p:sp>
      <p:sp>
        <p:nvSpPr>
          <p:cNvPr id="13" name="TextBox 12"/>
          <p:cNvSpPr txBox="1"/>
          <p:nvPr/>
        </p:nvSpPr>
        <p:spPr>
          <a:xfrm>
            <a:off x="832103" y="2304288"/>
            <a:ext cx="2212848" cy="402336"/>
          </a:xfrm>
          <a:prstGeom prst="rect">
            <a:avLst/>
          </a:prstGeom>
          <a:noFill/>
        </p:spPr>
        <p:txBody>
          <a:bodyPr wrap="square" lIns="0" rIns="0" tIns="0" bIns="0" anchor="t">
            <a:spAutoFit/>
          </a:bodyPr>
          <a:lstStyle/>
          <a:p>
            <a:pPr algn="l">
              <a:lnSpc>
                <a:spcPct val="100000"/>
              </a:lnSpc>
            </a:pPr>
            <a:r>
              <a:rPr sz="1050" b="1" i="0">
                <a:solidFill>
                  <a:srgbClr val="172733"/>
                </a:solidFill>
                <a:latin typeface="Aptos"/>
              </a:rPr>
              <a:t>lower reported density</a:t>
            </a:r>
          </a:p>
        </p:txBody>
      </p:sp>
      <p:sp>
        <p:nvSpPr>
          <p:cNvPr id="14" name="TextBox 13"/>
          <p:cNvSpPr txBox="1"/>
          <p:nvPr/>
        </p:nvSpPr>
        <p:spPr>
          <a:xfrm>
            <a:off x="832103" y="2688336"/>
            <a:ext cx="2212848" cy="347472"/>
          </a:xfrm>
          <a:prstGeom prst="rect">
            <a:avLst/>
          </a:prstGeom>
          <a:noFill/>
        </p:spPr>
        <p:txBody>
          <a:bodyPr wrap="square" lIns="0" rIns="0" tIns="0" bIns="0" anchor="t">
            <a:spAutoFit/>
          </a:bodyPr>
          <a:lstStyle/>
          <a:p>
            <a:pPr algn="l">
              <a:lnSpc>
                <a:spcPct val="100000"/>
              </a:lnSpc>
            </a:pPr>
            <a:r>
              <a:rPr sz="850" b="0" i="0">
                <a:solidFill>
                  <a:srgbClr val="596C78"/>
                </a:solidFill>
                <a:latin typeface="Aptos"/>
              </a:rPr>
              <a:t>LWC15 vs NWC</a:t>
            </a:r>
          </a:p>
        </p:txBody>
      </p:sp>
      <p:sp>
        <p:nvSpPr>
          <p:cNvPr id="15" name="Rounded Rectangle 14"/>
          <p:cNvSpPr/>
          <p:nvPr/>
        </p:nvSpPr>
        <p:spPr>
          <a:xfrm>
            <a:off x="3429000" y="1664208"/>
            <a:ext cx="2542032" cy="1481328"/>
          </a:xfrm>
          <a:prstGeom prst="round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1810512"/>
            <a:ext cx="2212848" cy="438912"/>
          </a:xfrm>
          <a:prstGeom prst="rect">
            <a:avLst/>
          </a:prstGeom>
          <a:noFill/>
        </p:spPr>
        <p:txBody>
          <a:bodyPr wrap="square" lIns="0" rIns="0" tIns="0" bIns="0" anchor="ctr">
            <a:spAutoFit/>
          </a:bodyPr>
          <a:lstStyle/>
          <a:p>
            <a:pPr algn="l">
              <a:lnSpc>
                <a:spcPct val="100000"/>
              </a:lnSpc>
            </a:pPr>
            <a:r>
              <a:rPr sz="2400" b="1" i="0">
                <a:solidFill>
                  <a:srgbClr val="178D86"/>
                </a:solidFill>
                <a:latin typeface="Aptos Display"/>
              </a:rPr>
              <a:t>76%</a:t>
            </a:r>
          </a:p>
        </p:txBody>
      </p:sp>
      <p:sp>
        <p:nvSpPr>
          <p:cNvPr id="17" name="TextBox 16"/>
          <p:cNvSpPr txBox="1"/>
          <p:nvPr/>
        </p:nvSpPr>
        <p:spPr>
          <a:xfrm>
            <a:off x="3593592" y="2304288"/>
            <a:ext cx="2212848" cy="402336"/>
          </a:xfrm>
          <a:prstGeom prst="rect">
            <a:avLst/>
          </a:prstGeom>
          <a:noFill/>
        </p:spPr>
        <p:txBody>
          <a:bodyPr wrap="square" lIns="0" rIns="0" tIns="0" bIns="0" anchor="t">
            <a:spAutoFit/>
          </a:bodyPr>
          <a:lstStyle/>
          <a:p>
            <a:pPr algn="l">
              <a:lnSpc>
                <a:spcPct val="100000"/>
              </a:lnSpc>
            </a:pPr>
            <a:r>
              <a:rPr sz="1050" b="1" i="0">
                <a:solidFill>
                  <a:srgbClr val="172733"/>
                </a:solidFill>
                <a:latin typeface="Aptos"/>
              </a:rPr>
              <a:t>higher splitting tensile strength</a:t>
            </a:r>
          </a:p>
        </p:txBody>
      </p:sp>
      <p:sp>
        <p:nvSpPr>
          <p:cNvPr id="18" name="TextBox 17"/>
          <p:cNvSpPr txBox="1"/>
          <p:nvPr/>
        </p:nvSpPr>
        <p:spPr>
          <a:xfrm>
            <a:off x="3593592" y="2688336"/>
            <a:ext cx="2212848" cy="347472"/>
          </a:xfrm>
          <a:prstGeom prst="rect">
            <a:avLst/>
          </a:prstGeom>
          <a:noFill/>
        </p:spPr>
        <p:txBody>
          <a:bodyPr wrap="square" lIns="0" rIns="0" tIns="0" bIns="0" anchor="t">
            <a:spAutoFit/>
          </a:bodyPr>
          <a:lstStyle/>
          <a:p>
            <a:pPr algn="l">
              <a:lnSpc>
                <a:spcPct val="100000"/>
              </a:lnSpc>
            </a:pPr>
            <a:r>
              <a:rPr sz="850" b="0" i="0">
                <a:solidFill>
                  <a:srgbClr val="596C78"/>
                </a:solidFill>
                <a:latin typeface="Aptos"/>
              </a:rPr>
              <a:t>7.60 vs 4.32 MPa</a:t>
            </a:r>
          </a:p>
        </p:txBody>
      </p:sp>
      <p:sp>
        <p:nvSpPr>
          <p:cNvPr id="19" name="Rounded Rectangle 18"/>
          <p:cNvSpPr/>
          <p:nvPr/>
        </p:nvSpPr>
        <p:spPr>
          <a:xfrm>
            <a:off x="6190488" y="1664208"/>
            <a:ext cx="2542032" cy="1481328"/>
          </a:xfrm>
          <a:prstGeom prst="round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79" y="1810512"/>
            <a:ext cx="2212848" cy="438912"/>
          </a:xfrm>
          <a:prstGeom prst="rect">
            <a:avLst/>
          </a:prstGeom>
          <a:noFill/>
        </p:spPr>
        <p:txBody>
          <a:bodyPr wrap="square" lIns="0" rIns="0" tIns="0" bIns="0" anchor="ctr">
            <a:spAutoFit/>
          </a:bodyPr>
          <a:lstStyle/>
          <a:p>
            <a:pPr algn="l">
              <a:lnSpc>
                <a:spcPct val="100000"/>
              </a:lnSpc>
            </a:pPr>
            <a:r>
              <a:rPr sz="2400" b="1" i="0">
                <a:solidFill>
                  <a:srgbClr val="F39C3D"/>
                </a:solidFill>
                <a:latin typeface="Aptos Display"/>
              </a:rPr>
              <a:t>55.3×</a:t>
            </a:r>
          </a:p>
        </p:txBody>
      </p:sp>
      <p:sp>
        <p:nvSpPr>
          <p:cNvPr id="21" name="TextBox 20"/>
          <p:cNvSpPr txBox="1"/>
          <p:nvPr/>
        </p:nvSpPr>
        <p:spPr>
          <a:xfrm>
            <a:off x="6355079" y="2304288"/>
            <a:ext cx="2212848" cy="402336"/>
          </a:xfrm>
          <a:prstGeom prst="rect">
            <a:avLst/>
          </a:prstGeom>
          <a:noFill/>
        </p:spPr>
        <p:txBody>
          <a:bodyPr wrap="square" lIns="0" rIns="0" tIns="0" bIns="0" anchor="t">
            <a:spAutoFit/>
          </a:bodyPr>
          <a:lstStyle/>
          <a:p>
            <a:pPr algn="l">
              <a:lnSpc>
                <a:spcPct val="100000"/>
              </a:lnSpc>
            </a:pPr>
            <a:r>
              <a:rPr sz="1050" b="1" i="0">
                <a:solidFill>
                  <a:srgbClr val="172733"/>
                </a:solidFill>
                <a:latin typeface="Aptos"/>
              </a:rPr>
              <a:t>prism failure-energy capacity</a:t>
            </a:r>
          </a:p>
        </p:txBody>
      </p:sp>
      <p:sp>
        <p:nvSpPr>
          <p:cNvPr id="22" name="TextBox 21"/>
          <p:cNvSpPr txBox="1"/>
          <p:nvPr/>
        </p:nvSpPr>
        <p:spPr>
          <a:xfrm>
            <a:off x="6355079" y="2688336"/>
            <a:ext cx="2212848" cy="347472"/>
          </a:xfrm>
          <a:prstGeom prst="rect">
            <a:avLst/>
          </a:prstGeom>
          <a:noFill/>
        </p:spPr>
        <p:txBody>
          <a:bodyPr wrap="square" lIns="0" rIns="0" tIns="0" bIns="0" anchor="t">
            <a:spAutoFit/>
          </a:bodyPr>
          <a:lstStyle/>
          <a:p>
            <a:pPr algn="l">
              <a:lnSpc>
                <a:spcPct val="100000"/>
              </a:lnSpc>
            </a:pPr>
            <a:r>
              <a:rPr sz="850" b="0" i="0">
                <a:solidFill>
                  <a:srgbClr val="596C78"/>
                </a:solidFill>
                <a:latin typeface="Aptos"/>
              </a:rPr>
              <a:t>2,927.8 vs 53.0 N·m</a:t>
            </a:r>
          </a:p>
        </p:txBody>
      </p:sp>
      <p:sp>
        <p:nvSpPr>
          <p:cNvPr id="23" name="Rounded Rectangle 22"/>
          <p:cNvSpPr/>
          <p:nvPr/>
        </p:nvSpPr>
        <p:spPr>
          <a:xfrm>
            <a:off x="8951976" y="1664208"/>
            <a:ext cx="2542032" cy="1481328"/>
          </a:xfrm>
          <a:prstGeom prst="round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16568" y="1810512"/>
            <a:ext cx="2212848" cy="438912"/>
          </a:xfrm>
          <a:prstGeom prst="rect">
            <a:avLst/>
          </a:prstGeom>
          <a:noFill/>
        </p:spPr>
        <p:txBody>
          <a:bodyPr wrap="square" lIns="0" rIns="0" tIns="0" bIns="0" anchor="ctr">
            <a:spAutoFit/>
          </a:bodyPr>
          <a:lstStyle/>
          <a:p>
            <a:pPr algn="l">
              <a:lnSpc>
                <a:spcPct val="100000"/>
              </a:lnSpc>
            </a:pPr>
            <a:r>
              <a:rPr sz="2400" b="1" i="0">
                <a:solidFill>
                  <a:srgbClr val="D95D5D"/>
                </a:solidFill>
                <a:latin typeface="Aptos Display"/>
              </a:rPr>
              <a:t>2.0×</a:t>
            </a:r>
          </a:p>
        </p:txBody>
      </p:sp>
      <p:sp>
        <p:nvSpPr>
          <p:cNvPr id="25" name="TextBox 24"/>
          <p:cNvSpPr txBox="1"/>
          <p:nvPr/>
        </p:nvSpPr>
        <p:spPr>
          <a:xfrm>
            <a:off x="9116568" y="2304288"/>
            <a:ext cx="2212848" cy="402336"/>
          </a:xfrm>
          <a:prstGeom prst="rect">
            <a:avLst/>
          </a:prstGeom>
          <a:noFill/>
        </p:spPr>
        <p:txBody>
          <a:bodyPr wrap="square" lIns="0" rIns="0" tIns="0" bIns="0" anchor="t">
            <a:spAutoFit/>
          </a:bodyPr>
          <a:lstStyle/>
          <a:p>
            <a:pPr algn="l">
              <a:lnSpc>
                <a:spcPct val="100000"/>
              </a:lnSpc>
            </a:pPr>
            <a:r>
              <a:rPr sz="1050" b="1" i="0">
                <a:solidFill>
                  <a:srgbClr val="172733"/>
                </a:solidFill>
                <a:latin typeface="Aptos"/>
              </a:rPr>
              <a:t>scaled-barrier failure energy</a:t>
            </a:r>
          </a:p>
        </p:txBody>
      </p:sp>
      <p:sp>
        <p:nvSpPr>
          <p:cNvPr id="26" name="TextBox 25"/>
          <p:cNvSpPr txBox="1"/>
          <p:nvPr/>
        </p:nvSpPr>
        <p:spPr>
          <a:xfrm>
            <a:off x="9116568" y="2688336"/>
            <a:ext cx="2212848" cy="347472"/>
          </a:xfrm>
          <a:prstGeom prst="rect">
            <a:avLst/>
          </a:prstGeom>
          <a:noFill/>
        </p:spPr>
        <p:txBody>
          <a:bodyPr wrap="square" lIns="0" rIns="0" tIns="0" bIns="0" anchor="t">
            <a:spAutoFit/>
          </a:bodyPr>
          <a:lstStyle/>
          <a:p>
            <a:pPr algn="l">
              <a:lnSpc>
                <a:spcPct val="100000"/>
              </a:lnSpc>
            </a:pPr>
            <a:r>
              <a:rPr sz="850" b="0" i="0">
                <a:solidFill>
                  <a:srgbClr val="596C78"/>
                </a:solidFill>
                <a:latin typeface="Aptos"/>
              </a:rPr>
              <a:t>2,746 vs 1,373 N·m</a:t>
            </a:r>
          </a:p>
        </p:txBody>
      </p:sp>
      <p:sp>
        <p:nvSpPr>
          <p:cNvPr id="27" name="Rounded Rectangle 26"/>
          <p:cNvSpPr/>
          <p:nvPr/>
        </p:nvSpPr>
        <p:spPr>
          <a:xfrm>
            <a:off x="667512" y="3456432"/>
            <a:ext cx="3474720" cy="2468880"/>
          </a:xfrm>
          <a:prstGeom prst="round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67512" y="3456432"/>
            <a:ext cx="64008" cy="2468880"/>
          </a:xfrm>
          <a:prstGeom prst="rect">
            <a:avLst/>
          </a:prstGeom>
          <a:solidFill>
            <a:srgbClr val="22B8C7"/>
          </a:solidFill>
          <a:ln>
            <a:solidFill>
              <a:srgbClr val="22B8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7824" y="3639312"/>
            <a:ext cx="320040" cy="320040"/>
          </a:xfrm>
          <a:prstGeom prst="rect">
            <a:avLst/>
          </a:prstGeom>
          <a:noFill/>
        </p:spPr>
        <p:txBody>
          <a:bodyPr wrap="square" lIns="0" rIns="0" tIns="0" bIns="0" anchor="ctr">
            <a:spAutoFit/>
          </a:bodyPr>
          <a:lstStyle/>
          <a:p>
            <a:pPr algn="ctr">
              <a:lnSpc>
                <a:spcPct val="100000"/>
              </a:lnSpc>
            </a:pPr>
            <a:r>
              <a:rPr sz="1700" b="1" i="0">
                <a:solidFill>
                  <a:srgbClr val="22B8C7"/>
                </a:solidFill>
                <a:latin typeface="Aptos"/>
              </a:rPr>
              <a:t>01</a:t>
            </a:r>
          </a:p>
        </p:txBody>
      </p:sp>
      <p:sp>
        <p:nvSpPr>
          <p:cNvPr id="30" name="TextBox 29"/>
          <p:cNvSpPr txBox="1"/>
          <p:nvPr/>
        </p:nvSpPr>
        <p:spPr>
          <a:xfrm>
            <a:off x="1298448" y="3621024"/>
            <a:ext cx="2679191" cy="320040"/>
          </a:xfrm>
          <a:prstGeom prst="rect">
            <a:avLst/>
          </a:prstGeom>
          <a:noFill/>
        </p:spPr>
        <p:txBody>
          <a:bodyPr wrap="square" lIns="0" rIns="0" tIns="0" bIns="0" anchor="ctr">
            <a:spAutoFit/>
          </a:bodyPr>
          <a:lstStyle/>
          <a:p>
            <a:pPr algn="l">
              <a:lnSpc>
                <a:spcPct val="100000"/>
              </a:lnSpc>
            </a:pPr>
            <a:r>
              <a:rPr sz="1350" b="1" i="0">
                <a:solidFill>
                  <a:srgbClr val="172733"/>
                </a:solidFill>
                <a:latin typeface="Aptos Display"/>
              </a:rPr>
              <a:t>Protectable technical thesis</a:t>
            </a:r>
          </a:p>
        </p:txBody>
      </p:sp>
      <p:sp>
        <p:nvSpPr>
          <p:cNvPr id="31" name="TextBox 30"/>
          <p:cNvSpPr txBox="1"/>
          <p:nvPr/>
        </p:nvSpPr>
        <p:spPr>
          <a:xfrm>
            <a:off x="877824" y="4023359"/>
            <a:ext cx="3081527" cy="1773936"/>
          </a:xfrm>
          <a:prstGeom prst="rect">
            <a:avLst/>
          </a:prstGeom>
          <a:noFill/>
        </p:spPr>
        <p:txBody>
          <a:bodyPr wrap="square" lIns="0" rIns="0" tIns="0" bIns="0" anchor="t">
            <a:spAutoFit/>
          </a:bodyPr>
          <a:lstStyle/>
          <a:p>
            <a:pPr algn="l">
              <a:lnSpc>
                <a:spcPct val="105000"/>
              </a:lnSpc>
            </a:pPr>
            <a:r>
              <a:rPr sz="1070" b="0" i="0">
                <a:solidFill>
                  <a:srgbClr val="596C78"/>
                </a:solidFill>
                <a:latin typeface="Aptos"/>
              </a:rPr>
              <a:t>Specific material architecture + dual dissipation mechanism + crash-barrier use + tested performance envelope. Claims should centre the integrated system—not isolated known constituents.</a:t>
            </a:r>
          </a:p>
        </p:txBody>
      </p:sp>
      <p:sp>
        <p:nvSpPr>
          <p:cNvPr id="32" name="Rounded Rectangle 31"/>
          <p:cNvSpPr/>
          <p:nvPr/>
        </p:nvSpPr>
        <p:spPr>
          <a:xfrm>
            <a:off x="4343400" y="3456432"/>
            <a:ext cx="3474720" cy="2468880"/>
          </a:xfrm>
          <a:prstGeom prst="round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343400" y="3456432"/>
            <a:ext cx="64008" cy="2468880"/>
          </a:xfrm>
          <a:prstGeom prst="rect">
            <a:avLst/>
          </a:prstGeom>
          <a:solidFill>
            <a:srgbClr val="2E9D69"/>
          </a:solidFill>
          <a:ln>
            <a:solidFill>
              <a:srgbClr val="2E9D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53712" y="3639312"/>
            <a:ext cx="320040" cy="320040"/>
          </a:xfrm>
          <a:prstGeom prst="rect">
            <a:avLst/>
          </a:prstGeom>
          <a:noFill/>
        </p:spPr>
        <p:txBody>
          <a:bodyPr wrap="square" lIns="0" rIns="0" tIns="0" bIns="0" anchor="ctr">
            <a:spAutoFit/>
          </a:bodyPr>
          <a:lstStyle/>
          <a:p>
            <a:pPr algn="ctr">
              <a:lnSpc>
                <a:spcPct val="100000"/>
              </a:lnSpc>
            </a:pPr>
            <a:r>
              <a:rPr sz="1700" b="1" i="0">
                <a:solidFill>
                  <a:srgbClr val="2E9D69"/>
                </a:solidFill>
                <a:latin typeface="Aptos"/>
              </a:rPr>
              <a:t>02</a:t>
            </a:r>
          </a:p>
        </p:txBody>
      </p:sp>
      <p:sp>
        <p:nvSpPr>
          <p:cNvPr id="35" name="TextBox 34"/>
          <p:cNvSpPr txBox="1"/>
          <p:nvPr/>
        </p:nvSpPr>
        <p:spPr>
          <a:xfrm>
            <a:off x="4974336" y="3621024"/>
            <a:ext cx="2679191" cy="320040"/>
          </a:xfrm>
          <a:prstGeom prst="rect">
            <a:avLst/>
          </a:prstGeom>
          <a:noFill/>
        </p:spPr>
        <p:txBody>
          <a:bodyPr wrap="square" lIns="0" rIns="0" tIns="0" bIns="0" anchor="ctr">
            <a:spAutoFit/>
          </a:bodyPr>
          <a:lstStyle/>
          <a:p>
            <a:pPr algn="l">
              <a:lnSpc>
                <a:spcPct val="100000"/>
              </a:lnSpc>
            </a:pPr>
            <a:r>
              <a:rPr sz="1350" b="1" i="0">
                <a:solidFill>
                  <a:srgbClr val="172733"/>
                </a:solidFill>
                <a:latin typeface="Aptos Display"/>
              </a:rPr>
              <a:t>Commercial value pathway</a:t>
            </a:r>
          </a:p>
        </p:txBody>
      </p:sp>
      <p:sp>
        <p:nvSpPr>
          <p:cNvPr id="36" name="TextBox 35"/>
          <p:cNvSpPr txBox="1"/>
          <p:nvPr/>
        </p:nvSpPr>
        <p:spPr>
          <a:xfrm>
            <a:off x="4553712" y="4023359"/>
            <a:ext cx="3081527" cy="1773936"/>
          </a:xfrm>
          <a:prstGeom prst="rect">
            <a:avLst/>
          </a:prstGeom>
          <a:noFill/>
        </p:spPr>
        <p:txBody>
          <a:bodyPr wrap="square" lIns="0" rIns="0" tIns="0" bIns="0" anchor="t">
            <a:spAutoFit/>
          </a:bodyPr>
          <a:lstStyle/>
          <a:p>
            <a:pPr algn="l">
              <a:lnSpc>
                <a:spcPct val="105000"/>
              </a:lnSpc>
            </a:pPr>
            <a:r>
              <a:rPr sz="1070" b="0" i="0">
                <a:solidFill>
                  <a:srgbClr val="596C78"/>
                </a:solidFill>
                <a:latin typeface="Aptos"/>
              </a:rPr>
              <a:t>Precast-compatible manufacturing; lower barrier self-weight; improved damage control; potential transport, deck-load and lifecycle advantages. These benefits require pilot-scale TEA/LCA validation.</a:t>
            </a:r>
          </a:p>
        </p:txBody>
      </p:sp>
      <p:sp>
        <p:nvSpPr>
          <p:cNvPr id="37" name="Rounded Rectangle 36"/>
          <p:cNvSpPr/>
          <p:nvPr/>
        </p:nvSpPr>
        <p:spPr>
          <a:xfrm>
            <a:off x="8019288" y="3456432"/>
            <a:ext cx="3474720" cy="2468880"/>
          </a:xfrm>
          <a:prstGeom prst="round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019288" y="3456432"/>
            <a:ext cx="64008" cy="2468880"/>
          </a:xfrm>
          <a:prstGeom prst="rect">
            <a:avLst/>
          </a:prstGeom>
          <a:solidFill>
            <a:srgbClr val="D95D5D"/>
          </a:solidFill>
          <a:ln>
            <a:solidFill>
              <a:srgbClr val="D95D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29600" y="3639312"/>
            <a:ext cx="320040" cy="320040"/>
          </a:xfrm>
          <a:prstGeom prst="rect">
            <a:avLst/>
          </a:prstGeom>
          <a:noFill/>
        </p:spPr>
        <p:txBody>
          <a:bodyPr wrap="square" lIns="0" rIns="0" tIns="0" bIns="0" anchor="ctr">
            <a:spAutoFit/>
          </a:bodyPr>
          <a:lstStyle/>
          <a:p>
            <a:pPr algn="ctr">
              <a:lnSpc>
                <a:spcPct val="100000"/>
              </a:lnSpc>
            </a:pPr>
            <a:r>
              <a:rPr sz="1700" b="1" i="0">
                <a:solidFill>
                  <a:srgbClr val="D95D5D"/>
                </a:solidFill>
                <a:latin typeface="Aptos"/>
              </a:rPr>
              <a:t>03</a:t>
            </a:r>
          </a:p>
        </p:txBody>
      </p:sp>
      <p:sp>
        <p:nvSpPr>
          <p:cNvPr id="40" name="TextBox 39"/>
          <p:cNvSpPr txBox="1"/>
          <p:nvPr/>
        </p:nvSpPr>
        <p:spPr>
          <a:xfrm>
            <a:off x="8650224" y="3621024"/>
            <a:ext cx="2679191" cy="320040"/>
          </a:xfrm>
          <a:prstGeom prst="rect">
            <a:avLst/>
          </a:prstGeom>
          <a:noFill/>
        </p:spPr>
        <p:txBody>
          <a:bodyPr wrap="square" lIns="0" rIns="0" tIns="0" bIns="0" anchor="ctr">
            <a:spAutoFit/>
          </a:bodyPr>
          <a:lstStyle/>
          <a:p>
            <a:pPr algn="l">
              <a:lnSpc>
                <a:spcPct val="100000"/>
              </a:lnSpc>
            </a:pPr>
            <a:r>
              <a:rPr sz="1350" b="1" i="0">
                <a:solidFill>
                  <a:srgbClr val="172733"/>
                </a:solidFill>
                <a:latin typeface="Aptos Display"/>
              </a:rPr>
              <a:t>Evidence boundary</a:t>
            </a:r>
          </a:p>
        </p:txBody>
      </p:sp>
      <p:sp>
        <p:nvSpPr>
          <p:cNvPr id="41" name="TextBox 40"/>
          <p:cNvSpPr txBox="1"/>
          <p:nvPr/>
        </p:nvSpPr>
        <p:spPr>
          <a:xfrm>
            <a:off x="8229600" y="4023359"/>
            <a:ext cx="3081527" cy="1773936"/>
          </a:xfrm>
          <a:prstGeom prst="rect">
            <a:avLst/>
          </a:prstGeom>
          <a:noFill/>
        </p:spPr>
        <p:txBody>
          <a:bodyPr wrap="square" lIns="0" rIns="0" tIns="0" bIns="0" anchor="t">
            <a:spAutoFit/>
          </a:bodyPr>
          <a:lstStyle/>
          <a:p>
            <a:pPr algn="l">
              <a:lnSpc>
                <a:spcPct val="105000"/>
              </a:lnSpc>
            </a:pPr>
            <a:r>
              <a:rPr sz="1070" b="0" i="0">
                <a:solidFill>
                  <a:srgbClr val="596C78"/>
                </a:solidFill>
                <a:latin typeface="Aptos"/>
              </a:rPr>
              <a:t>Material and repeated-impact results are strong signals. The 1:3 barrier test used one specimen per mix and did not measure ASI/THIV, vehicle containment or redirection. Occupant benefit remains a testable hypothesis.</a:t>
            </a:r>
          </a:p>
        </p:txBody>
      </p:sp>
      <p:sp>
        <p:nvSpPr>
          <p:cNvPr id="42" name="TextBox 41"/>
          <p:cNvSpPr txBox="1"/>
          <p:nvPr/>
        </p:nvSpPr>
        <p:spPr>
          <a:xfrm>
            <a:off x="667512" y="6099048"/>
            <a:ext cx="10698480" cy="256032"/>
          </a:xfrm>
          <a:prstGeom prst="rect">
            <a:avLst/>
          </a:prstGeom>
          <a:noFill/>
        </p:spPr>
        <p:txBody>
          <a:bodyPr wrap="square" lIns="0" rIns="0" tIns="0" bIns="0" anchor="ctr">
            <a:spAutoFit/>
          </a:bodyPr>
          <a:lstStyle/>
          <a:p>
            <a:pPr algn="l">
              <a:lnSpc>
                <a:spcPct val="100000"/>
              </a:lnSpc>
            </a:pPr>
            <a:r>
              <a:rPr sz="700" b="0" i="0">
                <a:solidFill>
                  <a:srgbClr val="596C78"/>
                </a:solidFill>
                <a:latin typeface="Aptos"/>
              </a:rPr>
              <a:t>Source: Inventor dataset, Al-Amir et al. manuscript (submitted 18 Jul 2026), Tables/Figs 8–12; calculations in accompanying workbook.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640080" y="164592"/>
            <a:ext cx="2514600" cy="201168"/>
          </a:xfrm>
          <a:prstGeom prst="rect">
            <a:avLst/>
          </a:prstGeom>
          <a:noFill/>
        </p:spPr>
        <p:txBody>
          <a:bodyPr wrap="square" lIns="0" rIns="0" tIns="0" bIns="0" anchor="t">
            <a:spAutoFit/>
          </a:bodyPr>
          <a:lstStyle/>
          <a:p>
            <a:pPr algn="l">
              <a:lnSpc>
                <a:spcPct val="100000"/>
              </a:lnSpc>
            </a:pPr>
            <a:r>
              <a:rPr sz="850" b="1" i="0">
                <a:solidFill>
                  <a:srgbClr val="2B78A6"/>
                </a:solidFill>
                <a:latin typeface="Aptos"/>
              </a:rPr>
              <a:t>GLOBAL EVIDENCE</a:t>
            </a:r>
          </a:p>
        </p:txBody>
      </p:sp>
      <p:sp>
        <p:nvSpPr>
          <p:cNvPr id="3" name="TextBox 2"/>
          <p:cNvSpPr txBox="1"/>
          <p:nvPr/>
        </p:nvSpPr>
        <p:spPr>
          <a:xfrm>
            <a:off x="640080" y="338328"/>
            <a:ext cx="9921240" cy="612648"/>
          </a:xfrm>
          <a:prstGeom prst="rect">
            <a:avLst/>
          </a:prstGeom>
          <a:noFill/>
        </p:spPr>
        <p:txBody>
          <a:bodyPr wrap="square" lIns="0" rIns="0" tIns="0" bIns="0" anchor="ctr">
            <a:spAutoFit/>
          </a:bodyPr>
          <a:lstStyle/>
          <a:p>
            <a:pPr algn="l">
              <a:lnSpc>
                <a:spcPct val="92000"/>
              </a:lnSpc>
            </a:pPr>
            <a:r>
              <a:rPr sz="2080" b="1" i="0">
                <a:solidFill>
                  <a:srgbClr val="172733"/>
                </a:solidFill>
                <a:latin typeface="Aptos Display"/>
              </a:rPr>
              <a:t>The need is global: safety, materials and circularity intersect</a:t>
            </a:r>
          </a:p>
        </p:txBody>
      </p:sp>
      <p:sp>
        <p:nvSpPr>
          <p:cNvPr id="4" name="Rounded Rectangle 3"/>
          <p:cNvSpPr/>
          <p:nvPr/>
        </p:nvSpPr>
        <p:spPr>
          <a:xfrm>
            <a:off x="11173968" y="128016"/>
            <a:ext cx="749808" cy="58521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itbbs_logo_official.png"/>
          <p:cNvPicPr>
            <a:picLocks noChangeAspect="1"/>
          </p:cNvPicPr>
          <p:nvPr/>
        </p:nvPicPr>
        <p:blipFill>
          <a:blip r:embed="rId2"/>
          <a:stretch>
            <a:fillRect/>
          </a:stretch>
        </p:blipFill>
        <p:spPr>
          <a:xfrm>
            <a:off x="11283696" y="164592"/>
            <a:ext cx="530352" cy="493776"/>
          </a:xfrm>
          <a:prstGeom prst="rect">
            <a:avLst/>
          </a:prstGeom>
        </p:spPr>
      </p:pic>
      <p:cxnSp>
        <p:nvCxnSpPr>
          <p:cNvPr id="6" name="Connector 5"/>
          <p:cNvCxnSpPr/>
          <p:nvPr/>
        </p:nvCxnSpPr>
        <p:spPr>
          <a:xfrm>
            <a:off x="640080" y="1005840"/>
            <a:ext cx="10899648" cy="0"/>
          </a:xfrm>
          <a:prstGeom prst="line">
            <a:avLst/>
          </a:prstGeom>
          <a:ln w="10160">
            <a:solidFill>
              <a:srgbClr val="D8E2E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473952"/>
            <a:ext cx="10899648" cy="0"/>
          </a:xfrm>
          <a:prstGeom prst="line">
            <a:avLst/>
          </a:prstGeom>
          <a:ln w="8890">
            <a:solidFill>
              <a:srgbClr val="D8E2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58368" y="6547104"/>
            <a:ext cx="9784080" cy="164592"/>
          </a:xfrm>
          <a:prstGeom prst="rect">
            <a:avLst/>
          </a:prstGeom>
          <a:noFill/>
        </p:spPr>
        <p:txBody>
          <a:bodyPr wrap="square" lIns="0" rIns="0" tIns="0" bIns="0" anchor="t">
            <a:spAutoFit/>
          </a:bodyPr>
          <a:lstStyle/>
          <a:p>
            <a:pPr algn="l">
              <a:lnSpc>
                <a:spcPct val="100000"/>
              </a:lnSpc>
            </a:pPr>
            <a:r>
              <a:rPr sz="760" b="1" i="0">
                <a:solidFill>
                  <a:srgbClr val="596C78"/>
                </a:solidFill>
                <a:latin typeface="Aptos"/>
              </a:rPr>
              <a:t>EXTERNAL REDACTED DRAFT • IP STATUS TO CONFIRM • DISTRIBUTE ONLY WITH IITBBS IP APPROVAL</a:t>
            </a:r>
          </a:p>
        </p:txBody>
      </p:sp>
      <p:sp>
        <p:nvSpPr>
          <p:cNvPr id="9" name="TextBox 8"/>
          <p:cNvSpPr txBox="1"/>
          <p:nvPr/>
        </p:nvSpPr>
        <p:spPr>
          <a:xfrm>
            <a:off x="10972800" y="6528816"/>
            <a:ext cx="548640" cy="173736"/>
          </a:xfrm>
          <a:prstGeom prst="rect">
            <a:avLst/>
          </a:prstGeom>
          <a:noFill/>
        </p:spPr>
        <p:txBody>
          <a:bodyPr wrap="square" lIns="0" rIns="0" tIns="0" bIns="0" anchor="t">
            <a:spAutoFit/>
          </a:bodyPr>
          <a:lstStyle/>
          <a:p>
            <a:pPr algn="r">
              <a:lnSpc>
                <a:spcPct val="100000"/>
              </a:lnSpc>
            </a:pPr>
            <a:r>
              <a:rPr sz="830" b="1" i="0">
                <a:solidFill>
                  <a:srgbClr val="596C78"/>
                </a:solidFill>
                <a:latin typeface="Aptos"/>
              </a:rPr>
              <a:t>03</a:t>
            </a:r>
          </a:p>
        </p:txBody>
      </p:sp>
      <p:graphicFrame>
        <p:nvGraphicFramePr>
          <p:cNvPr id="10" name="Chart 9"/>
          <p:cNvGraphicFramePr>
            <a:graphicFrameLocks noGrp="1"/>
          </p:cNvGraphicFramePr>
          <p:nvPr/>
        </p:nvGraphicFramePr>
        <p:xfrm>
          <a:off x="640080" y="1197864"/>
          <a:ext cx="3749039" cy="2971800"/>
        </p:xfrm>
        <a:graphic>
          <a:graphicData uri="http://schemas.openxmlformats.org/drawingml/2006/chart">
            <c:chart xmlns:c="http://schemas.openxmlformats.org/drawingml/2006/chart" r:id="rId3"/>
          </a:graphicData>
        </a:graphic>
      </p:graphicFrame>
      <p:sp>
        <p:nvSpPr>
          <p:cNvPr id="11" name="TextBox 10"/>
          <p:cNvSpPr txBox="1"/>
          <p:nvPr/>
        </p:nvSpPr>
        <p:spPr>
          <a:xfrm>
            <a:off x="1847088" y="2066543"/>
            <a:ext cx="1353312" cy="713232"/>
          </a:xfrm>
          <a:prstGeom prst="rect">
            <a:avLst/>
          </a:prstGeom>
          <a:noFill/>
        </p:spPr>
        <p:txBody>
          <a:bodyPr wrap="square" lIns="0" rIns="0" tIns="0" bIns="0" anchor="ctr">
            <a:spAutoFit/>
          </a:bodyPr>
          <a:lstStyle/>
          <a:p>
            <a:pPr algn="ctr">
              <a:lnSpc>
                <a:spcPct val="100000"/>
              </a:lnSpc>
            </a:pPr>
            <a:r>
              <a:rPr sz="2700" b="1" i="0">
                <a:solidFill>
                  <a:srgbClr val="08243A"/>
                </a:solidFill>
                <a:latin typeface="Aptos Display"/>
              </a:rPr>
              <a:t>92%</a:t>
            </a:r>
          </a:p>
        </p:txBody>
      </p:sp>
      <p:sp>
        <p:nvSpPr>
          <p:cNvPr id="12" name="TextBox 11"/>
          <p:cNvSpPr txBox="1"/>
          <p:nvPr/>
        </p:nvSpPr>
        <p:spPr>
          <a:xfrm>
            <a:off x="1737360" y="2697480"/>
            <a:ext cx="1572768" cy="365760"/>
          </a:xfrm>
          <a:prstGeom prst="rect">
            <a:avLst/>
          </a:prstGeom>
          <a:noFill/>
        </p:spPr>
        <p:txBody>
          <a:bodyPr wrap="square" lIns="0" rIns="0" tIns="0" bIns="0" anchor="t">
            <a:spAutoFit/>
          </a:bodyPr>
          <a:lstStyle/>
          <a:p>
            <a:pPr algn="ctr">
              <a:lnSpc>
                <a:spcPct val="100000"/>
              </a:lnSpc>
            </a:pPr>
            <a:r>
              <a:rPr sz="950" b="1" i="0">
                <a:solidFill>
                  <a:srgbClr val="596C78"/>
                </a:solidFill>
                <a:latin typeface="Aptos"/>
              </a:rPr>
              <a:t>of deaths in LMICs</a:t>
            </a:r>
          </a:p>
        </p:txBody>
      </p:sp>
      <p:sp>
        <p:nvSpPr>
          <p:cNvPr id="13" name="TextBox 12"/>
          <p:cNvSpPr txBox="1"/>
          <p:nvPr/>
        </p:nvSpPr>
        <p:spPr>
          <a:xfrm>
            <a:off x="768096" y="4197096"/>
            <a:ext cx="3520440" cy="420624"/>
          </a:xfrm>
          <a:prstGeom prst="rect">
            <a:avLst/>
          </a:prstGeom>
          <a:noFill/>
        </p:spPr>
        <p:txBody>
          <a:bodyPr wrap="square" lIns="0" rIns="0" tIns="0" bIns="0" anchor="t">
            <a:spAutoFit/>
          </a:bodyPr>
          <a:lstStyle/>
          <a:p>
            <a:pPr algn="ctr">
              <a:lnSpc>
                <a:spcPct val="100000"/>
              </a:lnSpc>
            </a:pPr>
            <a:r>
              <a:rPr sz="1050" b="1" i="0">
                <a:solidFill>
                  <a:srgbClr val="172733"/>
                </a:solidFill>
                <a:latin typeface="Aptos"/>
              </a:rPr>
              <a:t>Global road-traffic deaths by country income group, 2021</a:t>
            </a:r>
          </a:p>
        </p:txBody>
      </p:sp>
      <p:sp>
        <p:nvSpPr>
          <p:cNvPr id="14" name="Rounded Rectangle 13"/>
          <p:cNvSpPr/>
          <p:nvPr/>
        </p:nvSpPr>
        <p:spPr>
          <a:xfrm>
            <a:off x="4681728" y="1216152"/>
            <a:ext cx="3127248" cy="1408176"/>
          </a:xfrm>
          <a:prstGeom prst="round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46320" y="1362456"/>
            <a:ext cx="2798064" cy="438912"/>
          </a:xfrm>
          <a:prstGeom prst="rect">
            <a:avLst/>
          </a:prstGeom>
          <a:noFill/>
        </p:spPr>
        <p:txBody>
          <a:bodyPr wrap="square" lIns="0" rIns="0" tIns="0" bIns="0" anchor="ctr">
            <a:spAutoFit/>
          </a:bodyPr>
          <a:lstStyle/>
          <a:p>
            <a:pPr algn="l">
              <a:lnSpc>
                <a:spcPct val="100000"/>
              </a:lnSpc>
            </a:pPr>
            <a:r>
              <a:rPr sz="2300" b="1" i="0">
                <a:solidFill>
                  <a:srgbClr val="D95D5D"/>
                </a:solidFill>
                <a:latin typeface="Aptos Display"/>
              </a:rPr>
              <a:t>1.19 M</a:t>
            </a:r>
          </a:p>
        </p:txBody>
      </p:sp>
      <p:sp>
        <p:nvSpPr>
          <p:cNvPr id="16" name="TextBox 15"/>
          <p:cNvSpPr txBox="1"/>
          <p:nvPr/>
        </p:nvSpPr>
        <p:spPr>
          <a:xfrm>
            <a:off x="4846320" y="1856232"/>
            <a:ext cx="2798064" cy="402336"/>
          </a:xfrm>
          <a:prstGeom prst="rect">
            <a:avLst/>
          </a:prstGeom>
          <a:noFill/>
        </p:spPr>
        <p:txBody>
          <a:bodyPr wrap="square" lIns="0" rIns="0" tIns="0" bIns="0" anchor="t">
            <a:spAutoFit/>
          </a:bodyPr>
          <a:lstStyle/>
          <a:p>
            <a:pPr algn="l">
              <a:lnSpc>
                <a:spcPct val="100000"/>
              </a:lnSpc>
            </a:pPr>
            <a:r>
              <a:rPr sz="1050" b="1" i="0">
                <a:solidFill>
                  <a:srgbClr val="172733"/>
                </a:solidFill>
                <a:latin typeface="Aptos"/>
              </a:rPr>
              <a:t>road deaths/year</a:t>
            </a:r>
          </a:p>
        </p:txBody>
      </p:sp>
      <p:sp>
        <p:nvSpPr>
          <p:cNvPr id="17" name="TextBox 16"/>
          <p:cNvSpPr txBox="1"/>
          <p:nvPr/>
        </p:nvSpPr>
        <p:spPr>
          <a:xfrm>
            <a:off x="4846320" y="2240280"/>
            <a:ext cx="2798064" cy="274320"/>
          </a:xfrm>
          <a:prstGeom prst="rect">
            <a:avLst/>
          </a:prstGeom>
          <a:noFill/>
        </p:spPr>
        <p:txBody>
          <a:bodyPr wrap="square" lIns="0" rIns="0" tIns="0" bIns="0" anchor="t">
            <a:spAutoFit/>
          </a:bodyPr>
          <a:lstStyle/>
          <a:p>
            <a:pPr algn="l">
              <a:lnSpc>
                <a:spcPct val="100000"/>
              </a:lnSpc>
            </a:pPr>
            <a:r>
              <a:rPr sz="850" b="0" i="0">
                <a:solidFill>
                  <a:srgbClr val="596C78"/>
                </a:solidFill>
                <a:latin typeface="Aptos"/>
              </a:rPr>
              <a:t>WHO 2023; 2021 estimate</a:t>
            </a:r>
          </a:p>
        </p:txBody>
      </p:sp>
      <p:sp>
        <p:nvSpPr>
          <p:cNvPr id="18" name="Rounded Rectangle 17"/>
          <p:cNvSpPr/>
          <p:nvPr/>
        </p:nvSpPr>
        <p:spPr>
          <a:xfrm>
            <a:off x="8110727" y="1216152"/>
            <a:ext cx="3127248" cy="1408176"/>
          </a:xfrm>
          <a:prstGeom prst="round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75319" y="1362456"/>
            <a:ext cx="2798064" cy="438912"/>
          </a:xfrm>
          <a:prstGeom prst="rect">
            <a:avLst/>
          </a:prstGeom>
          <a:noFill/>
        </p:spPr>
        <p:txBody>
          <a:bodyPr wrap="square" lIns="0" rIns="0" tIns="0" bIns="0" anchor="ctr">
            <a:spAutoFit/>
          </a:bodyPr>
          <a:lstStyle/>
          <a:p>
            <a:pPr algn="l">
              <a:lnSpc>
                <a:spcPct val="100000"/>
              </a:lnSpc>
            </a:pPr>
            <a:r>
              <a:rPr sz="2300" b="1" i="0">
                <a:solidFill>
                  <a:srgbClr val="F39C3D"/>
                </a:solidFill>
                <a:latin typeface="Aptos Display"/>
              </a:rPr>
              <a:t>50 Gt</a:t>
            </a:r>
          </a:p>
        </p:txBody>
      </p:sp>
      <p:sp>
        <p:nvSpPr>
          <p:cNvPr id="20" name="TextBox 19"/>
          <p:cNvSpPr txBox="1"/>
          <p:nvPr/>
        </p:nvSpPr>
        <p:spPr>
          <a:xfrm>
            <a:off x="8275319" y="1856232"/>
            <a:ext cx="2798064" cy="402336"/>
          </a:xfrm>
          <a:prstGeom prst="rect">
            <a:avLst/>
          </a:prstGeom>
          <a:noFill/>
        </p:spPr>
        <p:txBody>
          <a:bodyPr wrap="square" lIns="0" rIns="0" tIns="0" bIns="0" anchor="t">
            <a:spAutoFit/>
          </a:bodyPr>
          <a:lstStyle/>
          <a:p>
            <a:pPr algn="l">
              <a:lnSpc>
                <a:spcPct val="100000"/>
              </a:lnSpc>
            </a:pPr>
            <a:r>
              <a:rPr sz="1050" b="1" i="0">
                <a:solidFill>
                  <a:srgbClr val="172733"/>
                </a:solidFill>
                <a:latin typeface="Aptos"/>
              </a:rPr>
              <a:t>sand + gravel/year</a:t>
            </a:r>
          </a:p>
        </p:txBody>
      </p:sp>
      <p:sp>
        <p:nvSpPr>
          <p:cNvPr id="21" name="TextBox 20"/>
          <p:cNvSpPr txBox="1"/>
          <p:nvPr/>
        </p:nvSpPr>
        <p:spPr>
          <a:xfrm>
            <a:off x="8275319" y="2240280"/>
            <a:ext cx="2798064" cy="274320"/>
          </a:xfrm>
          <a:prstGeom prst="rect">
            <a:avLst/>
          </a:prstGeom>
          <a:noFill/>
        </p:spPr>
        <p:txBody>
          <a:bodyPr wrap="square" lIns="0" rIns="0" tIns="0" bIns="0" anchor="t">
            <a:spAutoFit/>
          </a:bodyPr>
          <a:lstStyle/>
          <a:p>
            <a:pPr algn="l">
              <a:lnSpc>
                <a:spcPct val="100000"/>
              </a:lnSpc>
            </a:pPr>
            <a:r>
              <a:rPr sz="850" b="0" i="0">
                <a:solidFill>
                  <a:srgbClr val="596C78"/>
                </a:solidFill>
                <a:latin typeface="Aptos"/>
              </a:rPr>
              <a:t>UNEP 2022 estimate</a:t>
            </a:r>
          </a:p>
        </p:txBody>
      </p:sp>
      <p:sp>
        <p:nvSpPr>
          <p:cNvPr id="22" name="Rounded Rectangle 21"/>
          <p:cNvSpPr/>
          <p:nvPr/>
        </p:nvSpPr>
        <p:spPr>
          <a:xfrm>
            <a:off x="4681728" y="2889504"/>
            <a:ext cx="3127248" cy="1408176"/>
          </a:xfrm>
          <a:prstGeom prst="round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46320" y="3035808"/>
            <a:ext cx="2798064" cy="438912"/>
          </a:xfrm>
          <a:prstGeom prst="rect">
            <a:avLst/>
          </a:prstGeom>
          <a:noFill/>
        </p:spPr>
        <p:txBody>
          <a:bodyPr wrap="square" lIns="0" rIns="0" tIns="0" bIns="0" anchor="ctr">
            <a:spAutoFit/>
          </a:bodyPr>
          <a:lstStyle/>
          <a:p>
            <a:pPr algn="l">
              <a:lnSpc>
                <a:spcPct val="100000"/>
              </a:lnSpc>
            </a:pPr>
            <a:r>
              <a:rPr sz="2300" b="1" i="0">
                <a:solidFill>
                  <a:srgbClr val="2B78A6"/>
                </a:solidFill>
                <a:latin typeface="Aptos Display"/>
              </a:rPr>
              <a:t>4.0 Gt</a:t>
            </a:r>
          </a:p>
        </p:txBody>
      </p:sp>
      <p:sp>
        <p:nvSpPr>
          <p:cNvPr id="24" name="TextBox 23"/>
          <p:cNvSpPr txBox="1"/>
          <p:nvPr/>
        </p:nvSpPr>
        <p:spPr>
          <a:xfrm>
            <a:off x="4846320" y="3529584"/>
            <a:ext cx="2798064" cy="402336"/>
          </a:xfrm>
          <a:prstGeom prst="rect">
            <a:avLst/>
          </a:prstGeom>
          <a:noFill/>
        </p:spPr>
        <p:txBody>
          <a:bodyPr wrap="square" lIns="0" rIns="0" tIns="0" bIns="0" anchor="t">
            <a:spAutoFit/>
          </a:bodyPr>
          <a:lstStyle/>
          <a:p>
            <a:pPr algn="l">
              <a:lnSpc>
                <a:spcPct val="100000"/>
              </a:lnSpc>
            </a:pPr>
            <a:r>
              <a:rPr sz="1050" b="1" i="0">
                <a:solidFill>
                  <a:srgbClr val="172733"/>
                </a:solidFill>
                <a:latin typeface="Aptos"/>
              </a:rPr>
              <a:t>cement produced, 2024</a:t>
            </a:r>
          </a:p>
        </p:txBody>
      </p:sp>
      <p:sp>
        <p:nvSpPr>
          <p:cNvPr id="25" name="TextBox 24"/>
          <p:cNvSpPr txBox="1"/>
          <p:nvPr/>
        </p:nvSpPr>
        <p:spPr>
          <a:xfrm>
            <a:off x="4846320" y="3913632"/>
            <a:ext cx="2798064" cy="274320"/>
          </a:xfrm>
          <a:prstGeom prst="rect">
            <a:avLst/>
          </a:prstGeom>
          <a:noFill/>
        </p:spPr>
        <p:txBody>
          <a:bodyPr wrap="square" lIns="0" rIns="0" tIns="0" bIns="0" anchor="t">
            <a:spAutoFit/>
          </a:bodyPr>
          <a:lstStyle/>
          <a:p>
            <a:pPr algn="l">
              <a:lnSpc>
                <a:spcPct val="100000"/>
              </a:lnSpc>
            </a:pPr>
            <a:r>
              <a:rPr sz="850" b="0" i="0">
                <a:solidFill>
                  <a:srgbClr val="596C78"/>
                </a:solidFill>
                <a:latin typeface="Aptos"/>
              </a:rPr>
              <a:t>USGS 2025 • ~0.6 tCO₂/t (IEA)</a:t>
            </a:r>
          </a:p>
        </p:txBody>
      </p:sp>
      <p:sp>
        <p:nvSpPr>
          <p:cNvPr id="26" name="Rounded Rectangle 25"/>
          <p:cNvSpPr/>
          <p:nvPr/>
        </p:nvSpPr>
        <p:spPr>
          <a:xfrm>
            <a:off x="8110727" y="2889504"/>
            <a:ext cx="3127248" cy="1408176"/>
          </a:xfrm>
          <a:prstGeom prst="round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75319" y="3035808"/>
            <a:ext cx="2798064" cy="438912"/>
          </a:xfrm>
          <a:prstGeom prst="rect">
            <a:avLst/>
          </a:prstGeom>
          <a:noFill/>
        </p:spPr>
        <p:txBody>
          <a:bodyPr wrap="square" lIns="0" rIns="0" tIns="0" bIns="0" anchor="ctr">
            <a:spAutoFit/>
          </a:bodyPr>
          <a:lstStyle/>
          <a:p>
            <a:pPr algn="l">
              <a:lnSpc>
                <a:spcPct val="100000"/>
              </a:lnSpc>
            </a:pPr>
            <a:r>
              <a:rPr sz="2300" b="1" i="0">
                <a:solidFill>
                  <a:srgbClr val="178D86"/>
                </a:solidFill>
                <a:latin typeface="Aptos Display"/>
              </a:rPr>
              <a:t>&gt;1 Gt</a:t>
            </a:r>
          </a:p>
        </p:txBody>
      </p:sp>
      <p:sp>
        <p:nvSpPr>
          <p:cNvPr id="28" name="TextBox 27"/>
          <p:cNvSpPr txBox="1"/>
          <p:nvPr/>
        </p:nvSpPr>
        <p:spPr>
          <a:xfrm>
            <a:off x="8275319" y="3529584"/>
            <a:ext cx="2798064" cy="402336"/>
          </a:xfrm>
          <a:prstGeom prst="rect">
            <a:avLst/>
          </a:prstGeom>
          <a:noFill/>
        </p:spPr>
        <p:txBody>
          <a:bodyPr wrap="square" lIns="0" rIns="0" tIns="0" bIns="0" anchor="t">
            <a:spAutoFit/>
          </a:bodyPr>
          <a:lstStyle/>
          <a:p>
            <a:pPr algn="l">
              <a:lnSpc>
                <a:spcPct val="100000"/>
              </a:lnSpc>
            </a:pPr>
            <a:r>
              <a:rPr sz="1050" b="1" i="0">
                <a:solidFill>
                  <a:srgbClr val="172733"/>
                </a:solidFill>
                <a:latin typeface="Aptos"/>
              </a:rPr>
              <a:t>coal fly ash/year</a:t>
            </a:r>
          </a:p>
        </p:txBody>
      </p:sp>
      <p:sp>
        <p:nvSpPr>
          <p:cNvPr id="29" name="TextBox 28"/>
          <p:cNvSpPr txBox="1"/>
          <p:nvPr/>
        </p:nvSpPr>
        <p:spPr>
          <a:xfrm>
            <a:off x="8275319" y="3913632"/>
            <a:ext cx="2798064" cy="274320"/>
          </a:xfrm>
          <a:prstGeom prst="rect">
            <a:avLst/>
          </a:prstGeom>
          <a:noFill/>
        </p:spPr>
        <p:txBody>
          <a:bodyPr wrap="square" lIns="0" rIns="0" tIns="0" bIns="0" anchor="t">
            <a:spAutoFit/>
          </a:bodyPr>
          <a:lstStyle/>
          <a:p>
            <a:pPr algn="l">
              <a:lnSpc>
                <a:spcPct val="100000"/>
              </a:lnSpc>
            </a:pPr>
            <a:r>
              <a:rPr sz="850" b="0" i="0">
                <a:solidFill>
                  <a:srgbClr val="596C78"/>
                </a:solidFill>
                <a:latin typeface="Aptos"/>
              </a:rPr>
              <a:t>IEA CCC 2020; global order</a:t>
            </a:r>
          </a:p>
        </p:txBody>
      </p:sp>
      <p:sp>
        <p:nvSpPr>
          <p:cNvPr id="30" name="Rounded Rectangle 29"/>
          <p:cNvSpPr/>
          <p:nvPr/>
        </p:nvSpPr>
        <p:spPr>
          <a:xfrm>
            <a:off x="4681728" y="4663440"/>
            <a:ext cx="6556248" cy="960120"/>
          </a:xfrm>
          <a:prstGeom prst="roundRect">
            <a:avLst/>
          </a:prstGeom>
          <a:solidFill>
            <a:srgbClr val="08243A"/>
          </a:solidFill>
          <a:ln>
            <a:solidFill>
              <a:srgbClr val="0824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919472" y="4846320"/>
            <a:ext cx="6080760" cy="548640"/>
          </a:xfrm>
          <a:prstGeom prst="rect">
            <a:avLst/>
          </a:prstGeom>
          <a:noFill/>
        </p:spPr>
        <p:txBody>
          <a:bodyPr wrap="square" lIns="0" rIns="0" tIns="0" bIns="0" anchor="t">
            <a:spAutoFit/>
          </a:bodyPr>
          <a:lstStyle/>
          <a:p>
            <a:pPr algn="l">
              <a:lnSpc>
                <a:spcPct val="100000"/>
              </a:lnSpc>
            </a:pPr>
            <a:r>
              <a:rPr sz="1100" b="1" i="0">
                <a:solidFill>
                  <a:srgbClr val="FFFFFF"/>
                </a:solidFill>
                <a:latin typeface="Aptos"/>
              </a:rPr>
              <a:t>Opportunity: reduce crash severity while substituting a portion of virgin aggregate and clinker-intensive binder inputs.
Boundary: this project has not yet completed full-scale crash testing or a product LCA.</a:t>
            </a:r>
          </a:p>
        </p:txBody>
      </p:sp>
      <p:sp>
        <p:nvSpPr>
          <p:cNvPr id="32" name="TextBox 31"/>
          <p:cNvSpPr txBox="1"/>
          <p:nvPr/>
        </p:nvSpPr>
        <p:spPr>
          <a:xfrm>
            <a:off x="667512" y="5897880"/>
            <a:ext cx="10881360" cy="256032"/>
          </a:xfrm>
          <a:prstGeom prst="rect">
            <a:avLst/>
          </a:prstGeom>
          <a:noFill/>
        </p:spPr>
        <p:txBody>
          <a:bodyPr wrap="square" lIns="0" rIns="0" tIns="0" bIns="0" anchor="ctr">
            <a:spAutoFit/>
          </a:bodyPr>
          <a:lstStyle/>
          <a:p>
            <a:pPr algn="l">
              <a:lnSpc>
                <a:spcPct val="100000"/>
              </a:lnSpc>
            </a:pPr>
            <a:r>
              <a:rPr sz="700" b="0" i="0">
                <a:solidFill>
                  <a:srgbClr val="596C78"/>
                </a:solidFill>
                <a:latin typeface="Aptos"/>
              </a:rPr>
              <a:t>Source: WHO, Global Status Report on Road Safety 2023, pp. 4, 14; UNEP, Sand and Sustainability (2022); USGS, MCS—Cement (2025); IEA, Cement (2023); Reid, Carpenter &amp; Masili, IEA CCC/303 (2020).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640080" y="164592"/>
            <a:ext cx="2514600" cy="201168"/>
          </a:xfrm>
          <a:prstGeom prst="rect">
            <a:avLst/>
          </a:prstGeom>
          <a:noFill/>
        </p:spPr>
        <p:txBody>
          <a:bodyPr wrap="square" lIns="0" rIns="0" tIns="0" bIns="0" anchor="t">
            <a:spAutoFit/>
          </a:bodyPr>
          <a:lstStyle/>
          <a:p>
            <a:pPr algn="l">
              <a:lnSpc>
                <a:spcPct val="100000"/>
              </a:lnSpc>
            </a:pPr>
            <a:r>
              <a:rPr sz="850" b="1" i="0">
                <a:solidFill>
                  <a:srgbClr val="2B78A6"/>
                </a:solidFill>
                <a:latin typeface="Aptos"/>
              </a:rPr>
              <a:t>LANDSCAPE</a:t>
            </a:r>
          </a:p>
        </p:txBody>
      </p:sp>
      <p:sp>
        <p:nvSpPr>
          <p:cNvPr id="3" name="TextBox 2"/>
          <p:cNvSpPr txBox="1"/>
          <p:nvPr/>
        </p:nvSpPr>
        <p:spPr>
          <a:xfrm>
            <a:off x="640080" y="338328"/>
            <a:ext cx="9921240" cy="612648"/>
          </a:xfrm>
          <a:prstGeom prst="rect">
            <a:avLst/>
          </a:prstGeom>
          <a:noFill/>
        </p:spPr>
        <p:txBody>
          <a:bodyPr wrap="square" lIns="0" rIns="0" tIns="0" bIns="0" anchor="ctr">
            <a:spAutoFit/>
          </a:bodyPr>
          <a:lstStyle/>
          <a:p>
            <a:pPr algn="l">
              <a:lnSpc>
                <a:spcPct val="92000"/>
              </a:lnSpc>
            </a:pPr>
            <a:r>
              <a:rPr sz="2250" b="1" i="0">
                <a:solidFill>
                  <a:srgbClr val="172733"/>
                </a:solidFill>
                <a:latin typeface="Aptos Display"/>
              </a:rPr>
              <a:t>Prior art leaves an unresolved multi-objective gap</a:t>
            </a:r>
          </a:p>
        </p:txBody>
      </p:sp>
      <p:sp>
        <p:nvSpPr>
          <p:cNvPr id="4" name="Rounded Rectangle 3"/>
          <p:cNvSpPr/>
          <p:nvPr/>
        </p:nvSpPr>
        <p:spPr>
          <a:xfrm>
            <a:off x="11173968" y="128016"/>
            <a:ext cx="749808" cy="58521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itbbs_logo_official.png"/>
          <p:cNvPicPr>
            <a:picLocks noChangeAspect="1"/>
          </p:cNvPicPr>
          <p:nvPr/>
        </p:nvPicPr>
        <p:blipFill>
          <a:blip r:embed="rId2"/>
          <a:stretch>
            <a:fillRect/>
          </a:stretch>
        </p:blipFill>
        <p:spPr>
          <a:xfrm>
            <a:off x="11283696" y="164592"/>
            <a:ext cx="530352" cy="493776"/>
          </a:xfrm>
          <a:prstGeom prst="rect">
            <a:avLst/>
          </a:prstGeom>
        </p:spPr>
      </p:pic>
      <p:cxnSp>
        <p:nvCxnSpPr>
          <p:cNvPr id="6" name="Connector 5"/>
          <p:cNvCxnSpPr/>
          <p:nvPr/>
        </p:nvCxnSpPr>
        <p:spPr>
          <a:xfrm>
            <a:off x="640080" y="1005840"/>
            <a:ext cx="10899648" cy="0"/>
          </a:xfrm>
          <a:prstGeom prst="line">
            <a:avLst/>
          </a:prstGeom>
          <a:ln w="10160">
            <a:solidFill>
              <a:srgbClr val="D8E2E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473952"/>
            <a:ext cx="10899648" cy="0"/>
          </a:xfrm>
          <a:prstGeom prst="line">
            <a:avLst/>
          </a:prstGeom>
          <a:ln w="8890">
            <a:solidFill>
              <a:srgbClr val="D8E2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58368" y="6547104"/>
            <a:ext cx="9784080" cy="164592"/>
          </a:xfrm>
          <a:prstGeom prst="rect">
            <a:avLst/>
          </a:prstGeom>
          <a:noFill/>
        </p:spPr>
        <p:txBody>
          <a:bodyPr wrap="square" lIns="0" rIns="0" tIns="0" bIns="0" anchor="t">
            <a:spAutoFit/>
          </a:bodyPr>
          <a:lstStyle/>
          <a:p>
            <a:pPr algn="l">
              <a:lnSpc>
                <a:spcPct val="100000"/>
              </a:lnSpc>
            </a:pPr>
            <a:r>
              <a:rPr sz="760" b="1" i="0">
                <a:solidFill>
                  <a:srgbClr val="596C78"/>
                </a:solidFill>
                <a:latin typeface="Aptos"/>
              </a:rPr>
              <a:t>EXTERNAL REDACTED DRAFT • IP STATUS TO CONFIRM • DISTRIBUTE ONLY WITH IITBBS IP APPROVAL</a:t>
            </a:r>
          </a:p>
        </p:txBody>
      </p:sp>
      <p:sp>
        <p:nvSpPr>
          <p:cNvPr id="9" name="TextBox 8"/>
          <p:cNvSpPr txBox="1"/>
          <p:nvPr/>
        </p:nvSpPr>
        <p:spPr>
          <a:xfrm>
            <a:off x="10972800" y="6528816"/>
            <a:ext cx="548640" cy="173736"/>
          </a:xfrm>
          <a:prstGeom prst="rect">
            <a:avLst/>
          </a:prstGeom>
          <a:noFill/>
        </p:spPr>
        <p:txBody>
          <a:bodyPr wrap="square" lIns="0" rIns="0" tIns="0" bIns="0" anchor="t">
            <a:spAutoFit/>
          </a:bodyPr>
          <a:lstStyle/>
          <a:p>
            <a:pPr algn="r">
              <a:lnSpc>
                <a:spcPct val="100000"/>
              </a:lnSpc>
            </a:pPr>
            <a:r>
              <a:rPr sz="830" b="1" i="0">
                <a:solidFill>
                  <a:srgbClr val="596C78"/>
                </a:solidFill>
                <a:latin typeface="Aptos"/>
              </a:rPr>
              <a:t>04</a:t>
            </a:r>
          </a:p>
        </p:txBody>
      </p:sp>
      <p:graphicFrame>
        <p:nvGraphicFramePr>
          <p:cNvPr id="10" name="Table 9"/>
          <p:cNvGraphicFramePr>
            <a:graphicFrameLocks noGrp="1"/>
          </p:cNvGraphicFramePr>
          <p:nvPr/>
        </p:nvGraphicFramePr>
        <p:xfrm>
          <a:off x="658368" y="1234440"/>
          <a:ext cx="10881357" cy="3456432"/>
        </p:xfrm>
        <a:graphic>
          <a:graphicData uri="http://schemas.openxmlformats.org/drawingml/2006/table">
            <a:tbl>
              <a:tblPr firstRow="1" bandRow="1">
                <a:tableStyleId>{5C22544A-7EE6-4342-B048-85BDC9FD1C3A}</a:tableStyleId>
              </a:tblPr>
              <a:tblGrid>
                <a:gridCol w="1967905"/>
                <a:gridCol w="1562748"/>
                <a:gridCol w="1562748"/>
                <a:gridCol w="1678507"/>
                <a:gridCol w="1678507"/>
                <a:gridCol w="2430942"/>
              </a:tblGrid>
              <a:tr h="493776">
                <a:tc>
                  <a:txBody>
                    <a:bodyPr/>
                    <a:lstStyle/>
                    <a:p>
                      <a:pPr algn="l"/>
                      <a:r>
                        <a:rPr sz="840" b="1" i="0">
                          <a:solidFill>
                            <a:srgbClr val="FFFFFF"/>
                          </a:solidFill>
                          <a:latin typeface="Aptos"/>
                        </a:rPr>
                        <a:t>Approach</a:t>
                      </a:r>
                    </a:p>
                  </a:txBody>
                  <a:tcPr marL="36576" marR="36576" marT="27432" marB="27432" anchor="ctr">
                    <a:solidFill>
                      <a:srgbClr val="08243A"/>
                    </a:solidFill>
                  </a:tcPr>
                </a:tc>
                <a:tc>
                  <a:txBody>
                    <a:bodyPr/>
                    <a:lstStyle/>
                    <a:p>
                      <a:pPr algn="ctr"/>
                      <a:r>
                        <a:rPr sz="840" b="1" i="0">
                          <a:solidFill>
                            <a:srgbClr val="FFFFFF"/>
                          </a:solidFill>
                          <a:latin typeface="Aptos"/>
                        </a:rPr>
                        <a:t>Containment / strength</a:t>
                      </a:r>
                    </a:p>
                  </a:txBody>
                  <a:tcPr marL="36576" marR="36576" marT="27432" marB="27432" anchor="ctr">
                    <a:solidFill>
                      <a:srgbClr val="08243A"/>
                    </a:solidFill>
                  </a:tcPr>
                </a:tc>
                <a:tc>
                  <a:txBody>
                    <a:bodyPr/>
                    <a:lstStyle/>
                    <a:p>
                      <a:pPr algn="ctr"/>
                      <a:r>
                        <a:rPr sz="840" b="1" i="0">
                          <a:solidFill>
                            <a:srgbClr val="FFFFFF"/>
                          </a:solidFill>
                          <a:latin typeface="Aptos"/>
                        </a:rPr>
                        <a:t>Energy dissipation</a:t>
                      </a:r>
                    </a:p>
                  </a:txBody>
                  <a:tcPr marL="36576" marR="36576" marT="27432" marB="27432" anchor="ctr">
                    <a:solidFill>
                      <a:srgbClr val="08243A"/>
                    </a:solidFill>
                  </a:tcPr>
                </a:tc>
                <a:tc>
                  <a:txBody>
                    <a:bodyPr/>
                    <a:lstStyle/>
                    <a:p>
                      <a:pPr algn="ctr"/>
                      <a:r>
                        <a:rPr sz="840" b="1" i="0">
                          <a:solidFill>
                            <a:srgbClr val="FFFFFF"/>
                          </a:solidFill>
                          <a:latin typeface="Aptos"/>
                        </a:rPr>
                        <a:t>Damage control</a:t>
                      </a:r>
                    </a:p>
                  </a:txBody>
                  <a:tcPr marL="36576" marR="36576" marT="27432" marB="27432" anchor="ctr">
                    <a:solidFill>
                      <a:srgbClr val="08243A"/>
                    </a:solidFill>
                  </a:tcPr>
                </a:tc>
                <a:tc>
                  <a:txBody>
                    <a:bodyPr/>
                    <a:lstStyle/>
                    <a:p>
                      <a:pPr algn="ctr"/>
                      <a:r>
                        <a:rPr sz="840" b="1" i="0">
                          <a:solidFill>
                            <a:srgbClr val="FFFFFF"/>
                          </a:solidFill>
                          <a:latin typeface="Aptos"/>
                        </a:rPr>
                        <a:t>Scale / cost</a:t>
                      </a:r>
                    </a:p>
                  </a:txBody>
                  <a:tcPr marL="36576" marR="36576" marT="27432" marB="27432" anchor="ctr">
                    <a:solidFill>
                      <a:srgbClr val="08243A"/>
                    </a:solidFill>
                  </a:tcPr>
                </a:tc>
                <a:tc>
                  <a:txBody>
                    <a:bodyPr/>
                    <a:lstStyle/>
                    <a:p>
                      <a:pPr algn="ctr"/>
                      <a:r>
                        <a:rPr sz="840" b="1" i="0">
                          <a:solidFill>
                            <a:srgbClr val="FFFFFF"/>
                          </a:solidFill>
                          <a:latin typeface="Aptos"/>
                        </a:rPr>
                        <a:t>Residual gap</a:t>
                      </a:r>
                    </a:p>
                  </a:txBody>
                  <a:tcPr marL="36576" marR="36576" marT="27432" marB="27432" anchor="ctr">
                    <a:solidFill>
                      <a:srgbClr val="08243A"/>
                    </a:solidFill>
                  </a:tcPr>
                </a:tc>
              </a:tr>
              <a:tr h="493776">
                <a:tc>
                  <a:txBody>
                    <a:bodyPr/>
                    <a:lstStyle/>
                    <a:p>
                      <a:pPr algn="l"/>
                      <a:r>
                        <a:rPr sz="860" b="1" i="0">
                          <a:solidFill>
                            <a:srgbClr val="172733"/>
                          </a:solidFill>
                          <a:latin typeface="Aptos"/>
                        </a:rPr>
                        <a:t>Rigid NWC barrier</a:t>
                      </a:r>
                    </a:p>
                  </a:txBody>
                  <a:tcPr marL="36576" marR="36576" marT="27432" marB="27432" anchor="ctr">
                    <a:solidFill>
                      <a:srgbClr val="FFFFFF"/>
                    </a:solidFill>
                  </a:tcPr>
                </a:tc>
                <a:tc>
                  <a:txBody>
                    <a:bodyPr/>
                    <a:lstStyle/>
                    <a:p>
                      <a:pPr algn="ctr"/>
                      <a:r>
                        <a:rPr sz="860" b="0" i="0">
                          <a:solidFill>
                            <a:srgbClr val="172733"/>
                          </a:solidFill>
                          <a:latin typeface="Aptos"/>
                        </a:rPr>
                        <a:t>High</a:t>
                      </a:r>
                    </a:p>
                  </a:txBody>
                  <a:tcPr marL="36576" marR="36576" marT="27432" marB="27432" anchor="ctr">
                    <a:solidFill>
                      <a:srgbClr val="FFFFFF"/>
                    </a:solidFill>
                  </a:tcPr>
                </a:tc>
                <a:tc>
                  <a:txBody>
                    <a:bodyPr/>
                    <a:lstStyle/>
                    <a:p>
                      <a:pPr algn="ctr"/>
                      <a:r>
                        <a:rPr sz="860" b="0" i="0">
                          <a:solidFill>
                            <a:srgbClr val="172733"/>
                          </a:solidFill>
                          <a:latin typeface="Aptos"/>
                        </a:rPr>
                        <a:t>Low–moderate</a:t>
                      </a:r>
                    </a:p>
                  </a:txBody>
                  <a:tcPr marL="36576" marR="36576" marT="27432" marB="27432" anchor="ctr">
                    <a:solidFill>
                      <a:srgbClr val="FFFFFF"/>
                    </a:solidFill>
                  </a:tcPr>
                </a:tc>
                <a:tc>
                  <a:txBody>
                    <a:bodyPr/>
                    <a:lstStyle/>
                    <a:p>
                      <a:pPr algn="ctr"/>
                      <a:r>
                        <a:rPr sz="860" b="0" i="0">
                          <a:solidFill>
                            <a:srgbClr val="172733"/>
                          </a:solidFill>
                          <a:latin typeface="Aptos"/>
                        </a:rPr>
                        <a:t>Brittle / debris risk</a:t>
                      </a:r>
                    </a:p>
                  </a:txBody>
                  <a:tcPr marL="36576" marR="36576" marT="27432" marB="27432" anchor="ctr">
                    <a:solidFill>
                      <a:srgbClr val="FFFFFF"/>
                    </a:solidFill>
                  </a:tcPr>
                </a:tc>
                <a:tc>
                  <a:txBody>
                    <a:bodyPr/>
                    <a:lstStyle/>
                    <a:p>
                      <a:pPr algn="ctr"/>
                      <a:r>
                        <a:rPr sz="860" b="0" i="0">
                          <a:solidFill>
                            <a:srgbClr val="172733"/>
                          </a:solidFill>
                          <a:latin typeface="Aptos"/>
                        </a:rPr>
                        <a:t>Mature</a:t>
                      </a:r>
                    </a:p>
                  </a:txBody>
                  <a:tcPr marL="36576" marR="36576" marT="27432" marB="27432" anchor="ctr">
                    <a:solidFill>
                      <a:srgbClr val="FFFFFF"/>
                    </a:solidFill>
                  </a:tcPr>
                </a:tc>
                <a:tc>
                  <a:txBody>
                    <a:bodyPr/>
                    <a:lstStyle/>
                    <a:p>
                      <a:pPr algn="ctr"/>
                      <a:r>
                        <a:rPr sz="860" b="0" i="0">
                          <a:solidFill>
                            <a:srgbClr val="172733"/>
                          </a:solidFill>
                          <a:latin typeface="Aptos"/>
                        </a:rPr>
                        <a:t>Harsh impact pulse</a:t>
                      </a:r>
                    </a:p>
                  </a:txBody>
                  <a:tcPr marL="36576" marR="36576" marT="27432" marB="27432" anchor="ctr">
                    <a:solidFill>
                      <a:srgbClr val="FFFFFF"/>
                    </a:solidFill>
                  </a:tcPr>
                </a:tc>
              </a:tr>
              <a:tr h="493776">
                <a:tc>
                  <a:txBody>
                    <a:bodyPr/>
                    <a:lstStyle/>
                    <a:p>
                      <a:pPr algn="l"/>
                      <a:r>
                        <a:rPr sz="860" b="1" i="0">
                          <a:solidFill>
                            <a:srgbClr val="172733"/>
                          </a:solidFill>
                          <a:latin typeface="Aptos"/>
                        </a:rPr>
                        <a:t>Steel / cable</a:t>
                      </a:r>
                    </a:p>
                  </a:txBody>
                  <a:tcPr marL="36576" marR="36576" marT="27432" marB="27432" anchor="ctr">
                    <a:solidFill>
                      <a:srgbClr val="F8FAFB"/>
                    </a:solidFill>
                  </a:tcPr>
                </a:tc>
                <a:tc>
                  <a:txBody>
                    <a:bodyPr/>
                    <a:lstStyle/>
                    <a:p>
                      <a:pPr algn="ctr"/>
                      <a:r>
                        <a:rPr sz="860" b="0" i="0">
                          <a:solidFill>
                            <a:srgbClr val="172733"/>
                          </a:solidFill>
                          <a:latin typeface="Aptos"/>
                        </a:rPr>
                        <a:t>System-dependent</a:t>
                      </a:r>
                    </a:p>
                  </a:txBody>
                  <a:tcPr marL="36576" marR="36576" marT="27432" marB="27432" anchor="ctr">
                    <a:solidFill>
                      <a:srgbClr val="F8FAFB"/>
                    </a:solidFill>
                  </a:tcPr>
                </a:tc>
                <a:tc>
                  <a:txBody>
                    <a:bodyPr/>
                    <a:lstStyle/>
                    <a:p>
                      <a:pPr algn="ctr"/>
                      <a:r>
                        <a:rPr sz="860" b="0" i="0">
                          <a:solidFill>
                            <a:srgbClr val="172733"/>
                          </a:solidFill>
                          <a:latin typeface="Aptos"/>
                        </a:rPr>
                        <a:t>High via deflection</a:t>
                      </a:r>
                    </a:p>
                  </a:txBody>
                  <a:tcPr marL="36576" marR="36576" marT="27432" marB="27432" anchor="ctr">
                    <a:solidFill>
                      <a:srgbClr val="F8FAFB"/>
                    </a:solidFill>
                  </a:tcPr>
                </a:tc>
                <a:tc>
                  <a:txBody>
                    <a:bodyPr/>
                    <a:lstStyle/>
                    <a:p>
                      <a:pPr algn="ctr"/>
                      <a:r>
                        <a:rPr sz="860" b="0" i="0">
                          <a:solidFill>
                            <a:srgbClr val="172733"/>
                          </a:solidFill>
                          <a:latin typeface="Aptos"/>
                        </a:rPr>
                        <a:t>Repair after impact</a:t>
                      </a:r>
                    </a:p>
                  </a:txBody>
                  <a:tcPr marL="36576" marR="36576" marT="27432" marB="27432" anchor="ctr">
                    <a:solidFill>
                      <a:srgbClr val="F8FAFB"/>
                    </a:solidFill>
                  </a:tcPr>
                </a:tc>
                <a:tc>
                  <a:txBody>
                    <a:bodyPr/>
                    <a:lstStyle/>
                    <a:p>
                      <a:pPr algn="ctr"/>
                      <a:r>
                        <a:rPr sz="860" b="0" i="0">
                          <a:solidFill>
                            <a:srgbClr val="172733"/>
                          </a:solidFill>
                          <a:latin typeface="Aptos"/>
                        </a:rPr>
                        <a:t>Corrosion / clear zone</a:t>
                      </a:r>
                    </a:p>
                  </a:txBody>
                  <a:tcPr marL="36576" marR="36576" marT="27432" marB="27432" anchor="ctr">
                    <a:solidFill>
                      <a:srgbClr val="F8FAFB"/>
                    </a:solidFill>
                  </a:tcPr>
                </a:tc>
                <a:tc>
                  <a:txBody>
                    <a:bodyPr/>
                    <a:lstStyle/>
                    <a:p>
                      <a:pPr algn="ctr"/>
                      <a:r>
                        <a:rPr sz="860" b="0" i="0">
                          <a:solidFill>
                            <a:srgbClr val="172733"/>
                          </a:solidFill>
                          <a:latin typeface="Aptos"/>
                        </a:rPr>
                        <a:t>Space + maintenance</a:t>
                      </a:r>
                    </a:p>
                  </a:txBody>
                  <a:tcPr marL="36576" marR="36576" marT="27432" marB="27432" anchor="ctr">
                    <a:solidFill>
                      <a:srgbClr val="F8FAFB"/>
                    </a:solidFill>
                  </a:tcPr>
                </a:tc>
              </a:tr>
              <a:tr h="493776">
                <a:tc>
                  <a:txBody>
                    <a:bodyPr/>
                    <a:lstStyle/>
                    <a:p>
                      <a:pPr algn="l"/>
                      <a:r>
                        <a:rPr sz="860" b="1" i="0">
                          <a:solidFill>
                            <a:srgbClr val="172733"/>
                          </a:solidFill>
                          <a:latin typeface="Aptos"/>
                        </a:rPr>
                        <a:t>Rubberised + fibre</a:t>
                      </a:r>
                    </a:p>
                  </a:txBody>
                  <a:tcPr marL="36576" marR="36576" marT="27432" marB="27432" anchor="ctr">
                    <a:solidFill>
                      <a:srgbClr val="FFFFFF"/>
                    </a:solidFill>
                  </a:tcPr>
                </a:tc>
                <a:tc>
                  <a:txBody>
                    <a:bodyPr/>
                    <a:lstStyle/>
                    <a:p>
                      <a:pPr algn="ctr"/>
                      <a:r>
                        <a:rPr sz="860" b="0" i="0">
                          <a:solidFill>
                            <a:srgbClr val="172733"/>
                          </a:solidFill>
                          <a:latin typeface="Aptos"/>
                        </a:rPr>
                        <a:t>Strength trade-off</a:t>
                      </a:r>
                    </a:p>
                  </a:txBody>
                  <a:tcPr marL="36576" marR="36576" marT="27432" marB="27432" anchor="ctr">
                    <a:solidFill>
                      <a:srgbClr val="FFFFFF"/>
                    </a:solidFill>
                  </a:tcPr>
                </a:tc>
                <a:tc>
                  <a:txBody>
                    <a:bodyPr/>
                    <a:lstStyle/>
                    <a:p>
                      <a:pPr algn="ctr"/>
                      <a:r>
                        <a:rPr sz="860" b="0" i="0">
                          <a:solidFill>
                            <a:srgbClr val="172733"/>
                          </a:solidFill>
                          <a:latin typeface="Aptos"/>
                        </a:rPr>
                        <a:t>Improved</a:t>
                      </a:r>
                    </a:p>
                  </a:txBody>
                  <a:tcPr marL="36576" marR="36576" marT="27432" marB="27432" anchor="ctr">
                    <a:solidFill>
                      <a:srgbClr val="FFFFFF"/>
                    </a:solidFill>
                  </a:tcPr>
                </a:tc>
                <a:tc>
                  <a:txBody>
                    <a:bodyPr/>
                    <a:lstStyle/>
                    <a:p>
                      <a:pPr algn="ctr"/>
                      <a:r>
                        <a:rPr sz="860" b="0" i="0">
                          <a:solidFill>
                            <a:srgbClr val="172733"/>
                          </a:solidFill>
                          <a:latin typeface="Aptos"/>
                        </a:rPr>
                        <a:t>Improved</a:t>
                      </a:r>
                    </a:p>
                  </a:txBody>
                  <a:tcPr marL="36576" marR="36576" marT="27432" marB="27432" anchor="ctr">
                    <a:solidFill>
                      <a:srgbClr val="FFFFFF"/>
                    </a:solidFill>
                  </a:tcPr>
                </a:tc>
                <a:tc>
                  <a:txBody>
                    <a:bodyPr/>
                    <a:lstStyle/>
                    <a:p>
                      <a:pPr algn="ctr"/>
                      <a:r>
                        <a:rPr sz="860" b="0" i="0">
                          <a:solidFill>
                            <a:srgbClr val="172733"/>
                          </a:solidFill>
                          <a:latin typeface="Aptos"/>
                        </a:rPr>
                        <a:t>Processing complexity</a:t>
                      </a:r>
                    </a:p>
                  </a:txBody>
                  <a:tcPr marL="36576" marR="36576" marT="27432" marB="27432" anchor="ctr">
                    <a:solidFill>
                      <a:srgbClr val="FFFFFF"/>
                    </a:solidFill>
                  </a:tcPr>
                </a:tc>
                <a:tc>
                  <a:txBody>
                    <a:bodyPr/>
                    <a:lstStyle/>
                    <a:p>
                      <a:pPr algn="ctr"/>
                      <a:r>
                        <a:rPr sz="860" b="0" i="0">
                          <a:solidFill>
                            <a:srgbClr val="172733"/>
                          </a:solidFill>
                          <a:latin typeface="Aptos"/>
                        </a:rPr>
                        <a:t>Durability / scale</a:t>
                      </a:r>
                    </a:p>
                  </a:txBody>
                  <a:tcPr marL="36576" marR="36576" marT="27432" marB="27432" anchor="ctr">
                    <a:solidFill>
                      <a:srgbClr val="FFFFFF"/>
                    </a:solidFill>
                  </a:tcPr>
                </a:tc>
              </a:tr>
              <a:tr h="493776">
                <a:tc>
                  <a:txBody>
                    <a:bodyPr/>
                    <a:lstStyle/>
                    <a:p>
                      <a:pPr algn="l"/>
                      <a:r>
                        <a:rPr sz="860" b="1" i="0">
                          <a:solidFill>
                            <a:srgbClr val="172733"/>
                          </a:solidFill>
                          <a:latin typeface="Aptos"/>
                        </a:rPr>
                        <a:t>UHPC / ECC</a:t>
                      </a:r>
                    </a:p>
                  </a:txBody>
                  <a:tcPr marL="36576" marR="36576" marT="27432" marB="27432" anchor="ctr">
                    <a:solidFill>
                      <a:srgbClr val="F8FAFB"/>
                    </a:solidFill>
                  </a:tcPr>
                </a:tc>
                <a:tc>
                  <a:txBody>
                    <a:bodyPr/>
                    <a:lstStyle/>
                    <a:p>
                      <a:pPr algn="ctr"/>
                      <a:r>
                        <a:rPr sz="860" b="0" i="0">
                          <a:solidFill>
                            <a:srgbClr val="172733"/>
                          </a:solidFill>
                          <a:latin typeface="Aptos"/>
                        </a:rPr>
                        <a:t>Very high</a:t>
                      </a:r>
                    </a:p>
                  </a:txBody>
                  <a:tcPr marL="36576" marR="36576" marT="27432" marB="27432" anchor="ctr">
                    <a:solidFill>
                      <a:srgbClr val="F8FAFB"/>
                    </a:solidFill>
                  </a:tcPr>
                </a:tc>
                <a:tc>
                  <a:txBody>
                    <a:bodyPr/>
                    <a:lstStyle/>
                    <a:p>
                      <a:pPr algn="ctr"/>
                      <a:r>
                        <a:rPr sz="860" b="0" i="0">
                          <a:solidFill>
                            <a:srgbClr val="172733"/>
                          </a:solidFill>
                          <a:latin typeface="Aptos"/>
                        </a:rPr>
                        <a:t>Mix-dependent</a:t>
                      </a:r>
                    </a:p>
                  </a:txBody>
                  <a:tcPr marL="36576" marR="36576" marT="27432" marB="27432" anchor="ctr">
                    <a:solidFill>
                      <a:srgbClr val="F8FAFB"/>
                    </a:solidFill>
                  </a:tcPr>
                </a:tc>
                <a:tc>
                  <a:txBody>
                    <a:bodyPr/>
                    <a:lstStyle/>
                    <a:p>
                      <a:pPr algn="ctr"/>
                      <a:r>
                        <a:rPr sz="860" b="0" i="0">
                          <a:solidFill>
                            <a:srgbClr val="172733"/>
                          </a:solidFill>
                          <a:latin typeface="Aptos"/>
                        </a:rPr>
                        <a:t>Good crack control</a:t>
                      </a:r>
                    </a:p>
                  </a:txBody>
                  <a:tcPr marL="36576" marR="36576" marT="27432" marB="27432" anchor="ctr">
                    <a:solidFill>
                      <a:srgbClr val="F8FAFB"/>
                    </a:solidFill>
                  </a:tcPr>
                </a:tc>
                <a:tc>
                  <a:txBody>
                    <a:bodyPr/>
                    <a:lstStyle/>
                    <a:p>
                      <a:pPr algn="ctr"/>
                      <a:r>
                        <a:rPr sz="860" b="0" i="0">
                          <a:solidFill>
                            <a:srgbClr val="172733"/>
                          </a:solidFill>
                          <a:latin typeface="Aptos"/>
                        </a:rPr>
                        <a:t>High material cost</a:t>
                      </a:r>
                    </a:p>
                  </a:txBody>
                  <a:tcPr marL="36576" marR="36576" marT="27432" marB="27432" anchor="ctr">
                    <a:solidFill>
                      <a:srgbClr val="F8FAFB"/>
                    </a:solidFill>
                  </a:tcPr>
                </a:tc>
                <a:tc>
                  <a:txBody>
                    <a:bodyPr/>
                    <a:lstStyle/>
                    <a:p>
                      <a:pPr algn="ctr"/>
                      <a:r>
                        <a:rPr sz="860" b="0" i="0">
                          <a:solidFill>
                            <a:srgbClr val="172733"/>
                          </a:solidFill>
                          <a:latin typeface="Aptos"/>
                        </a:rPr>
                        <a:t>Stiffness / economics</a:t>
                      </a:r>
                    </a:p>
                  </a:txBody>
                  <a:tcPr marL="36576" marR="36576" marT="27432" marB="27432" anchor="ctr">
                    <a:solidFill>
                      <a:srgbClr val="F8FAFB"/>
                    </a:solidFill>
                  </a:tcPr>
                </a:tc>
              </a:tr>
              <a:tr h="493776">
                <a:tc>
                  <a:txBody>
                    <a:bodyPr/>
                    <a:lstStyle/>
                    <a:p>
                      <a:pPr algn="l"/>
                      <a:r>
                        <a:rPr sz="860" b="1" i="0">
                          <a:solidFill>
                            <a:srgbClr val="172733"/>
                          </a:solidFill>
                          <a:latin typeface="Aptos"/>
                        </a:rPr>
                        <a:t>Lightweight barrier concepts</a:t>
                      </a:r>
                    </a:p>
                  </a:txBody>
                  <a:tcPr marL="36576" marR="36576" marT="27432" marB="27432" anchor="ctr">
                    <a:solidFill>
                      <a:srgbClr val="FFFFFF"/>
                    </a:solidFill>
                  </a:tcPr>
                </a:tc>
                <a:tc>
                  <a:txBody>
                    <a:bodyPr/>
                    <a:lstStyle/>
                    <a:p>
                      <a:pPr algn="ctr"/>
                      <a:r>
                        <a:rPr sz="860" b="0" i="0">
                          <a:solidFill>
                            <a:srgbClr val="172733"/>
                          </a:solidFill>
                          <a:latin typeface="Aptos"/>
                        </a:rPr>
                        <a:t>Demonstrated in prior art</a:t>
                      </a:r>
                    </a:p>
                  </a:txBody>
                  <a:tcPr marL="36576" marR="36576" marT="27432" marB="27432" anchor="ctr">
                    <a:solidFill>
                      <a:srgbClr val="FFFFFF"/>
                    </a:solidFill>
                  </a:tcPr>
                </a:tc>
                <a:tc>
                  <a:txBody>
                    <a:bodyPr/>
                    <a:lstStyle/>
                    <a:p>
                      <a:pPr algn="ctr"/>
                      <a:r>
                        <a:rPr sz="860" b="0" i="0">
                          <a:solidFill>
                            <a:srgbClr val="172733"/>
                          </a:solidFill>
                          <a:latin typeface="Aptos"/>
                        </a:rPr>
                        <a:t>Potential</a:t>
                      </a:r>
                    </a:p>
                  </a:txBody>
                  <a:tcPr marL="36576" marR="36576" marT="27432" marB="27432" anchor="ctr">
                    <a:solidFill>
                      <a:srgbClr val="FFFFFF"/>
                    </a:solidFill>
                  </a:tcPr>
                </a:tc>
                <a:tc>
                  <a:txBody>
                    <a:bodyPr/>
                    <a:lstStyle/>
                    <a:p>
                      <a:pPr algn="ctr"/>
                      <a:r>
                        <a:rPr sz="860" b="0" i="0">
                          <a:solidFill>
                            <a:srgbClr val="172733"/>
                          </a:solidFill>
                          <a:latin typeface="Aptos"/>
                        </a:rPr>
                        <a:t>Design-specific</a:t>
                      </a:r>
                    </a:p>
                  </a:txBody>
                  <a:tcPr marL="36576" marR="36576" marT="27432" marB="27432" anchor="ctr">
                    <a:solidFill>
                      <a:srgbClr val="FFFFFF"/>
                    </a:solidFill>
                  </a:tcPr>
                </a:tc>
                <a:tc>
                  <a:txBody>
                    <a:bodyPr/>
                    <a:lstStyle/>
                    <a:p>
                      <a:pPr algn="ctr"/>
                      <a:r>
                        <a:rPr sz="860" b="0" i="0">
                          <a:solidFill>
                            <a:srgbClr val="172733"/>
                          </a:solidFill>
                          <a:latin typeface="Aptos"/>
                        </a:rPr>
                        <a:t>Limited adoption</a:t>
                      </a:r>
                    </a:p>
                  </a:txBody>
                  <a:tcPr marL="36576" marR="36576" marT="27432" marB="27432" anchor="ctr">
                    <a:solidFill>
                      <a:srgbClr val="FFFFFF"/>
                    </a:solidFill>
                  </a:tcPr>
                </a:tc>
                <a:tc>
                  <a:txBody>
                    <a:bodyPr/>
                    <a:lstStyle/>
                    <a:p>
                      <a:pPr algn="ctr"/>
                      <a:r>
                        <a:rPr sz="860" b="0" i="0">
                          <a:solidFill>
                            <a:srgbClr val="172733"/>
                          </a:solidFill>
                          <a:latin typeface="Aptos"/>
                        </a:rPr>
                        <a:t>No integrated proof set</a:t>
                      </a:r>
                    </a:p>
                  </a:txBody>
                  <a:tcPr marL="36576" marR="36576" marT="27432" marB="27432" anchor="ctr">
                    <a:solidFill>
                      <a:srgbClr val="FFFFFF"/>
                    </a:solidFill>
                  </a:tcPr>
                </a:tc>
              </a:tr>
              <a:tr h="493776">
                <a:tc>
                  <a:txBody>
                    <a:bodyPr/>
                    <a:lstStyle/>
                    <a:p>
                      <a:pPr algn="l"/>
                      <a:r>
                        <a:rPr sz="860" b="1" i="0">
                          <a:solidFill>
                            <a:srgbClr val="172733"/>
                          </a:solidFill>
                          <a:latin typeface="Aptos"/>
                        </a:rPr>
                        <a:t>This invention</a:t>
                      </a:r>
                    </a:p>
                  </a:txBody>
                  <a:tcPr marL="36576" marR="36576" marT="27432" marB="27432" anchor="ctr">
                    <a:solidFill>
                      <a:srgbClr val="DDF5F4"/>
                    </a:solidFill>
                  </a:tcPr>
                </a:tc>
                <a:tc>
                  <a:txBody>
                    <a:bodyPr/>
                    <a:lstStyle/>
                    <a:p>
                      <a:pPr algn="ctr"/>
                      <a:r>
                        <a:rPr sz="860" b="0" i="0">
                          <a:solidFill>
                            <a:srgbClr val="172733"/>
                          </a:solidFill>
                          <a:latin typeface="Aptos"/>
                        </a:rPr>
                        <a:t>M40+ in tested mixes</a:t>
                      </a:r>
                    </a:p>
                  </a:txBody>
                  <a:tcPr marL="36576" marR="36576" marT="27432" marB="27432" anchor="ctr">
                    <a:solidFill>
                      <a:srgbClr val="DDF5F4"/>
                    </a:solidFill>
                  </a:tcPr>
                </a:tc>
                <a:tc>
                  <a:txBody>
                    <a:bodyPr/>
                    <a:lstStyle/>
                    <a:p>
                      <a:pPr algn="ctr"/>
                      <a:r>
                        <a:rPr sz="860" b="0" i="0">
                          <a:solidFill>
                            <a:srgbClr val="172733"/>
                          </a:solidFill>
                          <a:latin typeface="Aptos"/>
                        </a:rPr>
                        <a:t>High in repeated impact</a:t>
                      </a:r>
                    </a:p>
                  </a:txBody>
                  <a:tcPr marL="36576" marR="36576" marT="27432" marB="27432" anchor="ctr">
                    <a:solidFill>
                      <a:srgbClr val="DDF5F4"/>
                    </a:solidFill>
                  </a:tcPr>
                </a:tc>
                <a:tc>
                  <a:txBody>
                    <a:bodyPr/>
                    <a:lstStyle/>
                    <a:p>
                      <a:pPr algn="ctr"/>
                      <a:r>
                        <a:rPr sz="860" b="0" i="0">
                          <a:solidFill>
                            <a:srgbClr val="172733"/>
                          </a:solidFill>
                          <a:latin typeface="Aptos"/>
                        </a:rPr>
                        <a:t>Controlled cracking observed</a:t>
                      </a:r>
                    </a:p>
                  </a:txBody>
                  <a:tcPr marL="36576" marR="36576" marT="27432" marB="27432" anchor="ctr">
                    <a:solidFill>
                      <a:srgbClr val="DDF5F4"/>
                    </a:solidFill>
                  </a:tcPr>
                </a:tc>
                <a:tc>
                  <a:txBody>
                    <a:bodyPr/>
                    <a:lstStyle/>
                    <a:p>
                      <a:pPr algn="ctr"/>
                      <a:r>
                        <a:rPr sz="860" b="0" i="0">
                          <a:solidFill>
                            <a:srgbClr val="172733"/>
                          </a:solidFill>
                          <a:latin typeface="Aptos"/>
                        </a:rPr>
                        <a:t>Precast-compatible</a:t>
                      </a:r>
                    </a:p>
                  </a:txBody>
                  <a:tcPr marL="36576" marR="36576" marT="27432" marB="27432" anchor="ctr">
                    <a:solidFill>
                      <a:srgbClr val="DDF5F4"/>
                    </a:solidFill>
                  </a:tcPr>
                </a:tc>
                <a:tc>
                  <a:txBody>
                    <a:bodyPr/>
                    <a:lstStyle/>
                    <a:p>
                      <a:pPr algn="ctr"/>
                      <a:r>
                        <a:rPr sz="860" b="0" i="0">
                          <a:solidFill>
                            <a:srgbClr val="172733"/>
                          </a:solidFill>
                          <a:latin typeface="Aptos"/>
                        </a:rPr>
                        <a:t>Full-scale proof pending</a:t>
                      </a:r>
                    </a:p>
                  </a:txBody>
                  <a:tcPr marL="36576" marR="36576" marT="27432" marB="27432" anchor="ctr">
                    <a:solidFill>
                      <a:srgbClr val="DDF5F4"/>
                    </a:solidFill>
                  </a:tcPr>
                </a:tc>
              </a:tr>
            </a:tbl>
          </a:graphicData>
        </a:graphic>
      </p:graphicFrame>
      <p:sp>
        <p:nvSpPr>
          <p:cNvPr id="11" name="Rounded Rectangle 10"/>
          <p:cNvSpPr/>
          <p:nvPr/>
        </p:nvSpPr>
        <p:spPr>
          <a:xfrm>
            <a:off x="667512" y="4974336"/>
            <a:ext cx="10863072" cy="868680"/>
          </a:xfrm>
          <a:prstGeom prst="roundRect">
            <a:avLst/>
          </a:prstGeom>
          <a:solidFill>
            <a:srgbClr val="FFFFFF"/>
          </a:solidFill>
          <a:ln w="1016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5148072"/>
            <a:ext cx="1920240" cy="274320"/>
          </a:xfrm>
          <a:prstGeom prst="rect">
            <a:avLst/>
          </a:prstGeom>
          <a:noFill/>
        </p:spPr>
        <p:txBody>
          <a:bodyPr wrap="square" lIns="0" rIns="0" tIns="0" bIns="0" anchor="t">
            <a:spAutoFit/>
          </a:bodyPr>
          <a:lstStyle/>
          <a:p>
            <a:pPr algn="l">
              <a:lnSpc>
                <a:spcPct val="100000"/>
              </a:lnSpc>
            </a:pPr>
            <a:r>
              <a:rPr sz="900" b="1" i="0">
                <a:solidFill>
                  <a:srgbClr val="2B78A6"/>
                </a:solidFill>
                <a:latin typeface="Aptos"/>
              </a:rPr>
              <a:t>PATENT POSITIONING</a:t>
            </a:r>
          </a:p>
        </p:txBody>
      </p:sp>
      <p:sp>
        <p:nvSpPr>
          <p:cNvPr id="13" name="TextBox 12"/>
          <p:cNvSpPr txBox="1"/>
          <p:nvPr/>
        </p:nvSpPr>
        <p:spPr>
          <a:xfrm>
            <a:off x="2724912" y="5074920"/>
            <a:ext cx="8485632" cy="530352"/>
          </a:xfrm>
          <a:prstGeom prst="rect">
            <a:avLst/>
          </a:prstGeom>
          <a:noFill/>
        </p:spPr>
        <p:txBody>
          <a:bodyPr wrap="square" lIns="0" rIns="0" tIns="0" bIns="0" anchor="t">
            <a:spAutoFit/>
          </a:bodyPr>
          <a:lstStyle/>
          <a:p>
            <a:pPr algn="l">
              <a:lnSpc>
                <a:spcPct val="100000"/>
              </a:lnSpc>
            </a:pPr>
            <a:r>
              <a:rPr sz="1060" b="1" i="0">
                <a:solidFill>
                  <a:srgbClr val="172733"/>
                </a:solidFill>
                <a:latin typeface="Aptos"/>
              </a:rPr>
              <a:t>Avoid a broad “first lightweight concrete barrier” assertion: lightweight-concrete barrier concepts appear in conference literature. Centre differentiation on the integrated architecture, measured synergy, controlled-damage response and protected manufacturing envelope.</a:t>
            </a:r>
          </a:p>
        </p:txBody>
      </p:sp>
      <p:sp>
        <p:nvSpPr>
          <p:cNvPr id="14" name="TextBox 13"/>
          <p:cNvSpPr txBox="1"/>
          <p:nvPr/>
        </p:nvSpPr>
        <p:spPr>
          <a:xfrm>
            <a:off x="667512" y="5989320"/>
            <a:ext cx="10835640" cy="256032"/>
          </a:xfrm>
          <a:prstGeom prst="rect">
            <a:avLst/>
          </a:prstGeom>
          <a:noFill/>
        </p:spPr>
        <p:txBody>
          <a:bodyPr wrap="square" lIns="0" rIns="0" tIns="0" bIns="0" anchor="ctr">
            <a:spAutoFit/>
          </a:bodyPr>
          <a:lstStyle/>
          <a:p>
            <a:pPr algn="l">
              <a:lnSpc>
                <a:spcPct val="100000"/>
              </a:lnSpc>
            </a:pPr>
            <a:r>
              <a:rPr sz="700" b="0" i="0">
                <a:solidFill>
                  <a:srgbClr val="596C78"/>
                </a:solidFill>
                <a:latin typeface="Aptos"/>
              </a:rPr>
              <a:t>Source: Zain &amp; Mohammed (2015); Raj et al. (2020), ASCE J. Mater. Civ. Eng.; Shen et al. (2014), Constr. Build. Mater.; Bonin et al. (2004), II Int’l Congress SIIV proceedings; Grzebieta et al. (2005), 19th ESV Conference proceedings; Xue et al. (2025).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640080" y="164592"/>
            <a:ext cx="2514600" cy="201168"/>
          </a:xfrm>
          <a:prstGeom prst="rect">
            <a:avLst/>
          </a:prstGeom>
          <a:noFill/>
        </p:spPr>
        <p:txBody>
          <a:bodyPr wrap="square" lIns="0" rIns="0" tIns="0" bIns="0" anchor="t">
            <a:spAutoFit/>
          </a:bodyPr>
          <a:lstStyle/>
          <a:p>
            <a:pPr algn="l">
              <a:lnSpc>
                <a:spcPct val="100000"/>
              </a:lnSpc>
            </a:pPr>
            <a:r>
              <a:rPr sz="850" b="1" i="0">
                <a:solidFill>
                  <a:srgbClr val="2B78A6"/>
                </a:solidFill>
                <a:latin typeface="Aptos"/>
              </a:rPr>
              <a:t>TECHNICAL CONCEPT</a:t>
            </a:r>
          </a:p>
        </p:txBody>
      </p:sp>
      <p:sp>
        <p:nvSpPr>
          <p:cNvPr id="3" name="TextBox 2"/>
          <p:cNvSpPr txBox="1"/>
          <p:nvPr/>
        </p:nvSpPr>
        <p:spPr>
          <a:xfrm>
            <a:off x="640080" y="338328"/>
            <a:ext cx="9921240" cy="612648"/>
          </a:xfrm>
          <a:prstGeom prst="rect">
            <a:avLst/>
          </a:prstGeom>
          <a:noFill/>
        </p:spPr>
        <p:txBody>
          <a:bodyPr wrap="square" lIns="0" rIns="0" tIns="0" bIns="0" anchor="ctr">
            <a:spAutoFit/>
          </a:bodyPr>
          <a:lstStyle/>
          <a:p>
            <a:pPr algn="l">
              <a:lnSpc>
                <a:spcPct val="92000"/>
              </a:lnSpc>
            </a:pPr>
            <a:r>
              <a:rPr sz="2080" b="1" i="0">
                <a:solidFill>
                  <a:srgbClr val="172733"/>
                </a:solidFill>
                <a:latin typeface="Aptos Display"/>
              </a:rPr>
              <a:t>Invention architecture: three functions, one controlled response</a:t>
            </a:r>
          </a:p>
        </p:txBody>
      </p:sp>
      <p:sp>
        <p:nvSpPr>
          <p:cNvPr id="4" name="Rounded Rectangle 3"/>
          <p:cNvSpPr/>
          <p:nvPr/>
        </p:nvSpPr>
        <p:spPr>
          <a:xfrm>
            <a:off x="11173968" y="128016"/>
            <a:ext cx="749808" cy="58521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itbbs_logo_official.png"/>
          <p:cNvPicPr>
            <a:picLocks noChangeAspect="1"/>
          </p:cNvPicPr>
          <p:nvPr/>
        </p:nvPicPr>
        <p:blipFill>
          <a:blip r:embed="rId2"/>
          <a:stretch>
            <a:fillRect/>
          </a:stretch>
        </p:blipFill>
        <p:spPr>
          <a:xfrm>
            <a:off x="11283696" y="164592"/>
            <a:ext cx="530352" cy="493776"/>
          </a:xfrm>
          <a:prstGeom prst="rect">
            <a:avLst/>
          </a:prstGeom>
        </p:spPr>
      </p:pic>
      <p:cxnSp>
        <p:nvCxnSpPr>
          <p:cNvPr id="6" name="Connector 5"/>
          <p:cNvCxnSpPr/>
          <p:nvPr/>
        </p:nvCxnSpPr>
        <p:spPr>
          <a:xfrm>
            <a:off x="640080" y="1005840"/>
            <a:ext cx="10899648" cy="0"/>
          </a:xfrm>
          <a:prstGeom prst="line">
            <a:avLst/>
          </a:prstGeom>
          <a:ln w="10160">
            <a:solidFill>
              <a:srgbClr val="D8E2E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473952"/>
            <a:ext cx="10899648" cy="0"/>
          </a:xfrm>
          <a:prstGeom prst="line">
            <a:avLst/>
          </a:prstGeom>
          <a:ln w="8890">
            <a:solidFill>
              <a:srgbClr val="D8E2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58368" y="6547104"/>
            <a:ext cx="9784080" cy="164592"/>
          </a:xfrm>
          <a:prstGeom prst="rect">
            <a:avLst/>
          </a:prstGeom>
          <a:noFill/>
        </p:spPr>
        <p:txBody>
          <a:bodyPr wrap="square" lIns="0" rIns="0" tIns="0" bIns="0" anchor="t">
            <a:spAutoFit/>
          </a:bodyPr>
          <a:lstStyle/>
          <a:p>
            <a:pPr algn="l">
              <a:lnSpc>
                <a:spcPct val="100000"/>
              </a:lnSpc>
            </a:pPr>
            <a:r>
              <a:rPr sz="760" b="1" i="0">
                <a:solidFill>
                  <a:srgbClr val="596C78"/>
                </a:solidFill>
                <a:latin typeface="Aptos"/>
              </a:rPr>
              <a:t>EXTERNAL REDACTED DRAFT • IP STATUS TO CONFIRM • DISTRIBUTE ONLY WITH IITBBS IP APPROVAL</a:t>
            </a:r>
          </a:p>
        </p:txBody>
      </p:sp>
      <p:sp>
        <p:nvSpPr>
          <p:cNvPr id="9" name="TextBox 8"/>
          <p:cNvSpPr txBox="1"/>
          <p:nvPr/>
        </p:nvSpPr>
        <p:spPr>
          <a:xfrm>
            <a:off x="10972800" y="6528816"/>
            <a:ext cx="548640" cy="173736"/>
          </a:xfrm>
          <a:prstGeom prst="rect">
            <a:avLst/>
          </a:prstGeom>
          <a:noFill/>
        </p:spPr>
        <p:txBody>
          <a:bodyPr wrap="square" lIns="0" rIns="0" tIns="0" bIns="0" anchor="t">
            <a:spAutoFit/>
          </a:bodyPr>
          <a:lstStyle/>
          <a:p>
            <a:pPr algn="r">
              <a:lnSpc>
                <a:spcPct val="100000"/>
              </a:lnSpc>
            </a:pPr>
            <a:r>
              <a:rPr sz="830" b="1" i="0">
                <a:solidFill>
                  <a:srgbClr val="596C78"/>
                </a:solidFill>
                <a:latin typeface="Aptos"/>
              </a:rPr>
              <a:t>05</a:t>
            </a:r>
          </a:p>
        </p:txBody>
      </p:sp>
      <p:sp>
        <p:nvSpPr>
          <p:cNvPr id="10" name="Oval 9"/>
          <p:cNvSpPr/>
          <p:nvPr/>
        </p:nvSpPr>
        <p:spPr>
          <a:xfrm>
            <a:off x="749808" y="1380743"/>
            <a:ext cx="493776" cy="493776"/>
          </a:xfrm>
          <a:prstGeom prst="ellipse">
            <a:avLst/>
          </a:prstGeom>
          <a:solidFill>
            <a:srgbClr val="2B78A6"/>
          </a:solidFill>
          <a:ln>
            <a:solidFill>
              <a:srgbClr val="2B7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1380743"/>
            <a:ext cx="493776" cy="493776"/>
          </a:xfrm>
          <a:prstGeom prst="rect">
            <a:avLst/>
          </a:prstGeom>
          <a:noFill/>
        </p:spPr>
        <p:txBody>
          <a:bodyPr wrap="square" lIns="0" rIns="0" tIns="0" bIns="0" anchor="ctr">
            <a:spAutoFit/>
          </a:bodyPr>
          <a:lstStyle/>
          <a:p>
            <a:pPr algn="ctr">
              <a:lnSpc>
                <a:spcPct val="100000"/>
              </a:lnSpc>
            </a:pPr>
            <a:r>
              <a:rPr sz="1200" b="1" i="0">
                <a:solidFill>
                  <a:srgbClr val="FFFFFF"/>
                </a:solidFill>
                <a:latin typeface="Aptos"/>
              </a:rPr>
              <a:t>A</a:t>
            </a:r>
          </a:p>
        </p:txBody>
      </p:sp>
      <p:sp>
        <p:nvSpPr>
          <p:cNvPr id="12" name="Rounded Rectangle 11"/>
          <p:cNvSpPr/>
          <p:nvPr/>
        </p:nvSpPr>
        <p:spPr>
          <a:xfrm>
            <a:off x="1078992" y="1271016"/>
            <a:ext cx="4069080" cy="950976"/>
          </a:xfrm>
          <a:prstGeom prst="round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78992" y="1271016"/>
            <a:ext cx="64008" cy="950976"/>
          </a:xfrm>
          <a:prstGeom prst="rect">
            <a:avLst/>
          </a:prstGeom>
          <a:solidFill>
            <a:srgbClr val="2B78A6"/>
          </a:solidFill>
          <a:ln>
            <a:solidFill>
              <a:srgbClr val="2B7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89304" y="1435607"/>
            <a:ext cx="3694176" cy="320040"/>
          </a:xfrm>
          <a:prstGeom prst="rect">
            <a:avLst/>
          </a:prstGeom>
          <a:noFill/>
        </p:spPr>
        <p:txBody>
          <a:bodyPr wrap="square" lIns="0" rIns="0" tIns="0" bIns="0" anchor="ctr">
            <a:spAutoFit/>
          </a:bodyPr>
          <a:lstStyle/>
          <a:p>
            <a:pPr algn="l">
              <a:lnSpc>
                <a:spcPct val="100000"/>
              </a:lnSpc>
            </a:pPr>
            <a:r>
              <a:rPr sz="1300" b="1" i="0">
                <a:solidFill>
                  <a:srgbClr val="172733"/>
                </a:solidFill>
                <a:latin typeface="Aptos Display"/>
              </a:rPr>
              <a:t>Porous lightweight aggregate</a:t>
            </a:r>
          </a:p>
        </p:txBody>
      </p:sp>
      <p:sp>
        <p:nvSpPr>
          <p:cNvPr id="15" name="TextBox 14"/>
          <p:cNvSpPr txBox="1"/>
          <p:nvPr/>
        </p:nvSpPr>
        <p:spPr>
          <a:xfrm>
            <a:off x="1289304" y="1837943"/>
            <a:ext cx="3675888" cy="256032"/>
          </a:xfrm>
          <a:prstGeom prst="rect">
            <a:avLst/>
          </a:prstGeom>
          <a:noFill/>
        </p:spPr>
        <p:txBody>
          <a:bodyPr wrap="square" lIns="0" rIns="0" tIns="0" bIns="0" anchor="t">
            <a:spAutoFit/>
          </a:bodyPr>
          <a:lstStyle/>
          <a:p>
            <a:pPr algn="l">
              <a:lnSpc>
                <a:spcPct val="105000"/>
              </a:lnSpc>
            </a:pPr>
            <a:r>
              <a:rPr sz="1000" b="0" i="0">
                <a:solidFill>
                  <a:srgbClr val="596C78"/>
                </a:solidFill>
                <a:latin typeface="Aptos"/>
              </a:rPr>
              <a:t>Local crushing + internal damping</a:t>
            </a:r>
          </a:p>
        </p:txBody>
      </p:sp>
      <p:sp>
        <p:nvSpPr>
          <p:cNvPr id="16" name="Chevron 15"/>
          <p:cNvSpPr/>
          <p:nvPr/>
        </p:nvSpPr>
        <p:spPr>
          <a:xfrm>
            <a:off x="5349240" y="1545336"/>
            <a:ext cx="566928" cy="384048"/>
          </a:xfrm>
          <a:prstGeom prst="chevron">
            <a:avLst/>
          </a:prstGeom>
          <a:solidFill>
            <a:srgbClr val="2B78A6"/>
          </a:solidFill>
          <a:ln>
            <a:solidFill>
              <a:srgbClr val="2B7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49808" y="2606040"/>
            <a:ext cx="493776" cy="493776"/>
          </a:xfrm>
          <a:prstGeom prst="ellipse">
            <a:avLst/>
          </a:prstGeom>
          <a:solidFill>
            <a:srgbClr val="F39C3D"/>
          </a:solidFill>
          <a:ln>
            <a:solidFill>
              <a:srgbClr val="F39C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2606040"/>
            <a:ext cx="493776" cy="493776"/>
          </a:xfrm>
          <a:prstGeom prst="rect">
            <a:avLst/>
          </a:prstGeom>
          <a:noFill/>
        </p:spPr>
        <p:txBody>
          <a:bodyPr wrap="square" lIns="0" rIns="0" tIns="0" bIns="0" anchor="ctr">
            <a:spAutoFit/>
          </a:bodyPr>
          <a:lstStyle/>
          <a:p>
            <a:pPr algn="ctr">
              <a:lnSpc>
                <a:spcPct val="100000"/>
              </a:lnSpc>
            </a:pPr>
            <a:r>
              <a:rPr sz="1200" b="1" i="0">
                <a:solidFill>
                  <a:srgbClr val="FFFFFF"/>
                </a:solidFill>
                <a:latin typeface="Aptos"/>
              </a:rPr>
              <a:t>B</a:t>
            </a:r>
          </a:p>
        </p:txBody>
      </p:sp>
      <p:sp>
        <p:nvSpPr>
          <p:cNvPr id="19" name="Rounded Rectangle 18"/>
          <p:cNvSpPr/>
          <p:nvPr/>
        </p:nvSpPr>
        <p:spPr>
          <a:xfrm>
            <a:off x="1078992" y="2496312"/>
            <a:ext cx="4069080" cy="950976"/>
          </a:xfrm>
          <a:prstGeom prst="round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78992" y="2496312"/>
            <a:ext cx="64008" cy="950976"/>
          </a:xfrm>
          <a:prstGeom prst="rect">
            <a:avLst/>
          </a:prstGeom>
          <a:solidFill>
            <a:srgbClr val="F39C3D"/>
          </a:solidFill>
          <a:ln>
            <a:solidFill>
              <a:srgbClr val="F39C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89304" y="2660904"/>
            <a:ext cx="3694176" cy="320040"/>
          </a:xfrm>
          <a:prstGeom prst="rect">
            <a:avLst/>
          </a:prstGeom>
          <a:noFill/>
        </p:spPr>
        <p:txBody>
          <a:bodyPr wrap="square" lIns="0" rIns="0" tIns="0" bIns="0" anchor="ctr">
            <a:spAutoFit/>
          </a:bodyPr>
          <a:lstStyle/>
          <a:p>
            <a:pPr algn="l">
              <a:lnSpc>
                <a:spcPct val="100000"/>
              </a:lnSpc>
            </a:pPr>
            <a:r>
              <a:rPr sz="1300" b="1" i="0">
                <a:solidFill>
                  <a:srgbClr val="172733"/>
                </a:solidFill>
                <a:latin typeface="Aptos Display"/>
              </a:rPr>
              <a:t>Discrete crack-bridging reinforcement</a:t>
            </a:r>
          </a:p>
        </p:txBody>
      </p:sp>
      <p:sp>
        <p:nvSpPr>
          <p:cNvPr id="22" name="TextBox 21"/>
          <p:cNvSpPr txBox="1"/>
          <p:nvPr/>
        </p:nvSpPr>
        <p:spPr>
          <a:xfrm>
            <a:off x="1289304" y="3063240"/>
            <a:ext cx="3675888" cy="256032"/>
          </a:xfrm>
          <a:prstGeom prst="rect">
            <a:avLst/>
          </a:prstGeom>
          <a:noFill/>
        </p:spPr>
        <p:txBody>
          <a:bodyPr wrap="square" lIns="0" rIns="0" tIns="0" bIns="0" anchor="t">
            <a:spAutoFit/>
          </a:bodyPr>
          <a:lstStyle/>
          <a:p>
            <a:pPr algn="l">
              <a:lnSpc>
                <a:spcPct val="105000"/>
              </a:lnSpc>
            </a:pPr>
            <a:r>
              <a:rPr sz="1000" b="0" i="0">
                <a:solidFill>
                  <a:srgbClr val="596C78"/>
                </a:solidFill>
                <a:latin typeface="Aptos"/>
              </a:rPr>
              <a:t>Debonding + pull-out + integrity</a:t>
            </a:r>
          </a:p>
        </p:txBody>
      </p:sp>
      <p:sp>
        <p:nvSpPr>
          <p:cNvPr id="23" name="Chevron 22"/>
          <p:cNvSpPr/>
          <p:nvPr/>
        </p:nvSpPr>
        <p:spPr>
          <a:xfrm>
            <a:off x="5349240" y="2770632"/>
            <a:ext cx="566928" cy="384048"/>
          </a:xfrm>
          <a:prstGeom prst="chevron">
            <a:avLst/>
          </a:prstGeom>
          <a:solidFill>
            <a:srgbClr val="F39C3D"/>
          </a:solidFill>
          <a:ln>
            <a:solidFill>
              <a:srgbClr val="F39C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49808" y="3831336"/>
            <a:ext cx="493776" cy="493776"/>
          </a:xfrm>
          <a:prstGeom prst="ellipse">
            <a:avLst/>
          </a:prstGeom>
          <a:solidFill>
            <a:srgbClr val="178D86"/>
          </a:solidFill>
          <a:ln>
            <a:solidFill>
              <a:srgbClr val="178D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8" y="3831336"/>
            <a:ext cx="493776" cy="493776"/>
          </a:xfrm>
          <a:prstGeom prst="rect">
            <a:avLst/>
          </a:prstGeom>
          <a:noFill/>
        </p:spPr>
        <p:txBody>
          <a:bodyPr wrap="square" lIns="0" rIns="0" tIns="0" bIns="0" anchor="ctr">
            <a:spAutoFit/>
          </a:bodyPr>
          <a:lstStyle/>
          <a:p>
            <a:pPr algn="ctr">
              <a:lnSpc>
                <a:spcPct val="100000"/>
              </a:lnSpc>
            </a:pPr>
            <a:r>
              <a:rPr sz="1200" b="1" i="0">
                <a:solidFill>
                  <a:srgbClr val="FFFFFF"/>
                </a:solidFill>
                <a:latin typeface="Aptos"/>
              </a:rPr>
              <a:t>C</a:t>
            </a:r>
          </a:p>
        </p:txBody>
      </p:sp>
      <p:sp>
        <p:nvSpPr>
          <p:cNvPr id="26" name="Rounded Rectangle 25"/>
          <p:cNvSpPr/>
          <p:nvPr/>
        </p:nvSpPr>
        <p:spPr>
          <a:xfrm>
            <a:off x="1078992" y="3721608"/>
            <a:ext cx="4069080" cy="950976"/>
          </a:xfrm>
          <a:prstGeom prst="round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78992" y="3721608"/>
            <a:ext cx="64008" cy="950976"/>
          </a:xfrm>
          <a:prstGeom prst="rect">
            <a:avLst/>
          </a:prstGeom>
          <a:solidFill>
            <a:srgbClr val="178D86"/>
          </a:solidFill>
          <a:ln>
            <a:solidFill>
              <a:srgbClr val="178D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289304" y="3886200"/>
            <a:ext cx="3694176" cy="320040"/>
          </a:xfrm>
          <a:prstGeom prst="rect">
            <a:avLst/>
          </a:prstGeom>
          <a:noFill/>
        </p:spPr>
        <p:txBody>
          <a:bodyPr wrap="square" lIns="0" rIns="0" tIns="0" bIns="0" anchor="ctr">
            <a:spAutoFit/>
          </a:bodyPr>
          <a:lstStyle/>
          <a:p>
            <a:pPr algn="l">
              <a:lnSpc>
                <a:spcPct val="100000"/>
              </a:lnSpc>
            </a:pPr>
            <a:r>
              <a:rPr sz="1300" b="1" i="0">
                <a:solidFill>
                  <a:srgbClr val="172733"/>
                </a:solidFill>
                <a:latin typeface="Aptos Display"/>
              </a:rPr>
              <a:t>Lower-clinker structural matrix</a:t>
            </a:r>
          </a:p>
        </p:txBody>
      </p:sp>
      <p:sp>
        <p:nvSpPr>
          <p:cNvPr id="29" name="TextBox 28"/>
          <p:cNvSpPr txBox="1"/>
          <p:nvPr/>
        </p:nvSpPr>
        <p:spPr>
          <a:xfrm>
            <a:off x="1289304" y="4288536"/>
            <a:ext cx="3675888" cy="256032"/>
          </a:xfrm>
          <a:prstGeom prst="rect">
            <a:avLst/>
          </a:prstGeom>
          <a:noFill/>
        </p:spPr>
        <p:txBody>
          <a:bodyPr wrap="square" lIns="0" rIns="0" tIns="0" bIns="0" anchor="t">
            <a:spAutoFit/>
          </a:bodyPr>
          <a:lstStyle/>
          <a:p>
            <a:pPr algn="l">
              <a:lnSpc>
                <a:spcPct val="105000"/>
              </a:lnSpc>
            </a:pPr>
            <a:r>
              <a:rPr sz="1000" b="0" i="0">
                <a:solidFill>
                  <a:srgbClr val="596C78"/>
                </a:solidFill>
                <a:latin typeface="Aptos"/>
              </a:rPr>
              <a:t>Strength + interfacial load transfer</a:t>
            </a:r>
          </a:p>
        </p:txBody>
      </p:sp>
      <p:sp>
        <p:nvSpPr>
          <p:cNvPr id="30" name="Chevron 29"/>
          <p:cNvSpPr/>
          <p:nvPr/>
        </p:nvSpPr>
        <p:spPr>
          <a:xfrm>
            <a:off x="5349240" y="3995928"/>
            <a:ext cx="566928" cy="384048"/>
          </a:xfrm>
          <a:prstGeom prst="chevron">
            <a:avLst/>
          </a:prstGeom>
          <a:solidFill>
            <a:srgbClr val="178D86"/>
          </a:solidFill>
          <a:ln>
            <a:solidFill>
              <a:srgbClr val="178D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089904" y="1234440"/>
            <a:ext cx="5212080" cy="3493008"/>
          </a:xfrm>
          <a:prstGeom prst="roundRect">
            <a:avLst/>
          </a:prstGeom>
          <a:solidFill>
            <a:srgbClr val="08243A"/>
          </a:solidFill>
          <a:ln>
            <a:solidFill>
              <a:srgbClr val="0824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0" y="1527048"/>
            <a:ext cx="4645152" cy="347472"/>
          </a:xfrm>
          <a:prstGeom prst="rect">
            <a:avLst/>
          </a:prstGeom>
          <a:noFill/>
        </p:spPr>
        <p:txBody>
          <a:bodyPr wrap="square" lIns="0" rIns="0" tIns="0" bIns="0" anchor="t">
            <a:spAutoFit/>
          </a:bodyPr>
          <a:lstStyle/>
          <a:p>
            <a:pPr algn="l">
              <a:lnSpc>
                <a:spcPct val="100000"/>
              </a:lnSpc>
            </a:pPr>
            <a:r>
              <a:rPr sz="1000" b="1" i="0">
                <a:solidFill>
                  <a:srgbClr val="22B8C7"/>
                </a:solidFill>
                <a:latin typeface="Aptos"/>
              </a:rPr>
              <a:t>DESIGNED IMPACT RESPONSE</a:t>
            </a:r>
          </a:p>
        </p:txBody>
      </p:sp>
      <p:sp>
        <p:nvSpPr>
          <p:cNvPr id="33" name="TextBox 32"/>
          <p:cNvSpPr txBox="1"/>
          <p:nvPr/>
        </p:nvSpPr>
        <p:spPr>
          <a:xfrm>
            <a:off x="6400800" y="1993392"/>
            <a:ext cx="384048" cy="292608"/>
          </a:xfrm>
          <a:prstGeom prst="rect">
            <a:avLst/>
          </a:prstGeom>
          <a:noFill/>
        </p:spPr>
        <p:txBody>
          <a:bodyPr wrap="square" lIns="0" rIns="0" tIns="0" bIns="0" anchor="t">
            <a:spAutoFit/>
          </a:bodyPr>
          <a:lstStyle/>
          <a:p>
            <a:pPr algn="l">
              <a:lnSpc>
                <a:spcPct val="100000"/>
              </a:lnSpc>
            </a:pPr>
            <a:r>
              <a:rPr sz="900" b="1" i="0">
                <a:solidFill>
                  <a:srgbClr val="22B8C7"/>
                </a:solidFill>
                <a:latin typeface="Aptos"/>
              </a:rPr>
              <a:t>01</a:t>
            </a:r>
          </a:p>
        </p:txBody>
      </p:sp>
      <p:sp>
        <p:nvSpPr>
          <p:cNvPr id="34" name="TextBox 33"/>
          <p:cNvSpPr txBox="1"/>
          <p:nvPr/>
        </p:nvSpPr>
        <p:spPr>
          <a:xfrm>
            <a:off x="6830568" y="1975104"/>
            <a:ext cx="1481328" cy="274320"/>
          </a:xfrm>
          <a:prstGeom prst="rect">
            <a:avLst/>
          </a:prstGeom>
          <a:noFill/>
        </p:spPr>
        <p:txBody>
          <a:bodyPr wrap="square" lIns="0" rIns="0" tIns="0" bIns="0" anchor="t">
            <a:spAutoFit/>
          </a:bodyPr>
          <a:lstStyle/>
          <a:p>
            <a:pPr algn="l">
              <a:lnSpc>
                <a:spcPct val="100000"/>
              </a:lnSpc>
            </a:pPr>
            <a:r>
              <a:rPr sz="1050" b="1" i="0">
                <a:solidFill>
                  <a:srgbClr val="FFFFFF"/>
                </a:solidFill>
                <a:latin typeface="Aptos"/>
              </a:rPr>
              <a:t>Crack initiation</a:t>
            </a:r>
          </a:p>
        </p:txBody>
      </p:sp>
      <p:sp>
        <p:nvSpPr>
          <p:cNvPr id="35" name="TextBox 34"/>
          <p:cNvSpPr txBox="1"/>
          <p:nvPr/>
        </p:nvSpPr>
        <p:spPr>
          <a:xfrm>
            <a:off x="8375904" y="1975104"/>
            <a:ext cx="2560320" cy="393192"/>
          </a:xfrm>
          <a:prstGeom prst="rect">
            <a:avLst/>
          </a:prstGeom>
          <a:noFill/>
        </p:spPr>
        <p:txBody>
          <a:bodyPr wrap="square" lIns="0" rIns="0" tIns="0" bIns="0" anchor="t">
            <a:spAutoFit/>
          </a:bodyPr>
          <a:lstStyle/>
          <a:p>
            <a:pPr algn="l">
              <a:lnSpc>
                <a:spcPct val="100000"/>
              </a:lnSpc>
            </a:pPr>
            <a:r>
              <a:rPr sz="880" b="0" i="0">
                <a:solidFill>
                  <a:srgbClr val="C4D4DC"/>
                </a:solidFill>
                <a:latin typeface="Aptos"/>
              </a:rPr>
              <a:t>Fibres redistribute tensile stress and delay localisation.</a:t>
            </a:r>
          </a:p>
        </p:txBody>
      </p:sp>
      <p:sp>
        <p:nvSpPr>
          <p:cNvPr id="36" name="TextBox 35"/>
          <p:cNvSpPr txBox="1"/>
          <p:nvPr/>
        </p:nvSpPr>
        <p:spPr>
          <a:xfrm>
            <a:off x="6400800" y="2633472"/>
            <a:ext cx="384048" cy="292608"/>
          </a:xfrm>
          <a:prstGeom prst="rect">
            <a:avLst/>
          </a:prstGeom>
          <a:noFill/>
        </p:spPr>
        <p:txBody>
          <a:bodyPr wrap="square" lIns="0" rIns="0" tIns="0" bIns="0" anchor="t">
            <a:spAutoFit/>
          </a:bodyPr>
          <a:lstStyle/>
          <a:p>
            <a:pPr algn="l">
              <a:lnSpc>
                <a:spcPct val="100000"/>
              </a:lnSpc>
            </a:pPr>
            <a:r>
              <a:rPr sz="900" b="1" i="0">
                <a:solidFill>
                  <a:srgbClr val="22B8C7"/>
                </a:solidFill>
                <a:latin typeface="Aptos"/>
              </a:rPr>
              <a:t>02</a:t>
            </a:r>
          </a:p>
        </p:txBody>
      </p:sp>
      <p:sp>
        <p:nvSpPr>
          <p:cNvPr id="37" name="TextBox 36"/>
          <p:cNvSpPr txBox="1"/>
          <p:nvPr/>
        </p:nvSpPr>
        <p:spPr>
          <a:xfrm>
            <a:off x="6830568" y="2615184"/>
            <a:ext cx="1481328" cy="274320"/>
          </a:xfrm>
          <a:prstGeom prst="rect">
            <a:avLst/>
          </a:prstGeom>
          <a:noFill/>
        </p:spPr>
        <p:txBody>
          <a:bodyPr wrap="square" lIns="0" rIns="0" tIns="0" bIns="0" anchor="t">
            <a:spAutoFit/>
          </a:bodyPr>
          <a:lstStyle/>
          <a:p>
            <a:pPr algn="l">
              <a:lnSpc>
                <a:spcPct val="100000"/>
              </a:lnSpc>
            </a:pPr>
            <a:r>
              <a:rPr sz="1050" b="1" i="0">
                <a:solidFill>
                  <a:srgbClr val="FFFFFF"/>
                </a:solidFill>
                <a:latin typeface="Aptos"/>
              </a:rPr>
              <a:t>Controlled deformation</a:t>
            </a:r>
          </a:p>
        </p:txBody>
      </p:sp>
      <p:sp>
        <p:nvSpPr>
          <p:cNvPr id="38" name="TextBox 37"/>
          <p:cNvSpPr txBox="1"/>
          <p:nvPr/>
        </p:nvSpPr>
        <p:spPr>
          <a:xfrm>
            <a:off x="8375904" y="2615184"/>
            <a:ext cx="2560320" cy="393192"/>
          </a:xfrm>
          <a:prstGeom prst="rect">
            <a:avLst/>
          </a:prstGeom>
          <a:noFill/>
        </p:spPr>
        <p:txBody>
          <a:bodyPr wrap="square" lIns="0" rIns="0" tIns="0" bIns="0" anchor="t">
            <a:spAutoFit/>
          </a:bodyPr>
          <a:lstStyle/>
          <a:p>
            <a:pPr algn="l">
              <a:lnSpc>
                <a:spcPct val="100000"/>
              </a:lnSpc>
            </a:pPr>
            <a:r>
              <a:rPr sz="880" b="0" i="0">
                <a:solidFill>
                  <a:srgbClr val="C4D4DC"/>
                </a:solidFill>
                <a:latin typeface="Aptos"/>
              </a:rPr>
              <a:t>Aggregate crushing and fibre pull-out consume energy.</a:t>
            </a:r>
          </a:p>
        </p:txBody>
      </p:sp>
      <p:sp>
        <p:nvSpPr>
          <p:cNvPr id="39" name="TextBox 38"/>
          <p:cNvSpPr txBox="1"/>
          <p:nvPr/>
        </p:nvSpPr>
        <p:spPr>
          <a:xfrm>
            <a:off x="6400800" y="3273552"/>
            <a:ext cx="384048" cy="292608"/>
          </a:xfrm>
          <a:prstGeom prst="rect">
            <a:avLst/>
          </a:prstGeom>
          <a:noFill/>
        </p:spPr>
        <p:txBody>
          <a:bodyPr wrap="square" lIns="0" rIns="0" tIns="0" bIns="0" anchor="t">
            <a:spAutoFit/>
          </a:bodyPr>
          <a:lstStyle/>
          <a:p>
            <a:pPr algn="l">
              <a:lnSpc>
                <a:spcPct val="100000"/>
              </a:lnSpc>
            </a:pPr>
            <a:r>
              <a:rPr sz="900" b="1" i="0">
                <a:solidFill>
                  <a:srgbClr val="22B8C7"/>
                </a:solidFill>
                <a:latin typeface="Aptos"/>
              </a:rPr>
              <a:t>03</a:t>
            </a:r>
          </a:p>
        </p:txBody>
      </p:sp>
      <p:sp>
        <p:nvSpPr>
          <p:cNvPr id="40" name="TextBox 39"/>
          <p:cNvSpPr txBox="1"/>
          <p:nvPr/>
        </p:nvSpPr>
        <p:spPr>
          <a:xfrm>
            <a:off x="6830568" y="3255264"/>
            <a:ext cx="1481328" cy="274320"/>
          </a:xfrm>
          <a:prstGeom prst="rect">
            <a:avLst/>
          </a:prstGeom>
          <a:noFill/>
        </p:spPr>
        <p:txBody>
          <a:bodyPr wrap="square" lIns="0" rIns="0" tIns="0" bIns="0" anchor="t">
            <a:spAutoFit/>
          </a:bodyPr>
          <a:lstStyle/>
          <a:p>
            <a:pPr algn="l">
              <a:lnSpc>
                <a:spcPct val="100000"/>
              </a:lnSpc>
            </a:pPr>
            <a:r>
              <a:rPr sz="1050" b="1" i="0">
                <a:solidFill>
                  <a:srgbClr val="FFFFFF"/>
                </a:solidFill>
                <a:latin typeface="Aptos"/>
              </a:rPr>
              <a:t>Residual integrity</a:t>
            </a:r>
          </a:p>
        </p:txBody>
      </p:sp>
      <p:sp>
        <p:nvSpPr>
          <p:cNvPr id="41" name="TextBox 40"/>
          <p:cNvSpPr txBox="1"/>
          <p:nvPr/>
        </p:nvSpPr>
        <p:spPr>
          <a:xfrm>
            <a:off x="8375904" y="3255264"/>
            <a:ext cx="2560320" cy="393192"/>
          </a:xfrm>
          <a:prstGeom prst="rect">
            <a:avLst/>
          </a:prstGeom>
          <a:noFill/>
        </p:spPr>
        <p:txBody>
          <a:bodyPr wrap="square" lIns="0" rIns="0" tIns="0" bIns="0" anchor="t">
            <a:spAutoFit/>
          </a:bodyPr>
          <a:lstStyle/>
          <a:p>
            <a:pPr algn="l">
              <a:lnSpc>
                <a:spcPct val="100000"/>
              </a:lnSpc>
            </a:pPr>
            <a:r>
              <a:rPr sz="880" b="0" i="0">
                <a:solidFill>
                  <a:srgbClr val="C4D4DC"/>
                </a:solidFill>
                <a:latin typeface="Aptos"/>
              </a:rPr>
              <a:t>Bridging restrains large fragments and preserves load path.</a:t>
            </a:r>
          </a:p>
        </p:txBody>
      </p:sp>
      <p:sp>
        <p:nvSpPr>
          <p:cNvPr id="42" name="TextBox 41"/>
          <p:cNvSpPr txBox="1"/>
          <p:nvPr/>
        </p:nvSpPr>
        <p:spPr>
          <a:xfrm>
            <a:off x="6400800" y="3913631"/>
            <a:ext cx="384048" cy="292608"/>
          </a:xfrm>
          <a:prstGeom prst="rect">
            <a:avLst/>
          </a:prstGeom>
          <a:noFill/>
        </p:spPr>
        <p:txBody>
          <a:bodyPr wrap="square" lIns="0" rIns="0" tIns="0" bIns="0" anchor="t">
            <a:spAutoFit/>
          </a:bodyPr>
          <a:lstStyle/>
          <a:p>
            <a:pPr algn="l">
              <a:lnSpc>
                <a:spcPct val="100000"/>
              </a:lnSpc>
            </a:pPr>
            <a:r>
              <a:rPr sz="900" b="1" i="0">
                <a:solidFill>
                  <a:srgbClr val="22B8C7"/>
                </a:solidFill>
                <a:latin typeface="Aptos"/>
              </a:rPr>
              <a:t>04</a:t>
            </a:r>
          </a:p>
        </p:txBody>
      </p:sp>
      <p:sp>
        <p:nvSpPr>
          <p:cNvPr id="43" name="TextBox 42"/>
          <p:cNvSpPr txBox="1"/>
          <p:nvPr/>
        </p:nvSpPr>
        <p:spPr>
          <a:xfrm>
            <a:off x="6830568" y="3895344"/>
            <a:ext cx="1481328" cy="274320"/>
          </a:xfrm>
          <a:prstGeom prst="rect">
            <a:avLst/>
          </a:prstGeom>
          <a:noFill/>
        </p:spPr>
        <p:txBody>
          <a:bodyPr wrap="square" lIns="0" rIns="0" tIns="0" bIns="0" anchor="t">
            <a:spAutoFit/>
          </a:bodyPr>
          <a:lstStyle/>
          <a:p>
            <a:pPr algn="l">
              <a:lnSpc>
                <a:spcPct val="100000"/>
              </a:lnSpc>
            </a:pPr>
            <a:r>
              <a:rPr sz="1050" b="1" i="0">
                <a:solidFill>
                  <a:srgbClr val="FFFFFF"/>
                </a:solidFill>
                <a:latin typeface="Aptos"/>
              </a:rPr>
              <a:t>Lower transmitted peak force</a:t>
            </a:r>
          </a:p>
        </p:txBody>
      </p:sp>
      <p:sp>
        <p:nvSpPr>
          <p:cNvPr id="44" name="TextBox 43"/>
          <p:cNvSpPr txBox="1"/>
          <p:nvPr/>
        </p:nvSpPr>
        <p:spPr>
          <a:xfrm>
            <a:off x="8375904" y="3895344"/>
            <a:ext cx="2560320" cy="393192"/>
          </a:xfrm>
          <a:prstGeom prst="rect">
            <a:avLst/>
          </a:prstGeom>
          <a:noFill/>
        </p:spPr>
        <p:txBody>
          <a:bodyPr wrap="square" lIns="0" rIns="0" tIns="0" bIns="0" anchor="t">
            <a:spAutoFit/>
          </a:bodyPr>
          <a:lstStyle/>
          <a:p>
            <a:pPr algn="l">
              <a:lnSpc>
                <a:spcPct val="100000"/>
              </a:lnSpc>
            </a:pPr>
            <a:r>
              <a:rPr sz="880" b="0" i="0">
                <a:solidFill>
                  <a:srgbClr val="C4D4DC"/>
                </a:solidFill>
                <a:latin typeface="Aptos"/>
              </a:rPr>
              <a:t>Mechanistic hypothesis; requires vehicle-level validation.</a:t>
            </a:r>
          </a:p>
        </p:txBody>
      </p:sp>
      <p:sp>
        <p:nvSpPr>
          <p:cNvPr id="45" name="Rounded Rectangle 44"/>
          <p:cNvSpPr/>
          <p:nvPr/>
        </p:nvSpPr>
        <p:spPr>
          <a:xfrm>
            <a:off x="749808" y="5010912"/>
            <a:ext cx="10552176" cy="713232"/>
          </a:xfrm>
          <a:prstGeom prst="roundRect">
            <a:avLst/>
          </a:prstGeom>
          <a:solidFill>
            <a:srgbClr val="DDF5F4"/>
          </a:solidFill>
          <a:ln>
            <a:solidFill>
              <a:srgbClr val="DDF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78408" y="5193792"/>
            <a:ext cx="10104120" cy="347472"/>
          </a:xfrm>
          <a:prstGeom prst="rect">
            <a:avLst/>
          </a:prstGeom>
          <a:noFill/>
        </p:spPr>
        <p:txBody>
          <a:bodyPr wrap="square" lIns="0" rIns="0" tIns="0" bIns="0" anchor="t">
            <a:spAutoFit/>
          </a:bodyPr>
          <a:lstStyle/>
          <a:p>
            <a:pPr algn="l">
              <a:lnSpc>
                <a:spcPct val="100000"/>
              </a:lnSpc>
            </a:pPr>
            <a:r>
              <a:rPr sz="1130" b="1" i="0">
                <a:solidFill>
                  <a:srgbClr val="08243A"/>
                </a:solidFill>
                <a:latin typeface="Aptos"/>
              </a:rPr>
              <a:t>Technology thesis: a semi-energy-absorbing rigid barrier that shifts part of the collision response from brittle fracture to controlled internal dissipation.</a:t>
            </a:r>
          </a:p>
        </p:txBody>
      </p:sp>
      <p:sp>
        <p:nvSpPr>
          <p:cNvPr id="47" name="TextBox 46"/>
          <p:cNvSpPr txBox="1"/>
          <p:nvPr/>
        </p:nvSpPr>
        <p:spPr>
          <a:xfrm>
            <a:off x="749808" y="5916168"/>
            <a:ext cx="10561320" cy="256032"/>
          </a:xfrm>
          <a:prstGeom prst="rect">
            <a:avLst/>
          </a:prstGeom>
          <a:noFill/>
        </p:spPr>
        <p:txBody>
          <a:bodyPr wrap="square" lIns="0" rIns="0" tIns="0" bIns="0" anchor="ctr">
            <a:spAutoFit/>
          </a:bodyPr>
          <a:lstStyle/>
          <a:p>
            <a:pPr algn="l">
              <a:lnSpc>
                <a:spcPct val="100000"/>
              </a:lnSpc>
            </a:pPr>
            <a:r>
              <a:rPr sz="700" b="0" i="0">
                <a:solidFill>
                  <a:srgbClr val="596C78"/>
                </a:solidFill>
                <a:latin typeface="Aptos"/>
              </a:rPr>
              <a:t>Source: Inventor disclosure (16 Jul 2026), §§Description/Novelty/Inventiveness; Wang &amp; Wang (2013); Nadesan &amp; Dinakar (2017); Sahoo et al. (2020). Mechanism diagram is an author synthesis.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640080" y="164592"/>
            <a:ext cx="2514600" cy="201168"/>
          </a:xfrm>
          <a:prstGeom prst="rect">
            <a:avLst/>
          </a:prstGeom>
          <a:noFill/>
        </p:spPr>
        <p:txBody>
          <a:bodyPr wrap="square" lIns="0" rIns="0" tIns="0" bIns="0" anchor="t">
            <a:spAutoFit/>
          </a:bodyPr>
          <a:lstStyle/>
          <a:p>
            <a:pPr algn="l">
              <a:lnSpc>
                <a:spcPct val="100000"/>
              </a:lnSpc>
            </a:pPr>
            <a:r>
              <a:rPr sz="850" b="1" i="0">
                <a:solidFill>
                  <a:srgbClr val="2B78A6"/>
                </a:solidFill>
                <a:latin typeface="Aptos"/>
              </a:rPr>
              <a:t>EXPERIMENTAL PROGRAMME</a:t>
            </a:r>
          </a:p>
        </p:txBody>
      </p:sp>
      <p:sp>
        <p:nvSpPr>
          <p:cNvPr id="3" name="TextBox 2"/>
          <p:cNvSpPr txBox="1"/>
          <p:nvPr/>
        </p:nvSpPr>
        <p:spPr>
          <a:xfrm>
            <a:off x="640080" y="338328"/>
            <a:ext cx="9921240" cy="612648"/>
          </a:xfrm>
          <a:prstGeom prst="rect">
            <a:avLst/>
          </a:prstGeom>
          <a:noFill/>
        </p:spPr>
        <p:txBody>
          <a:bodyPr wrap="square" lIns="0" rIns="0" tIns="0" bIns="0" anchor="ctr">
            <a:spAutoFit/>
          </a:bodyPr>
          <a:lstStyle/>
          <a:p>
            <a:pPr algn="l">
              <a:lnSpc>
                <a:spcPct val="92000"/>
              </a:lnSpc>
            </a:pPr>
            <a:r>
              <a:rPr sz="2250" b="1" i="0">
                <a:solidFill>
                  <a:srgbClr val="172733"/>
                </a:solidFill>
                <a:latin typeface="Aptos Display"/>
              </a:rPr>
              <a:t>Evidence ladder: from constituents to a scaled barrier</a:t>
            </a:r>
          </a:p>
        </p:txBody>
      </p:sp>
      <p:sp>
        <p:nvSpPr>
          <p:cNvPr id="4" name="Rounded Rectangle 3"/>
          <p:cNvSpPr/>
          <p:nvPr/>
        </p:nvSpPr>
        <p:spPr>
          <a:xfrm>
            <a:off x="11173968" y="128016"/>
            <a:ext cx="749808" cy="58521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itbbs_logo_official.png"/>
          <p:cNvPicPr>
            <a:picLocks noChangeAspect="1"/>
          </p:cNvPicPr>
          <p:nvPr/>
        </p:nvPicPr>
        <p:blipFill>
          <a:blip r:embed="rId2"/>
          <a:stretch>
            <a:fillRect/>
          </a:stretch>
        </p:blipFill>
        <p:spPr>
          <a:xfrm>
            <a:off x="11283696" y="164592"/>
            <a:ext cx="530352" cy="493776"/>
          </a:xfrm>
          <a:prstGeom prst="rect">
            <a:avLst/>
          </a:prstGeom>
        </p:spPr>
      </p:pic>
      <p:cxnSp>
        <p:nvCxnSpPr>
          <p:cNvPr id="6" name="Connector 5"/>
          <p:cNvCxnSpPr/>
          <p:nvPr/>
        </p:nvCxnSpPr>
        <p:spPr>
          <a:xfrm>
            <a:off x="640080" y="1005840"/>
            <a:ext cx="10899648" cy="0"/>
          </a:xfrm>
          <a:prstGeom prst="line">
            <a:avLst/>
          </a:prstGeom>
          <a:ln w="10160">
            <a:solidFill>
              <a:srgbClr val="D8E2E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473952"/>
            <a:ext cx="10899648" cy="0"/>
          </a:xfrm>
          <a:prstGeom prst="line">
            <a:avLst/>
          </a:prstGeom>
          <a:ln w="8890">
            <a:solidFill>
              <a:srgbClr val="D8E2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58368" y="6547104"/>
            <a:ext cx="9784080" cy="164592"/>
          </a:xfrm>
          <a:prstGeom prst="rect">
            <a:avLst/>
          </a:prstGeom>
          <a:noFill/>
        </p:spPr>
        <p:txBody>
          <a:bodyPr wrap="square" lIns="0" rIns="0" tIns="0" bIns="0" anchor="t">
            <a:spAutoFit/>
          </a:bodyPr>
          <a:lstStyle/>
          <a:p>
            <a:pPr algn="l">
              <a:lnSpc>
                <a:spcPct val="100000"/>
              </a:lnSpc>
            </a:pPr>
            <a:r>
              <a:rPr sz="760" b="1" i="0">
                <a:solidFill>
                  <a:srgbClr val="596C78"/>
                </a:solidFill>
                <a:latin typeface="Aptos"/>
              </a:rPr>
              <a:t>EXTERNAL REDACTED DRAFT • IP STATUS TO CONFIRM • DISTRIBUTE ONLY WITH IITBBS IP APPROVAL</a:t>
            </a:r>
          </a:p>
        </p:txBody>
      </p:sp>
      <p:sp>
        <p:nvSpPr>
          <p:cNvPr id="9" name="TextBox 8"/>
          <p:cNvSpPr txBox="1"/>
          <p:nvPr/>
        </p:nvSpPr>
        <p:spPr>
          <a:xfrm>
            <a:off x="10972800" y="6528816"/>
            <a:ext cx="548640" cy="173736"/>
          </a:xfrm>
          <a:prstGeom prst="rect">
            <a:avLst/>
          </a:prstGeom>
          <a:noFill/>
        </p:spPr>
        <p:txBody>
          <a:bodyPr wrap="square" lIns="0" rIns="0" tIns="0" bIns="0" anchor="t">
            <a:spAutoFit/>
          </a:bodyPr>
          <a:lstStyle/>
          <a:p>
            <a:pPr algn="r">
              <a:lnSpc>
                <a:spcPct val="100000"/>
              </a:lnSpc>
            </a:pPr>
            <a:r>
              <a:rPr sz="830" b="1" i="0">
                <a:solidFill>
                  <a:srgbClr val="596C78"/>
                </a:solidFill>
                <a:latin typeface="Aptos"/>
              </a:rPr>
              <a:t>06</a:t>
            </a:r>
          </a:p>
        </p:txBody>
      </p:sp>
      <p:sp>
        <p:nvSpPr>
          <p:cNvPr id="10" name="Oval 9"/>
          <p:cNvSpPr/>
          <p:nvPr/>
        </p:nvSpPr>
        <p:spPr>
          <a:xfrm>
            <a:off x="1353312" y="1298448"/>
            <a:ext cx="493776" cy="493776"/>
          </a:xfrm>
          <a:prstGeom prst="ellipse">
            <a:avLst/>
          </a:prstGeom>
          <a:solidFill>
            <a:srgbClr val="2B78A6"/>
          </a:solidFill>
          <a:ln>
            <a:solidFill>
              <a:srgbClr val="2B7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53312" y="1298448"/>
            <a:ext cx="493776" cy="493776"/>
          </a:xfrm>
          <a:prstGeom prst="rect">
            <a:avLst/>
          </a:prstGeom>
          <a:noFill/>
        </p:spPr>
        <p:txBody>
          <a:bodyPr wrap="square" lIns="0" rIns="0" tIns="0" bIns="0" anchor="ctr">
            <a:spAutoFit/>
          </a:bodyPr>
          <a:lstStyle/>
          <a:p>
            <a:pPr algn="ctr">
              <a:lnSpc>
                <a:spcPct val="100000"/>
              </a:lnSpc>
            </a:pPr>
            <a:r>
              <a:rPr sz="1000" b="1" i="0">
                <a:solidFill>
                  <a:srgbClr val="FFFFFF"/>
                </a:solidFill>
                <a:latin typeface="Aptos"/>
              </a:rPr>
              <a:t>01</a:t>
            </a:r>
          </a:p>
        </p:txBody>
      </p:sp>
      <p:sp>
        <p:nvSpPr>
          <p:cNvPr id="12" name="Chevron 11"/>
          <p:cNvSpPr/>
          <p:nvPr/>
        </p:nvSpPr>
        <p:spPr>
          <a:xfrm>
            <a:off x="2578608" y="1380744"/>
            <a:ext cx="301752" cy="310896"/>
          </a:xfrm>
          <a:prstGeom prst="chevron">
            <a:avLst/>
          </a:prstGeom>
          <a:solidFill>
            <a:srgbClr val="D8E2E8"/>
          </a:solidFill>
          <a:ln>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0080" y="1938528"/>
            <a:ext cx="1993392" cy="2139696"/>
          </a:xfrm>
          <a:prstGeom prst="roundRect">
            <a:avLst/>
          </a:prstGeom>
          <a:solidFill>
            <a:srgbClr val="FFFFFF"/>
          </a:solidFill>
          <a:ln w="1016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130552"/>
            <a:ext cx="1719072" cy="621792"/>
          </a:xfrm>
          <a:prstGeom prst="rect">
            <a:avLst/>
          </a:prstGeom>
          <a:noFill/>
        </p:spPr>
        <p:txBody>
          <a:bodyPr wrap="square" lIns="0" rIns="0" tIns="0" bIns="0" anchor="t">
            <a:spAutoFit/>
          </a:bodyPr>
          <a:lstStyle/>
          <a:p>
            <a:pPr algn="ctr">
              <a:lnSpc>
                <a:spcPct val="100000"/>
              </a:lnSpc>
            </a:pPr>
            <a:r>
              <a:rPr sz="1300" b="1" i="0">
                <a:solidFill>
                  <a:srgbClr val="172733"/>
                </a:solidFill>
                <a:latin typeface="Aptos Display"/>
              </a:rPr>
              <a:t>Constituent
characterisation</a:t>
            </a:r>
          </a:p>
        </p:txBody>
      </p:sp>
      <p:cxnSp>
        <p:nvCxnSpPr>
          <p:cNvPr id="15" name="Connector 14"/>
          <p:cNvCxnSpPr/>
          <p:nvPr/>
        </p:nvCxnSpPr>
        <p:spPr>
          <a:xfrm>
            <a:off x="868680" y="2816352"/>
            <a:ext cx="1536192" cy="0"/>
          </a:xfrm>
          <a:prstGeom prst="line">
            <a:avLst/>
          </a:prstGeom>
          <a:ln w="26670">
            <a:solidFill>
              <a:srgbClr val="2B78A6"/>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04671" y="3017520"/>
            <a:ext cx="1664208" cy="822960"/>
          </a:xfrm>
          <a:prstGeom prst="rect">
            <a:avLst/>
          </a:prstGeom>
          <a:noFill/>
        </p:spPr>
        <p:txBody>
          <a:bodyPr wrap="square" lIns="0" rIns="0" tIns="0" bIns="0" anchor="t">
            <a:spAutoFit/>
          </a:bodyPr>
          <a:lstStyle/>
          <a:p>
            <a:pPr algn="ctr">
              <a:lnSpc>
                <a:spcPct val="100000"/>
              </a:lnSpc>
            </a:pPr>
            <a:r>
              <a:rPr sz="940" b="0" i="0">
                <a:solidFill>
                  <a:srgbClr val="596C78"/>
                </a:solidFill>
                <a:latin typeface="Aptos"/>
              </a:rPr>
              <a:t>Chemistry, physical properties and reinforcement quality</a:t>
            </a:r>
          </a:p>
        </p:txBody>
      </p:sp>
      <p:sp>
        <p:nvSpPr>
          <p:cNvPr id="17" name="Oval 16"/>
          <p:cNvSpPr/>
          <p:nvPr/>
        </p:nvSpPr>
        <p:spPr>
          <a:xfrm>
            <a:off x="3621024" y="1298448"/>
            <a:ext cx="493776" cy="493776"/>
          </a:xfrm>
          <a:prstGeom prst="ellipse">
            <a:avLst/>
          </a:prstGeom>
          <a:solidFill>
            <a:srgbClr val="22B8C7"/>
          </a:solidFill>
          <a:ln>
            <a:solidFill>
              <a:srgbClr val="22B8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1298448"/>
            <a:ext cx="493776" cy="493776"/>
          </a:xfrm>
          <a:prstGeom prst="rect">
            <a:avLst/>
          </a:prstGeom>
          <a:noFill/>
        </p:spPr>
        <p:txBody>
          <a:bodyPr wrap="square" lIns="0" rIns="0" tIns="0" bIns="0" anchor="ctr">
            <a:spAutoFit/>
          </a:bodyPr>
          <a:lstStyle/>
          <a:p>
            <a:pPr algn="ctr">
              <a:lnSpc>
                <a:spcPct val="100000"/>
              </a:lnSpc>
            </a:pPr>
            <a:r>
              <a:rPr sz="1000" b="1" i="0">
                <a:solidFill>
                  <a:srgbClr val="FFFFFF"/>
                </a:solidFill>
                <a:latin typeface="Aptos"/>
              </a:rPr>
              <a:t>02</a:t>
            </a:r>
          </a:p>
        </p:txBody>
      </p:sp>
      <p:sp>
        <p:nvSpPr>
          <p:cNvPr id="19" name="Chevron 18"/>
          <p:cNvSpPr/>
          <p:nvPr/>
        </p:nvSpPr>
        <p:spPr>
          <a:xfrm>
            <a:off x="4846320" y="1380744"/>
            <a:ext cx="301752" cy="310896"/>
          </a:xfrm>
          <a:prstGeom prst="chevron">
            <a:avLst/>
          </a:prstGeom>
          <a:solidFill>
            <a:srgbClr val="D8E2E8"/>
          </a:solidFill>
          <a:ln>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2907791" y="1938528"/>
            <a:ext cx="1993392" cy="2139696"/>
          </a:xfrm>
          <a:prstGeom prst="roundRect">
            <a:avLst/>
          </a:prstGeom>
          <a:solidFill>
            <a:srgbClr val="FFFFFF"/>
          </a:solidFill>
          <a:ln w="1016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44951" y="2130552"/>
            <a:ext cx="1719072" cy="621792"/>
          </a:xfrm>
          <a:prstGeom prst="rect">
            <a:avLst/>
          </a:prstGeom>
          <a:noFill/>
        </p:spPr>
        <p:txBody>
          <a:bodyPr wrap="square" lIns="0" rIns="0" tIns="0" bIns="0" anchor="t">
            <a:spAutoFit/>
          </a:bodyPr>
          <a:lstStyle/>
          <a:p>
            <a:pPr algn="ctr">
              <a:lnSpc>
                <a:spcPct val="100000"/>
              </a:lnSpc>
            </a:pPr>
            <a:r>
              <a:rPr sz="1300" b="1" i="0">
                <a:solidFill>
                  <a:srgbClr val="172733"/>
                </a:solidFill>
                <a:latin typeface="Aptos Display"/>
              </a:rPr>
              <a:t>Mixture
screening</a:t>
            </a:r>
          </a:p>
        </p:txBody>
      </p:sp>
      <p:cxnSp>
        <p:nvCxnSpPr>
          <p:cNvPr id="22" name="Connector 21"/>
          <p:cNvCxnSpPr/>
          <p:nvPr/>
        </p:nvCxnSpPr>
        <p:spPr>
          <a:xfrm>
            <a:off x="3136391" y="2816352"/>
            <a:ext cx="1536192" cy="0"/>
          </a:xfrm>
          <a:prstGeom prst="line">
            <a:avLst/>
          </a:prstGeom>
          <a:ln w="26670">
            <a:solidFill>
              <a:srgbClr val="22B8C7"/>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072384" y="3017520"/>
            <a:ext cx="1664208" cy="822960"/>
          </a:xfrm>
          <a:prstGeom prst="rect">
            <a:avLst/>
          </a:prstGeom>
          <a:noFill/>
        </p:spPr>
        <p:txBody>
          <a:bodyPr wrap="square" lIns="0" rIns="0" tIns="0" bIns="0" anchor="t">
            <a:spAutoFit/>
          </a:bodyPr>
          <a:lstStyle/>
          <a:p>
            <a:pPr algn="ctr">
              <a:lnSpc>
                <a:spcPct val="100000"/>
              </a:lnSpc>
            </a:pPr>
            <a:r>
              <a:rPr sz="940" b="0" i="0">
                <a:solidFill>
                  <a:srgbClr val="596C78"/>
                </a:solidFill>
                <a:latin typeface="Aptos"/>
              </a:rPr>
              <a:t>NWC + 4 lightweight variants; increasing reinforcement</a:t>
            </a:r>
          </a:p>
        </p:txBody>
      </p:sp>
      <p:sp>
        <p:nvSpPr>
          <p:cNvPr id="24" name="Oval 23"/>
          <p:cNvSpPr/>
          <p:nvPr/>
        </p:nvSpPr>
        <p:spPr>
          <a:xfrm>
            <a:off x="5888736" y="1298448"/>
            <a:ext cx="493776" cy="493776"/>
          </a:xfrm>
          <a:prstGeom prst="ellipse">
            <a:avLst/>
          </a:prstGeom>
          <a:solidFill>
            <a:srgbClr val="178D86"/>
          </a:solidFill>
          <a:ln>
            <a:solidFill>
              <a:srgbClr val="178D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88736" y="1298448"/>
            <a:ext cx="493776" cy="493776"/>
          </a:xfrm>
          <a:prstGeom prst="rect">
            <a:avLst/>
          </a:prstGeom>
          <a:noFill/>
        </p:spPr>
        <p:txBody>
          <a:bodyPr wrap="square" lIns="0" rIns="0" tIns="0" bIns="0" anchor="ctr">
            <a:spAutoFit/>
          </a:bodyPr>
          <a:lstStyle/>
          <a:p>
            <a:pPr algn="ctr">
              <a:lnSpc>
                <a:spcPct val="100000"/>
              </a:lnSpc>
            </a:pPr>
            <a:r>
              <a:rPr sz="1000" b="1" i="0">
                <a:solidFill>
                  <a:srgbClr val="FFFFFF"/>
                </a:solidFill>
                <a:latin typeface="Aptos"/>
              </a:rPr>
              <a:t>03</a:t>
            </a:r>
          </a:p>
        </p:txBody>
      </p:sp>
      <p:sp>
        <p:nvSpPr>
          <p:cNvPr id="26" name="Chevron 25"/>
          <p:cNvSpPr/>
          <p:nvPr/>
        </p:nvSpPr>
        <p:spPr>
          <a:xfrm>
            <a:off x="7114032" y="1380744"/>
            <a:ext cx="301752" cy="310896"/>
          </a:xfrm>
          <a:prstGeom prst="chevron">
            <a:avLst/>
          </a:prstGeom>
          <a:solidFill>
            <a:srgbClr val="D8E2E8"/>
          </a:solidFill>
          <a:ln>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175504" y="1938528"/>
            <a:ext cx="1993392" cy="2139696"/>
          </a:xfrm>
          <a:prstGeom prst="roundRect">
            <a:avLst/>
          </a:prstGeom>
          <a:solidFill>
            <a:srgbClr val="FFFFFF"/>
          </a:solidFill>
          <a:ln w="1016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12664" y="2130552"/>
            <a:ext cx="1719072" cy="621792"/>
          </a:xfrm>
          <a:prstGeom prst="rect">
            <a:avLst/>
          </a:prstGeom>
          <a:noFill/>
        </p:spPr>
        <p:txBody>
          <a:bodyPr wrap="square" lIns="0" rIns="0" tIns="0" bIns="0" anchor="t">
            <a:spAutoFit/>
          </a:bodyPr>
          <a:lstStyle/>
          <a:p>
            <a:pPr algn="ctr">
              <a:lnSpc>
                <a:spcPct val="100000"/>
              </a:lnSpc>
            </a:pPr>
            <a:r>
              <a:rPr sz="1300" b="1" i="0">
                <a:solidFill>
                  <a:srgbClr val="172733"/>
                </a:solidFill>
                <a:latin typeface="Aptos Display"/>
              </a:rPr>
              <a:t>Static
performance</a:t>
            </a:r>
          </a:p>
        </p:txBody>
      </p:sp>
      <p:cxnSp>
        <p:nvCxnSpPr>
          <p:cNvPr id="29" name="Connector 28"/>
          <p:cNvCxnSpPr/>
          <p:nvPr/>
        </p:nvCxnSpPr>
        <p:spPr>
          <a:xfrm>
            <a:off x="5404104" y="2816352"/>
            <a:ext cx="1536192" cy="0"/>
          </a:xfrm>
          <a:prstGeom prst="line">
            <a:avLst/>
          </a:prstGeom>
          <a:ln w="26670">
            <a:solidFill>
              <a:srgbClr val="178D86"/>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340096" y="3017520"/>
            <a:ext cx="1664208" cy="822960"/>
          </a:xfrm>
          <a:prstGeom prst="rect">
            <a:avLst/>
          </a:prstGeom>
          <a:noFill/>
        </p:spPr>
        <p:txBody>
          <a:bodyPr wrap="square" lIns="0" rIns="0" tIns="0" bIns="0" anchor="t">
            <a:spAutoFit/>
          </a:bodyPr>
          <a:lstStyle/>
          <a:p>
            <a:pPr algn="ctr">
              <a:lnSpc>
                <a:spcPct val="100000"/>
              </a:lnSpc>
            </a:pPr>
            <a:r>
              <a:rPr sz="940" b="0" i="0">
                <a:solidFill>
                  <a:srgbClr val="596C78"/>
                </a:solidFill>
                <a:latin typeface="Aptos"/>
              </a:rPr>
              <a:t>Reported density, slump, 28 d compression and split tension</a:t>
            </a:r>
          </a:p>
        </p:txBody>
      </p:sp>
      <p:sp>
        <p:nvSpPr>
          <p:cNvPr id="31" name="Oval 30"/>
          <p:cNvSpPr/>
          <p:nvPr/>
        </p:nvSpPr>
        <p:spPr>
          <a:xfrm>
            <a:off x="8156447" y="1298448"/>
            <a:ext cx="493776" cy="493776"/>
          </a:xfrm>
          <a:prstGeom prst="ellipse">
            <a:avLst/>
          </a:prstGeom>
          <a:solidFill>
            <a:srgbClr val="F39C3D"/>
          </a:solidFill>
          <a:ln>
            <a:solidFill>
              <a:srgbClr val="F39C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156447" y="1298448"/>
            <a:ext cx="493776" cy="493776"/>
          </a:xfrm>
          <a:prstGeom prst="rect">
            <a:avLst/>
          </a:prstGeom>
          <a:noFill/>
        </p:spPr>
        <p:txBody>
          <a:bodyPr wrap="square" lIns="0" rIns="0" tIns="0" bIns="0" anchor="ctr">
            <a:spAutoFit/>
          </a:bodyPr>
          <a:lstStyle/>
          <a:p>
            <a:pPr algn="ctr">
              <a:lnSpc>
                <a:spcPct val="100000"/>
              </a:lnSpc>
            </a:pPr>
            <a:r>
              <a:rPr sz="1000" b="1" i="0">
                <a:solidFill>
                  <a:srgbClr val="FFFFFF"/>
                </a:solidFill>
                <a:latin typeface="Aptos"/>
              </a:rPr>
              <a:t>04</a:t>
            </a:r>
          </a:p>
        </p:txBody>
      </p:sp>
      <p:sp>
        <p:nvSpPr>
          <p:cNvPr id="33" name="Chevron 32"/>
          <p:cNvSpPr/>
          <p:nvPr/>
        </p:nvSpPr>
        <p:spPr>
          <a:xfrm>
            <a:off x="9381743" y="1380744"/>
            <a:ext cx="301752" cy="310896"/>
          </a:xfrm>
          <a:prstGeom prst="chevron">
            <a:avLst/>
          </a:prstGeom>
          <a:solidFill>
            <a:srgbClr val="D8E2E8"/>
          </a:solidFill>
          <a:ln>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7443215" y="1938528"/>
            <a:ext cx="1993392" cy="2139696"/>
          </a:xfrm>
          <a:prstGeom prst="roundRect">
            <a:avLst/>
          </a:prstGeom>
          <a:solidFill>
            <a:srgbClr val="FFFFFF"/>
          </a:solidFill>
          <a:ln w="1016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580375" y="2130552"/>
            <a:ext cx="1719072" cy="621792"/>
          </a:xfrm>
          <a:prstGeom prst="rect">
            <a:avLst/>
          </a:prstGeom>
          <a:noFill/>
        </p:spPr>
        <p:txBody>
          <a:bodyPr wrap="square" lIns="0" rIns="0" tIns="0" bIns="0" anchor="t">
            <a:spAutoFit/>
          </a:bodyPr>
          <a:lstStyle/>
          <a:p>
            <a:pPr algn="ctr">
              <a:lnSpc>
                <a:spcPct val="100000"/>
              </a:lnSpc>
            </a:pPr>
            <a:r>
              <a:rPr sz="1300" b="1" i="0">
                <a:solidFill>
                  <a:srgbClr val="172733"/>
                </a:solidFill>
                <a:latin typeface="Aptos Display"/>
              </a:rPr>
              <a:t>Repeated
impact</a:t>
            </a:r>
          </a:p>
        </p:txBody>
      </p:sp>
      <p:cxnSp>
        <p:nvCxnSpPr>
          <p:cNvPr id="36" name="Connector 35"/>
          <p:cNvCxnSpPr/>
          <p:nvPr/>
        </p:nvCxnSpPr>
        <p:spPr>
          <a:xfrm>
            <a:off x="7671815" y="2816352"/>
            <a:ext cx="1536192" cy="0"/>
          </a:xfrm>
          <a:prstGeom prst="line">
            <a:avLst/>
          </a:prstGeom>
          <a:ln w="26670">
            <a:solidFill>
              <a:srgbClr val="F39C3D"/>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7607807" y="3017520"/>
            <a:ext cx="1664208" cy="822960"/>
          </a:xfrm>
          <a:prstGeom prst="rect">
            <a:avLst/>
          </a:prstGeom>
          <a:noFill/>
        </p:spPr>
        <p:txBody>
          <a:bodyPr wrap="square" lIns="0" rIns="0" tIns="0" bIns="0" anchor="t">
            <a:spAutoFit/>
          </a:bodyPr>
          <a:lstStyle/>
          <a:p>
            <a:pPr algn="ctr">
              <a:lnSpc>
                <a:spcPct val="100000"/>
              </a:lnSpc>
            </a:pPr>
            <a:r>
              <a:rPr sz="940" b="0" i="0">
                <a:solidFill>
                  <a:srgbClr val="596C78"/>
                </a:solidFill>
                <a:latin typeface="Aptos"/>
              </a:rPr>
              <a:t>13.5 kg drop hammer; N₁/N₂, energy, acceleration → displacement</a:t>
            </a:r>
          </a:p>
        </p:txBody>
      </p:sp>
      <p:sp>
        <p:nvSpPr>
          <p:cNvPr id="38" name="Oval 37"/>
          <p:cNvSpPr/>
          <p:nvPr/>
        </p:nvSpPr>
        <p:spPr>
          <a:xfrm>
            <a:off x="10424159" y="1298448"/>
            <a:ext cx="493776" cy="493776"/>
          </a:xfrm>
          <a:prstGeom prst="ellipse">
            <a:avLst/>
          </a:prstGeom>
          <a:solidFill>
            <a:srgbClr val="D95D5D"/>
          </a:solidFill>
          <a:ln>
            <a:solidFill>
              <a:srgbClr val="D95D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424159" y="1298448"/>
            <a:ext cx="493776" cy="493776"/>
          </a:xfrm>
          <a:prstGeom prst="rect">
            <a:avLst/>
          </a:prstGeom>
          <a:noFill/>
        </p:spPr>
        <p:txBody>
          <a:bodyPr wrap="square" lIns="0" rIns="0" tIns="0" bIns="0" anchor="ctr">
            <a:spAutoFit/>
          </a:bodyPr>
          <a:lstStyle/>
          <a:p>
            <a:pPr algn="ctr">
              <a:lnSpc>
                <a:spcPct val="100000"/>
              </a:lnSpc>
            </a:pPr>
            <a:r>
              <a:rPr sz="1000" b="1" i="0">
                <a:solidFill>
                  <a:srgbClr val="FFFFFF"/>
                </a:solidFill>
                <a:latin typeface="Aptos"/>
              </a:rPr>
              <a:t>05</a:t>
            </a:r>
          </a:p>
        </p:txBody>
      </p:sp>
      <p:sp>
        <p:nvSpPr>
          <p:cNvPr id="40" name="Rounded Rectangle 39"/>
          <p:cNvSpPr/>
          <p:nvPr/>
        </p:nvSpPr>
        <p:spPr>
          <a:xfrm>
            <a:off x="9710928" y="1938528"/>
            <a:ext cx="1993392" cy="2139696"/>
          </a:xfrm>
          <a:prstGeom prst="roundRect">
            <a:avLst/>
          </a:prstGeom>
          <a:solidFill>
            <a:srgbClr val="FFFFFF"/>
          </a:solidFill>
          <a:ln w="1016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848088" y="2130552"/>
            <a:ext cx="1719072" cy="621792"/>
          </a:xfrm>
          <a:prstGeom prst="rect">
            <a:avLst/>
          </a:prstGeom>
          <a:noFill/>
        </p:spPr>
        <p:txBody>
          <a:bodyPr wrap="square" lIns="0" rIns="0" tIns="0" bIns="0" anchor="t">
            <a:spAutoFit/>
          </a:bodyPr>
          <a:lstStyle/>
          <a:p>
            <a:pPr algn="ctr">
              <a:lnSpc>
                <a:spcPct val="100000"/>
              </a:lnSpc>
            </a:pPr>
            <a:r>
              <a:rPr sz="1300" b="1" i="0">
                <a:solidFill>
                  <a:srgbClr val="172733"/>
                </a:solidFill>
                <a:latin typeface="Aptos Display"/>
              </a:rPr>
              <a:t>Barrier-scale
validation</a:t>
            </a:r>
          </a:p>
        </p:txBody>
      </p:sp>
      <p:cxnSp>
        <p:nvCxnSpPr>
          <p:cNvPr id="42" name="Connector 41"/>
          <p:cNvCxnSpPr/>
          <p:nvPr/>
        </p:nvCxnSpPr>
        <p:spPr>
          <a:xfrm>
            <a:off x="9939528" y="2816352"/>
            <a:ext cx="1536191" cy="0"/>
          </a:xfrm>
          <a:prstGeom prst="line">
            <a:avLst/>
          </a:prstGeom>
          <a:ln w="26670">
            <a:solidFill>
              <a:srgbClr val="D95D5D"/>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9875519" y="3017520"/>
            <a:ext cx="1664208" cy="822960"/>
          </a:xfrm>
          <a:prstGeom prst="rect">
            <a:avLst/>
          </a:prstGeom>
          <a:noFill/>
        </p:spPr>
        <p:txBody>
          <a:bodyPr wrap="square" lIns="0" rIns="0" tIns="0" bIns="0" anchor="t">
            <a:spAutoFit/>
          </a:bodyPr>
          <a:lstStyle/>
          <a:p>
            <a:pPr algn="ctr">
              <a:lnSpc>
                <a:spcPct val="100000"/>
              </a:lnSpc>
            </a:pPr>
            <a:r>
              <a:rPr sz="940" b="0" i="0">
                <a:solidFill>
                  <a:srgbClr val="596C78"/>
                </a:solidFill>
                <a:latin typeface="Aptos"/>
              </a:rPr>
              <a:t>1:3 New Jersey models; 40 kg pendulum; NWC vs LWC15</a:t>
            </a:r>
          </a:p>
        </p:txBody>
      </p:sp>
      <p:sp>
        <p:nvSpPr>
          <p:cNvPr id="44" name="Rounded Rectangle 43"/>
          <p:cNvSpPr/>
          <p:nvPr/>
        </p:nvSpPr>
        <p:spPr>
          <a:xfrm>
            <a:off x="749808" y="4462272"/>
            <a:ext cx="10607040" cy="1051560"/>
          </a:xfrm>
          <a:prstGeom prst="roundRect">
            <a:avLst/>
          </a:prstGeom>
          <a:solidFill>
            <a:srgbClr val="FFFFFF"/>
          </a:solidFill>
          <a:ln w="1016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41832" y="4681728"/>
            <a:ext cx="2057400" cy="274320"/>
          </a:xfrm>
          <a:prstGeom prst="rect">
            <a:avLst/>
          </a:prstGeom>
          <a:noFill/>
        </p:spPr>
        <p:txBody>
          <a:bodyPr wrap="square" lIns="0" rIns="0" tIns="0" bIns="0" anchor="t">
            <a:spAutoFit/>
          </a:bodyPr>
          <a:lstStyle/>
          <a:p>
            <a:pPr algn="l">
              <a:lnSpc>
                <a:spcPct val="100000"/>
              </a:lnSpc>
            </a:pPr>
            <a:r>
              <a:rPr sz="900" b="1" i="0">
                <a:solidFill>
                  <a:srgbClr val="D95D5D"/>
                </a:solidFill>
                <a:latin typeface="Aptos"/>
              </a:rPr>
              <a:t>REPLICATION / UNCERTAINTY</a:t>
            </a:r>
          </a:p>
        </p:txBody>
      </p:sp>
      <p:sp>
        <p:nvSpPr>
          <p:cNvPr id="46" name="TextBox 45"/>
          <p:cNvSpPr txBox="1"/>
          <p:nvPr/>
        </p:nvSpPr>
        <p:spPr>
          <a:xfrm>
            <a:off x="2907792" y="4590288"/>
            <a:ext cx="8183879" cy="640080"/>
          </a:xfrm>
          <a:prstGeom prst="rect">
            <a:avLst/>
          </a:prstGeom>
          <a:noFill/>
        </p:spPr>
        <p:txBody>
          <a:bodyPr wrap="square" lIns="0" rIns="0" tIns="0" bIns="0" anchor="t">
            <a:spAutoFit/>
          </a:bodyPr>
          <a:lstStyle/>
          <a:p>
            <a:pPr algn="l">
              <a:lnSpc>
                <a:spcPct val="100000"/>
              </a:lnSpc>
            </a:pPr>
            <a:r>
              <a:rPr sz="1070" b="1" i="0">
                <a:solidFill>
                  <a:srgbClr val="172733"/>
                </a:solidFill>
                <a:latin typeface="Aptos"/>
              </a:rPr>
              <a:t>The methods report 3 cubes + 3 cylinders per mix and 4 beams cast per mix; impact tables do not report dispersion for N₁/N₂. Barrier validation used one specimen per material. Treat barrier-scale effect sizes as preliminary, not population estimates.</a:t>
            </a:r>
          </a:p>
        </p:txBody>
      </p:sp>
      <p:sp>
        <p:nvSpPr>
          <p:cNvPr id="47" name="TextBox 46"/>
          <p:cNvSpPr txBox="1"/>
          <p:nvPr/>
        </p:nvSpPr>
        <p:spPr>
          <a:xfrm>
            <a:off x="749808" y="5806440"/>
            <a:ext cx="10652760" cy="256032"/>
          </a:xfrm>
          <a:prstGeom prst="rect">
            <a:avLst/>
          </a:prstGeom>
          <a:noFill/>
        </p:spPr>
        <p:txBody>
          <a:bodyPr wrap="square" lIns="0" rIns="0" tIns="0" bIns="0" anchor="ctr">
            <a:spAutoFit/>
          </a:bodyPr>
          <a:lstStyle/>
          <a:p>
            <a:pPr algn="l">
              <a:lnSpc>
                <a:spcPct val="100000"/>
              </a:lnSpc>
            </a:pPr>
            <a:r>
              <a:rPr sz="700" b="0" i="0">
                <a:solidFill>
                  <a:srgbClr val="596C78"/>
                </a:solidFill>
                <a:latin typeface="Aptos"/>
              </a:rPr>
              <a:t>Source: Al-Amir et al. manuscript, Experimental Program and Testing Methods; inventor disclosure, Experimental Data Analysis. Sample-count interpretation is based on the stated casting plan.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640080" y="164592"/>
            <a:ext cx="2514600" cy="201168"/>
          </a:xfrm>
          <a:prstGeom prst="rect">
            <a:avLst/>
          </a:prstGeom>
          <a:noFill/>
        </p:spPr>
        <p:txBody>
          <a:bodyPr wrap="square" lIns="0" rIns="0" tIns="0" bIns="0" anchor="t">
            <a:spAutoFit/>
          </a:bodyPr>
          <a:lstStyle/>
          <a:p>
            <a:pPr algn="l">
              <a:lnSpc>
                <a:spcPct val="100000"/>
              </a:lnSpc>
            </a:pPr>
            <a:r>
              <a:rPr sz="850" b="1" i="0">
                <a:solidFill>
                  <a:srgbClr val="2B78A6"/>
                </a:solidFill>
                <a:latin typeface="Aptos"/>
              </a:rPr>
              <a:t>TESTED EMBODIMENTS</a:t>
            </a:r>
          </a:p>
        </p:txBody>
      </p:sp>
      <p:sp>
        <p:nvSpPr>
          <p:cNvPr id="3" name="TextBox 2"/>
          <p:cNvSpPr txBox="1"/>
          <p:nvPr/>
        </p:nvSpPr>
        <p:spPr>
          <a:xfrm>
            <a:off x="640080" y="338328"/>
            <a:ext cx="9921240" cy="612648"/>
          </a:xfrm>
          <a:prstGeom prst="rect">
            <a:avLst/>
          </a:prstGeom>
          <a:noFill/>
        </p:spPr>
        <p:txBody>
          <a:bodyPr wrap="square" lIns="0" rIns="0" tIns="0" bIns="0" anchor="ctr">
            <a:spAutoFit/>
          </a:bodyPr>
          <a:lstStyle/>
          <a:p>
            <a:pPr algn="l">
              <a:lnSpc>
                <a:spcPct val="92000"/>
              </a:lnSpc>
            </a:pPr>
            <a:r>
              <a:rPr sz="2250" b="1" i="0">
                <a:solidFill>
                  <a:srgbClr val="172733"/>
                </a:solidFill>
                <a:latin typeface="Aptos Display"/>
              </a:rPr>
              <a:t>Tested material design: a fibre-content performance ladder</a:t>
            </a:r>
          </a:p>
        </p:txBody>
      </p:sp>
      <p:sp>
        <p:nvSpPr>
          <p:cNvPr id="4" name="Rounded Rectangle 3"/>
          <p:cNvSpPr/>
          <p:nvPr/>
        </p:nvSpPr>
        <p:spPr>
          <a:xfrm>
            <a:off x="11173968" y="128016"/>
            <a:ext cx="749808" cy="58521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itbbs_logo_official.png"/>
          <p:cNvPicPr>
            <a:picLocks noChangeAspect="1"/>
          </p:cNvPicPr>
          <p:nvPr/>
        </p:nvPicPr>
        <p:blipFill>
          <a:blip r:embed="rId2"/>
          <a:stretch>
            <a:fillRect/>
          </a:stretch>
        </p:blipFill>
        <p:spPr>
          <a:xfrm>
            <a:off x="11283696" y="164592"/>
            <a:ext cx="530352" cy="493776"/>
          </a:xfrm>
          <a:prstGeom prst="rect">
            <a:avLst/>
          </a:prstGeom>
        </p:spPr>
      </p:pic>
      <p:cxnSp>
        <p:nvCxnSpPr>
          <p:cNvPr id="6" name="Connector 5"/>
          <p:cNvCxnSpPr/>
          <p:nvPr/>
        </p:nvCxnSpPr>
        <p:spPr>
          <a:xfrm>
            <a:off x="640080" y="1005840"/>
            <a:ext cx="10899648" cy="0"/>
          </a:xfrm>
          <a:prstGeom prst="line">
            <a:avLst/>
          </a:prstGeom>
          <a:ln w="10160">
            <a:solidFill>
              <a:srgbClr val="D8E2E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473952"/>
            <a:ext cx="10899648" cy="0"/>
          </a:xfrm>
          <a:prstGeom prst="line">
            <a:avLst/>
          </a:prstGeom>
          <a:ln w="8890">
            <a:solidFill>
              <a:srgbClr val="D8E2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58368" y="6547104"/>
            <a:ext cx="9784080" cy="164592"/>
          </a:xfrm>
          <a:prstGeom prst="rect">
            <a:avLst/>
          </a:prstGeom>
          <a:noFill/>
        </p:spPr>
        <p:txBody>
          <a:bodyPr wrap="square" lIns="0" rIns="0" tIns="0" bIns="0" anchor="t">
            <a:spAutoFit/>
          </a:bodyPr>
          <a:lstStyle/>
          <a:p>
            <a:pPr algn="l">
              <a:lnSpc>
                <a:spcPct val="100000"/>
              </a:lnSpc>
            </a:pPr>
            <a:r>
              <a:rPr sz="760" b="1" i="0">
                <a:solidFill>
                  <a:srgbClr val="596C78"/>
                </a:solidFill>
                <a:latin typeface="Aptos"/>
              </a:rPr>
              <a:t>EXTERNAL REDACTED DRAFT • IP STATUS TO CONFIRM • DISTRIBUTE ONLY WITH IITBBS IP APPROVAL</a:t>
            </a:r>
          </a:p>
        </p:txBody>
      </p:sp>
      <p:sp>
        <p:nvSpPr>
          <p:cNvPr id="9" name="TextBox 8"/>
          <p:cNvSpPr txBox="1"/>
          <p:nvPr/>
        </p:nvSpPr>
        <p:spPr>
          <a:xfrm>
            <a:off x="10972800" y="6528816"/>
            <a:ext cx="548640" cy="173736"/>
          </a:xfrm>
          <a:prstGeom prst="rect">
            <a:avLst/>
          </a:prstGeom>
          <a:noFill/>
        </p:spPr>
        <p:txBody>
          <a:bodyPr wrap="square" lIns="0" rIns="0" tIns="0" bIns="0" anchor="t">
            <a:spAutoFit/>
          </a:bodyPr>
          <a:lstStyle/>
          <a:p>
            <a:pPr algn="r">
              <a:lnSpc>
                <a:spcPct val="100000"/>
              </a:lnSpc>
            </a:pPr>
            <a:r>
              <a:rPr sz="830" b="1" i="0">
                <a:solidFill>
                  <a:srgbClr val="596C78"/>
                </a:solidFill>
                <a:latin typeface="Aptos"/>
              </a:rPr>
              <a:t>07</a:t>
            </a:r>
          </a:p>
        </p:txBody>
      </p:sp>
      <p:graphicFrame>
        <p:nvGraphicFramePr>
          <p:cNvPr id="10" name="Table 9"/>
          <p:cNvGraphicFramePr>
            <a:graphicFrameLocks noGrp="1"/>
          </p:cNvGraphicFramePr>
          <p:nvPr/>
        </p:nvGraphicFramePr>
        <p:xfrm>
          <a:off x="658368" y="1325880"/>
          <a:ext cx="8046718" cy="2560320"/>
        </p:xfrm>
        <a:graphic>
          <a:graphicData uri="http://schemas.openxmlformats.org/drawingml/2006/table">
            <a:tbl>
              <a:tblPr firstRow="1" bandRow="1">
                <a:tableStyleId>{5C22544A-7EE6-4342-B048-85BDC9FD1C3A}</a:tableStyleId>
              </a:tblPr>
              <a:tblGrid>
                <a:gridCol w="1207008"/>
                <a:gridCol w="1321961"/>
                <a:gridCol w="1781773"/>
                <a:gridCol w="2241586"/>
                <a:gridCol w="1494390"/>
              </a:tblGrid>
              <a:tr h="853440">
                <a:tc>
                  <a:txBody>
                    <a:bodyPr/>
                    <a:lstStyle/>
                    <a:p>
                      <a:pPr algn="l"/>
                      <a:r>
                        <a:rPr sz="880" b="1" i="0">
                          <a:solidFill>
                            <a:srgbClr val="FFFFFF"/>
                          </a:solidFill>
                          <a:latin typeface="Aptos"/>
                        </a:rPr>
                        <a:t>Programme</a:t>
                      </a:r>
                    </a:p>
                  </a:txBody>
                  <a:tcPr marL="36576" marR="36576" marT="27432" marB="27432" anchor="ctr">
                    <a:solidFill>
                      <a:srgbClr val="08243A"/>
                    </a:solidFill>
                  </a:tcPr>
                </a:tc>
                <a:tc>
                  <a:txBody>
                    <a:bodyPr/>
                    <a:lstStyle/>
                    <a:p>
                      <a:pPr algn="ctr"/>
                      <a:r>
                        <a:rPr sz="880" b="1" i="0">
                          <a:solidFill>
                            <a:srgbClr val="FFFFFF"/>
                          </a:solidFill>
                          <a:latin typeface="Aptos"/>
                        </a:rPr>
                        <a:t>Reference</a:t>
                      </a:r>
                    </a:p>
                  </a:txBody>
                  <a:tcPr marL="36576" marR="36576" marT="27432" marB="27432" anchor="ctr">
                    <a:solidFill>
                      <a:srgbClr val="08243A"/>
                    </a:solidFill>
                  </a:tcPr>
                </a:tc>
                <a:tc>
                  <a:txBody>
                    <a:bodyPr/>
                    <a:lstStyle/>
                    <a:p>
                      <a:pPr algn="ctr"/>
                      <a:r>
                        <a:rPr sz="880" b="1" i="0">
                          <a:solidFill>
                            <a:srgbClr val="FFFFFF"/>
                          </a:solidFill>
                          <a:latin typeface="Aptos"/>
                        </a:rPr>
                        <a:t>Lightweight controls</a:t>
                      </a:r>
                    </a:p>
                  </a:txBody>
                  <a:tcPr marL="36576" marR="36576" marT="27432" marB="27432" anchor="ctr">
                    <a:solidFill>
                      <a:srgbClr val="08243A"/>
                    </a:solidFill>
                  </a:tcPr>
                </a:tc>
                <a:tc>
                  <a:txBody>
                    <a:bodyPr/>
                    <a:lstStyle/>
                    <a:p>
                      <a:pPr algn="ctr"/>
                      <a:r>
                        <a:rPr sz="880" b="1" i="0">
                          <a:solidFill>
                            <a:srgbClr val="FFFFFF"/>
                          </a:solidFill>
                          <a:latin typeface="Aptos"/>
                        </a:rPr>
                        <a:t>Reinforced variants</a:t>
                      </a:r>
                    </a:p>
                  </a:txBody>
                  <a:tcPr marL="36576" marR="36576" marT="27432" marB="27432" anchor="ctr">
                    <a:solidFill>
                      <a:srgbClr val="08243A"/>
                    </a:solidFill>
                  </a:tcPr>
                </a:tc>
                <a:tc>
                  <a:txBody>
                    <a:bodyPr/>
                    <a:lstStyle/>
                    <a:p>
                      <a:pPr algn="ctr"/>
                      <a:r>
                        <a:rPr sz="880" b="1" i="0">
                          <a:solidFill>
                            <a:srgbClr val="FFFFFF"/>
                          </a:solidFill>
                          <a:latin typeface="Aptos"/>
                        </a:rPr>
                        <a:t>Selected</a:t>
                      </a:r>
                    </a:p>
                  </a:txBody>
                  <a:tcPr marL="36576" marR="36576" marT="27432" marB="27432" anchor="ctr">
                    <a:solidFill>
                      <a:srgbClr val="08243A"/>
                    </a:solidFill>
                  </a:tcPr>
                </a:tc>
              </a:tr>
              <a:tr h="853440">
                <a:tc>
                  <a:txBody>
                    <a:bodyPr/>
                    <a:lstStyle/>
                    <a:p>
                      <a:pPr algn="l"/>
                      <a:r>
                        <a:rPr sz="900" b="1" i="0">
                          <a:solidFill>
                            <a:srgbClr val="172733"/>
                          </a:solidFill>
                          <a:latin typeface="Aptos"/>
                        </a:rPr>
                        <a:t>Design</a:t>
                      </a:r>
                    </a:p>
                  </a:txBody>
                  <a:tcPr marL="36576" marR="36576" marT="27432" marB="27432" anchor="ctr">
                    <a:solidFill>
                      <a:srgbClr val="FFFFFF"/>
                    </a:solidFill>
                  </a:tcPr>
                </a:tc>
                <a:tc>
                  <a:txBody>
                    <a:bodyPr/>
                    <a:lstStyle/>
                    <a:p>
                      <a:pPr algn="ctr"/>
                      <a:r>
                        <a:rPr sz="900" b="0" i="0">
                          <a:solidFill>
                            <a:srgbClr val="172733"/>
                          </a:solidFill>
                          <a:latin typeface="Aptos"/>
                        </a:rPr>
                        <a:t>M40 NWC</a:t>
                      </a:r>
                    </a:p>
                  </a:txBody>
                  <a:tcPr marL="36576" marR="36576" marT="27432" marB="27432" anchor="ctr">
                    <a:solidFill>
                      <a:srgbClr val="FFFFFF"/>
                    </a:solidFill>
                  </a:tcPr>
                </a:tc>
                <a:tc>
                  <a:txBody>
                    <a:bodyPr/>
                    <a:lstStyle/>
                    <a:p>
                      <a:pPr algn="ctr"/>
                      <a:r>
                        <a:rPr sz="900" b="0" i="0">
                          <a:solidFill>
                            <a:srgbClr val="172733"/>
                          </a:solidFill>
                          <a:latin typeface="Aptos"/>
                        </a:rPr>
                        <a:t>Porous-LWA concrete</a:t>
                      </a:r>
                    </a:p>
                  </a:txBody>
                  <a:tcPr marL="36576" marR="36576" marT="27432" marB="27432" anchor="ctr">
                    <a:solidFill>
                      <a:srgbClr val="FFFFFF"/>
                    </a:solidFill>
                  </a:tcPr>
                </a:tc>
                <a:tc>
                  <a:txBody>
                    <a:bodyPr/>
                    <a:lstStyle/>
                    <a:p>
                      <a:pPr algn="ctr"/>
                      <a:r>
                        <a:rPr sz="900" b="0" i="0">
                          <a:solidFill>
                            <a:srgbClr val="172733"/>
                          </a:solidFill>
                          <a:latin typeface="Aptos"/>
                        </a:rPr>
                        <a:t>Three increasing reinforcement levels</a:t>
                      </a:r>
                    </a:p>
                  </a:txBody>
                  <a:tcPr marL="36576" marR="36576" marT="27432" marB="27432" anchor="ctr">
                    <a:solidFill>
                      <a:srgbClr val="FFFFFF"/>
                    </a:solidFill>
                  </a:tcPr>
                </a:tc>
                <a:tc>
                  <a:txBody>
                    <a:bodyPr/>
                    <a:lstStyle/>
                    <a:p>
                      <a:pPr algn="ctr"/>
                      <a:r>
                        <a:rPr sz="900" b="0" i="0">
                          <a:solidFill>
                            <a:srgbClr val="172733"/>
                          </a:solidFill>
                          <a:latin typeface="Aptos"/>
                        </a:rPr>
                        <a:t>Highest tested level</a:t>
                      </a:r>
                    </a:p>
                  </a:txBody>
                  <a:tcPr marL="36576" marR="36576" marT="27432" marB="27432" anchor="ctr">
                    <a:solidFill>
                      <a:srgbClr val="FFFFFF"/>
                    </a:solidFill>
                  </a:tcPr>
                </a:tc>
              </a:tr>
              <a:tr h="853440">
                <a:tc>
                  <a:txBody>
                    <a:bodyPr/>
                    <a:lstStyle/>
                    <a:p>
                      <a:pPr algn="l"/>
                      <a:r>
                        <a:rPr sz="900" b="1" i="0">
                          <a:solidFill>
                            <a:srgbClr val="172733"/>
                          </a:solidFill>
                          <a:latin typeface="Aptos"/>
                        </a:rPr>
                        <a:t>Purpose</a:t>
                      </a:r>
                    </a:p>
                  </a:txBody>
                  <a:tcPr marL="36576" marR="36576" marT="27432" marB="27432" anchor="ctr">
                    <a:solidFill>
                      <a:srgbClr val="DDF5F4"/>
                    </a:solidFill>
                  </a:tcPr>
                </a:tc>
                <a:tc>
                  <a:txBody>
                    <a:bodyPr/>
                    <a:lstStyle/>
                    <a:p>
                      <a:pPr algn="ctr"/>
                      <a:r>
                        <a:rPr sz="900" b="0" i="0">
                          <a:solidFill>
                            <a:srgbClr val="172733"/>
                          </a:solidFill>
                          <a:latin typeface="Aptos"/>
                        </a:rPr>
                        <a:t>Benchmark</a:t>
                      </a:r>
                    </a:p>
                  </a:txBody>
                  <a:tcPr marL="36576" marR="36576" marT="27432" marB="27432" anchor="ctr">
                    <a:solidFill>
                      <a:srgbClr val="DDF5F4"/>
                    </a:solidFill>
                  </a:tcPr>
                </a:tc>
                <a:tc>
                  <a:txBody>
                    <a:bodyPr/>
                    <a:lstStyle/>
                    <a:p>
                      <a:pPr algn="ctr"/>
                      <a:r>
                        <a:rPr sz="900" b="0" i="0">
                          <a:solidFill>
                            <a:srgbClr val="172733"/>
                          </a:solidFill>
                          <a:latin typeface="Aptos"/>
                        </a:rPr>
                        <a:t>Separate LWA effect</a:t>
                      </a:r>
                    </a:p>
                  </a:txBody>
                  <a:tcPr marL="36576" marR="36576" marT="27432" marB="27432" anchor="ctr">
                    <a:solidFill>
                      <a:srgbClr val="DDF5F4"/>
                    </a:solidFill>
                  </a:tcPr>
                </a:tc>
                <a:tc>
                  <a:txBody>
                    <a:bodyPr/>
                    <a:lstStyle/>
                    <a:p>
                      <a:pPr algn="ctr"/>
                      <a:r>
                        <a:rPr sz="900" b="0" i="0">
                          <a:solidFill>
                            <a:srgbClr val="172733"/>
                          </a:solidFill>
                          <a:latin typeface="Aptos"/>
                        </a:rPr>
                        <a:t>Map performance response</a:t>
                      </a:r>
                    </a:p>
                  </a:txBody>
                  <a:tcPr marL="36576" marR="36576" marT="27432" marB="27432" anchor="ctr">
                    <a:solidFill>
                      <a:srgbClr val="DDF5F4"/>
                    </a:solidFill>
                  </a:tcPr>
                </a:tc>
                <a:tc>
                  <a:txBody>
                    <a:bodyPr/>
                    <a:lstStyle/>
                    <a:p>
                      <a:pPr algn="ctr"/>
                      <a:r>
                        <a:rPr sz="900" b="0" i="0">
                          <a:solidFill>
                            <a:srgbClr val="172733"/>
                          </a:solidFill>
                          <a:latin typeface="Aptos"/>
                        </a:rPr>
                        <a:t>Barrier model</a:t>
                      </a:r>
                    </a:p>
                  </a:txBody>
                  <a:tcPr marL="36576" marR="36576" marT="27432" marB="27432" anchor="ctr">
                    <a:solidFill>
                      <a:srgbClr val="DDF5F4"/>
                    </a:solidFill>
                  </a:tcPr>
                </a:tc>
              </a:tr>
            </a:tbl>
          </a:graphicData>
        </a:graphic>
      </p:graphicFrame>
      <p:sp>
        <p:nvSpPr>
          <p:cNvPr id="11" name="Rounded Rectangle 10"/>
          <p:cNvSpPr/>
          <p:nvPr/>
        </p:nvSpPr>
        <p:spPr>
          <a:xfrm>
            <a:off x="685800" y="4206240"/>
            <a:ext cx="8001000" cy="841248"/>
          </a:xfrm>
          <a:prstGeom prst="roundRect">
            <a:avLst/>
          </a:prstGeom>
          <a:solidFill>
            <a:srgbClr val="FBE7E7"/>
          </a:solidFill>
          <a:ln>
            <a:solidFill>
              <a:srgbClr val="FBE7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4389120"/>
            <a:ext cx="7589520" cy="411480"/>
          </a:xfrm>
          <a:prstGeom prst="rect">
            <a:avLst/>
          </a:prstGeom>
          <a:noFill/>
        </p:spPr>
        <p:txBody>
          <a:bodyPr wrap="square" lIns="0" rIns="0" tIns="0" bIns="0" anchor="t">
            <a:spAutoFit/>
          </a:bodyPr>
          <a:lstStyle/>
          <a:p>
            <a:pPr algn="l">
              <a:lnSpc>
                <a:spcPct val="100000"/>
              </a:lnSpc>
            </a:pPr>
            <a:r>
              <a:rPr sz="1000" b="1" i="0">
                <a:solidFill>
                  <a:srgbClr val="D95D5D"/>
                </a:solidFill>
                <a:latin typeface="Aptos"/>
              </a:rPr>
              <a:t>Formulation proportions, moisture-conditioning protocol and constituent specifications are redacted. Release only after patent filing and IITBBS IP approval.</a:t>
            </a:r>
          </a:p>
        </p:txBody>
      </p:sp>
      <p:sp>
        <p:nvSpPr>
          <p:cNvPr id="13" name="Rounded Rectangle 12"/>
          <p:cNvSpPr/>
          <p:nvPr/>
        </p:nvSpPr>
        <p:spPr>
          <a:xfrm>
            <a:off x="8942832" y="1225296"/>
            <a:ext cx="2377440" cy="4315968"/>
          </a:xfrm>
          <a:prstGeom prst="roundRect">
            <a:avLst/>
          </a:prstGeom>
          <a:solidFill>
            <a:srgbClr val="08243A"/>
          </a:solidFill>
          <a:ln>
            <a:solidFill>
              <a:srgbClr val="0824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62288" y="1527048"/>
            <a:ext cx="1956816" cy="603504"/>
          </a:xfrm>
          <a:prstGeom prst="rect">
            <a:avLst/>
          </a:prstGeom>
          <a:noFill/>
        </p:spPr>
        <p:txBody>
          <a:bodyPr wrap="square" lIns="0" rIns="0" tIns="0" bIns="0" anchor="t">
            <a:spAutoFit/>
          </a:bodyPr>
          <a:lstStyle/>
          <a:p>
            <a:pPr algn="l">
              <a:lnSpc>
                <a:spcPct val="100000"/>
              </a:lnSpc>
            </a:pPr>
            <a:r>
              <a:rPr sz="1060" b="1" i="0">
                <a:solidFill>
                  <a:srgbClr val="22B8C7"/>
                </a:solidFill>
                <a:latin typeface="Aptos"/>
              </a:rPr>
              <a:t>SELECTED TECHNOLOGY EMBODIMENT</a:t>
            </a:r>
          </a:p>
        </p:txBody>
      </p:sp>
      <p:sp>
        <p:nvSpPr>
          <p:cNvPr id="15" name="TextBox 14"/>
          <p:cNvSpPr txBox="1"/>
          <p:nvPr/>
        </p:nvSpPr>
        <p:spPr>
          <a:xfrm>
            <a:off x="9162288" y="2322576"/>
            <a:ext cx="1920240" cy="2697480"/>
          </a:xfrm>
          <a:prstGeom prst="rect">
            <a:avLst/>
          </a:prstGeom>
          <a:noFill/>
        </p:spPr>
        <p:txBody>
          <a:bodyPr wrap="square" lIns="0" rIns="0" tIns="0" bIns="0" anchor="t">
            <a:spAutoFit/>
          </a:bodyPr>
          <a:lstStyle/>
          <a:p>
            <a:pPr algn="l">
              <a:lnSpc>
                <a:spcPct val="110000"/>
              </a:lnSpc>
            </a:pPr>
            <a:r>
              <a:rPr sz="1000" b="0" i="0">
                <a:solidFill>
                  <a:srgbClr val="FFFFFF"/>
                </a:solidFill>
                <a:latin typeface="Aptos"/>
              </a:rPr>
              <a:t>• Structural lightweight design target
• Industrial by-product aggregate pathway
• Lower-clinker binder pathway
• Discrete crack-bridging reinforcement
• Reported density below 2,000 kg/m³
• 28 d strength above M40 requirement</a:t>
            </a:r>
          </a:p>
        </p:txBody>
      </p:sp>
      <p:sp>
        <p:nvSpPr>
          <p:cNvPr id="16" name="Rounded Rectangle 15"/>
          <p:cNvSpPr/>
          <p:nvPr/>
        </p:nvSpPr>
        <p:spPr>
          <a:xfrm>
            <a:off x="9162288" y="4983480"/>
            <a:ext cx="1865376" cy="292608"/>
          </a:xfrm>
          <a:prstGeom prst="roundRect">
            <a:avLst>
              <a:gd name="adj" fmla="val 50000"/>
            </a:avLst>
          </a:prstGeom>
          <a:solidFill>
            <a:srgbClr val="173D55"/>
          </a:solidFill>
          <a:ln w="10160">
            <a:solidFill>
              <a:srgbClr val="173D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98863" y="4997196"/>
            <a:ext cx="1792224" cy="246888"/>
          </a:xfrm>
          <a:prstGeom prst="rect">
            <a:avLst/>
          </a:prstGeom>
          <a:noFill/>
        </p:spPr>
        <p:txBody>
          <a:bodyPr wrap="square" lIns="0" rIns="0" tIns="0" bIns="0" anchor="ctr">
            <a:spAutoFit/>
          </a:bodyPr>
          <a:lstStyle/>
          <a:p>
            <a:pPr algn="ctr">
              <a:lnSpc>
                <a:spcPct val="100000"/>
              </a:lnSpc>
            </a:pPr>
            <a:r>
              <a:rPr sz="880" b="1" i="0">
                <a:solidFill>
                  <a:srgbClr val="22B8C7"/>
                </a:solidFill>
                <a:latin typeface="Aptos"/>
              </a:rPr>
              <a:t>SCALed barrier mix</a:t>
            </a:r>
          </a:p>
        </p:txBody>
      </p:sp>
      <p:sp>
        <p:nvSpPr>
          <p:cNvPr id="18" name="TextBox 17"/>
          <p:cNvSpPr txBox="1"/>
          <p:nvPr/>
        </p:nvSpPr>
        <p:spPr>
          <a:xfrm>
            <a:off x="676656" y="5797296"/>
            <a:ext cx="10652760" cy="256032"/>
          </a:xfrm>
          <a:prstGeom prst="rect">
            <a:avLst/>
          </a:prstGeom>
          <a:noFill/>
        </p:spPr>
        <p:txBody>
          <a:bodyPr wrap="square" lIns="0" rIns="0" tIns="0" bIns="0" anchor="ctr">
            <a:spAutoFit/>
          </a:bodyPr>
          <a:lstStyle/>
          <a:p>
            <a:pPr algn="l">
              <a:lnSpc>
                <a:spcPct val="100000"/>
              </a:lnSpc>
            </a:pPr>
            <a:r>
              <a:rPr sz="700" b="0" i="0">
                <a:solidFill>
                  <a:srgbClr val="596C78"/>
                </a:solidFill>
                <a:latin typeface="Aptos"/>
              </a:rPr>
              <a:t>Source: Al-Amir et al. manuscript, Tables 4–6 and chart caches. Density terminology retained as “reported density”; the source alternates between wet and dry density. Exact extra-water protocol omitted by user instruction.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640080" y="164592"/>
            <a:ext cx="2514600" cy="201168"/>
          </a:xfrm>
          <a:prstGeom prst="rect">
            <a:avLst/>
          </a:prstGeom>
          <a:noFill/>
        </p:spPr>
        <p:txBody>
          <a:bodyPr wrap="square" lIns="0" rIns="0" tIns="0" bIns="0" anchor="t">
            <a:spAutoFit/>
          </a:bodyPr>
          <a:lstStyle/>
          <a:p>
            <a:pPr algn="l">
              <a:lnSpc>
                <a:spcPct val="100000"/>
              </a:lnSpc>
            </a:pPr>
            <a:r>
              <a:rPr sz="850" b="1" i="0">
                <a:solidFill>
                  <a:srgbClr val="2B78A6"/>
                </a:solidFill>
                <a:latin typeface="Aptos"/>
              </a:rPr>
              <a:t>MEASURED PERFORMANCE</a:t>
            </a:r>
          </a:p>
        </p:txBody>
      </p:sp>
      <p:sp>
        <p:nvSpPr>
          <p:cNvPr id="3" name="TextBox 2"/>
          <p:cNvSpPr txBox="1"/>
          <p:nvPr/>
        </p:nvSpPr>
        <p:spPr>
          <a:xfrm>
            <a:off x="640080" y="338328"/>
            <a:ext cx="9921240" cy="612648"/>
          </a:xfrm>
          <a:prstGeom prst="rect">
            <a:avLst/>
          </a:prstGeom>
          <a:noFill/>
        </p:spPr>
        <p:txBody>
          <a:bodyPr wrap="square" lIns="0" rIns="0" tIns="0" bIns="0" anchor="ctr">
            <a:spAutoFit/>
          </a:bodyPr>
          <a:lstStyle/>
          <a:p>
            <a:pPr algn="l">
              <a:lnSpc>
                <a:spcPct val="92000"/>
              </a:lnSpc>
            </a:pPr>
            <a:r>
              <a:rPr sz="2250" b="1" i="0">
                <a:solidFill>
                  <a:srgbClr val="172733"/>
                </a:solidFill>
                <a:latin typeface="Aptos Display"/>
              </a:rPr>
              <a:t>Static performance clears the structural gate</a:t>
            </a:r>
          </a:p>
        </p:txBody>
      </p:sp>
      <p:sp>
        <p:nvSpPr>
          <p:cNvPr id="4" name="Rounded Rectangle 3"/>
          <p:cNvSpPr/>
          <p:nvPr/>
        </p:nvSpPr>
        <p:spPr>
          <a:xfrm>
            <a:off x="11173968" y="128016"/>
            <a:ext cx="749808" cy="58521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itbbs_logo_official.png"/>
          <p:cNvPicPr>
            <a:picLocks noChangeAspect="1"/>
          </p:cNvPicPr>
          <p:nvPr/>
        </p:nvPicPr>
        <p:blipFill>
          <a:blip r:embed="rId2"/>
          <a:stretch>
            <a:fillRect/>
          </a:stretch>
        </p:blipFill>
        <p:spPr>
          <a:xfrm>
            <a:off x="11283696" y="164592"/>
            <a:ext cx="530352" cy="493776"/>
          </a:xfrm>
          <a:prstGeom prst="rect">
            <a:avLst/>
          </a:prstGeom>
        </p:spPr>
      </p:pic>
      <p:cxnSp>
        <p:nvCxnSpPr>
          <p:cNvPr id="6" name="Connector 5"/>
          <p:cNvCxnSpPr/>
          <p:nvPr/>
        </p:nvCxnSpPr>
        <p:spPr>
          <a:xfrm>
            <a:off x="640080" y="1005840"/>
            <a:ext cx="10899648" cy="0"/>
          </a:xfrm>
          <a:prstGeom prst="line">
            <a:avLst/>
          </a:prstGeom>
          <a:ln w="10160">
            <a:solidFill>
              <a:srgbClr val="D8E2E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473952"/>
            <a:ext cx="10899648" cy="0"/>
          </a:xfrm>
          <a:prstGeom prst="line">
            <a:avLst/>
          </a:prstGeom>
          <a:ln w="8890">
            <a:solidFill>
              <a:srgbClr val="D8E2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58368" y="6547104"/>
            <a:ext cx="9784080" cy="164592"/>
          </a:xfrm>
          <a:prstGeom prst="rect">
            <a:avLst/>
          </a:prstGeom>
          <a:noFill/>
        </p:spPr>
        <p:txBody>
          <a:bodyPr wrap="square" lIns="0" rIns="0" tIns="0" bIns="0" anchor="t">
            <a:spAutoFit/>
          </a:bodyPr>
          <a:lstStyle/>
          <a:p>
            <a:pPr algn="l">
              <a:lnSpc>
                <a:spcPct val="100000"/>
              </a:lnSpc>
            </a:pPr>
            <a:r>
              <a:rPr sz="760" b="1" i="0">
                <a:solidFill>
                  <a:srgbClr val="596C78"/>
                </a:solidFill>
                <a:latin typeface="Aptos"/>
              </a:rPr>
              <a:t>EXTERNAL REDACTED DRAFT • IP STATUS TO CONFIRM • DISTRIBUTE ONLY WITH IITBBS IP APPROVAL</a:t>
            </a:r>
          </a:p>
        </p:txBody>
      </p:sp>
      <p:sp>
        <p:nvSpPr>
          <p:cNvPr id="9" name="TextBox 8"/>
          <p:cNvSpPr txBox="1"/>
          <p:nvPr/>
        </p:nvSpPr>
        <p:spPr>
          <a:xfrm>
            <a:off x="10972800" y="6528816"/>
            <a:ext cx="548640" cy="173736"/>
          </a:xfrm>
          <a:prstGeom prst="rect">
            <a:avLst/>
          </a:prstGeom>
          <a:noFill/>
        </p:spPr>
        <p:txBody>
          <a:bodyPr wrap="square" lIns="0" rIns="0" tIns="0" bIns="0" anchor="t">
            <a:spAutoFit/>
          </a:bodyPr>
          <a:lstStyle/>
          <a:p>
            <a:pPr algn="r">
              <a:lnSpc>
                <a:spcPct val="100000"/>
              </a:lnSpc>
            </a:pPr>
            <a:r>
              <a:rPr sz="830" b="1" i="0">
                <a:solidFill>
                  <a:srgbClr val="596C78"/>
                </a:solidFill>
                <a:latin typeface="Aptos"/>
              </a:rPr>
              <a:t>08</a:t>
            </a:r>
          </a:p>
        </p:txBody>
      </p:sp>
      <p:graphicFrame>
        <p:nvGraphicFramePr>
          <p:cNvPr id="10" name="Chart 9"/>
          <p:cNvGraphicFramePr>
            <a:graphicFrameLocks noGrp="1"/>
          </p:cNvGraphicFramePr>
          <p:nvPr/>
        </p:nvGraphicFramePr>
        <p:xfrm>
          <a:off x="658368" y="1316736"/>
          <a:ext cx="3429000" cy="3456432"/>
        </p:xfrm>
        <a:graphic>
          <a:graphicData uri="http://schemas.openxmlformats.org/drawingml/2006/chart">
            <c:chart xmlns:c="http://schemas.openxmlformats.org/drawingml/2006/chart" r:id="rId3"/>
          </a:graphicData>
        </a:graphic>
      </p:graphicFrame>
      <p:sp>
        <p:nvSpPr>
          <p:cNvPr id="11" name="TextBox 10"/>
          <p:cNvSpPr txBox="1"/>
          <p:nvPr/>
        </p:nvSpPr>
        <p:spPr>
          <a:xfrm>
            <a:off x="704088" y="1335024"/>
            <a:ext cx="3337560" cy="237744"/>
          </a:xfrm>
          <a:prstGeom prst="rect">
            <a:avLst/>
          </a:prstGeom>
          <a:noFill/>
        </p:spPr>
        <p:txBody>
          <a:bodyPr wrap="square" lIns="0" rIns="0" tIns="0" bIns="0" anchor="t">
            <a:spAutoFit/>
          </a:bodyPr>
          <a:lstStyle/>
          <a:p>
            <a:pPr algn="ctr">
              <a:lnSpc>
                <a:spcPct val="100000"/>
              </a:lnSpc>
            </a:pPr>
            <a:r>
              <a:rPr sz="1050" b="1" i="0">
                <a:solidFill>
                  <a:srgbClr val="172733"/>
                </a:solidFill>
                <a:latin typeface="Aptos"/>
              </a:rPr>
              <a:t>Reported density</a:t>
            </a:r>
          </a:p>
        </p:txBody>
      </p:sp>
      <p:graphicFrame>
        <p:nvGraphicFramePr>
          <p:cNvPr id="12" name="Chart 11"/>
          <p:cNvGraphicFramePr>
            <a:graphicFrameLocks noGrp="1"/>
          </p:cNvGraphicFramePr>
          <p:nvPr/>
        </p:nvGraphicFramePr>
        <p:xfrm>
          <a:off x="4370832" y="1316736"/>
          <a:ext cx="3429000" cy="3456432"/>
        </p:xfrm>
        <a:graphic>
          <a:graphicData uri="http://schemas.openxmlformats.org/drawingml/2006/chart">
            <c:chart xmlns:c="http://schemas.openxmlformats.org/drawingml/2006/chart" r:id="rId4"/>
          </a:graphicData>
        </a:graphic>
      </p:graphicFrame>
      <p:sp>
        <p:nvSpPr>
          <p:cNvPr id="13" name="TextBox 12"/>
          <p:cNvSpPr txBox="1"/>
          <p:nvPr/>
        </p:nvSpPr>
        <p:spPr>
          <a:xfrm>
            <a:off x="4416552" y="1335024"/>
            <a:ext cx="3337560" cy="237744"/>
          </a:xfrm>
          <a:prstGeom prst="rect">
            <a:avLst/>
          </a:prstGeom>
          <a:noFill/>
        </p:spPr>
        <p:txBody>
          <a:bodyPr wrap="square" lIns="0" rIns="0" tIns="0" bIns="0" anchor="t">
            <a:spAutoFit/>
          </a:bodyPr>
          <a:lstStyle/>
          <a:p>
            <a:pPr algn="ctr">
              <a:lnSpc>
                <a:spcPct val="100000"/>
              </a:lnSpc>
            </a:pPr>
            <a:r>
              <a:rPr sz="1050" b="1" i="0">
                <a:solidFill>
                  <a:srgbClr val="172733"/>
                </a:solidFill>
                <a:latin typeface="Aptos"/>
              </a:rPr>
              <a:t>28 d compressive strength</a:t>
            </a:r>
          </a:p>
        </p:txBody>
      </p:sp>
      <p:graphicFrame>
        <p:nvGraphicFramePr>
          <p:cNvPr id="14" name="Chart 13"/>
          <p:cNvGraphicFramePr>
            <a:graphicFrameLocks noGrp="1"/>
          </p:cNvGraphicFramePr>
          <p:nvPr/>
        </p:nvGraphicFramePr>
        <p:xfrm>
          <a:off x="8083296" y="1316736"/>
          <a:ext cx="3429000" cy="3456432"/>
        </p:xfrm>
        <a:graphic>
          <a:graphicData uri="http://schemas.openxmlformats.org/drawingml/2006/chart">
            <c:chart xmlns:c="http://schemas.openxmlformats.org/drawingml/2006/chart" r:id="rId5"/>
          </a:graphicData>
        </a:graphic>
      </p:graphicFrame>
      <p:sp>
        <p:nvSpPr>
          <p:cNvPr id="15" name="TextBox 14"/>
          <p:cNvSpPr txBox="1"/>
          <p:nvPr/>
        </p:nvSpPr>
        <p:spPr>
          <a:xfrm>
            <a:off x="8129016" y="1335024"/>
            <a:ext cx="3337560" cy="237744"/>
          </a:xfrm>
          <a:prstGeom prst="rect">
            <a:avLst/>
          </a:prstGeom>
          <a:noFill/>
        </p:spPr>
        <p:txBody>
          <a:bodyPr wrap="square" lIns="0" rIns="0" tIns="0" bIns="0" anchor="t">
            <a:spAutoFit/>
          </a:bodyPr>
          <a:lstStyle/>
          <a:p>
            <a:pPr algn="ctr">
              <a:lnSpc>
                <a:spcPct val="100000"/>
              </a:lnSpc>
            </a:pPr>
            <a:r>
              <a:rPr sz="1050" b="1" i="0">
                <a:solidFill>
                  <a:srgbClr val="172733"/>
                </a:solidFill>
                <a:latin typeface="Aptos"/>
              </a:rPr>
              <a:t>28 d splitting tensile strength</a:t>
            </a:r>
          </a:p>
        </p:txBody>
      </p:sp>
      <p:sp>
        <p:nvSpPr>
          <p:cNvPr id="16" name="Rounded Rectangle 15"/>
          <p:cNvSpPr/>
          <p:nvPr/>
        </p:nvSpPr>
        <p:spPr>
          <a:xfrm>
            <a:off x="768096" y="5020056"/>
            <a:ext cx="2423160" cy="292608"/>
          </a:xfrm>
          <a:prstGeom prst="roundRect">
            <a:avLst>
              <a:gd name="adj" fmla="val 50000"/>
            </a:avLst>
          </a:prstGeom>
          <a:solidFill>
            <a:srgbClr val="DDEEF5"/>
          </a:solidFill>
          <a:ln w="10160">
            <a:solidFill>
              <a:srgbClr val="DD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5033772"/>
            <a:ext cx="2350008" cy="246888"/>
          </a:xfrm>
          <a:prstGeom prst="rect">
            <a:avLst/>
          </a:prstGeom>
          <a:noFill/>
        </p:spPr>
        <p:txBody>
          <a:bodyPr wrap="square" lIns="0" rIns="0" tIns="0" bIns="0" anchor="ctr">
            <a:spAutoFit/>
          </a:bodyPr>
          <a:lstStyle/>
          <a:p>
            <a:pPr algn="ctr">
              <a:lnSpc>
                <a:spcPct val="100000"/>
              </a:lnSpc>
            </a:pPr>
            <a:r>
              <a:rPr sz="919" b="1" i="0">
                <a:solidFill>
                  <a:srgbClr val="2B78A6"/>
                </a:solidFill>
                <a:latin typeface="Aptos"/>
              </a:rPr>
              <a:t>LWC15 density −19.4%</a:t>
            </a:r>
          </a:p>
        </p:txBody>
      </p:sp>
      <p:sp>
        <p:nvSpPr>
          <p:cNvPr id="18" name="Rounded Rectangle 17"/>
          <p:cNvSpPr/>
          <p:nvPr/>
        </p:nvSpPr>
        <p:spPr>
          <a:xfrm>
            <a:off x="4507992" y="5020056"/>
            <a:ext cx="2423160" cy="292608"/>
          </a:xfrm>
          <a:prstGeom prst="roundRect">
            <a:avLst>
              <a:gd name="adj" fmla="val 50000"/>
            </a:avLst>
          </a:prstGeom>
          <a:solidFill>
            <a:srgbClr val="E3F3EB"/>
          </a:solidFill>
          <a:ln w="10160">
            <a:solidFill>
              <a:srgbClr val="E3F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44568" y="5033772"/>
            <a:ext cx="2350008" cy="246888"/>
          </a:xfrm>
          <a:prstGeom prst="rect">
            <a:avLst/>
          </a:prstGeom>
          <a:noFill/>
        </p:spPr>
        <p:txBody>
          <a:bodyPr wrap="square" lIns="0" rIns="0" tIns="0" bIns="0" anchor="ctr">
            <a:spAutoFit/>
          </a:bodyPr>
          <a:lstStyle/>
          <a:p>
            <a:pPr algn="ctr">
              <a:lnSpc>
                <a:spcPct val="100000"/>
              </a:lnSpc>
            </a:pPr>
            <a:r>
              <a:rPr sz="919" b="1" i="0">
                <a:solidFill>
                  <a:srgbClr val="2E9D69"/>
                </a:solidFill>
                <a:latin typeface="Aptos"/>
              </a:rPr>
              <a:t>LWC10 max = 56.8 MPa</a:t>
            </a:r>
          </a:p>
        </p:txBody>
      </p:sp>
      <p:sp>
        <p:nvSpPr>
          <p:cNvPr id="20" name="Rounded Rectangle 19"/>
          <p:cNvSpPr/>
          <p:nvPr/>
        </p:nvSpPr>
        <p:spPr>
          <a:xfrm>
            <a:off x="8220456" y="5020056"/>
            <a:ext cx="2423160" cy="292608"/>
          </a:xfrm>
          <a:prstGeom prst="roundRect">
            <a:avLst>
              <a:gd name="adj" fmla="val 50000"/>
            </a:avLst>
          </a:prstGeom>
          <a:solidFill>
            <a:srgbClr val="FFF0DF"/>
          </a:solidFill>
          <a:ln w="10160">
            <a:solidFill>
              <a:srgbClr val="FFF0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57031" y="5033772"/>
            <a:ext cx="2350008" cy="246888"/>
          </a:xfrm>
          <a:prstGeom prst="rect">
            <a:avLst/>
          </a:prstGeom>
          <a:noFill/>
        </p:spPr>
        <p:txBody>
          <a:bodyPr wrap="square" lIns="0" rIns="0" tIns="0" bIns="0" anchor="ctr">
            <a:spAutoFit/>
          </a:bodyPr>
          <a:lstStyle/>
          <a:p>
            <a:pPr algn="ctr">
              <a:lnSpc>
                <a:spcPct val="100000"/>
              </a:lnSpc>
            </a:pPr>
            <a:r>
              <a:rPr sz="919" b="1" i="0">
                <a:solidFill>
                  <a:srgbClr val="F39C3D"/>
                </a:solidFill>
                <a:latin typeface="Aptos"/>
              </a:rPr>
              <a:t>LWC15 tension +76%</a:t>
            </a:r>
          </a:p>
        </p:txBody>
      </p:sp>
      <p:sp>
        <p:nvSpPr>
          <p:cNvPr id="22" name="Rounded Rectangle 21"/>
          <p:cNvSpPr/>
          <p:nvPr/>
        </p:nvSpPr>
        <p:spPr>
          <a:xfrm>
            <a:off x="777240" y="5449824"/>
            <a:ext cx="10488168" cy="347472"/>
          </a:xfrm>
          <a:prstGeom prst="roundRect">
            <a:avLst/>
          </a:prstGeom>
          <a:solidFill>
            <a:srgbClr val="FBE7E7"/>
          </a:solidFill>
          <a:ln>
            <a:solidFill>
              <a:srgbClr val="FBE7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1832" y="5532120"/>
            <a:ext cx="10104120" cy="192024"/>
          </a:xfrm>
          <a:prstGeom prst="rect">
            <a:avLst/>
          </a:prstGeom>
          <a:noFill/>
        </p:spPr>
        <p:txBody>
          <a:bodyPr wrap="square" lIns="0" rIns="0" tIns="0" bIns="0" anchor="t">
            <a:spAutoFit/>
          </a:bodyPr>
          <a:lstStyle/>
          <a:p>
            <a:pPr algn="l">
              <a:lnSpc>
                <a:spcPct val="100000"/>
              </a:lnSpc>
            </a:pPr>
            <a:r>
              <a:rPr sz="880" b="1" i="0">
                <a:solidFill>
                  <a:srgbClr val="D95D5D"/>
                </a:solidFill>
                <a:latin typeface="Aptos"/>
              </a:rPr>
              <a:t>Workability trade-off: slump fell from 165 mm (LWC00) to 87 mm (LWC15); fibre dispersion and compaction are scale-up control points.</a:t>
            </a:r>
          </a:p>
        </p:txBody>
      </p:sp>
      <p:sp>
        <p:nvSpPr>
          <p:cNvPr id="24" name="TextBox 23"/>
          <p:cNvSpPr txBox="1"/>
          <p:nvPr/>
        </p:nvSpPr>
        <p:spPr>
          <a:xfrm>
            <a:off x="676656" y="5934456"/>
            <a:ext cx="10652760" cy="256032"/>
          </a:xfrm>
          <a:prstGeom prst="rect">
            <a:avLst/>
          </a:prstGeom>
          <a:noFill/>
        </p:spPr>
        <p:txBody>
          <a:bodyPr wrap="square" lIns="0" rIns="0" tIns="0" bIns="0" anchor="ctr">
            <a:spAutoFit/>
          </a:bodyPr>
          <a:lstStyle/>
          <a:p>
            <a:pPr algn="l">
              <a:lnSpc>
                <a:spcPct val="100000"/>
              </a:lnSpc>
            </a:pPr>
            <a:r>
              <a:rPr sz="700" b="0" i="0">
                <a:solidFill>
                  <a:srgbClr val="596C78"/>
                </a:solidFill>
                <a:latin typeface="Aptos"/>
              </a:rPr>
              <a:t>Source: Inventor dataset, manuscript Fig. 8 and Fig. 9 native chart caches. Values shown as supplied; no independent raw-data audit. Three cube/cylinder specimens per mix were stated in the casting plan.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640080" y="164592"/>
            <a:ext cx="2514600" cy="201168"/>
          </a:xfrm>
          <a:prstGeom prst="rect">
            <a:avLst/>
          </a:prstGeom>
          <a:noFill/>
        </p:spPr>
        <p:txBody>
          <a:bodyPr wrap="square" lIns="0" rIns="0" tIns="0" bIns="0" anchor="t">
            <a:spAutoFit/>
          </a:bodyPr>
          <a:lstStyle/>
          <a:p>
            <a:pPr algn="l">
              <a:lnSpc>
                <a:spcPct val="100000"/>
              </a:lnSpc>
            </a:pPr>
            <a:r>
              <a:rPr sz="850" b="1" i="0">
                <a:solidFill>
                  <a:srgbClr val="2B78A6"/>
                </a:solidFill>
                <a:latin typeface="Aptos"/>
              </a:rPr>
              <a:t>IMPACT METHODOLOGY</a:t>
            </a:r>
          </a:p>
        </p:txBody>
      </p:sp>
      <p:sp>
        <p:nvSpPr>
          <p:cNvPr id="3" name="TextBox 2"/>
          <p:cNvSpPr txBox="1"/>
          <p:nvPr/>
        </p:nvSpPr>
        <p:spPr>
          <a:xfrm>
            <a:off x="640080" y="338328"/>
            <a:ext cx="9921240" cy="612648"/>
          </a:xfrm>
          <a:prstGeom prst="rect">
            <a:avLst/>
          </a:prstGeom>
          <a:noFill/>
        </p:spPr>
        <p:txBody>
          <a:bodyPr wrap="square" lIns="0" rIns="0" tIns="0" bIns="0" anchor="ctr">
            <a:spAutoFit/>
          </a:bodyPr>
          <a:lstStyle/>
          <a:p>
            <a:pPr algn="l">
              <a:lnSpc>
                <a:spcPct val="92000"/>
              </a:lnSpc>
            </a:pPr>
            <a:r>
              <a:rPr sz="2250" b="1" i="0">
                <a:solidFill>
                  <a:srgbClr val="172733"/>
                </a:solidFill>
                <a:latin typeface="Aptos Display"/>
              </a:rPr>
              <a:t>Repeated-impact method captures post-cracking endurance</a:t>
            </a:r>
          </a:p>
        </p:txBody>
      </p:sp>
      <p:sp>
        <p:nvSpPr>
          <p:cNvPr id="4" name="Rounded Rectangle 3"/>
          <p:cNvSpPr/>
          <p:nvPr/>
        </p:nvSpPr>
        <p:spPr>
          <a:xfrm>
            <a:off x="11173968" y="128016"/>
            <a:ext cx="749808" cy="58521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itbbs_logo_official.png"/>
          <p:cNvPicPr>
            <a:picLocks noChangeAspect="1"/>
          </p:cNvPicPr>
          <p:nvPr/>
        </p:nvPicPr>
        <p:blipFill>
          <a:blip r:embed="rId2"/>
          <a:stretch>
            <a:fillRect/>
          </a:stretch>
        </p:blipFill>
        <p:spPr>
          <a:xfrm>
            <a:off x="11283696" y="164592"/>
            <a:ext cx="530352" cy="493776"/>
          </a:xfrm>
          <a:prstGeom prst="rect">
            <a:avLst/>
          </a:prstGeom>
        </p:spPr>
      </p:pic>
      <p:cxnSp>
        <p:nvCxnSpPr>
          <p:cNvPr id="6" name="Connector 5"/>
          <p:cNvCxnSpPr/>
          <p:nvPr/>
        </p:nvCxnSpPr>
        <p:spPr>
          <a:xfrm>
            <a:off x="640080" y="1005840"/>
            <a:ext cx="10899648" cy="0"/>
          </a:xfrm>
          <a:prstGeom prst="line">
            <a:avLst/>
          </a:prstGeom>
          <a:ln w="10160">
            <a:solidFill>
              <a:srgbClr val="D8E2E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473952"/>
            <a:ext cx="10899648" cy="0"/>
          </a:xfrm>
          <a:prstGeom prst="line">
            <a:avLst/>
          </a:prstGeom>
          <a:ln w="8890">
            <a:solidFill>
              <a:srgbClr val="D8E2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58368" y="6547104"/>
            <a:ext cx="9784080" cy="164592"/>
          </a:xfrm>
          <a:prstGeom prst="rect">
            <a:avLst/>
          </a:prstGeom>
          <a:noFill/>
        </p:spPr>
        <p:txBody>
          <a:bodyPr wrap="square" lIns="0" rIns="0" tIns="0" bIns="0" anchor="t">
            <a:spAutoFit/>
          </a:bodyPr>
          <a:lstStyle/>
          <a:p>
            <a:pPr algn="l">
              <a:lnSpc>
                <a:spcPct val="100000"/>
              </a:lnSpc>
            </a:pPr>
            <a:r>
              <a:rPr sz="760" b="1" i="0">
                <a:solidFill>
                  <a:srgbClr val="596C78"/>
                </a:solidFill>
                <a:latin typeface="Aptos"/>
              </a:rPr>
              <a:t>EXTERNAL REDACTED DRAFT • IP STATUS TO CONFIRM • DISTRIBUTE ONLY WITH IITBBS IP APPROVAL</a:t>
            </a:r>
          </a:p>
        </p:txBody>
      </p:sp>
      <p:sp>
        <p:nvSpPr>
          <p:cNvPr id="9" name="TextBox 8"/>
          <p:cNvSpPr txBox="1"/>
          <p:nvPr/>
        </p:nvSpPr>
        <p:spPr>
          <a:xfrm>
            <a:off x="10972800" y="6528816"/>
            <a:ext cx="548640" cy="173736"/>
          </a:xfrm>
          <a:prstGeom prst="rect">
            <a:avLst/>
          </a:prstGeom>
          <a:noFill/>
        </p:spPr>
        <p:txBody>
          <a:bodyPr wrap="square" lIns="0" rIns="0" tIns="0" bIns="0" anchor="t">
            <a:spAutoFit/>
          </a:bodyPr>
          <a:lstStyle/>
          <a:p>
            <a:pPr algn="r">
              <a:lnSpc>
                <a:spcPct val="100000"/>
              </a:lnSpc>
            </a:pPr>
            <a:r>
              <a:rPr sz="830" b="1" i="0">
                <a:solidFill>
                  <a:srgbClr val="596C78"/>
                </a:solidFill>
                <a:latin typeface="Aptos"/>
              </a:rPr>
              <a:t>09</a:t>
            </a:r>
          </a:p>
        </p:txBody>
      </p:sp>
      <p:pic>
        <p:nvPicPr>
          <p:cNvPr id="10" name="Picture 9" descr="drop_weight_setup_contain.jpg"/>
          <p:cNvPicPr>
            <a:picLocks noChangeAspect="1"/>
          </p:cNvPicPr>
          <p:nvPr/>
        </p:nvPicPr>
        <p:blipFill>
          <a:blip r:embed="rId3"/>
          <a:stretch>
            <a:fillRect/>
          </a:stretch>
        </p:blipFill>
        <p:spPr>
          <a:xfrm>
            <a:off x="667512" y="1252728"/>
            <a:ext cx="4590288" cy="3401568"/>
          </a:xfrm>
          <a:prstGeom prst="rect">
            <a:avLst/>
          </a:prstGeom>
        </p:spPr>
      </p:pic>
      <p:sp>
        <p:nvSpPr>
          <p:cNvPr id="11" name="Rounded Rectangle 10"/>
          <p:cNvSpPr/>
          <p:nvPr/>
        </p:nvSpPr>
        <p:spPr>
          <a:xfrm>
            <a:off x="813816" y="4050791"/>
            <a:ext cx="4297680" cy="438912"/>
          </a:xfrm>
          <a:prstGeom prst="roundRect">
            <a:avLst/>
          </a:prstGeom>
          <a:solidFill>
            <a:srgbClr val="08243A"/>
          </a:solidFill>
          <a:ln>
            <a:solidFill>
              <a:srgbClr val="0824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151376"/>
            <a:ext cx="3977639" cy="219456"/>
          </a:xfrm>
          <a:prstGeom prst="rect">
            <a:avLst/>
          </a:prstGeom>
          <a:noFill/>
        </p:spPr>
        <p:txBody>
          <a:bodyPr wrap="square" lIns="0" rIns="0" tIns="0" bIns="0" anchor="t">
            <a:spAutoFit/>
          </a:bodyPr>
          <a:lstStyle/>
          <a:p>
            <a:pPr algn="ctr">
              <a:lnSpc>
                <a:spcPct val="100000"/>
              </a:lnSpc>
            </a:pPr>
            <a:r>
              <a:rPr sz="910" b="1" i="0">
                <a:solidFill>
                  <a:srgbClr val="FFFFFF"/>
                </a:solidFill>
                <a:latin typeface="Aptos"/>
              </a:rPr>
              <a:t>100 × 100 × 500 mm beam  •  400 mm support span</a:t>
            </a:r>
          </a:p>
        </p:txBody>
      </p:sp>
      <p:sp>
        <p:nvSpPr>
          <p:cNvPr id="13" name="Rounded Rectangle 12"/>
          <p:cNvSpPr/>
          <p:nvPr/>
        </p:nvSpPr>
        <p:spPr>
          <a:xfrm>
            <a:off x="5541264" y="1307592"/>
            <a:ext cx="2542032" cy="978408"/>
          </a:xfrm>
          <a:prstGeom prst="round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705855" y="1453895"/>
            <a:ext cx="2212848" cy="438912"/>
          </a:xfrm>
          <a:prstGeom prst="rect">
            <a:avLst/>
          </a:prstGeom>
          <a:noFill/>
        </p:spPr>
        <p:txBody>
          <a:bodyPr wrap="square" lIns="0" rIns="0" tIns="0" bIns="0" anchor="ctr">
            <a:spAutoFit/>
          </a:bodyPr>
          <a:lstStyle/>
          <a:p>
            <a:pPr algn="l">
              <a:lnSpc>
                <a:spcPct val="100000"/>
              </a:lnSpc>
            </a:pPr>
            <a:r>
              <a:rPr sz="2000" b="1" i="0">
                <a:solidFill>
                  <a:srgbClr val="2B78A6"/>
                </a:solidFill>
                <a:latin typeface="Aptos Display"/>
              </a:rPr>
              <a:t>13.5 kg</a:t>
            </a:r>
          </a:p>
        </p:txBody>
      </p:sp>
      <p:sp>
        <p:nvSpPr>
          <p:cNvPr id="15" name="TextBox 14"/>
          <p:cNvSpPr txBox="1"/>
          <p:nvPr/>
        </p:nvSpPr>
        <p:spPr>
          <a:xfrm>
            <a:off x="5705855" y="1947672"/>
            <a:ext cx="2212848" cy="402336"/>
          </a:xfrm>
          <a:prstGeom prst="rect">
            <a:avLst/>
          </a:prstGeom>
          <a:noFill/>
        </p:spPr>
        <p:txBody>
          <a:bodyPr wrap="square" lIns="0" rIns="0" tIns="0" bIns="0" anchor="t">
            <a:spAutoFit/>
          </a:bodyPr>
          <a:lstStyle/>
          <a:p>
            <a:pPr algn="l">
              <a:lnSpc>
                <a:spcPct val="100000"/>
              </a:lnSpc>
            </a:pPr>
            <a:r>
              <a:rPr sz="1050" b="1" i="0">
                <a:solidFill>
                  <a:srgbClr val="172733"/>
                </a:solidFill>
                <a:latin typeface="Aptos"/>
              </a:rPr>
              <a:t>drop mass</a:t>
            </a:r>
          </a:p>
        </p:txBody>
      </p:sp>
      <p:sp>
        <p:nvSpPr>
          <p:cNvPr id="16" name="Rounded Rectangle 15"/>
          <p:cNvSpPr/>
          <p:nvPr/>
        </p:nvSpPr>
        <p:spPr>
          <a:xfrm>
            <a:off x="8348471" y="1307592"/>
            <a:ext cx="2542032" cy="978408"/>
          </a:xfrm>
          <a:prstGeom prst="round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13063" y="1453895"/>
            <a:ext cx="2212848" cy="438912"/>
          </a:xfrm>
          <a:prstGeom prst="rect">
            <a:avLst/>
          </a:prstGeom>
          <a:noFill/>
        </p:spPr>
        <p:txBody>
          <a:bodyPr wrap="square" lIns="0" rIns="0" tIns="0" bIns="0" anchor="ctr">
            <a:spAutoFit/>
          </a:bodyPr>
          <a:lstStyle/>
          <a:p>
            <a:pPr algn="l">
              <a:lnSpc>
                <a:spcPct val="100000"/>
              </a:lnSpc>
            </a:pPr>
            <a:r>
              <a:rPr sz="2000" b="1" i="0">
                <a:solidFill>
                  <a:srgbClr val="22B8C7"/>
                </a:solidFill>
                <a:latin typeface="Aptos Display"/>
              </a:rPr>
              <a:t>100 mm</a:t>
            </a:r>
          </a:p>
        </p:txBody>
      </p:sp>
      <p:sp>
        <p:nvSpPr>
          <p:cNvPr id="18" name="TextBox 17"/>
          <p:cNvSpPr txBox="1"/>
          <p:nvPr/>
        </p:nvSpPr>
        <p:spPr>
          <a:xfrm>
            <a:off x="8513063" y="1947672"/>
            <a:ext cx="2212848" cy="402336"/>
          </a:xfrm>
          <a:prstGeom prst="rect">
            <a:avLst/>
          </a:prstGeom>
          <a:noFill/>
        </p:spPr>
        <p:txBody>
          <a:bodyPr wrap="square" lIns="0" rIns="0" tIns="0" bIns="0" anchor="t">
            <a:spAutoFit/>
          </a:bodyPr>
          <a:lstStyle/>
          <a:p>
            <a:pPr algn="l">
              <a:lnSpc>
                <a:spcPct val="100000"/>
              </a:lnSpc>
            </a:pPr>
            <a:r>
              <a:rPr sz="1050" b="1" i="0">
                <a:solidFill>
                  <a:srgbClr val="172733"/>
                </a:solidFill>
                <a:latin typeface="Aptos"/>
              </a:rPr>
              <a:t>drop height</a:t>
            </a:r>
          </a:p>
        </p:txBody>
      </p:sp>
      <p:sp>
        <p:nvSpPr>
          <p:cNvPr id="19" name="Rounded Rectangle 18"/>
          <p:cNvSpPr/>
          <p:nvPr/>
        </p:nvSpPr>
        <p:spPr>
          <a:xfrm>
            <a:off x="5541264" y="2496312"/>
            <a:ext cx="2542032" cy="978408"/>
          </a:xfrm>
          <a:prstGeom prst="round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05855" y="2642616"/>
            <a:ext cx="2212848" cy="438912"/>
          </a:xfrm>
          <a:prstGeom prst="rect">
            <a:avLst/>
          </a:prstGeom>
          <a:noFill/>
        </p:spPr>
        <p:txBody>
          <a:bodyPr wrap="square" lIns="0" rIns="0" tIns="0" bIns="0" anchor="ctr">
            <a:spAutoFit/>
          </a:bodyPr>
          <a:lstStyle/>
          <a:p>
            <a:pPr algn="l">
              <a:lnSpc>
                <a:spcPct val="100000"/>
              </a:lnSpc>
            </a:pPr>
            <a:r>
              <a:rPr sz="2000" b="1" i="0">
                <a:solidFill>
                  <a:srgbClr val="F39C3D"/>
                </a:solidFill>
                <a:latin typeface="Aptos Display"/>
              </a:rPr>
              <a:t>13.24 J</a:t>
            </a:r>
          </a:p>
        </p:txBody>
      </p:sp>
      <p:sp>
        <p:nvSpPr>
          <p:cNvPr id="21" name="TextBox 20"/>
          <p:cNvSpPr txBox="1"/>
          <p:nvPr/>
        </p:nvSpPr>
        <p:spPr>
          <a:xfrm>
            <a:off x="5705855" y="3136391"/>
            <a:ext cx="2212848" cy="402336"/>
          </a:xfrm>
          <a:prstGeom prst="rect">
            <a:avLst/>
          </a:prstGeom>
          <a:noFill/>
        </p:spPr>
        <p:txBody>
          <a:bodyPr wrap="square" lIns="0" rIns="0" tIns="0" bIns="0" anchor="t">
            <a:spAutoFit/>
          </a:bodyPr>
          <a:lstStyle/>
          <a:p>
            <a:pPr algn="l">
              <a:lnSpc>
                <a:spcPct val="100000"/>
              </a:lnSpc>
            </a:pPr>
            <a:r>
              <a:rPr sz="1050" b="1" i="0">
                <a:solidFill>
                  <a:srgbClr val="172733"/>
                </a:solidFill>
                <a:latin typeface="Aptos"/>
              </a:rPr>
              <a:t>energy / blow</a:t>
            </a:r>
          </a:p>
        </p:txBody>
      </p:sp>
      <p:sp>
        <p:nvSpPr>
          <p:cNvPr id="22" name="Rounded Rectangle 21"/>
          <p:cNvSpPr/>
          <p:nvPr/>
        </p:nvSpPr>
        <p:spPr>
          <a:xfrm>
            <a:off x="8348471" y="2496312"/>
            <a:ext cx="2542032" cy="978408"/>
          </a:xfrm>
          <a:prstGeom prst="round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13063" y="2642616"/>
            <a:ext cx="2212848" cy="438912"/>
          </a:xfrm>
          <a:prstGeom prst="rect">
            <a:avLst/>
          </a:prstGeom>
          <a:noFill/>
        </p:spPr>
        <p:txBody>
          <a:bodyPr wrap="square" lIns="0" rIns="0" tIns="0" bIns="0" anchor="ctr">
            <a:spAutoFit/>
          </a:bodyPr>
          <a:lstStyle/>
          <a:p>
            <a:pPr algn="l">
              <a:lnSpc>
                <a:spcPct val="100000"/>
              </a:lnSpc>
            </a:pPr>
            <a:r>
              <a:rPr sz="2000" b="1" i="0">
                <a:solidFill>
                  <a:srgbClr val="D95D5D"/>
                </a:solidFill>
                <a:latin typeface="Aptos Display"/>
              </a:rPr>
              <a:t>N₁ / N₂</a:t>
            </a:r>
          </a:p>
        </p:txBody>
      </p:sp>
      <p:sp>
        <p:nvSpPr>
          <p:cNvPr id="24" name="TextBox 23"/>
          <p:cNvSpPr txBox="1"/>
          <p:nvPr/>
        </p:nvSpPr>
        <p:spPr>
          <a:xfrm>
            <a:off x="8513063" y="3136391"/>
            <a:ext cx="2212848" cy="402336"/>
          </a:xfrm>
          <a:prstGeom prst="rect">
            <a:avLst/>
          </a:prstGeom>
          <a:noFill/>
        </p:spPr>
        <p:txBody>
          <a:bodyPr wrap="square" lIns="0" rIns="0" tIns="0" bIns="0" anchor="t">
            <a:spAutoFit/>
          </a:bodyPr>
          <a:lstStyle/>
          <a:p>
            <a:pPr algn="l">
              <a:lnSpc>
                <a:spcPct val="100000"/>
              </a:lnSpc>
            </a:pPr>
            <a:r>
              <a:rPr sz="1050" b="1" i="0">
                <a:solidFill>
                  <a:srgbClr val="172733"/>
                </a:solidFill>
                <a:latin typeface="Aptos"/>
              </a:rPr>
              <a:t>first crack / failure</a:t>
            </a:r>
          </a:p>
        </p:txBody>
      </p:sp>
      <p:sp>
        <p:nvSpPr>
          <p:cNvPr id="25" name="Rounded Rectangle 24"/>
          <p:cNvSpPr/>
          <p:nvPr/>
        </p:nvSpPr>
        <p:spPr>
          <a:xfrm>
            <a:off x="5541264" y="3822191"/>
            <a:ext cx="5340096" cy="1161288"/>
          </a:xfrm>
          <a:prstGeom prst="roundRect">
            <a:avLst/>
          </a:prstGeom>
          <a:solidFill>
            <a:srgbClr val="FFFFFF"/>
          </a:solidFill>
          <a:ln w="1016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742432" y="4023360"/>
            <a:ext cx="1700784" cy="310896"/>
          </a:xfrm>
          <a:prstGeom prst="rect">
            <a:avLst/>
          </a:prstGeom>
          <a:noFill/>
        </p:spPr>
        <p:txBody>
          <a:bodyPr wrap="square" lIns="0" rIns="0" tIns="0" bIns="0" anchor="t">
            <a:spAutoFit/>
          </a:bodyPr>
          <a:lstStyle/>
          <a:p>
            <a:pPr algn="l">
              <a:lnSpc>
                <a:spcPct val="100000"/>
              </a:lnSpc>
            </a:pPr>
            <a:r>
              <a:rPr sz="900" b="1" i="0">
                <a:solidFill>
                  <a:srgbClr val="2B78A6"/>
                </a:solidFill>
                <a:latin typeface="Aptos"/>
              </a:rPr>
              <a:t>SIGNAL PIPELINE</a:t>
            </a:r>
          </a:p>
        </p:txBody>
      </p:sp>
      <p:sp>
        <p:nvSpPr>
          <p:cNvPr id="27" name="Rounded Rectangle 26"/>
          <p:cNvSpPr/>
          <p:nvPr/>
        </p:nvSpPr>
        <p:spPr>
          <a:xfrm>
            <a:off x="6876288" y="3941063"/>
            <a:ext cx="676656" cy="658368"/>
          </a:xfrm>
          <a:prstGeom prst="roundRect">
            <a:avLst/>
          </a:prstGeom>
          <a:solidFill>
            <a:srgbClr val="DDEEF5"/>
          </a:solidFill>
          <a:ln>
            <a:solidFill>
              <a:srgbClr val="DD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03720" y="4069080"/>
            <a:ext cx="621792" cy="384048"/>
          </a:xfrm>
          <a:prstGeom prst="rect">
            <a:avLst/>
          </a:prstGeom>
          <a:noFill/>
        </p:spPr>
        <p:txBody>
          <a:bodyPr wrap="square" lIns="0" rIns="0" tIns="0" bIns="0" anchor="ctr">
            <a:spAutoFit/>
          </a:bodyPr>
          <a:lstStyle/>
          <a:p>
            <a:pPr algn="ctr">
              <a:lnSpc>
                <a:spcPct val="100000"/>
              </a:lnSpc>
            </a:pPr>
            <a:r>
              <a:rPr sz="740" b="1" i="0">
                <a:solidFill>
                  <a:srgbClr val="08243A"/>
                </a:solidFill>
                <a:latin typeface="Aptos"/>
              </a:rPr>
              <a:t>detrend</a:t>
            </a:r>
          </a:p>
        </p:txBody>
      </p:sp>
      <p:sp>
        <p:nvSpPr>
          <p:cNvPr id="29" name="Chevron 28"/>
          <p:cNvSpPr/>
          <p:nvPr/>
        </p:nvSpPr>
        <p:spPr>
          <a:xfrm>
            <a:off x="7543800" y="4114800"/>
            <a:ext cx="146304" cy="219456"/>
          </a:xfrm>
          <a:prstGeom prst="chevron">
            <a:avLst/>
          </a:prstGeom>
          <a:solidFill>
            <a:srgbClr val="D8E2E8"/>
          </a:solidFill>
          <a:ln>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690104" y="3941063"/>
            <a:ext cx="676656" cy="658368"/>
          </a:xfrm>
          <a:prstGeom prst="roundRect">
            <a:avLst/>
          </a:prstGeom>
          <a:solidFill>
            <a:srgbClr val="DDF5F4"/>
          </a:solidFill>
          <a:ln>
            <a:solidFill>
              <a:srgbClr val="DDF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17536" y="4069080"/>
            <a:ext cx="621792" cy="384048"/>
          </a:xfrm>
          <a:prstGeom prst="rect">
            <a:avLst/>
          </a:prstGeom>
          <a:noFill/>
        </p:spPr>
        <p:txBody>
          <a:bodyPr wrap="square" lIns="0" rIns="0" tIns="0" bIns="0" anchor="ctr">
            <a:spAutoFit/>
          </a:bodyPr>
          <a:lstStyle/>
          <a:p>
            <a:pPr algn="ctr">
              <a:lnSpc>
                <a:spcPct val="100000"/>
              </a:lnSpc>
            </a:pPr>
            <a:r>
              <a:rPr sz="740" b="1" i="0">
                <a:solidFill>
                  <a:srgbClr val="08243A"/>
                </a:solidFill>
                <a:latin typeface="Aptos"/>
              </a:rPr>
              <a:t>4th-order zero-phase
HP filter, 3 Hz</a:t>
            </a:r>
          </a:p>
        </p:txBody>
      </p:sp>
      <p:sp>
        <p:nvSpPr>
          <p:cNvPr id="32" name="Chevron 31"/>
          <p:cNvSpPr/>
          <p:nvPr/>
        </p:nvSpPr>
        <p:spPr>
          <a:xfrm>
            <a:off x="8357616" y="4114800"/>
            <a:ext cx="146304" cy="219456"/>
          </a:xfrm>
          <a:prstGeom prst="chevron">
            <a:avLst/>
          </a:prstGeom>
          <a:solidFill>
            <a:srgbClr val="D8E2E8"/>
          </a:solidFill>
          <a:ln>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8503919" y="3941063"/>
            <a:ext cx="676656" cy="658368"/>
          </a:xfrm>
          <a:prstGeom prst="roundRect">
            <a:avLst/>
          </a:prstGeom>
          <a:solidFill>
            <a:srgbClr val="DDEEF5"/>
          </a:solidFill>
          <a:ln>
            <a:solidFill>
              <a:srgbClr val="DD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531351" y="4069080"/>
            <a:ext cx="621792" cy="384048"/>
          </a:xfrm>
          <a:prstGeom prst="rect">
            <a:avLst/>
          </a:prstGeom>
          <a:noFill/>
        </p:spPr>
        <p:txBody>
          <a:bodyPr wrap="square" lIns="0" rIns="0" tIns="0" bIns="0" anchor="ctr">
            <a:spAutoFit/>
          </a:bodyPr>
          <a:lstStyle/>
          <a:p>
            <a:pPr algn="ctr">
              <a:lnSpc>
                <a:spcPct val="100000"/>
              </a:lnSpc>
            </a:pPr>
            <a:r>
              <a:rPr sz="740" b="1" i="0">
                <a:solidFill>
                  <a:srgbClr val="08243A"/>
                </a:solidFill>
                <a:latin typeface="Aptos"/>
              </a:rPr>
              <a:t>integrate → v</a:t>
            </a:r>
          </a:p>
        </p:txBody>
      </p:sp>
      <p:sp>
        <p:nvSpPr>
          <p:cNvPr id="35" name="Chevron 34"/>
          <p:cNvSpPr/>
          <p:nvPr/>
        </p:nvSpPr>
        <p:spPr>
          <a:xfrm>
            <a:off x="9171432" y="4114800"/>
            <a:ext cx="146304" cy="219456"/>
          </a:xfrm>
          <a:prstGeom prst="chevron">
            <a:avLst/>
          </a:prstGeom>
          <a:solidFill>
            <a:srgbClr val="D8E2E8"/>
          </a:solidFill>
          <a:ln>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317736" y="3941063"/>
            <a:ext cx="676656" cy="658368"/>
          </a:xfrm>
          <a:prstGeom prst="roundRect">
            <a:avLst/>
          </a:prstGeom>
          <a:solidFill>
            <a:srgbClr val="DDF5F4"/>
          </a:solidFill>
          <a:ln>
            <a:solidFill>
              <a:srgbClr val="DDF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345167" y="4069080"/>
            <a:ext cx="621792" cy="384048"/>
          </a:xfrm>
          <a:prstGeom prst="rect">
            <a:avLst/>
          </a:prstGeom>
          <a:noFill/>
        </p:spPr>
        <p:txBody>
          <a:bodyPr wrap="square" lIns="0" rIns="0" tIns="0" bIns="0" anchor="ctr">
            <a:spAutoFit/>
          </a:bodyPr>
          <a:lstStyle/>
          <a:p>
            <a:pPr algn="ctr">
              <a:lnSpc>
                <a:spcPct val="100000"/>
              </a:lnSpc>
            </a:pPr>
            <a:r>
              <a:rPr sz="740" b="1" i="0">
                <a:solidFill>
                  <a:srgbClr val="08243A"/>
                </a:solidFill>
                <a:latin typeface="Aptos"/>
              </a:rPr>
              <a:t>drift correct</a:t>
            </a:r>
          </a:p>
        </p:txBody>
      </p:sp>
      <p:sp>
        <p:nvSpPr>
          <p:cNvPr id="38" name="Chevron 37"/>
          <p:cNvSpPr/>
          <p:nvPr/>
        </p:nvSpPr>
        <p:spPr>
          <a:xfrm>
            <a:off x="9985248" y="4114800"/>
            <a:ext cx="146304" cy="219456"/>
          </a:xfrm>
          <a:prstGeom prst="chevron">
            <a:avLst/>
          </a:prstGeom>
          <a:solidFill>
            <a:srgbClr val="D8E2E8"/>
          </a:solidFill>
          <a:ln>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10131552" y="3941063"/>
            <a:ext cx="676656" cy="658368"/>
          </a:xfrm>
          <a:prstGeom prst="roundRect">
            <a:avLst/>
          </a:prstGeom>
          <a:solidFill>
            <a:srgbClr val="DDEEF5"/>
          </a:solidFill>
          <a:ln>
            <a:solidFill>
              <a:srgbClr val="DD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158984" y="4069080"/>
            <a:ext cx="621792" cy="384048"/>
          </a:xfrm>
          <a:prstGeom prst="rect">
            <a:avLst/>
          </a:prstGeom>
          <a:noFill/>
        </p:spPr>
        <p:txBody>
          <a:bodyPr wrap="square" lIns="0" rIns="0" tIns="0" bIns="0" anchor="ctr">
            <a:spAutoFit/>
          </a:bodyPr>
          <a:lstStyle/>
          <a:p>
            <a:pPr algn="ctr">
              <a:lnSpc>
                <a:spcPct val="100000"/>
              </a:lnSpc>
            </a:pPr>
            <a:r>
              <a:rPr sz="740" b="1" i="0">
                <a:solidFill>
                  <a:srgbClr val="08243A"/>
                </a:solidFill>
                <a:latin typeface="Aptos"/>
              </a:rPr>
              <a:t>integrate → x</a:t>
            </a:r>
          </a:p>
        </p:txBody>
      </p:sp>
      <p:sp>
        <p:nvSpPr>
          <p:cNvPr id="41" name="Rounded Rectangle 40"/>
          <p:cNvSpPr/>
          <p:nvPr/>
        </p:nvSpPr>
        <p:spPr>
          <a:xfrm>
            <a:off x="5541264" y="5184648"/>
            <a:ext cx="5340096" cy="457200"/>
          </a:xfrm>
          <a:prstGeom prst="roundRect">
            <a:avLst/>
          </a:prstGeom>
          <a:solidFill>
            <a:srgbClr val="FFF0DF"/>
          </a:solidFill>
          <a:ln>
            <a:solidFill>
              <a:srgbClr val="FFF0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733288" y="5285232"/>
            <a:ext cx="4956048" cy="237744"/>
          </a:xfrm>
          <a:prstGeom prst="rect">
            <a:avLst/>
          </a:prstGeom>
          <a:noFill/>
        </p:spPr>
        <p:txBody>
          <a:bodyPr wrap="square" lIns="0" rIns="0" tIns="0" bIns="0" anchor="t">
            <a:spAutoFit/>
          </a:bodyPr>
          <a:lstStyle/>
          <a:p>
            <a:pPr algn="l">
              <a:lnSpc>
                <a:spcPct val="100000"/>
              </a:lnSpc>
            </a:pPr>
            <a:r>
              <a:rPr sz="919" b="1" i="0">
                <a:solidFill>
                  <a:srgbClr val="172733"/>
                </a:solidFill>
                <a:latin typeface="Aptos"/>
              </a:rPr>
              <a:t>Energy metric = mgh × number of blows; repeated impact emphasizes residual toughness.</a:t>
            </a:r>
          </a:p>
        </p:txBody>
      </p:sp>
      <p:sp>
        <p:nvSpPr>
          <p:cNvPr id="43" name="TextBox 42"/>
          <p:cNvSpPr txBox="1"/>
          <p:nvPr/>
        </p:nvSpPr>
        <p:spPr>
          <a:xfrm>
            <a:off x="667512" y="5879592"/>
            <a:ext cx="10652760" cy="256032"/>
          </a:xfrm>
          <a:prstGeom prst="rect">
            <a:avLst/>
          </a:prstGeom>
          <a:noFill/>
        </p:spPr>
        <p:txBody>
          <a:bodyPr wrap="square" lIns="0" rIns="0" tIns="0" bIns="0" anchor="ctr">
            <a:spAutoFit/>
          </a:bodyPr>
          <a:lstStyle/>
          <a:p>
            <a:pPr algn="l">
              <a:lnSpc>
                <a:spcPct val="100000"/>
              </a:lnSpc>
            </a:pPr>
            <a:r>
              <a:rPr sz="700" b="0" i="0">
                <a:solidFill>
                  <a:srgbClr val="596C78"/>
                </a:solidFill>
                <a:latin typeface="Aptos"/>
              </a:rPr>
              <a:t>Source: Experimental photo: inventor-supplied manuscript Fig. 4. Method: ACI 544.2R-89 adapted to prismatic beams; manuscript Testing Methods, Eqs. 1–2 and signal-processing description.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640080" y="164592"/>
            <a:ext cx="2514600" cy="201168"/>
          </a:xfrm>
          <a:prstGeom prst="rect">
            <a:avLst/>
          </a:prstGeom>
          <a:noFill/>
        </p:spPr>
        <p:txBody>
          <a:bodyPr wrap="square" lIns="0" rIns="0" tIns="0" bIns="0" anchor="t">
            <a:spAutoFit/>
          </a:bodyPr>
          <a:lstStyle/>
          <a:p>
            <a:pPr algn="l">
              <a:lnSpc>
                <a:spcPct val="100000"/>
              </a:lnSpc>
            </a:pPr>
            <a:r>
              <a:rPr sz="850" b="1" i="0">
                <a:solidFill>
                  <a:srgbClr val="2B78A6"/>
                </a:solidFill>
                <a:latin typeface="Aptos"/>
              </a:rPr>
              <a:t>PRISM IMPACT RESULTS</a:t>
            </a:r>
          </a:p>
        </p:txBody>
      </p:sp>
      <p:sp>
        <p:nvSpPr>
          <p:cNvPr id="3" name="TextBox 2"/>
          <p:cNvSpPr txBox="1"/>
          <p:nvPr/>
        </p:nvSpPr>
        <p:spPr>
          <a:xfrm>
            <a:off x="640080" y="338328"/>
            <a:ext cx="9921240" cy="612648"/>
          </a:xfrm>
          <a:prstGeom prst="rect">
            <a:avLst/>
          </a:prstGeom>
          <a:noFill/>
        </p:spPr>
        <p:txBody>
          <a:bodyPr wrap="square" lIns="0" rIns="0" tIns="0" bIns="0" anchor="ctr">
            <a:spAutoFit/>
          </a:bodyPr>
          <a:lstStyle/>
          <a:p>
            <a:pPr algn="l">
              <a:lnSpc>
                <a:spcPct val="92000"/>
              </a:lnSpc>
            </a:pPr>
            <a:r>
              <a:rPr sz="2080" b="1" i="0">
                <a:solidFill>
                  <a:srgbClr val="172733"/>
                </a:solidFill>
                <a:latin typeface="Aptos Display"/>
              </a:rPr>
              <a:t>Crack-bridging reinforcement transforms post-cracking endurance</a:t>
            </a:r>
          </a:p>
        </p:txBody>
      </p:sp>
      <p:sp>
        <p:nvSpPr>
          <p:cNvPr id="4" name="Rounded Rectangle 3"/>
          <p:cNvSpPr/>
          <p:nvPr/>
        </p:nvSpPr>
        <p:spPr>
          <a:xfrm>
            <a:off x="11173968" y="128016"/>
            <a:ext cx="749808" cy="58521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itbbs_logo_official.png"/>
          <p:cNvPicPr>
            <a:picLocks noChangeAspect="1"/>
          </p:cNvPicPr>
          <p:nvPr/>
        </p:nvPicPr>
        <p:blipFill>
          <a:blip r:embed="rId2"/>
          <a:stretch>
            <a:fillRect/>
          </a:stretch>
        </p:blipFill>
        <p:spPr>
          <a:xfrm>
            <a:off x="11283696" y="164592"/>
            <a:ext cx="530352" cy="493776"/>
          </a:xfrm>
          <a:prstGeom prst="rect">
            <a:avLst/>
          </a:prstGeom>
        </p:spPr>
      </p:pic>
      <p:cxnSp>
        <p:nvCxnSpPr>
          <p:cNvPr id="6" name="Connector 5"/>
          <p:cNvCxnSpPr/>
          <p:nvPr/>
        </p:nvCxnSpPr>
        <p:spPr>
          <a:xfrm>
            <a:off x="640080" y="1005840"/>
            <a:ext cx="10899648" cy="0"/>
          </a:xfrm>
          <a:prstGeom prst="line">
            <a:avLst/>
          </a:prstGeom>
          <a:ln w="10160">
            <a:solidFill>
              <a:srgbClr val="D8E2E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473952"/>
            <a:ext cx="10899648" cy="0"/>
          </a:xfrm>
          <a:prstGeom prst="line">
            <a:avLst/>
          </a:prstGeom>
          <a:ln w="8890">
            <a:solidFill>
              <a:srgbClr val="D8E2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58368" y="6547104"/>
            <a:ext cx="9784080" cy="164592"/>
          </a:xfrm>
          <a:prstGeom prst="rect">
            <a:avLst/>
          </a:prstGeom>
          <a:noFill/>
        </p:spPr>
        <p:txBody>
          <a:bodyPr wrap="square" lIns="0" rIns="0" tIns="0" bIns="0" anchor="t">
            <a:spAutoFit/>
          </a:bodyPr>
          <a:lstStyle/>
          <a:p>
            <a:pPr algn="l">
              <a:lnSpc>
                <a:spcPct val="100000"/>
              </a:lnSpc>
            </a:pPr>
            <a:r>
              <a:rPr sz="760" b="1" i="0">
                <a:solidFill>
                  <a:srgbClr val="596C78"/>
                </a:solidFill>
                <a:latin typeface="Aptos"/>
              </a:rPr>
              <a:t>EXTERNAL REDACTED DRAFT • IP STATUS TO CONFIRM • DISTRIBUTE ONLY WITH IITBBS IP APPROVAL</a:t>
            </a:r>
          </a:p>
        </p:txBody>
      </p:sp>
      <p:sp>
        <p:nvSpPr>
          <p:cNvPr id="9" name="TextBox 8"/>
          <p:cNvSpPr txBox="1"/>
          <p:nvPr/>
        </p:nvSpPr>
        <p:spPr>
          <a:xfrm>
            <a:off x="10972800" y="6528816"/>
            <a:ext cx="548640" cy="173736"/>
          </a:xfrm>
          <a:prstGeom prst="rect">
            <a:avLst/>
          </a:prstGeom>
          <a:noFill/>
        </p:spPr>
        <p:txBody>
          <a:bodyPr wrap="square" lIns="0" rIns="0" tIns="0" bIns="0" anchor="t">
            <a:spAutoFit/>
          </a:bodyPr>
          <a:lstStyle/>
          <a:p>
            <a:pPr algn="r">
              <a:lnSpc>
                <a:spcPct val="100000"/>
              </a:lnSpc>
            </a:pPr>
            <a:r>
              <a:rPr sz="830" b="1" i="0">
                <a:solidFill>
                  <a:srgbClr val="596C78"/>
                </a:solidFill>
                <a:latin typeface="Aptos"/>
              </a:rPr>
              <a:t>10</a:t>
            </a:r>
          </a:p>
        </p:txBody>
      </p:sp>
      <p:graphicFrame>
        <p:nvGraphicFramePr>
          <p:cNvPr id="10" name="Chart 9"/>
          <p:cNvGraphicFramePr>
            <a:graphicFrameLocks noGrp="1"/>
          </p:cNvGraphicFramePr>
          <p:nvPr/>
        </p:nvGraphicFramePr>
        <p:xfrm>
          <a:off x="667512" y="1280160"/>
          <a:ext cx="5504688" cy="4160520"/>
        </p:xfrm>
        <a:graphic>
          <a:graphicData uri="http://schemas.openxmlformats.org/drawingml/2006/chart">
            <c:chart xmlns:c="http://schemas.openxmlformats.org/drawingml/2006/chart" r:id="rId3"/>
          </a:graphicData>
        </a:graphic>
      </p:graphicFrame>
      <p:sp>
        <p:nvSpPr>
          <p:cNvPr id="11" name="TextBox 10"/>
          <p:cNvSpPr txBox="1"/>
          <p:nvPr/>
        </p:nvSpPr>
        <p:spPr>
          <a:xfrm>
            <a:off x="713232" y="1298448"/>
            <a:ext cx="5413248" cy="237744"/>
          </a:xfrm>
          <a:prstGeom prst="rect">
            <a:avLst/>
          </a:prstGeom>
          <a:noFill/>
        </p:spPr>
        <p:txBody>
          <a:bodyPr wrap="square" lIns="0" rIns="0" tIns="0" bIns="0" anchor="t">
            <a:spAutoFit/>
          </a:bodyPr>
          <a:lstStyle/>
          <a:p>
            <a:pPr algn="ctr">
              <a:lnSpc>
                <a:spcPct val="100000"/>
              </a:lnSpc>
            </a:pPr>
            <a:r>
              <a:rPr sz="1050" b="1" i="0">
                <a:solidFill>
                  <a:srgbClr val="172733"/>
                </a:solidFill>
                <a:latin typeface="Aptos"/>
              </a:rPr>
              <a:t>Failure energy, E₂ (N·m)</a:t>
            </a:r>
          </a:p>
        </p:txBody>
      </p:sp>
      <p:graphicFrame>
        <p:nvGraphicFramePr>
          <p:cNvPr id="12" name="Chart 11"/>
          <p:cNvGraphicFramePr>
            <a:graphicFrameLocks noGrp="1"/>
          </p:cNvGraphicFramePr>
          <p:nvPr/>
        </p:nvGraphicFramePr>
        <p:xfrm>
          <a:off x="6446520" y="1280160"/>
          <a:ext cx="5010912" cy="4160520"/>
        </p:xfrm>
        <a:graphic>
          <a:graphicData uri="http://schemas.openxmlformats.org/drawingml/2006/chart">
            <c:chart xmlns:c="http://schemas.openxmlformats.org/drawingml/2006/chart" r:id="rId4"/>
          </a:graphicData>
        </a:graphic>
      </p:graphicFrame>
      <p:sp>
        <p:nvSpPr>
          <p:cNvPr id="13" name="TextBox 12"/>
          <p:cNvSpPr txBox="1"/>
          <p:nvPr/>
        </p:nvSpPr>
        <p:spPr>
          <a:xfrm>
            <a:off x="6492240" y="1298448"/>
            <a:ext cx="4919472" cy="237744"/>
          </a:xfrm>
          <a:prstGeom prst="rect">
            <a:avLst/>
          </a:prstGeom>
          <a:noFill/>
        </p:spPr>
        <p:txBody>
          <a:bodyPr wrap="square" lIns="0" rIns="0" tIns="0" bIns="0" anchor="t">
            <a:spAutoFit/>
          </a:bodyPr>
          <a:lstStyle/>
          <a:p>
            <a:pPr algn="ctr">
              <a:lnSpc>
                <a:spcPct val="100000"/>
              </a:lnSpc>
            </a:pPr>
            <a:r>
              <a:rPr sz="1050" b="1" i="0">
                <a:solidFill>
                  <a:srgbClr val="172733"/>
                </a:solidFill>
                <a:latin typeface="Aptos"/>
              </a:rPr>
              <a:t>Impact counts</a:t>
            </a:r>
          </a:p>
        </p:txBody>
      </p:sp>
      <p:sp>
        <p:nvSpPr>
          <p:cNvPr id="14" name="Rounded Rectangle 13"/>
          <p:cNvSpPr/>
          <p:nvPr/>
        </p:nvSpPr>
        <p:spPr>
          <a:xfrm>
            <a:off x="841248" y="5166360"/>
            <a:ext cx="2240280" cy="292608"/>
          </a:xfrm>
          <a:prstGeom prst="roundRect">
            <a:avLst>
              <a:gd name="adj" fmla="val 50000"/>
            </a:avLst>
          </a:prstGeom>
          <a:solidFill>
            <a:srgbClr val="FBE7E7"/>
          </a:solidFill>
          <a:ln w="10160">
            <a:solidFill>
              <a:srgbClr val="FBE7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5180076"/>
            <a:ext cx="2167128" cy="246888"/>
          </a:xfrm>
          <a:prstGeom prst="rect">
            <a:avLst/>
          </a:prstGeom>
          <a:noFill/>
        </p:spPr>
        <p:txBody>
          <a:bodyPr wrap="square" lIns="0" rIns="0" tIns="0" bIns="0" anchor="ctr">
            <a:spAutoFit/>
          </a:bodyPr>
          <a:lstStyle/>
          <a:p>
            <a:pPr algn="ctr">
              <a:lnSpc>
                <a:spcPct val="100000"/>
              </a:lnSpc>
            </a:pPr>
            <a:r>
              <a:rPr sz="930" b="1" i="0">
                <a:solidFill>
                  <a:srgbClr val="D95D5D"/>
                </a:solidFill>
                <a:latin typeface="Aptos"/>
              </a:rPr>
              <a:t>55.3× vs NWC</a:t>
            </a:r>
          </a:p>
        </p:txBody>
      </p:sp>
      <p:sp>
        <p:nvSpPr>
          <p:cNvPr id="16" name="Rounded Rectangle 15"/>
          <p:cNvSpPr/>
          <p:nvPr/>
        </p:nvSpPr>
        <p:spPr>
          <a:xfrm>
            <a:off x="3291840" y="5166360"/>
            <a:ext cx="2542032" cy="292608"/>
          </a:xfrm>
          <a:prstGeom prst="roundRect">
            <a:avLst>
              <a:gd name="adj" fmla="val 50000"/>
            </a:avLst>
          </a:prstGeom>
          <a:solidFill>
            <a:srgbClr val="FFF0DF"/>
          </a:solidFill>
          <a:ln w="10160">
            <a:solidFill>
              <a:srgbClr val="FFF0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28416" y="5180076"/>
            <a:ext cx="2468879" cy="246888"/>
          </a:xfrm>
          <a:prstGeom prst="rect">
            <a:avLst/>
          </a:prstGeom>
          <a:noFill/>
        </p:spPr>
        <p:txBody>
          <a:bodyPr wrap="square" lIns="0" rIns="0" tIns="0" bIns="0" anchor="ctr">
            <a:spAutoFit/>
          </a:bodyPr>
          <a:lstStyle/>
          <a:p>
            <a:pPr algn="ctr">
              <a:lnSpc>
                <a:spcPct val="100000"/>
              </a:lnSpc>
            </a:pPr>
            <a:r>
              <a:rPr sz="930" b="1" i="0">
                <a:solidFill>
                  <a:srgbClr val="F39C3D"/>
                </a:solidFill>
                <a:latin typeface="Aptos"/>
              </a:rPr>
              <a:t>110.5× vs plain LWC</a:t>
            </a:r>
          </a:p>
        </p:txBody>
      </p:sp>
      <p:sp>
        <p:nvSpPr>
          <p:cNvPr id="18" name="Rounded Rectangle 17"/>
          <p:cNvSpPr/>
          <p:nvPr/>
        </p:nvSpPr>
        <p:spPr>
          <a:xfrm>
            <a:off x="6702552" y="5166360"/>
            <a:ext cx="2029968" cy="292608"/>
          </a:xfrm>
          <a:prstGeom prst="roundRect">
            <a:avLst>
              <a:gd name="adj" fmla="val 50000"/>
            </a:avLst>
          </a:prstGeom>
          <a:solidFill>
            <a:srgbClr val="DDEEF5"/>
          </a:solidFill>
          <a:ln w="10160">
            <a:solidFill>
              <a:srgbClr val="DD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39128" y="5180076"/>
            <a:ext cx="1956816" cy="246888"/>
          </a:xfrm>
          <a:prstGeom prst="rect">
            <a:avLst/>
          </a:prstGeom>
          <a:noFill/>
        </p:spPr>
        <p:txBody>
          <a:bodyPr wrap="square" lIns="0" rIns="0" tIns="0" bIns="0" anchor="ctr">
            <a:spAutoFit/>
          </a:bodyPr>
          <a:lstStyle/>
          <a:p>
            <a:pPr algn="ctr">
              <a:lnSpc>
                <a:spcPct val="100000"/>
              </a:lnSpc>
            </a:pPr>
            <a:r>
              <a:rPr sz="930" b="1" i="0">
                <a:solidFill>
                  <a:srgbClr val="2B78A6"/>
                </a:solidFill>
                <a:latin typeface="Aptos"/>
              </a:rPr>
              <a:t>N₂ = 221 blows</a:t>
            </a:r>
          </a:p>
        </p:txBody>
      </p:sp>
      <p:sp>
        <p:nvSpPr>
          <p:cNvPr id="20" name="Rounded Rectangle 19"/>
          <p:cNvSpPr/>
          <p:nvPr/>
        </p:nvSpPr>
        <p:spPr>
          <a:xfrm>
            <a:off x="8942832" y="5166360"/>
            <a:ext cx="2103120" cy="292608"/>
          </a:xfrm>
          <a:prstGeom prst="roundRect">
            <a:avLst>
              <a:gd name="adj" fmla="val 50000"/>
            </a:avLst>
          </a:prstGeom>
          <a:solidFill>
            <a:srgbClr val="DDF5F4"/>
          </a:solidFill>
          <a:ln w="10160">
            <a:solidFill>
              <a:srgbClr val="DDF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79407" y="5180076"/>
            <a:ext cx="2029967" cy="246888"/>
          </a:xfrm>
          <a:prstGeom prst="rect">
            <a:avLst/>
          </a:prstGeom>
          <a:noFill/>
        </p:spPr>
        <p:txBody>
          <a:bodyPr wrap="square" lIns="0" rIns="0" tIns="0" bIns="0" anchor="ctr">
            <a:spAutoFit/>
          </a:bodyPr>
          <a:lstStyle/>
          <a:p>
            <a:pPr algn="ctr">
              <a:lnSpc>
                <a:spcPct val="100000"/>
              </a:lnSpc>
            </a:pPr>
            <a:r>
              <a:rPr sz="930" b="1" i="0">
                <a:solidFill>
                  <a:srgbClr val="178D86"/>
                </a:solidFill>
                <a:latin typeface="Aptos"/>
              </a:rPr>
              <a:t>186 post-crack blows</a:t>
            </a:r>
          </a:p>
        </p:txBody>
      </p:sp>
      <p:sp>
        <p:nvSpPr>
          <p:cNvPr id="22" name="TextBox 21"/>
          <p:cNvSpPr txBox="1"/>
          <p:nvPr/>
        </p:nvSpPr>
        <p:spPr>
          <a:xfrm>
            <a:off x="676656" y="5870448"/>
            <a:ext cx="10652760" cy="256032"/>
          </a:xfrm>
          <a:prstGeom prst="rect">
            <a:avLst/>
          </a:prstGeom>
          <a:noFill/>
        </p:spPr>
        <p:txBody>
          <a:bodyPr wrap="square" lIns="0" rIns="0" tIns="0" bIns="0" anchor="ctr">
            <a:spAutoFit/>
          </a:bodyPr>
          <a:lstStyle/>
          <a:p>
            <a:pPr algn="l">
              <a:lnSpc>
                <a:spcPct val="100000"/>
              </a:lnSpc>
            </a:pPr>
            <a:r>
              <a:rPr sz="700" b="0" i="0">
                <a:solidFill>
                  <a:srgbClr val="596C78"/>
                </a:solidFill>
                <a:latin typeface="Aptos"/>
              </a:rPr>
              <a:t>Source: Inventor dataset, manuscript Table 8. E₂ = mgh × N₂. Ratios calculated from supplied values; impact-count variability/replicate distribution is not reported in the table.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640080" y="164592"/>
            <a:ext cx="2514600" cy="201168"/>
          </a:xfrm>
          <a:prstGeom prst="rect">
            <a:avLst/>
          </a:prstGeom>
          <a:noFill/>
        </p:spPr>
        <p:txBody>
          <a:bodyPr wrap="square" lIns="0" rIns="0" tIns="0" bIns="0" anchor="t">
            <a:spAutoFit/>
          </a:bodyPr>
          <a:lstStyle/>
          <a:p>
            <a:pPr algn="l">
              <a:lnSpc>
                <a:spcPct val="100000"/>
              </a:lnSpc>
            </a:pPr>
            <a:r>
              <a:rPr sz="850" b="1" i="0">
                <a:solidFill>
                  <a:srgbClr val="2B78A6"/>
                </a:solidFill>
                <a:latin typeface="Aptos"/>
              </a:rPr>
              <a:t>DYNAMIC RESPONSE</a:t>
            </a:r>
          </a:p>
        </p:txBody>
      </p:sp>
      <p:sp>
        <p:nvSpPr>
          <p:cNvPr id="3" name="TextBox 2"/>
          <p:cNvSpPr txBox="1"/>
          <p:nvPr/>
        </p:nvSpPr>
        <p:spPr>
          <a:xfrm>
            <a:off x="640080" y="338328"/>
            <a:ext cx="9921240" cy="612648"/>
          </a:xfrm>
          <a:prstGeom prst="rect">
            <a:avLst/>
          </a:prstGeom>
          <a:noFill/>
        </p:spPr>
        <p:txBody>
          <a:bodyPr wrap="square" lIns="0" rIns="0" tIns="0" bIns="0" anchor="ctr">
            <a:spAutoFit/>
          </a:bodyPr>
          <a:lstStyle/>
          <a:p>
            <a:pPr algn="l">
              <a:lnSpc>
                <a:spcPct val="92000"/>
              </a:lnSpc>
            </a:pPr>
            <a:r>
              <a:rPr sz="2080" b="1" i="0">
                <a:solidFill>
                  <a:srgbClr val="172733"/>
                </a:solidFill>
                <a:latin typeface="Aptos Display"/>
              </a:rPr>
              <a:t>Deformation reveals the transition from brittle to ductile response</a:t>
            </a:r>
          </a:p>
        </p:txBody>
      </p:sp>
      <p:sp>
        <p:nvSpPr>
          <p:cNvPr id="4" name="Rounded Rectangle 3"/>
          <p:cNvSpPr/>
          <p:nvPr/>
        </p:nvSpPr>
        <p:spPr>
          <a:xfrm>
            <a:off x="11173968" y="128016"/>
            <a:ext cx="749808" cy="58521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itbbs_logo_official.png"/>
          <p:cNvPicPr>
            <a:picLocks noChangeAspect="1"/>
          </p:cNvPicPr>
          <p:nvPr/>
        </p:nvPicPr>
        <p:blipFill>
          <a:blip r:embed="rId2"/>
          <a:stretch>
            <a:fillRect/>
          </a:stretch>
        </p:blipFill>
        <p:spPr>
          <a:xfrm>
            <a:off x="11283696" y="164592"/>
            <a:ext cx="530352" cy="493776"/>
          </a:xfrm>
          <a:prstGeom prst="rect">
            <a:avLst/>
          </a:prstGeom>
        </p:spPr>
      </p:pic>
      <p:cxnSp>
        <p:nvCxnSpPr>
          <p:cNvPr id="6" name="Connector 5"/>
          <p:cNvCxnSpPr/>
          <p:nvPr/>
        </p:nvCxnSpPr>
        <p:spPr>
          <a:xfrm>
            <a:off x="640080" y="1005840"/>
            <a:ext cx="10899648" cy="0"/>
          </a:xfrm>
          <a:prstGeom prst="line">
            <a:avLst/>
          </a:prstGeom>
          <a:ln w="10160">
            <a:solidFill>
              <a:srgbClr val="D8E2E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473952"/>
            <a:ext cx="10899648" cy="0"/>
          </a:xfrm>
          <a:prstGeom prst="line">
            <a:avLst/>
          </a:prstGeom>
          <a:ln w="8890">
            <a:solidFill>
              <a:srgbClr val="D8E2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58368" y="6547104"/>
            <a:ext cx="9784080" cy="164592"/>
          </a:xfrm>
          <a:prstGeom prst="rect">
            <a:avLst/>
          </a:prstGeom>
          <a:noFill/>
        </p:spPr>
        <p:txBody>
          <a:bodyPr wrap="square" lIns="0" rIns="0" tIns="0" bIns="0" anchor="t">
            <a:spAutoFit/>
          </a:bodyPr>
          <a:lstStyle/>
          <a:p>
            <a:pPr algn="l">
              <a:lnSpc>
                <a:spcPct val="100000"/>
              </a:lnSpc>
            </a:pPr>
            <a:r>
              <a:rPr sz="760" b="1" i="0">
                <a:solidFill>
                  <a:srgbClr val="596C78"/>
                </a:solidFill>
                <a:latin typeface="Aptos"/>
              </a:rPr>
              <a:t>EXTERNAL REDACTED DRAFT • IP STATUS TO CONFIRM • DISTRIBUTE ONLY WITH IITBBS IP APPROVAL</a:t>
            </a:r>
          </a:p>
        </p:txBody>
      </p:sp>
      <p:sp>
        <p:nvSpPr>
          <p:cNvPr id="9" name="TextBox 8"/>
          <p:cNvSpPr txBox="1"/>
          <p:nvPr/>
        </p:nvSpPr>
        <p:spPr>
          <a:xfrm>
            <a:off x="10972800" y="6528816"/>
            <a:ext cx="548640" cy="173736"/>
          </a:xfrm>
          <a:prstGeom prst="rect">
            <a:avLst/>
          </a:prstGeom>
          <a:noFill/>
        </p:spPr>
        <p:txBody>
          <a:bodyPr wrap="square" lIns="0" rIns="0" tIns="0" bIns="0" anchor="t">
            <a:spAutoFit/>
          </a:bodyPr>
          <a:lstStyle/>
          <a:p>
            <a:pPr algn="r">
              <a:lnSpc>
                <a:spcPct val="100000"/>
              </a:lnSpc>
            </a:pPr>
            <a:r>
              <a:rPr sz="830" b="1" i="0">
                <a:solidFill>
                  <a:srgbClr val="596C78"/>
                </a:solidFill>
                <a:latin typeface="Aptos"/>
              </a:rPr>
              <a:t>11</a:t>
            </a:r>
          </a:p>
        </p:txBody>
      </p:sp>
      <p:graphicFrame>
        <p:nvGraphicFramePr>
          <p:cNvPr id="10" name="Chart 9"/>
          <p:cNvGraphicFramePr>
            <a:graphicFrameLocks noGrp="1"/>
          </p:cNvGraphicFramePr>
          <p:nvPr/>
        </p:nvGraphicFramePr>
        <p:xfrm>
          <a:off x="667512" y="1298448"/>
          <a:ext cx="4919472" cy="3977639"/>
        </p:xfrm>
        <a:graphic>
          <a:graphicData uri="http://schemas.openxmlformats.org/drawingml/2006/chart">
            <c:chart xmlns:c="http://schemas.openxmlformats.org/drawingml/2006/chart" r:id="rId3"/>
          </a:graphicData>
        </a:graphic>
      </p:graphicFrame>
      <p:sp>
        <p:nvSpPr>
          <p:cNvPr id="11" name="TextBox 10"/>
          <p:cNvSpPr txBox="1"/>
          <p:nvPr/>
        </p:nvSpPr>
        <p:spPr>
          <a:xfrm>
            <a:off x="713232" y="1316736"/>
            <a:ext cx="4828032" cy="237744"/>
          </a:xfrm>
          <a:prstGeom prst="rect">
            <a:avLst/>
          </a:prstGeom>
          <a:noFill/>
        </p:spPr>
        <p:txBody>
          <a:bodyPr wrap="square" lIns="0" rIns="0" tIns="0" bIns="0" anchor="t">
            <a:spAutoFit/>
          </a:bodyPr>
          <a:lstStyle/>
          <a:p>
            <a:pPr algn="ctr">
              <a:lnSpc>
                <a:spcPct val="100000"/>
              </a:lnSpc>
            </a:pPr>
            <a:r>
              <a:rPr sz="1050" b="1" i="0">
                <a:solidFill>
                  <a:srgbClr val="172733"/>
                </a:solidFill>
                <a:latin typeface="Aptos"/>
              </a:rPr>
              <a:t>Peak displacement after first impact</a:t>
            </a:r>
          </a:p>
        </p:txBody>
      </p:sp>
      <p:sp>
        <p:nvSpPr>
          <p:cNvPr id="12" name="Rounded Rectangle 11"/>
          <p:cNvSpPr/>
          <p:nvPr/>
        </p:nvSpPr>
        <p:spPr>
          <a:xfrm>
            <a:off x="5870448" y="1353312"/>
            <a:ext cx="1444752" cy="1152144"/>
          </a:xfrm>
          <a:prstGeom prst="roundRect">
            <a:avLst/>
          </a:prstGeom>
          <a:solidFill>
            <a:srgbClr val="DDEEF5"/>
          </a:solidFill>
          <a:ln>
            <a:solidFill>
              <a:srgbClr val="DD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373368" y="1545336"/>
            <a:ext cx="438912" cy="438912"/>
          </a:xfrm>
          <a:prstGeom prst="ellipse">
            <a:avLst/>
          </a:prstGeom>
          <a:solidFill>
            <a:srgbClr val="2B78A6"/>
          </a:solidFill>
          <a:ln>
            <a:solidFill>
              <a:srgbClr val="2B7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73368" y="1545336"/>
            <a:ext cx="438912" cy="438912"/>
          </a:xfrm>
          <a:prstGeom prst="rect">
            <a:avLst/>
          </a:prstGeom>
          <a:noFill/>
        </p:spPr>
        <p:txBody>
          <a:bodyPr wrap="square" lIns="0" rIns="0" tIns="0" bIns="0" anchor="ctr">
            <a:spAutoFit/>
          </a:bodyPr>
          <a:lstStyle/>
          <a:p>
            <a:pPr algn="ctr">
              <a:lnSpc>
                <a:spcPct val="100000"/>
              </a:lnSpc>
            </a:pPr>
            <a:r>
              <a:rPr sz="1000" b="1" i="0">
                <a:solidFill>
                  <a:srgbClr val="FFFFFF"/>
                </a:solidFill>
                <a:latin typeface="Aptos"/>
              </a:rPr>
              <a:t>●</a:t>
            </a:r>
          </a:p>
        </p:txBody>
      </p:sp>
      <p:sp>
        <p:nvSpPr>
          <p:cNvPr id="15" name="TextBox 14"/>
          <p:cNvSpPr txBox="1"/>
          <p:nvPr/>
        </p:nvSpPr>
        <p:spPr>
          <a:xfrm>
            <a:off x="5961888" y="2057400"/>
            <a:ext cx="1261872" cy="310896"/>
          </a:xfrm>
          <a:prstGeom prst="rect">
            <a:avLst/>
          </a:prstGeom>
          <a:noFill/>
        </p:spPr>
        <p:txBody>
          <a:bodyPr wrap="square" lIns="0" rIns="0" tIns="0" bIns="0" anchor="t">
            <a:spAutoFit/>
          </a:bodyPr>
          <a:lstStyle/>
          <a:p>
            <a:pPr algn="ctr">
              <a:lnSpc>
                <a:spcPct val="100000"/>
              </a:lnSpc>
            </a:pPr>
            <a:r>
              <a:rPr sz="840" b="1" i="0">
                <a:solidFill>
                  <a:srgbClr val="2B78A6"/>
                </a:solidFill>
                <a:latin typeface="Aptos"/>
              </a:rPr>
              <a:t>POROUS
PHASE</a:t>
            </a:r>
          </a:p>
        </p:txBody>
      </p:sp>
      <p:sp>
        <p:nvSpPr>
          <p:cNvPr id="16" name="Rounded Rectangle 15"/>
          <p:cNvSpPr/>
          <p:nvPr/>
        </p:nvSpPr>
        <p:spPr>
          <a:xfrm>
            <a:off x="7525512" y="1353312"/>
            <a:ext cx="1444752" cy="1152144"/>
          </a:xfrm>
          <a:prstGeom prst="roundRect">
            <a:avLst/>
          </a:prstGeom>
          <a:solidFill>
            <a:srgbClr val="FFF0DF"/>
          </a:solidFill>
          <a:ln>
            <a:solidFill>
              <a:srgbClr val="FFF0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028431" y="1545336"/>
            <a:ext cx="438912" cy="438912"/>
          </a:xfrm>
          <a:prstGeom prst="ellipse">
            <a:avLst/>
          </a:prstGeom>
          <a:solidFill>
            <a:srgbClr val="F39C3D"/>
          </a:solidFill>
          <a:ln>
            <a:solidFill>
              <a:srgbClr val="F39C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28431" y="1545336"/>
            <a:ext cx="438912" cy="438912"/>
          </a:xfrm>
          <a:prstGeom prst="rect">
            <a:avLst/>
          </a:prstGeom>
          <a:noFill/>
        </p:spPr>
        <p:txBody>
          <a:bodyPr wrap="square" lIns="0" rIns="0" tIns="0" bIns="0" anchor="ctr">
            <a:spAutoFit/>
          </a:bodyPr>
          <a:lstStyle/>
          <a:p>
            <a:pPr algn="ctr">
              <a:lnSpc>
                <a:spcPct val="100000"/>
              </a:lnSpc>
            </a:pPr>
            <a:r>
              <a:rPr sz="1000" b="1" i="0">
                <a:solidFill>
                  <a:srgbClr val="FFFFFF"/>
                </a:solidFill>
                <a:latin typeface="Aptos"/>
              </a:rPr>
              <a:t>●</a:t>
            </a:r>
          </a:p>
        </p:txBody>
      </p:sp>
      <p:sp>
        <p:nvSpPr>
          <p:cNvPr id="19" name="TextBox 18"/>
          <p:cNvSpPr txBox="1"/>
          <p:nvPr/>
        </p:nvSpPr>
        <p:spPr>
          <a:xfrm>
            <a:off x="7616952" y="2057400"/>
            <a:ext cx="1261872" cy="310896"/>
          </a:xfrm>
          <a:prstGeom prst="rect">
            <a:avLst/>
          </a:prstGeom>
          <a:noFill/>
        </p:spPr>
        <p:txBody>
          <a:bodyPr wrap="square" lIns="0" rIns="0" tIns="0" bIns="0" anchor="t">
            <a:spAutoFit/>
          </a:bodyPr>
          <a:lstStyle/>
          <a:p>
            <a:pPr algn="ctr">
              <a:lnSpc>
                <a:spcPct val="100000"/>
              </a:lnSpc>
            </a:pPr>
            <a:r>
              <a:rPr sz="840" b="1" i="0">
                <a:solidFill>
                  <a:srgbClr val="F39C3D"/>
                </a:solidFill>
                <a:latin typeface="Aptos"/>
              </a:rPr>
              <a:t>BRIDGING
PHASE</a:t>
            </a:r>
          </a:p>
        </p:txBody>
      </p:sp>
      <p:pic>
        <p:nvPicPr>
          <p:cNvPr id="20" name="Picture 19" descr="split_failure_external_contain.jpg"/>
          <p:cNvPicPr>
            <a:picLocks noChangeAspect="1"/>
          </p:cNvPicPr>
          <p:nvPr/>
        </p:nvPicPr>
        <p:blipFill>
          <a:blip r:embed="rId4"/>
          <a:stretch>
            <a:fillRect/>
          </a:stretch>
        </p:blipFill>
        <p:spPr>
          <a:xfrm>
            <a:off x="9180576" y="1353312"/>
            <a:ext cx="1965960" cy="1152144"/>
          </a:xfrm>
          <a:prstGeom prst="rect">
            <a:avLst/>
          </a:prstGeom>
        </p:spPr>
      </p:pic>
      <p:sp>
        <p:nvSpPr>
          <p:cNvPr id="21" name="TextBox 20"/>
          <p:cNvSpPr txBox="1"/>
          <p:nvPr/>
        </p:nvSpPr>
        <p:spPr>
          <a:xfrm>
            <a:off x="5870448" y="2587752"/>
            <a:ext cx="1444752" cy="329184"/>
          </a:xfrm>
          <a:prstGeom prst="rect">
            <a:avLst/>
          </a:prstGeom>
          <a:noFill/>
        </p:spPr>
        <p:txBody>
          <a:bodyPr wrap="square" lIns="0" rIns="0" tIns="0" bIns="0" anchor="t">
            <a:spAutoFit/>
          </a:bodyPr>
          <a:lstStyle/>
          <a:p>
            <a:pPr algn="ctr">
              <a:lnSpc>
                <a:spcPct val="100000"/>
              </a:lnSpc>
            </a:pPr>
            <a:r>
              <a:rPr sz="930" b="1" i="0">
                <a:solidFill>
                  <a:srgbClr val="2B78A6"/>
                </a:solidFill>
                <a:latin typeface="Aptos"/>
              </a:rPr>
              <a:t>Energy-absorbing phase</a:t>
            </a:r>
          </a:p>
        </p:txBody>
      </p:sp>
      <p:sp>
        <p:nvSpPr>
          <p:cNvPr id="22" name="TextBox 21"/>
          <p:cNvSpPr txBox="1"/>
          <p:nvPr/>
        </p:nvSpPr>
        <p:spPr>
          <a:xfrm>
            <a:off x="7525512" y="2587752"/>
            <a:ext cx="1444752" cy="329184"/>
          </a:xfrm>
          <a:prstGeom prst="rect">
            <a:avLst/>
          </a:prstGeom>
          <a:noFill/>
        </p:spPr>
        <p:txBody>
          <a:bodyPr wrap="square" lIns="0" rIns="0" tIns="0" bIns="0" anchor="t">
            <a:spAutoFit/>
          </a:bodyPr>
          <a:lstStyle/>
          <a:p>
            <a:pPr algn="ctr">
              <a:lnSpc>
                <a:spcPct val="100000"/>
              </a:lnSpc>
            </a:pPr>
            <a:r>
              <a:rPr sz="930" b="1" i="0">
                <a:solidFill>
                  <a:srgbClr val="F39C3D"/>
                </a:solidFill>
                <a:latin typeface="Aptos"/>
              </a:rPr>
              <a:t>Crack-bridging phase</a:t>
            </a:r>
          </a:p>
        </p:txBody>
      </p:sp>
      <p:sp>
        <p:nvSpPr>
          <p:cNvPr id="23" name="TextBox 22"/>
          <p:cNvSpPr txBox="1"/>
          <p:nvPr/>
        </p:nvSpPr>
        <p:spPr>
          <a:xfrm>
            <a:off x="9180576" y="2587752"/>
            <a:ext cx="1965960" cy="329184"/>
          </a:xfrm>
          <a:prstGeom prst="rect">
            <a:avLst/>
          </a:prstGeom>
          <a:noFill/>
        </p:spPr>
        <p:txBody>
          <a:bodyPr wrap="square" lIns="0" rIns="0" tIns="0" bIns="0" anchor="t">
            <a:spAutoFit/>
          </a:bodyPr>
          <a:lstStyle/>
          <a:p>
            <a:pPr algn="ctr">
              <a:lnSpc>
                <a:spcPct val="100000"/>
              </a:lnSpc>
            </a:pPr>
            <a:r>
              <a:rPr sz="930" b="1" i="0">
                <a:solidFill>
                  <a:srgbClr val="178D86"/>
                </a:solidFill>
                <a:latin typeface="Aptos"/>
              </a:rPr>
              <a:t>Controlled crack path</a:t>
            </a:r>
          </a:p>
        </p:txBody>
      </p:sp>
      <p:sp>
        <p:nvSpPr>
          <p:cNvPr id="24" name="Chevron 23"/>
          <p:cNvSpPr/>
          <p:nvPr/>
        </p:nvSpPr>
        <p:spPr>
          <a:xfrm>
            <a:off x="7278624" y="1737360"/>
            <a:ext cx="219456" cy="310896"/>
          </a:xfrm>
          <a:prstGeom prst="chevron">
            <a:avLst/>
          </a:prstGeom>
          <a:solidFill>
            <a:srgbClr val="D8E2E8"/>
          </a:solidFill>
          <a:ln>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hevron 24"/>
          <p:cNvSpPr/>
          <p:nvPr/>
        </p:nvSpPr>
        <p:spPr>
          <a:xfrm>
            <a:off x="8933688" y="1737360"/>
            <a:ext cx="219456" cy="310896"/>
          </a:xfrm>
          <a:prstGeom prst="chevron">
            <a:avLst/>
          </a:prstGeom>
          <a:solidFill>
            <a:srgbClr val="D8E2E8"/>
          </a:solidFill>
          <a:ln>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5870448" y="3154680"/>
            <a:ext cx="5276088" cy="1883664"/>
          </a:xfrm>
          <a:prstGeom prst="roundRect">
            <a:avLst/>
          </a:prstGeom>
          <a:solidFill>
            <a:srgbClr val="08243A"/>
          </a:solidFill>
          <a:ln>
            <a:solidFill>
              <a:srgbClr val="0824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44768" y="3438144"/>
            <a:ext cx="731520" cy="274320"/>
          </a:xfrm>
          <a:prstGeom prst="rect">
            <a:avLst/>
          </a:prstGeom>
          <a:noFill/>
        </p:spPr>
        <p:txBody>
          <a:bodyPr wrap="square" lIns="0" rIns="0" tIns="0" bIns="0" anchor="t">
            <a:spAutoFit/>
          </a:bodyPr>
          <a:lstStyle/>
          <a:p>
            <a:pPr algn="l">
              <a:lnSpc>
                <a:spcPct val="100000"/>
              </a:lnSpc>
            </a:pPr>
            <a:r>
              <a:rPr sz="860" b="1" i="0">
                <a:solidFill>
                  <a:srgbClr val="22B8C7"/>
                </a:solidFill>
                <a:latin typeface="Aptos"/>
              </a:rPr>
              <a:t>CRUSH</a:t>
            </a:r>
          </a:p>
        </p:txBody>
      </p:sp>
      <p:sp>
        <p:nvSpPr>
          <p:cNvPr id="28" name="TextBox 27"/>
          <p:cNvSpPr txBox="1"/>
          <p:nvPr/>
        </p:nvSpPr>
        <p:spPr>
          <a:xfrm>
            <a:off x="6858000" y="3429000"/>
            <a:ext cx="1554480" cy="420624"/>
          </a:xfrm>
          <a:prstGeom prst="rect">
            <a:avLst/>
          </a:prstGeom>
          <a:noFill/>
        </p:spPr>
        <p:txBody>
          <a:bodyPr wrap="square" lIns="0" rIns="0" tIns="0" bIns="0" anchor="t">
            <a:spAutoFit/>
          </a:bodyPr>
          <a:lstStyle/>
          <a:p>
            <a:pPr algn="l">
              <a:lnSpc>
                <a:spcPct val="100000"/>
              </a:lnSpc>
            </a:pPr>
            <a:r>
              <a:rPr sz="860" b="0" i="0">
                <a:solidFill>
                  <a:srgbClr val="FFFFFF"/>
                </a:solidFill>
                <a:latin typeface="Aptos"/>
              </a:rPr>
              <a:t>porous aggregate consumes local energy</a:t>
            </a:r>
          </a:p>
        </p:txBody>
      </p:sp>
      <p:sp>
        <p:nvSpPr>
          <p:cNvPr id="29" name="TextBox 28"/>
          <p:cNvSpPr txBox="1"/>
          <p:nvPr/>
        </p:nvSpPr>
        <p:spPr>
          <a:xfrm>
            <a:off x="8631936" y="3438144"/>
            <a:ext cx="731520" cy="274320"/>
          </a:xfrm>
          <a:prstGeom prst="rect">
            <a:avLst/>
          </a:prstGeom>
          <a:noFill/>
        </p:spPr>
        <p:txBody>
          <a:bodyPr wrap="square" lIns="0" rIns="0" tIns="0" bIns="0" anchor="t">
            <a:spAutoFit/>
          </a:bodyPr>
          <a:lstStyle/>
          <a:p>
            <a:pPr algn="l">
              <a:lnSpc>
                <a:spcPct val="100000"/>
              </a:lnSpc>
            </a:pPr>
            <a:r>
              <a:rPr sz="860" b="1" i="0">
                <a:solidFill>
                  <a:srgbClr val="22B8C7"/>
                </a:solidFill>
                <a:latin typeface="Aptos"/>
              </a:rPr>
              <a:t>BRIDGE</a:t>
            </a:r>
          </a:p>
        </p:txBody>
      </p:sp>
      <p:sp>
        <p:nvSpPr>
          <p:cNvPr id="30" name="TextBox 29"/>
          <p:cNvSpPr txBox="1"/>
          <p:nvPr/>
        </p:nvSpPr>
        <p:spPr>
          <a:xfrm>
            <a:off x="9345167" y="3429000"/>
            <a:ext cx="1554480" cy="420624"/>
          </a:xfrm>
          <a:prstGeom prst="rect">
            <a:avLst/>
          </a:prstGeom>
          <a:noFill/>
        </p:spPr>
        <p:txBody>
          <a:bodyPr wrap="square" lIns="0" rIns="0" tIns="0" bIns="0" anchor="t">
            <a:spAutoFit/>
          </a:bodyPr>
          <a:lstStyle/>
          <a:p>
            <a:pPr algn="l">
              <a:lnSpc>
                <a:spcPct val="100000"/>
              </a:lnSpc>
            </a:pPr>
            <a:r>
              <a:rPr sz="860" b="0" i="0">
                <a:solidFill>
                  <a:srgbClr val="FFFFFF"/>
                </a:solidFill>
                <a:latin typeface="Aptos"/>
              </a:rPr>
              <a:t>fibres transfer stress across opening cracks</a:t>
            </a:r>
          </a:p>
        </p:txBody>
      </p:sp>
      <p:sp>
        <p:nvSpPr>
          <p:cNvPr id="31" name="TextBox 30"/>
          <p:cNvSpPr txBox="1"/>
          <p:nvPr/>
        </p:nvSpPr>
        <p:spPr>
          <a:xfrm>
            <a:off x="6144768" y="4142231"/>
            <a:ext cx="731520" cy="274320"/>
          </a:xfrm>
          <a:prstGeom prst="rect">
            <a:avLst/>
          </a:prstGeom>
          <a:noFill/>
        </p:spPr>
        <p:txBody>
          <a:bodyPr wrap="square" lIns="0" rIns="0" tIns="0" bIns="0" anchor="t">
            <a:spAutoFit/>
          </a:bodyPr>
          <a:lstStyle/>
          <a:p>
            <a:pPr algn="l">
              <a:lnSpc>
                <a:spcPct val="100000"/>
              </a:lnSpc>
            </a:pPr>
            <a:r>
              <a:rPr sz="860" b="1" i="0">
                <a:solidFill>
                  <a:srgbClr val="22B8C7"/>
                </a:solidFill>
                <a:latin typeface="Aptos"/>
              </a:rPr>
              <a:t>PULL OUT</a:t>
            </a:r>
          </a:p>
        </p:txBody>
      </p:sp>
      <p:sp>
        <p:nvSpPr>
          <p:cNvPr id="32" name="TextBox 31"/>
          <p:cNvSpPr txBox="1"/>
          <p:nvPr/>
        </p:nvSpPr>
        <p:spPr>
          <a:xfrm>
            <a:off x="6858000" y="4133087"/>
            <a:ext cx="1554480" cy="420624"/>
          </a:xfrm>
          <a:prstGeom prst="rect">
            <a:avLst/>
          </a:prstGeom>
          <a:noFill/>
        </p:spPr>
        <p:txBody>
          <a:bodyPr wrap="square" lIns="0" rIns="0" tIns="0" bIns="0" anchor="t">
            <a:spAutoFit/>
          </a:bodyPr>
          <a:lstStyle/>
          <a:p>
            <a:pPr algn="l">
              <a:lnSpc>
                <a:spcPct val="100000"/>
              </a:lnSpc>
            </a:pPr>
            <a:r>
              <a:rPr sz="860" b="0" i="0">
                <a:solidFill>
                  <a:srgbClr val="FFFFFF"/>
                </a:solidFill>
                <a:latin typeface="Aptos"/>
              </a:rPr>
              <a:t>friction extends the failure process</a:t>
            </a:r>
          </a:p>
        </p:txBody>
      </p:sp>
      <p:sp>
        <p:nvSpPr>
          <p:cNvPr id="33" name="TextBox 32"/>
          <p:cNvSpPr txBox="1"/>
          <p:nvPr/>
        </p:nvSpPr>
        <p:spPr>
          <a:xfrm>
            <a:off x="8631936" y="4142231"/>
            <a:ext cx="731520" cy="274320"/>
          </a:xfrm>
          <a:prstGeom prst="rect">
            <a:avLst/>
          </a:prstGeom>
          <a:noFill/>
        </p:spPr>
        <p:txBody>
          <a:bodyPr wrap="square" lIns="0" rIns="0" tIns="0" bIns="0" anchor="t">
            <a:spAutoFit/>
          </a:bodyPr>
          <a:lstStyle/>
          <a:p>
            <a:pPr algn="l">
              <a:lnSpc>
                <a:spcPct val="100000"/>
              </a:lnSpc>
            </a:pPr>
            <a:r>
              <a:rPr sz="860" b="1" i="0">
                <a:solidFill>
                  <a:srgbClr val="22B8C7"/>
                </a:solidFill>
                <a:latin typeface="Aptos"/>
              </a:rPr>
              <a:t>HOLD</a:t>
            </a:r>
          </a:p>
        </p:txBody>
      </p:sp>
      <p:sp>
        <p:nvSpPr>
          <p:cNvPr id="34" name="TextBox 33"/>
          <p:cNvSpPr txBox="1"/>
          <p:nvPr/>
        </p:nvSpPr>
        <p:spPr>
          <a:xfrm>
            <a:off x="9345167" y="4133087"/>
            <a:ext cx="1554480" cy="420624"/>
          </a:xfrm>
          <a:prstGeom prst="rect">
            <a:avLst/>
          </a:prstGeom>
          <a:noFill/>
        </p:spPr>
        <p:txBody>
          <a:bodyPr wrap="square" lIns="0" rIns="0" tIns="0" bIns="0" anchor="t">
            <a:spAutoFit/>
          </a:bodyPr>
          <a:lstStyle/>
          <a:p>
            <a:pPr algn="l">
              <a:lnSpc>
                <a:spcPct val="100000"/>
              </a:lnSpc>
            </a:pPr>
            <a:r>
              <a:rPr sz="860" b="0" i="0">
                <a:solidFill>
                  <a:srgbClr val="FFFFFF"/>
                </a:solidFill>
                <a:latin typeface="Aptos"/>
              </a:rPr>
              <a:t>reinforcement restrains large fragments</a:t>
            </a:r>
          </a:p>
        </p:txBody>
      </p:sp>
      <p:sp>
        <p:nvSpPr>
          <p:cNvPr id="35" name="Rounded Rectangle 34"/>
          <p:cNvSpPr/>
          <p:nvPr/>
        </p:nvSpPr>
        <p:spPr>
          <a:xfrm>
            <a:off x="813816" y="5367528"/>
            <a:ext cx="10332720" cy="347472"/>
          </a:xfrm>
          <a:prstGeom prst="roundRect">
            <a:avLst/>
          </a:prstGeom>
          <a:solidFill>
            <a:srgbClr val="FBE7E7"/>
          </a:solidFill>
          <a:ln>
            <a:solidFill>
              <a:srgbClr val="FBE7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69264" y="5449824"/>
            <a:ext cx="10021824" cy="192024"/>
          </a:xfrm>
          <a:prstGeom prst="rect">
            <a:avLst/>
          </a:prstGeom>
          <a:noFill/>
        </p:spPr>
        <p:txBody>
          <a:bodyPr wrap="square" lIns="0" rIns="0" tIns="0" bIns="0" anchor="t">
            <a:spAutoFit/>
          </a:bodyPr>
          <a:lstStyle/>
          <a:p>
            <a:pPr algn="l">
              <a:lnSpc>
                <a:spcPct val="100000"/>
              </a:lnSpc>
            </a:pPr>
            <a:r>
              <a:rPr sz="890" b="1" i="0">
                <a:solidFill>
                  <a:srgbClr val="D95D5D"/>
                </a:solidFill>
                <a:latin typeface="Aptos"/>
              </a:rPr>
              <a:t>LWC10 has the highest first-impact displacement (0.85 mm); LWC15 is slightly stiffer (0.71 mm) yet vastly more durable under repeated impact.</a:t>
            </a:r>
          </a:p>
        </p:txBody>
      </p:sp>
      <p:sp>
        <p:nvSpPr>
          <p:cNvPr id="37" name="TextBox 36"/>
          <p:cNvSpPr txBox="1"/>
          <p:nvPr/>
        </p:nvSpPr>
        <p:spPr>
          <a:xfrm>
            <a:off x="667512" y="5879592"/>
            <a:ext cx="10652760" cy="256032"/>
          </a:xfrm>
          <a:prstGeom prst="rect">
            <a:avLst/>
          </a:prstGeom>
          <a:noFill/>
        </p:spPr>
        <p:txBody>
          <a:bodyPr wrap="square" lIns="0" rIns="0" tIns="0" bIns="0" anchor="ctr">
            <a:spAutoFit/>
          </a:bodyPr>
          <a:lstStyle/>
          <a:p>
            <a:pPr algn="l">
              <a:lnSpc>
                <a:spcPct val="100000"/>
              </a:lnSpc>
            </a:pPr>
            <a:r>
              <a:rPr sz="700" b="0" i="0">
                <a:solidFill>
                  <a:srgbClr val="596C78"/>
                </a:solidFill>
                <a:latin typeface="Aptos"/>
              </a:rPr>
              <a:t>Source: Inventor dataset, manuscript Table 9 and material/failure photos (Figs. 2 and 10). Mechanism supported by Wang &amp; Wang (2013), Gao et al. (1997) and Sahoo et al. (2020). Error values supplied: SD 0.005–0.0686 mm.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640080" y="164592"/>
            <a:ext cx="2514600" cy="201168"/>
          </a:xfrm>
          <a:prstGeom prst="rect">
            <a:avLst/>
          </a:prstGeom>
          <a:noFill/>
        </p:spPr>
        <p:txBody>
          <a:bodyPr wrap="square" lIns="0" rIns="0" tIns="0" bIns="0" anchor="t">
            <a:spAutoFit/>
          </a:bodyPr>
          <a:lstStyle/>
          <a:p>
            <a:pPr algn="l">
              <a:lnSpc>
                <a:spcPct val="100000"/>
              </a:lnSpc>
            </a:pPr>
            <a:r>
              <a:rPr sz="850" b="1" i="0">
                <a:solidFill>
                  <a:srgbClr val="2B78A6"/>
                </a:solidFill>
                <a:latin typeface="Aptos"/>
              </a:rPr>
              <a:t>TECHNO-ECONOMICS</a:t>
            </a:r>
          </a:p>
        </p:txBody>
      </p:sp>
      <p:sp>
        <p:nvSpPr>
          <p:cNvPr id="3" name="TextBox 2"/>
          <p:cNvSpPr txBox="1"/>
          <p:nvPr/>
        </p:nvSpPr>
        <p:spPr>
          <a:xfrm>
            <a:off x="640080" y="338328"/>
            <a:ext cx="9921240" cy="612648"/>
          </a:xfrm>
          <a:prstGeom prst="rect">
            <a:avLst/>
          </a:prstGeom>
          <a:noFill/>
        </p:spPr>
        <p:txBody>
          <a:bodyPr wrap="square" lIns="0" rIns="0" tIns="0" bIns="0" anchor="ctr">
            <a:spAutoFit/>
          </a:bodyPr>
          <a:lstStyle/>
          <a:p>
            <a:pPr algn="l">
              <a:lnSpc>
                <a:spcPct val="92000"/>
              </a:lnSpc>
            </a:pPr>
            <a:r>
              <a:rPr sz="2080" b="1" i="0">
                <a:solidFill>
                  <a:srgbClr val="172733"/>
                </a:solidFill>
                <a:latin typeface="Aptos Display"/>
              </a:rPr>
              <a:t>The optimum is expensive per m³—but efficient per absorbed joule</a:t>
            </a:r>
          </a:p>
        </p:txBody>
      </p:sp>
      <p:sp>
        <p:nvSpPr>
          <p:cNvPr id="4" name="Rounded Rectangle 3"/>
          <p:cNvSpPr/>
          <p:nvPr/>
        </p:nvSpPr>
        <p:spPr>
          <a:xfrm>
            <a:off x="11173968" y="128016"/>
            <a:ext cx="749808" cy="58521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itbbs_logo_official.png"/>
          <p:cNvPicPr>
            <a:picLocks noChangeAspect="1"/>
          </p:cNvPicPr>
          <p:nvPr/>
        </p:nvPicPr>
        <p:blipFill>
          <a:blip r:embed="rId2"/>
          <a:stretch>
            <a:fillRect/>
          </a:stretch>
        </p:blipFill>
        <p:spPr>
          <a:xfrm>
            <a:off x="11283696" y="164592"/>
            <a:ext cx="530352" cy="493776"/>
          </a:xfrm>
          <a:prstGeom prst="rect">
            <a:avLst/>
          </a:prstGeom>
        </p:spPr>
      </p:pic>
      <p:cxnSp>
        <p:nvCxnSpPr>
          <p:cNvPr id="6" name="Connector 5"/>
          <p:cNvCxnSpPr/>
          <p:nvPr/>
        </p:nvCxnSpPr>
        <p:spPr>
          <a:xfrm>
            <a:off x="640080" y="1005840"/>
            <a:ext cx="10899648" cy="0"/>
          </a:xfrm>
          <a:prstGeom prst="line">
            <a:avLst/>
          </a:prstGeom>
          <a:ln w="10160">
            <a:solidFill>
              <a:srgbClr val="D8E2E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473952"/>
            <a:ext cx="10899648" cy="0"/>
          </a:xfrm>
          <a:prstGeom prst="line">
            <a:avLst/>
          </a:prstGeom>
          <a:ln w="8890">
            <a:solidFill>
              <a:srgbClr val="D8E2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58368" y="6547104"/>
            <a:ext cx="9784080" cy="164592"/>
          </a:xfrm>
          <a:prstGeom prst="rect">
            <a:avLst/>
          </a:prstGeom>
          <a:noFill/>
        </p:spPr>
        <p:txBody>
          <a:bodyPr wrap="square" lIns="0" rIns="0" tIns="0" bIns="0" anchor="t">
            <a:spAutoFit/>
          </a:bodyPr>
          <a:lstStyle/>
          <a:p>
            <a:pPr algn="l">
              <a:lnSpc>
                <a:spcPct val="100000"/>
              </a:lnSpc>
            </a:pPr>
            <a:r>
              <a:rPr sz="760" b="1" i="0">
                <a:solidFill>
                  <a:srgbClr val="596C78"/>
                </a:solidFill>
                <a:latin typeface="Aptos"/>
              </a:rPr>
              <a:t>EXTERNAL REDACTED DRAFT • IP STATUS TO CONFIRM • DISTRIBUTE ONLY WITH IITBBS IP APPROVAL</a:t>
            </a:r>
          </a:p>
        </p:txBody>
      </p:sp>
      <p:sp>
        <p:nvSpPr>
          <p:cNvPr id="9" name="TextBox 8"/>
          <p:cNvSpPr txBox="1"/>
          <p:nvPr/>
        </p:nvSpPr>
        <p:spPr>
          <a:xfrm>
            <a:off x="10972800" y="6528816"/>
            <a:ext cx="548640" cy="173736"/>
          </a:xfrm>
          <a:prstGeom prst="rect">
            <a:avLst/>
          </a:prstGeom>
          <a:noFill/>
        </p:spPr>
        <p:txBody>
          <a:bodyPr wrap="square" lIns="0" rIns="0" tIns="0" bIns="0" anchor="t">
            <a:spAutoFit/>
          </a:bodyPr>
          <a:lstStyle/>
          <a:p>
            <a:pPr algn="r">
              <a:lnSpc>
                <a:spcPct val="100000"/>
              </a:lnSpc>
            </a:pPr>
            <a:r>
              <a:rPr sz="830" b="1" i="0">
                <a:solidFill>
                  <a:srgbClr val="596C78"/>
                </a:solidFill>
                <a:latin typeface="Aptos"/>
              </a:rPr>
              <a:t>12</a:t>
            </a:r>
          </a:p>
        </p:txBody>
      </p:sp>
      <p:graphicFrame>
        <p:nvGraphicFramePr>
          <p:cNvPr id="10" name="Chart 9"/>
          <p:cNvGraphicFramePr>
            <a:graphicFrameLocks noGrp="1"/>
          </p:cNvGraphicFramePr>
          <p:nvPr/>
        </p:nvGraphicFramePr>
        <p:xfrm>
          <a:off x="676656" y="1344168"/>
          <a:ext cx="5138928" cy="3886200"/>
        </p:xfrm>
        <a:graphic>
          <a:graphicData uri="http://schemas.openxmlformats.org/drawingml/2006/chart">
            <c:chart xmlns:c="http://schemas.openxmlformats.org/drawingml/2006/chart" r:id="rId3"/>
          </a:graphicData>
        </a:graphic>
      </p:graphicFrame>
      <p:sp>
        <p:nvSpPr>
          <p:cNvPr id="11" name="TextBox 10"/>
          <p:cNvSpPr txBox="1"/>
          <p:nvPr/>
        </p:nvSpPr>
        <p:spPr>
          <a:xfrm>
            <a:off x="722376" y="1362456"/>
            <a:ext cx="5047488" cy="237744"/>
          </a:xfrm>
          <a:prstGeom prst="rect">
            <a:avLst/>
          </a:prstGeom>
          <a:noFill/>
        </p:spPr>
        <p:txBody>
          <a:bodyPr wrap="square" lIns="0" rIns="0" tIns="0" bIns="0" anchor="t">
            <a:spAutoFit/>
          </a:bodyPr>
          <a:lstStyle/>
          <a:p>
            <a:pPr algn="ctr">
              <a:lnSpc>
                <a:spcPct val="100000"/>
              </a:lnSpc>
            </a:pPr>
            <a:r>
              <a:rPr sz="1050" b="1" i="0">
                <a:solidFill>
                  <a:srgbClr val="172733"/>
                </a:solidFill>
                <a:latin typeface="Aptos"/>
              </a:rPr>
              <a:t>Material cost</a:t>
            </a:r>
          </a:p>
        </p:txBody>
      </p:sp>
      <p:graphicFrame>
        <p:nvGraphicFramePr>
          <p:cNvPr id="12" name="Chart 11"/>
          <p:cNvGraphicFramePr>
            <a:graphicFrameLocks noGrp="1"/>
          </p:cNvGraphicFramePr>
          <p:nvPr/>
        </p:nvGraphicFramePr>
        <p:xfrm>
          <a:off x="6181344" y="1344168"/>
          <a:ext cx="5138928" cy="3886200"/>
        </p:xfrm>
        <a:graphic>
          <a:graphicData uri="http://schemas.openxmlformats.org/drawingml/2006/chart">
            <c:chart xmlns:c="http://schemas.openxmlformats.org/drawingml/2006/chart" r:id="rId4"/>
          </a:graphicData>
        </a:graphic>
      </p:graphicFrame>
      <p:sp>
        <p:nvSpPr>
          <p:cNvPr id="13" name="TextBox 12"/>
          <p:cNvSpPr txBox="1"/>
          <p:nvPr/>
        </p:nvSpPr>
        <p:spPr>
          <a:xfrm>
            <a:off x="6227064" y="1362456"/>
            <a:ext cx="5047488" cy="237744"/>
          </a:xfrm>
          <a:prstGeom prst="rect">
            <a:avLst/>
          </a:prstGeom>
          <a:noFill/>
        </p:spPr>
        <p:txBody>
          <a:bodyPr wrap="square" lIns="0" rIns="0" tIns="0" bIns="0" anchor="t">
            <a:spAutoFit/>
          </a:bodyPr>
          <a:lstStyle/>
          <a:p>
            <a:pPr algn="ctr">
              <a:lnSpc>
                <a:spcPct val="100000"/>
              </a:lnSpc>
            </a:pPr>
            <a:r>
              <a:rPr sz="1050" b="1" i="0">
                <a:solidFill>
                  <a:srgbClr val="172733"/>
                </a:solidFill>
                <a:latin typeface="Aptos"/>
              </a:rPr>
              <a:t>Laboratory cost / impact energy</a:t>
            </a:r>
          </a:p>
        </p:txBody>
      </p:sp>
      <p:sp>
        <p:nvSpPr>
          <p:cNvPr id="14" name="Rounded Rectangle 13"/>
          <p:cNvSpPr/>
          <p:nvPr/>
        </p:nvSpPr>
        <p:spPr>
          <a:xfrm>
            <a:off x="859536" y="5230368"/>
            <a:ext cx="2286000" cy="292608"/>
          </a:xfrm>
          <a:prstGeom prst="roundRect">
            <a:avLst>
              <a:gd name="adj" fmla="val 50000"/>
            </a:avLst>
          </a:prstGeom>
          <a:solidFill>
            <a:srgbClr val="FBE7E7"/>
          </a:solidFill>
          <a:ln w="10160">
            <a:solidFill>
              <a:srgbClr val="FBE7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5244083"/>
            <a:ext cx="2212848" cy="246888"/>
          </a:xfrm>
          <a:prstGeom prst="rect">
            <a:avLst/>
          </a:prstGeom>
          <a:noFill/>
        </p:spPr>
        <p:txBody>
          <a:bodyPr wrap="square" lIns="0" rIns="0" tIns="0" bIns="0" anchor="ctr">
            <a:spAutoFit/>
          </a:bodyPr>
          <a:lstStyle/>
          <a:p>
            <a:pPr algn="ctr">
              <a:lnSpc>
                <a:spcPct val="100000"/>
              </a:lnSpc>
            </a:pPr>
            <a:r>
              <a:rPr sz="910" b="1" i="0">
                <a:solidFill>
                  <a:srgbClr val="D95D5D"/>
                </a:solidFill>
                <a:latin typeface="Aptos"/>
              </a:rPr>
              <a:t>LWC15 cost = 3.27× NWC</a:t>
            </a:r>
          </a:p>
        </p:txBody>
      </p:sp>
      <p:sp>
        <p:nvSpPr>
          <p:cNvPr id="16" name="Rounded Rectangle 15"/>
          <p:cNvSpPr/>
          <p:nvPr/>
        </p:nvSpPr>
        <p:spPr>
          <a:xfrm>
            <a:off x="3429000" y="5230368"/>
            <a:ext cx="2057400" cy="292608"/>
          </a:xfrm>
          <a:prstGeom prst="roundRect">
            <a:avLst>
              <a:gd name="adj" fmla="val 50000"/>
            </a:avLst>
          </a:prstGeom>
          <a:solidFill>
            <a:srgbClr val="FFF0DF"/>
          </a:solidFill>
          <a:ln w="10160">
            <a:solidFill>
              <a:srgbClr val="FFF0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65576" y="5244083"/>
            <a:ext cx="1984248" cy="246888"/>
          </a:xfrm>
          <a:prstGeom prst="rect">
            <a:avLst/>
          </a:prstGeom>
          <a:noFill/>
        </p:spPr>
        <p:txBody>
          <a:bodyPr wrap="square" lIns="0" rIns="0" tIns="0" bIns="0" anchor="ctr">
            <a:spAutoFit/>
          </a:bodyPr>
          <a:lstStyle/>
          <a:p>
            <a:pPr algn="ctr">
              <a:lnSpc>
                <a:spcPct val="100000"/>
              </a:lnSpc>
            </a:pPr>
            <a:r>
              <a:rPr sz="910" b="1" i="0">
                <a:solidFill>
                  <a:srgbClr val="F39C3D"/>
                </a:solidFill>
                <a:latin typeface="Aptos"/>
              </a:rPr>
              <a:t>Reinforcement dominates cost</a:t>
            </a:r>
          </a:p>
        </p:txBody>
      </p:sp>
      <p:sp>
        <p:nvSpPr>
          <p:cNvPr id="18" name="Rounded Rectangle 17"/>
          <p:cNvSpPr/>
          <p:nvPr/>
        </p:nvSpPr>
        <p:spPr>
          <a:xfrm>
            <a:off x="6419088" y="5230368"/>
            <a:ext cx="2450592" cy="292608"/>
          </a:xfrm>
          <a:prstGeom prst="roundRect">
            <a:avLst>
              <a:gd name="adj" fmla="val 50000"/>
            </a:avLst>
          </a:prstGeom>
          <a:solidFill>
            <a:srgbClr val="DDF5F4"/>
          </a:solidFill>
          <a:ln w="10160">
            <a:solidFill>
              <a:srgbClr val="DDF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55664" y="5244083"/>
            <a:ext cx="2377440" cy="246888"/>
          </a:xfrm>
          <a:prstGeom prst="rect">
            <a:avLst/>
          </a:prstGeom>
          <a:noFill/>
        </p:spPr>
        <p:txBody>
          <a:bodyPr wrap="square" lIns="0" rIns="0" tIns="0" bIns="0" anchor="ctr">
            <a:spAutoFit/>
          </a:bodyPr>
          <a:lstStyle/>
          <a:p>
            <a:pPr algn="ctr">
              <a:lnSpc>
                <a:spcPct val="100000"/>
              </a:lnSpc>
            </a:pPr>
            <a:r>
              <a:rPr sz="910" b="1" i="0">
                <a:solidFill>
                  <a:srgbClr val="178D86"/>
                </a:solidFill>
                <a:latin typeface="Aptos"/>
              </a:rPr>
              <a:t>Unit impact value = 16.9× better</a:t>
            </a:r>
          </a:p>
        </p:txBody>
      </p:sp>
      <p:sp>
        <p:nvSpPr>
          <p:cNvPr id="20" name="Rounded Rectangle 19"/>
          <p:cNvSpPr/>
          <p:nvPr/>
        </p:nvSpPr>
        <p:spPr>
          <a:xfrm>
            <a:off x="9144000" y="5230368"/>
            <a:ext cx="1920240" cy="292608"/>
          </a:xfrm>
          <a:prstGeom prst="roundRect">
            <a:avLst>
              <a:gd name="adj" fmla="val 50000"/>
            </a:avLst>
          </a:prstGeom>
          <a:solidFill>
            <a:srgbClr val="DDEEF5"/>
          </a:solidFill>
          <a:ln w="10160">
            <a:solidFill>
              <a:srgbClr val="DD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80576" y="5244083"/>
            <a:ext cx="1847088" cy="246888"/>
          </a:xfrm>
          <a:prstGeom prst="rect">
            <a:avLst/>
          </a:prstGeom>
          <a:noFill/>
        </p:spPr>
        <p:txBody>
          <a:bodyPr wrap="square" lIns="0" rIns="0" tIns="0" bIns="0" anchor="ctr">
            <a:spAutoFit/>
          </a:bodyPr>
          <a:lstStyle/>
          <a:p>
            <a:pPr algn="ctr">
              <a:lnSpc>
                <a:spcPct val="100000"/>
              </a:lnSpc>
            </a:pPr>
            <a:r>
              <a:rPr sz="910" b="1" i="0">
                <a:solidFill>
                  <a:srgbClr val="2B78A6"/>
                </a:solidFill>
                <a:latin typeface="Aptos"/>
              </a:rPr>
              <a:t>₹5.53 per N·m</a:t>
            </a:r>
          </a:p>
        </p:txBody>
      </p:sp>
      <p:sp>
        <p:nvSpPr>
          <p:cNvPr id="22" name="TextBox 21"/>
          <p:cNvSpPr txBox="1"/>
          <p:nvPr/>
        </p:nvSpPr>
        <p:spPr>
          <a:xfrm>
            <a:off x="676656" y="5879592"/>
            <a:ext cx="10652760" cy="256032"/>
          </a:xfrm>
          <a:prstGeom prst="rect">
            <a:avLst/>
          </a:prstGeom>
          <a:noFill/>
        </p:spPr>
        <p:txBody>
          <a:bodyPr wrap="square" lIns="0" rIns="0" tIns="0" bIns="0" anchor="ctr">
            <a:spAutoFit/>
          </a:bodyPr>
          <a:lstStyle/>
          <a:p>
            <a:pPr algn="l">
              <a:lnSpc>
                <a:spcPct val="100000"/>
              </a:lnSpc>
            </a:pPr>
            <a:r>
              <a:rPr sz="700" b="0" i="0">
                <a:solidFill>
                  <a:srgbClr val="596C78"/>
                </a:solidFill>
                <a:latin typeface="Aptos"/>
              </a:rPr>
              <a:t>Source: Inventor dataset, manuscript Tables 7 and 10. Local material prices × mix quantities; cost/energy uses prism E₂. Excludes labour, transport, curing, reinforcement, fabrication, repair, service life, inflation and test uncertainty.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640080" y="164592"/>
            <a:ext cx="2514600" cy="201168"/>
          </a:xfrm>
          <a:prstGeom prst="rect">
            <a:avLst/>
          </a:prstGeom>
          <a:noFill/>
        </p:spPr>
        <p:txBody>
          <a:bodyPr wrap="square" lIns="0" rIns="0" tIns="0" bIns="0" anchor="t">
            <a:spAutoFit/>
          </a:bodyPr>
          <a:lstStyle/>
          <a:p>
            <a:pPr algn="l">
              <a:lnSpc>
                <a:spcPct val="100000"/>
              </a:lnSpc>
            </a:pPr>
            <a:r>
              <a:rPr sz="850" b="1" i="0">
                <a:solidFill>
                  <a:srgbClr val="2B78A6"/>
                </a:solidFill>
                <a:latin typeface="Aptos"/>
              </a:rPr>
              <a:t>SCALED VALIDATION</a:t>
            </a:r>
          </a:p>
        </p:txBody>
      </p:sp>
      <p:sp>
        <p:nvSpPr>
          <p:cNvPr id="3" name="TextBox 2"/>
          <p:cNvSpPr txBox="1"/>
          <p:nvPr/>
        </p:nvSpPr>
        <p:spPr>
          <a:xfrm>
            <a:off x="640080" y="338328"/>
            <a:ext cx="9921240" cy="612648"/>
          </a:xfrm>
          <a:prstGeom prst="rect">
            <a:avLst/>
          </a:prstGeom>
          <a:noFill/>
        </p:spPr>
        <p:txBody>
          <a:bodyPr wrap="square" lIns="0" rIns="0" tIns="0" bIns="0" anchor="ctr">
            <a:spAutoFit/>
          </a:bodyPr>
          <a:lstStyle/>
          <a:p>
            <a:pPr algn="l">
              <a:lnSpc>
                <a:spcPct val="92000"/>
              </a:lnSpc>
            </a:pPr>
            <a:r>
              <a:rPr sz="2080" b="1" i="0">
                <a:solidFill>
                  <a:srgbClr val="172733"/>
                </a:solidFill>
                <a:latin typeface="Aptos Display"/>
              </a:rPr>
              <a:t>Application-scale test: 1:3 New Jersey barrier under pendulum impact</a:t>
            </a:r>
          </a:p>
        </p:txBody>
      </p:sp>
      <p:sp>
        <p:nvSpPr>
          <p:cNvPr id="4" name="Rounded Rectangle 3"/>
          <p:cNvSpPr/>
          <p:nvPr/>
        </p:nvSpPr>
        <p:spPr>
          <a:xfrm>
            <a:off x="11173968" y="128016"/>
            <a:ext cx="749808" cy="58521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itbbs_logo_official.png"/>
          <p:cNvPicPr>
            <a:picLocks noChangeAspect="1"/>
          </p:cNvPicPr>
          <p:nvPr/>
        </p:nvPicPr>
        <p:blipFill>
          <a:blip r:embed="rId2"/>
          <a:stretch>
            <a:fillRect/>
          </a:stretch>
        </p:blipFill>
        <p:spPr>
          <a:xfrm>
            <a:off x="11283696" y="164592"/>
            <a:ext cx="530352" cy="493776"/>
          </a:xfrm>
          <a:prstGeom prst="rect">
            <a:avLst/>
          </a:prstGeom>
        </p:spPr>
      </p:pic>
      <p:cxnSp>
        <p:nvCxnSpPr>
          <p:cNvPr id="6" name="Connector 5"/>
          <p:cNvCxnSpPr/>
          <p:nvPr/>
        </p:nvCxnSpPr>
        <p:spPr>
          <a:xfrm>
            <a:off x="640080" y="1005840"/>
            <a:ext cx="10899648" cy="0"/>
          </a:xfrm>
          <a:prstGeom prst="line">
            <a:avLst/>
          </a:prstGeom>
          <a:ln w="10160">
            <a:solidFill>
              <a:srgbClr val="D8E2E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473952"/>
            <a:ext cx="10899648" cy="0"/>
          </a:xfrm>
          <a:prstGeom prst="line">
            <a:avLst/>
          </a:prstGeom>
          <a:ln w="8890">
            <a:solidFill>
              <a:srgbClr val="D8E2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58368" y="6547104"/>
            <a:ext cx="9784080" cy="164592"/>
          </a:xfrm>
          <a:prstGeom prst="rect">
            <a:avLst/>
          </a:prstGeom>
          <a:noFill/>
        </p:spPr>
        <p:txBody>
          <a:bodyPr wrap="square" lIns="0" rIns="0" tIns="0" bIns="0" anchor="t">
            <a:spAutoFit/>
          </a:bodyPr>
          <a:lstStyle/>
          <a:p>
            <a:pPr algn="l">
              <a:lnSpc>
                <a:spcPct val="100000"/>
              </a:lnSpc>
            </a:pPr>
            <a:r>
              <a:rPr sz="760" b="1" i="0">
                <a:solidFill>
                  <a:srgbClr val="596C78"/>
                </a:solidFill>
                <a:latin typeface="Aptos"/>
              </a:rPr>
              <a:t>EXTERNAL REDACTED DRAFT • IP STATUS TO CONFIRM • DISTRIBUTE ONLY WITH IITBBS IP APPROVAL</a:t>
            </a:r>
          </a:p>
        </p:txBody>
      </p:sp>
      <p:sp>
        <p:nvSpPr>
          <p:cNvPr id="9" name="TextBox 8"/>
          <p:cNvSpPr txBox="1"/>
          <p:nvPr/>
        </p:nvSpPr>
        <p:spPr>
          <a:xfrm>
            <a:off x="10972800" y="6528816"/>
            <a:ext cx="548640" cy="173736"/>
          </a:xfrm>
          <a:prstGeom prst="rect">
            <a:avLst/>
          </a:prstGeom>
          <a:noFill/>
        </p:spPr>
        <p:txBody>
          <a:bodyPr wrap="square" lIns="0" rIns="0" tIns="0" bIns="0" anchor="t">
            <a:spAutoFit/>
          </a:bodyPr>
          <a:lstStyle/>
          <a:p>
            <a:pPr algn="r">
              <a:lnSpc>
                <a:spcPct val="100000"/>
              </a:lnSpc>
            </a:pPr>
            <a:r>
              <a:rPr sz="830" b="1" i="0">
                <a:solidFill>
                  <a:srgbClr val="596C78"/>
                </a:solidFill>
                <a:latin typeface="Aptos"/>
              </a:rPr>
              <a:t>13</a:t>
            </a:r>
          </a:p>
        </p:txBody>
      </p:sp>
      <p:pic>
        <p:nvPicPr>
          <p:cNvPr id="10" name="Picture 9" descr="barrier_geometry_contain.jpg"/>
          <p:cNvPicPr>
            <a:picLocks noChangeAspect="1"/>
          </p:cNvPicPr>
          <p:nvPr/>
        </p:nvPicPr>
        <p:blipFill>
          <a:blip r:embed="rId3"/>
          <a:stretch>
            <a:fillRect/>
          </a:stretch>
        </p:blipFill>
        <p:spPr>
          <a:xfrm>
            <a:off x="658368" y="1225296"/>
            <a:ext cx="5166360" cy="3493008"/>
          </a:xfrm>
          <a:prstGeom prst="rect">
            <a:avLst/>
          </a:prstGeom>
        </p:spPr>
      </p:pic>
      <p:pic>
        <p:nvPicPr>
          <p:cNvPr id="11" name="Picture 10" descr="pendulum_setup_contain.jpg"/>
          <p:cNvPicPr>
            <a:picLocks noChangeAspect="1"/>
          </p:cNvPicPr>
          <p:nvPr/>
        </p:nvPicPr>
        <p:blipFill>
          <a:blip r:embed="rId4"/>
          <a:stretch>
            <a:fillRect/>
          </a:stretch>
        </p:blipFill>
        <p:spPr>
          <a:xfrm>
            <a:off x="6099048" y="1225296"/>
            <a:ext cx="5166360" cy="3493008"/>
          </a:xfrm>
          <a:prstGeom prst="rect">
            <a:avLst/>
          </a:prstGeom>
        </p:spPr>
      </p:pic>
      <p:sp>
        <p:nvSpPr>
          <p:cNvPr id="12" name="TextBox 11"/>
          <p:cNvSpPr txBox="1"/>
          <p:nvPr/>
        </p:nvSpPr>
        <p:spPr>
          <a:xfrm>
            <a:off x="841248" y="4361688"/>
            <a:ext cx="4800600" cy="265176"/>
          </a:xfrm>
          <a:prstGeom prst="rect">
            <a:avLst/>
          </a:prstGeom>
          <a:noFill/>
        </p:spPr>
        <p:txBody>
          <a:bodyPr wrap="square" lIns="0" rIns="0" tIns="0" bIns="0" anchor="t">
            <a:spAutoFit/>
          </a:bodyPr>
          <a:lstStyle/>
          <a:p>
            <a:pPr algn="ctr">
              <a:lnSpc>
                <a:spcPct val="100000"/>
              </a:lnSpc>
            </a:pPr>
            <a:r>
              <a:rPr sz="850" b="1" i="0">
                <a:solidFill>
                  <a:srgbClr val="172733"/>
                </a:solidFill>
                <a:latin typeface="Aptos"/>
              </a:rPr>
              <a:t>Full-scale and 1:3 cross-section / reinforcement geometry</a:t>
            </a:r>
          </a:p>
        </p:txBody>
      </p:sp>
      <p:sp>
        <p:nvSpPr>
          <p:cNvPr id="13" name="TextBox 12"/>
          <p:cNvSpPr txBox="1"/>
          <p:nvPr/>
        </p:nvSpPr>
        <p:spPr>
          <a:xfrm>
            <a:off x="6281928" y="4361688"/>
            <a:ext cx="4800600" cy="265176"/>
          </a:xfrm>
          <a:prstGeom prst="rect">
            <a:avLst/>
          </a:prstGeom>
          <a:noFill/>
        </p:spPr>
        <p:txBody>
          <a:bodyPr wrap="square" lIns="0" rIns="0" tIns="0" bIns="0" anchor="t">
            <a:spAutoFit/>
          </a:bodyPr>
          <a:lstStyle/>
          <a:p>
            <a:pPr algn="ctr">
              <a:lnSpc>
                <a:spcPct val="100000"/>
              </a:lnSpc>
            </a:pPr>
            <a:r>
              <a:rPr sz="850" b="1" i="0">
                <a:solidFill>
                  <a:srgbClr val="172733"/>
                </a:solidFill>
                <a:latin typeface="Aptos"/>
              </a:rPr>
              <a:t>Pendulum rig: restrained specimen; rear-face accelerometer</a:t>
            </a:r>
          </a:p>
        </p:txBody>
      </p:sp>
      <p:sp>
        <p:nvSpPr>
          <p:cNvPr id="14" name="Rounded Rectangle 13"/>
          <p:cNvSpPr/>
          <p:nvPr/>
        </p:nvSpPr>
        <p:spPr>
          <a:xfrm>
            <a:off x="768096" y="4846320"/>
            <a:ext cx="2377440" cy="804672"/>
          </a:xfrm>
          <a:prstGeom prst="round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4992624"/>
            <a:ext cx="2048256" cy="438912"/>
          </a:xfrm>
          <a:prstGeom prst="rect">
            <a:avLst/>
          </a:prstGeom>
          <a:noFill/>
        </p:spPr>
        <p:txBody>
          <a:bodyPr wrap="square" lIns="0" rIns="0" tIns="0" bIns="0" anchor="ctr">
            <a:spAutoFit/>
          </a:bodyPr>
          <a:lstStyle/>
          <a:p>
            <a:pPr algn="l">
              <a:lnSpc>
                <a:spcPct val="100000"/>
              </a:lnSpc>
            </a:pPr>
            <a:r>
              <a:rPr sz="1700" b="1" i="0">
                <a:solidFill>
                  <a:srgbClr val="2B78A6"/>
                </a:solidFill>
                <a:latin typeface="Aptos Display"/>
              </a:rPr>
              <a:t>40 kg</a:t>
            </a:r>
          </a:p>
        </p:txBody>
      </p:sp>
      <p:sp>
        <p:nvSpPr>
          <p:cNvPr id="16" name="TextBox 15"/>
          <p:cNvSpPr txBox="1"/>
          <p:nvPr/>
        </p:nvSpPr>
        <p:spPr>
          <a:xfrm>
            <a:off x="932688" y="5486400"/>
            <a:ext cx="2048256" cy="402336"/>
          </a:xfrm>
          <a:prstGeom prst="rect">
            <a:avLst/>
          </a:prstGeom>
          <a:noFill/>
        </p:spPr>
        <p:txBody>
          <a:bodyPr wrap="square" lIns="0" rIns="0" tIns="0" bIns="0" anchor="t">
            <a:spAutoFit/>
          </a:bodyPr>
          <a:lstStyle/>
          <a:p>
            <a:pPr algn="l">
              <a:lnSpc>
                <a:spcPct val="100000"/>
              </a:lnSpc>
            </a:pPr>
            <a:r>
              <a:rPr sz="1050" b="1" i="0">
                <a:solidFill>
                  <a:srgbClr val="172733"/>
                </a:solidFill>
                <a:latin typeface="Aptos"/>
              </a:rPr>
              <a:t>impactor</a:t>
            </a:r>
          </a:p>
        </p:txBody>
      </p:sp>
      <p:sp>
        <p:nvSpPr>
          <p:cNvPr id="17" name="Rounded Rectangle 16"/>
          <p:cNvSpPr/>
          <p:nvPr/>
        </p:nvSpPr>
        <p:spPr>
          <a:xfrm>
            <a:off x="3447288" y="4846320"/>
            <a:ext cx="2377440" cy="804672"/>
          </a:xfrm>
          <a:prstGeom prst="round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11880" y="4992624"/>
            <a:ext cx="2048256" cy="438912"/>
          </a:xfrm>
          <a:prstGeom prst="rect">
            <a:avLst/>
          </a:prstGeom>
          <a:noFill/>
        </p:spPr>
        <p:txBody>
          <a:bodyPr wrap="square" lIns="0" rIns="0" tIns="0" bIns="0" anchor="ctr">
            <a:spAutoFit/>
          </a:bodyPr>
          <a:lstStyle/>
          <a:p>
            <a:pPr algn="l">
              <a:lnSpc>
                <a:spcPct val="100000"/>
              </a:lnSpc>
            </a:pPr>
            <a:r>
              <a:rPr sz="1700" b="1" i="0">
                <a:solidFill>
                  <a:srgbClr val="22B8C7"/>
                </a:solidFill>
                <a:latin typeface="Aptos Display"/>
              </a:rPr>
              <a:t>0.35 m</a:t>
            </a:r>
          </a:p>
        </p:txBody>
      </p:sp>
      <p:sp>
        <p:nvSpPr>
          <p:cNvPr id="19" name="TextBox 18"/>
          <p:cNvSpPr txBox="1"/>
          <p:nvPr/>
        </p:nvSpPr>
        <p:spPr>
          <a:xfrm>
            <a:off x="3611880" y="5486400"/>
            <a:ext cx="2048256" cy="402336"/>
          </a:xfrm>
          <a:prstGeom prst="rect">
            <a:avLst/>
          </a:prstGeom>
          <a:noFill/>
        </p:spPr>
        <p:txBody>
          <a:bodyPr wrap="square" lIns="0" rIns="0" tIns="0" bIns="0" anchor="t">
            <a:spAutoFit/>
          </a:bodyPr>
          <a:lstStyle/>
          <a:p>
            <a:pPr algn="l">
              <a:lnSpc>
                <a:spcPct val="100000"/>
              </a:lnSpc>
            </a:pPr>
            <a:r>
              <a:rPr sz="1050" b="1" i="0">
                <a:solidFill>
                  <a:srgbClr val="172733"/>
                </a:solidFill>
                <a:latin typeface="Aptos"/>
              </a:rPr>
              <a:t>vertical rise</a:t>
            </a:r>
          </a:p>
        </p:txBody>
      </p:sp>
      <p:sp>
        <p:nvSpPr>
          <p:cNvPr id="20" name="Rounded Rectangle 19"/>
          <p:cNvSpPr/>
          <p:nvPr/>
        </p:nvSpPr>
        <p:spPr>
          <a:xfrm>
            <a:off x="6126480" y="4846320"/>
            <a:ext cx="2377440" cy="804672"/>
          </a:xfrm>
          <a:prstGeom prst="round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91072" y="4992624"/>
            <a:ext cx="2048256" cy="438912"/>
          </a:xfrm>
          <a:prstGeom prst="rect">
            <a:avLst/>
          </a:prstGeom>
          <a:noFill/>
        </p:spPr>
        <p:txBody>
          <a:bodyPr wrap="square" lIns="0" rIns="0" tIns="0" bIns="0" anchor="ctr">
            <a:spAutoFit/>
          </a:bodyPr>
          <a:lstStyle/>
          <a:p>
            <a:pPr algn="l">
              <a:lnSpc>
                <a:spcPct val="100000"/>
              </a:lnSpc>
            </a:pPr>
            <a:r>
              <a:rPr sz="1700" b="1" i="0">
                <a:solidFill>
                  <a:srgbClr val="F39C3D"/>
                </a:solidFill>
                <a:latin typeface="Aptos Display"/>
              </a:rPr>
              <a:t>≈137.3 J</a:t>
            </a:r>
          </a:p>
        </p:txBody>
      </p:sp>
      <p:sp>
        <p:nvSpPr>
          <p:cNvPr id="22" name="TextBox 21"/>
          <p:cNvSpPr txBox="1"/>
          <p:nvPr/>
        </p:nvSpPr>
        <p:spPr>
          <a:xfrm>
            <a:off x="6291072" y="5486400"/>
            <a:ext cx="2048256" cy="402336"/>
          </a:xfrm>
          <a:prstGeom prst="rect">
            <a:avLst/>
          </a:prstGeom>
          <a:noFill/>
        </p:spPr>
        <p:txBody>
          <a:bodyPr wrap="square" lIns="0" rIns="0" tIns="0" bIns="0" anchor="t">
            <a:spAutoFit/>
          </a:bodyPr>
          <a:lstStyle/>
          <a:p>
            <a:pPr algn="l">
              <a:lnSpc>
                <a:spcPct val="100000"/>
              </a:lnSpc>
            </a:pPr>
            <a:r>
              <a:rPr sz="1050" b="1" i="0">
                <a:solidFill>
                  <a:srgbClr val="172733"/>
                </a:solidFill>
                <a:latin typeface="Aptos"/>
              </a:rPr>
              <a:t>energy / blow</a:t>
            </a:r>
          </a:p>
        </p:txBody>
      </p:sp>
      <p:sp>
        <p:nvSpPr>
          <p:cNvPr id="23" name="Rounded Rectangle 22"/>
          <p:cNvSpPr/>
          <p:nvPr/>
        </p:nvSpPr>
        <p:spPr>
          <a:xfrm>
            <a:off x="8805672" y="4846320"/>
            <a:ext cx="2377440" cy="804672"/>
          </a:xfrm>
          <a:prstGeom prst="round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70264" y="4992624"/>
            <a:ext cx="2048256" cy="438912"/>
          </a:xfrm>
          <a:prstGeom prst="rect">
            <a:avLst/>
          </a:prstGeom>
          <a:noFill/>
        </p:spPr>
        <p:txBody>
          <a:bodyPr wrap="square" lIns="0" rIns="0" tIns="0" bIns="0" anchor="ctr">
            <a:spAutoFit/>
          </a:bodyPr>
          <a:lstStyle/>
          <a:p>
            <a:pPr algn="l">
              <a:lnSpc>
                <a:spcPct val="100000"/>
              </a:lnSpc>
            </a:pPr>
            <a:r>
              <a:rPr sz="1700" b="1" i="0">
                <a:solidFill>
                  <a:srgbClr val="D95D5D"/>
                </a:solidFill>
                <a:latin typeface="Aptos Display"/>
              </a:rPr>
              <a:t>1 each</a:t>
            </a:r>
          </a:p>
        </p:txBody>
      </p:sp>
      <p:sp>
        <p:nvSpPr>
          <p:cNvPr id="25" name="TextBox 24"/>
          <p:cNvSpPr txBox="1"/>
          <p:nvPr/>
        </p:nvSpPr>
        <p:spPr>
          <a:xfrm>
            <a:off x="8970264" y="5486400"/>
            <a:ext cx="2048256" cy="402336"/>
          </a:xfrm>
          <a:prstGeom prst="rect">
            <a:avLst/>
          </a:prstGeom>
          <a:noFill/>
        </p:spPr>
        <p:txBody>
          <a:bodyPr wrap="square" lIns="0" rIns="0" tIns="0" bIns="0" anchor="t">
            <a:spAutoFit/>
          </a:bodyPr>
          <a:lstStyle/>
          <a:p>
            <a:pPr algn="l">
              <a:lnSpc>
                <a:spcPct val="100000"/>
              </a:lnSpc>
            </a:pPr>
            <a:r>
              <a:rPr sz="1050" b="1" i="0">
                <a:solidFill>
                  <a:srgbClr val="172733"/>
                </a:solidFill>
                <a:latin typeface="Aptos"/>
              </a:rPr>
              <a:t>barrier / mix</a:t>
            </a:r>
          </a:p>
        </p:txBody>
      </p:sp>
      <p:sp>
        <p:nvSpPr>
          <p:cNvPr id="26" name="TextBox 25"/>
          <p:cNvSpPr txBox="1"/>
          <p:nvPr/>
        </p:nvSpPr>
        <p:spPr>
          <a:xfrm>
            <a:off x="667512" y="5870448"/>
            <a:ext cx="10652760" cy="256032"/>
          </a:xfrm>
          <a:prstGeom prst="rect">
            <a:avLst/>
          </a:prstGeom>
          <a:noFill/>
        </p:spPr>
        <p:txBody>
          <a:bodyPr wrap="square" lIns="0" rIns="0" tIns="0" bIns="0" anchor="ctr">
            <a:spAutoFit/>
          </a:bodyPr>
          <a:lstStyle/>
          <a:p>
            <a:pPr algn="l">
              <a:lnSpc>
                <a:spcPct val="100000"/>
              </a:lnSpc>
            </a:pPr>
            <a:r>
              <a:rPr sz="700" b="0" i="0">
                <a:solidFill>
                  <a:srgbClr val="596C78"/>
                </a:solidFill>
                <a:latin typeface="Aptos"/>
              </a:rPr>
              <a:t>Source: Inventor-supplied manuscript Figs. 5–7; Testing Methods. Geometry scaled 1:3 using dimensional similarity; energy per blow = 40 × 9.81 × 0.35 ≈ 137.3 J. One NWC and one LWC15 barrier were tested.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640080" y="164592"/>
            <a:ext cx="2514600" cy="201168"/>
          </a:xfrm>
          <a:prstGeom prst="rect">
            <a:avLst/>
          </a:prstGeom>
          <a:noFill/>
        </p:spPr>
        <p:txBody>
          <a:bodyPr wrap="square" lIns="0" rIns="0" tIns="0" bIns="0" anchor="t">
            <a:spAutoFit/>
          </a:bodyPr>
          <a:lstStyle/>
          <a:p>
            <a:pPr algn="l">
              <a:lnSpc>
                <a:spcPct val="100000"/>
              </a:lnSpc>
            </a:pPr>
            <a:r>
              <a:rPr sz="850" b="1" i="0">
                <a:solidFill>
                  <a:srgbClr val="2B78A6"/>
                </a:solidFill>
                <a:latin typeface="Aptos"/>
              </a:rPr>
              <a:t>BARRIER RESULTS</a:t>
            </a:r>
          </a:p>
        </p:txBody>
      </p:sp>
      <p:sp>
        <p:nvSpPr>
          <p:cNvPr id="3" name="TextBox 2"/>
          <p:cNvSpPr txBox="1"/>
          <p:nvPr/>
        </p:nvSpPr>
        <p:spPr>
          <a:xfrm>
            <a:off x="640080" y="338328"/>
            <a:ext cx="9921240" cy="612648"/>
          </a:xfrm>
          <a:prstGeom prst="rect">
            <a:avLst/>
          </a:prstGeom>
          <a:noFill/>
        </p:spPr>
        <p:txBody>
          <a:bodyPr wrap="square" lIns="0" rIns="0" tIns="0" bIns="0" anchor="ctr">
            <a:spAutoFit/>
          </a:bodyPr>
          <a:lstStyle/>
          <a:p>
            <a:pPr algn="l">
              <a:lnSpc>
                <a:spcPct val="92000"/>
              </a:lnSpc>
            </a:pPr>
            <a:r>
              <a:rPr sz="2080" b="1" i="0">
                <a:solidFill>
                  <a:srgbClr val="172733"/>
                </a:solidFill>
                <a:latin typeface="Aptos Display"/>
              </a:rPr>
              <a:t>Scaled-barrier validation preserves the direction of benefit</a:t>
            </a:r>
          </a:p>
        </p:txBody>
      </p:sp>
      <p:sp>
        <p:nvSpPr>
          <p:cNvPr id="4" name="Rounded Rectangle 3"/>
          <p:cNvSpPr/>
          <p:nvPr/>
        </p:nvSpPr>
        <p:spPr>
          <a:xfrm>
            <a:off x="11173968" y="128016"/>
            <a:ext cx="749808" cy="58521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itbbs_logo_official.png"/>
          <p:cNvPicPr>
            <a:picLocks noChangeAspect="1"/>
          </p:cNvPicPr>
          <p:nvPr/>
        </p:nvPicPr>
        <p:blipFill>
          <a:blip r:embed="rId2"/>
          <a:stretch>
            <a:fillRect/>
          </a:stretch>
        </p:blipFill>
        <p:spPr>
          <a:xfrm>
            <a:off x="11283696" y="164592"/>
            <a:ext cx="530352" cy="493776"/>
          </a:xfrm>
          <a:prstGeom prst="rect">
            <a:avLst/>
          </a:prstGeom>
        </p:spPr>
      </p:pic>
      <p:cxnSp>
        <p:nvCxnSpPr>
          <p:cNvPr id="6" name="Connector 5"/>
          <p:cNvCxnSpPr/>
          <p:nvPr/>
        </p:nvCxnSpPr>
        <p:spPr>
          <a:xfrm>
            <a:off x="640080" y="1005840"/>
            <a:ext cx="10899648" cy="0"/>
          </a:xfrm>
          <a:prstGeom prst="line">
            <a:avLst/>
          </a:prstGeom>
          <a:ln w="10160">
            <a:solidFill>
              <a:srgbClr val="D8E2E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473952"/>
            <a:ext cx="10899648" cy="0"/>
          </a:xfrm>
          <a:prstGeom prst="line">
            <a:avLst/>
          </a:prstGeom>
          <a:ln w="8890">
            <a:solidFill>
              <a:srgbClr val="D8E2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58368" y="6547104"/>
            <a:ext cx="9784080" cy="164592"/>
          </a:xfrm>
          <a:prstGeom prst="rect">
            <a:avLst/>
          </a:prstGeom>
          <a:noFill/>
        </p:spPr>
        <p:txBody>
          <a:bodyPr wrap="square" lIns="0" rIns="0" tIns="0" bIns="0" anchor="t">
            <a:spAutoFit/>
          </a:bodyPr>
          <a:lstStyle/>
          <a:p>
            <a:pPr algn="l">
              <a:lnSpc>
                <a:spcPct val="100000"/>
              </a:lnSpc>
            </a:pPr>
            <a:r>
              <a:rPr sz="760" b="1" i="0">
                <a:solidFill>
                  <a:srgbClr val="596C78"/>
                </a:solidFill>
                <a:latin typeface="Aptos"/>
              </a:rPr>
              <a:t>EXTERNAL REDACTED DRAFT • IP STATUS TO CONFIRM • DISTRIBUTE ONLY WITH IITBBS IP APPROVAL</a:t>
            </a:r>
          </a:p>
        </p:txBody>
      </p:sp>
      <p:sp>
        <p:nvSpPr>
          <p:cNvPr id="9" name="TextBox 8"/>
          <p:cNvSpPr txBox="1"/>
          <p:nvPr/>
        </p:nvSpPr>
        <p:spPr>
          <a:xfrm>
            <a:off x="10972800" y="6528816"/>
            <a:ext cx="548640" cy="173736"/>
          </a:xfrm>
          <a:prstGeom prst="rect">
            <a:avLst/>
          </a:prstGeom>
          <a:noFill/>
        </p:spPr>
        <p:txBody>
          <a:bodyPr wrap="square" lIns="0" rIns="0" tIns="0" bIns="0" anchor="t">
            <a:spAutoFit/>
          </a:bodyPr>
          <a:lstStyle/>
          <a:p>
            <a:pPr algn="r">
              <a:lnSpc>
                <a:spcPct val="100000"/>
              </a:lnSpc>
            </a:pPr>
            <a:r>
              <a:rPr sz="830" b="1" i="0">
                <a:solidFill>
                  <a:srgbClr val="596C78"/>
                </a:solidFill>
                <a:latin typeface="Aptos"/>
              </a:rPr>
              <a:t>14</a:t>
            </a:r>
          </a:p>
        </p:txBody>
      </p:sp>
      <p:pic>
        <p:nvPicPr>
          <p:cNvPr id="10" name="Picture 9" descr="barrier_failure_contain.jpg"/>
          <p:cNvPicPr>
            <a:picLocks noChangeAspect="1"/>
          </p:cNvPicPr>
          <p:nvPr/>
        </p:nvPicPr>
        <p:blipFill>
          <a:blip r:embed="rId3"/>
          <a:stretch>
            <a:fillRect/>
          </a:stretch>
        </p:blipFill>
        <p:spPr>
          <a:xfrm>
            <a:off x="658368" y="1252728"/>
            <a:ext cx="5212080" cy="4142232"/>
          </a:xfrm>
          <a:prstGeom prst="rect">
            <a:avLst/>
          </a:prstGeom>
        </p:spPr>
      </p:pic>
      <p:graphicFrame>
        <p:nvGraphicFramePr>
          <p:cNvPr id="11" name="Chart 10"/>
          <p:cNvGraphicFramePr>
            <a:graphicFrameLocks noGrp="1"/>
          </p:cNvGraphicFramePr>
          <p:nvPr/>
        </p:nvGraphicFramePr>
        <p:xfrm>
          <a:off x="6172200" y="1280160"/>
          <a:ext cx="2532888" cy="2880360"/>
        </p:xfrm>
        <a:graphic>
          <a:graphicData uri="http://schemas.openxmlformats.org/drawingml/2006/chart">
            <c:chart xmlns:c="http://schemas.openxmlformats.org/drawingml/2006/chart" r:id="rId4"/>
          </a:graphicData>
        </a:graphic>
      </p:graphicFrame>
      <p:sp>
        <p:nvSpPr>
          <p:cNvPr id="12" name="TextBox 11"/>
          <p:cNvSpPr txBox="1"/>
          <p:nvPr/>
        </p:nvSpPr>
        <p:spPr>
          <a:xfrm>
            <a:off x="6217920" y="1298448"/>
            <a:ext cx="2441448" cy="237744"/>
          </a:xfrm>
          <a:prstGeom prst="rect">
            <a:avLst/>
          </a:prstGeom>
          <a:noFill/>
        </p:spPr>
        <p:txBody>
          <a:bodyPr wrap="square" lIns="0" rIns="0" tIns="0" bIns="0" anchor="t">
            <a:spAutoFit/>
          </a:bodyPr>
          <a:lstStyle/>
          <a:p>
            <a:pPr algn="ctr">
              <a:lnSpc>
                <a:spcPct val="100000"/>
              </a:lnSpc>
            </a:pPr>
            <a:r>
              <a:rPr sz="1050" b="1" i="0">
                <a:solidFill>
                  <a:srgbClr val="172733"/>
                </a:solidFill>
                <a:latin typeface="Aptos"/>
              </a:rPr>
              <a:t>Energy to failure</a:t>
            </a:r>
          </a:p>
        </p:txBody>
      </p:sp>
      <p:graphicFrame>
        <p:nvGraphicFramePr>
          <p:cNvPr id="13" name="Chart 12"/>
          <p:cNvGraphicFramePr>
            <a:graphicFrameLocks noGrp="1"/>
          </p:cNvGraphicFramePr>
          <p:nvPr/>
        </p:nvGraphicFramePr>
        <p:xfrm>
          <a:off x="8942832" y="1280160"/>
          <a:ext cx="2532888" cy="2880360"/>
        </p:xfrm>
        <a:graphic>
          <a:graphicData uri="http://schemas.openxmlformats.org/drawingml/2006/chart">
            <c:chart xmlns:c="http://schemas.openxmlformats.org/drawingml/2006/chart" r:id="rId5"/>
          </a:graphicData>
        </a:graphic>
      </p:graphicFrame>
      <p:sp>
        <p:nvSpPr>
          <p:cNvPr id="14" name="TextBox 13"/>
          <p:cNvSpPr txBox="1"/>
          <p:nvPr/>
        </p:nvSpPr>
        <p:spPr>
          <a:xfrm>
            <a:off x="8988552" y="1298448"/>
            <a:ext cx="2441448" cy="237744"/>
          </a:xfrm>
          <a:prstGeom prst="rect">
            <a:avLst/>
          </a:prstGeom>
          <a:noFill/>
        </p:spPr>
        <p:txBody>
          <a:bodyPr wrap="square" lIns="0" rIns="0" tIns="0" bIns="0" anchor="t">
            <a:spAutoFit/>
          </a:bodyPr>
          <a:lstStyle/>
          <a:p>
            <a:pPr algn="ctr">
              <a:lnSpc>
                <a:spcPct val="100000"/>
              </a:lnSpc>
            </a:pPr>
            <a:r>
              <a:rPr sz="1050" b="1" i="0">
                <a:solidFill>
                  <a:srgbClr val="172733"/>
                </a:solidFill>
                <a:latin typeface="Aptos"/>
              </a:rPr>
              <a:t>Peak deformation</a:t>
            </a:r>
          </a:p>
        </p:txBody>
      </p:sp>
      <p:sp>
        <p:nvSpPr>
          <p:cNvPr id="15" name="Rounded Rectangle 14"/>
          <p:cNvSpPr/>
          <p:nvPr/>
        </p:nvSpPr>
        <p:spPr>
          <a:xfrm>
            <a:off x="6172200" y="4407408"/>
            <a:ext cx="1627632" cy="1024128"/>
          </a:xfrm>
          <a:prstGeom prst="round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36792" y="4553712"/>
            <a:ext cx="1298448" cy="438912"/>
          </a:xfrm>
          <a:prstGeom prst="rect">
            <a:avLst/>
          </a:prstGeom>
          <a:noFill/>
        </p:spPr>
        <p:txBody>
          <a:bodyPr wrap="square" lIns="0" rIns="0" tIns="0" bIns="0" anchor="ctr">
            <a:spAutoFit/>
          </a:bodyPr>
          <a:lstStyle/>
          <a:p>
            <a:pPr algn="l">
              <a:lnSpc>
                <a:spcPct val="100000"/>
              </a:lnSpc>
            </a:pPr>
            <a:r>
              <a:rPr sz="2000" b="1" i="0">
                <a:solidFill>
                  <a:srgbClr val="D95D5D"/>
                </a:solidFill>
                <a:latin typeface="Aptos Display"/>
              </a:rPr>
              <a:t>2.0×</a:t>
            </a:r>
          </a:p>
        </p:txBody>
      </p:sp>
      <p:sp>
        <p:nvSpPr>
          <p:cNvPr id="17" name="TextBox 16"/>
          <p:cNvSpPr txBox="1"/>
          <p:nvPr/>
        </p:nvSpPr>
        <p:spPr>
          <a:xfrm>
            <a:off x="6336792" y="5047488"/>
            <a:ext cx="1298448" cy="402336"/>
          </a:xfrm>
          <a:prstGeom prst="rect">
            <a:avLst/>
          </a:prstGeom>
          <a:noFill/>
        </p:spPr>
        <p:txBody>
          <a:bodyPr wrap="square" lIns="0" rIns="0" tIns="0" bIns="0" anchor="t">
            <a:spAutoFit/>
          </a:bodyPr>
          <a:lstStyle/>
          <a:p>
            <a:pPr algn="l">
              <a:lnSpc>
                <a:spcPct val="100000"/>
              </a:lnSpc>
            </a:pPr>
            <a:r>
              <a:rPr sz="1050" b="1" i="0">
                <a:solidFill>
                  <a:srgbClr val="172733"/>
                </a:solidFill>
                <a:latin typeface="Aptos"/>
              </a:rPr>
              <a:t>failure energy</a:t>
            </a:r>
          </a:p>
        </p:txBody>
      </p:sp>
      <p:sp>
        <p:nvSpPr>
          <p:cNvPr id="18" name="Rounded Rectangle 17"/>
          <p:cNvSpPr/>
          <p:nvPr/>
        </p:nvSpPr>
        <p:spPr>
          <a:xfrm>
            <a:off x="7918704" y="4407408"/>
            <a:ext cx="1627632" cy="1024128"/>
          </a:xfrm>
          <a:prstGeom prst="round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83296" y="4553712"/>
            <a:ext cx="1298448" cy="438912"/>
          </a:xfrm>
          <a:prstGeom prst="rect">
            <a:avLst/>
          </a:prstGeom>
          <a:noFill/>
        </p:spPr>
        <p:txBody>
          <a:bodyPr wrap="square" lIns="0" rIns="0" tIns="0" bIns="0" anchor="ctr">
            <a:spAutoFit/>
          </a:bodyPr>
          <a:lstStyle/>
          <a:p>
            <a:pPr algn="l">
              <a:lnSpc>
                <a:spcPct val="100000"/>
              </a:lnSpc>
            </a:pPr>
            <a:r>
              <a:rPr sz="2000" b="1" i="0">
                <a:solidFill>
                  <a:srgbClr val="F39C3D"/>
                </a:solidFill>
                <a:latin typeface="Aptos Display"/>
              </a:rPr>
              <a:t>3.01×</a:t>
            </a:r>
          </a:p>
        </p:txBody>
      </p:sp>
      <p:sp>
        <p:nvSpPr>
          <p:cNvPr id="20" name="TextBox 19"/>
          <p:cNvSpPr txBox="1"/>
          <p:nvPr/>
        </p:nvSpPr>
        <p:spPr>
          <a:xfrm>
            <a:off x="8083296" y="5047488"/>
            <a:ext cx="1298448" cy="402336"/>
          </a:xfrm>
          <a:prstGeom prst="rect">
            <a:avLst/>
          </a:prstGeom>
          <a:noFill/>
        </p:spPr>
        <p:txBody>
          <a:bodyPr wrap="square" lIns="0" rIns="0" tIns="0" bIns="0" anchor="t">
            <a:spAutoFit/>
          </a:bodyPr>
          <a:lstStyle/>
          <a:p>
            <a:pPr algn="l">
              <a:lnSpc>
                <a:spcPct val="100000"/>
              </a:lnSpc>
            </a:pPr>
            <a:r>
              <a:rPr sz="1050" b="1" i="0">
                <a:solidFill>
                  <a:srgbClr val="172733"/>
                </a:solidFill>
                <a:latin typeface="Aptos"/>
              </a:rPr>
              <a:t>deformation</a:t>
            </a:r>
          </a:p>
        </p:txBody>
      </p:sp>
      <p:sp>
        <p:nvSpPr>
          <p:cNvPr id="21" name="Rounded Rectangle 20"/>
          <p:cNvSpPr/>
          <p:nvPr/>
        </p:nvSpPr>
        <p:spPr>
          <a:xfrm>
            <a:off x="9665208" y="4407408"/>
            <a:ext cx="1810512" cy="1024128"/>
          </a:xfrm>
          <a:prstGeom prst="round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829800" y="4553712"/>
            <a:ext cx="1481328" cy="438912"/>
          </a:xfrm>
          <a:prstGeom prst="rect">
            <a:avLst/>
          </a:prstGeom>
          <a:noFill/>
        </p:spPr>
        <p:txBody>
          <a:bodyPr wrap="square" lIns="0" rIns="0" tIns="0" bIns="0" anchor="ctr">
            <a:spAutoFit/>
          </a:bodyPr>
          <a:lstStyle/>
          <a:p>
            <a:pPr algn="l">
              <a:lnSpc>
                <a:spcPct val="100000"/>
              </a:lnSpc>
            </a:pPr>
            <a:r>
              <a:rPr sz="2000" b="1" i="0">
                <a:solidFill>
                  <a:srgbClr val="178D86"/>
                </a:solidFill>
                <a:latin typeface="Aptos Display"/>
              </a:rPr>
              <a:t>20 vs 10</a:t>
            </a:r>
          </a:p>
        </p:txBody>
      </p:sp>
      <p:sp>
        <p:nvSpPr>
          <p:cNvPr id="23" name="TextBox 22"/>
          <p:cNvSpPr txBox="1"/>
          <p:nvPr/>
        </p:nvSpPr>
        <p:spPr>
          <a:xfrm>
            <a:off x="9829800" y="5047488"/>
            <a:ext cx="1481328" cy="402336"/>
          </a:xfrm>
          <a:prstGeom prst="rect">
            <a:avLst/>
          </a:prstGeom>
          <a:noFill/>
        </p:spPr>
        <p:txBody>
          <a:bodyPr wrap="square" lIns="0" rIns="0" tIns="0" bIns="0" anchor="t">
            <a:spAutoFit/>
          </a:bodyPr>
          <a:lstStyle/>
          <a:p>
            <a:pPr algn="l">
              <a:lnSpc>
                <a:spcPct val="100000"/>
              </a:lnSpc>
            </a:pPr>
            <a:r>
              <a:rPr sz="1050" b="1" i="0">
                <a:solidFill>
                  <a:srgbClr val="172733"/>
                </a:solidFill>
                <a:latin typeface="Aptos"/>
              </a:rPr>
              <a:t>blows to failure</a:t>
            </a:r>
          </a:p>
        </p:txBody>
      </p:sp>
      <p:sp>
        <p:nvSpPr>
          <p:cNvPr id="24" name="Rounded Rectangle 23"/>
          <p:cNvSpPr/>
          <p:nvPr/>
        </p:nvSpPr>
        <p:spPr>
          <a:xfrm>
            <a:off x="749808" y="5504688"/>
            <a:ext cx="10652760" cy="320040"/>
          </a:xfrm>
          <a:prstGeom prst="roundRect">
            <a:avLst/>
          </a:prstGeom>
          <a:solidFill>
            <a:srgbClr val="FBE7E7"/>
          </a:solidFill>
          <a:ln>
            <a:solidFill>
              <a:srgbClr val="FBE7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5577840"/>
            <a:ext cx="10287000" cy="182880"/>
          </a:xfrm>
          <a:prstGeom prst="rect">
            <a:avLst/>
          </a:prstGeom>
          <a:noFill/>
        </p:spPr>
        <p:txBody>
          <a:bodyPr wrap="square" lIns="0" rIns="0" tIns="0" bIns="0" anchor="t">
            <a:spAutoFit/>
          </a:bodyPr>
          <a:lstStyle/>
          <a:p>
            <a:pPr algn="l">
              <a:lnSpc>
                <a:spcPct val="100000"/>
              </a:lnSpc>
            </a:pPr>
            <a:r>
              <a:rPr sz="860" b="1" i="0">
                <a:solidFill>
                  <a:srgbClr val="D95D5D"/>
                </a:solidFill>
                <a:latin typeface="Aptos"/>
              </a:rPr>
              <a:t>Fragmentation observation is qualitative: LWC15 showed finer, more distributed debris; particle-size/mass and ejection-velocity measurements are still required.</a:t>
            </a:r>
          </a:p>
        </p:txBody>
      </p:sp>
      <p:sp>
        <p:nvSpPr>
          <p:cNvPr id="26" name="TextBox 25"/>
          <p:cNvSpPr txBox="1"/>
          <p:nvPr/>
        </p:nvSpPr>
        <p:spPr>
          <a:xfrm>
            <a:off x="667512" y="5897880"/>
            <a:ext cx="10652760" cy="256032"/>
          </a:xfrm>
          <a:prstGeom prst="rect">
            <a:avLst/>
          </a:prstGeom>
          <a:noFill/>
        </p:spPr>
        <p:txBody>
          <a:bodyPr wrap="square" lIns="0" rIns="0" tIns="0" bIns="0" anchor="ctr">
            <a:spAutoFit/>
          </a:bodyPr>
          <a:lstStyle/>
          <a:p>
            <a:pPr algn="l">
              <a:lnSpc>
                <a:spcPct val="100000"/>
              </a:lnSpc>
            </a:pPr>
            <a:r>
              <a:rPr sz="700" b="0" i="0">
                <a:solidFill>
                  <a:srgbClr val="596C78"/>
                </a:solidFill>
                <a:latin typeface="Aptos"/>
              </a:rPr>
              <a:t>Source: Inventor dataset, manuscript Tables 11–12 and Fig. 16. NWC: N₂=10, E₂=1,373 N·m, 4.22 mm; LWC15: N₂=20, E₂=2,746 N·m, 12.70 mm. n=1 barrier per mix.</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640080" y="164592"/>
            <a:ext cx="2514600" cy="201168"/>
          </a:xfrm>
          <a:prstGeom prst="rect">
            <a:avLst/>
          </a:prstGeom>
          <a:noFill/>
        </p:spPr>
        <p:txBody>
          <a:bodyPr wrap="square" lIns="0" rIns="0" tIns="0" bIns="0" anchor="t">
            <a:spAutoFit/>
          </a:bodyPr>
          <a:lstStyle/>
          <a:p>
            <a:pPr algn="l">
              <a:lnSpc>
                <a:spcPct val="100000"/>
              </a:lnSpc>
            </a:pPr>
            <a:r>
              <a:rPr sz="850" b="1" i="0">
                <a:solidFill>
                  <a:srgbClr val="2B78A6"/>
                </a:solidFill>
                <a:latin typeface="Aptos"/>
              </a:rPr>
              <a:t>IP EVIDENCE MAP</a:t>
            </a:r>
          </a:p>
        </p:txBody>
      </p:sp>
      <p:sp>
        <p:nvSpPr>
          <p:cNvPr id="3" name="TextBox 2"/>
          <p:cNvSpPr txBox="1"/>
          <p:nvPr/>
        </p:nvSpPr>
        <p:spPr>
          <a:xfrm>
            <a:off x="640080" y="338328"/>
            <a:ext cx="9921240" cy="612648"/>
          </a:xfrm>
          <a:prstGeom prst="rect">
            <a:avLst/>
          </a:prstGeom>
          <a:noFill/>
        </p:spPr>
        <p:txBody>
          <a:bodyPr wrap="square" lIns="0" rIns="0" tIns="0" bIns="0" anchor="ctr">
            <a:spAutoFit/>
          </a:bodyPr>
          <a:lstStyle/>
          <a:p>
            <a:pPr algn="l">
              <a:lnSpc>
                <a:spcPct val="92000"/>
              </a:lnSpc>
            </a:pPr>
            <a:r>
              <a:rPr sz="2250" b="1" i="0">
                <a:solidFill>
                  <a:srgbClr val="172733"/>
                </a:solidFill>
                <a:latin typeface="Aptos Display"/>
              </a:rPr>
              <a:t>Measured evidence maps to a layered patent strategy</a:t>
            </a:r>
          </a:p>
        </p:txBody>
      </p:sp>
      <p:sp>
        <p:nvSpPr>
          <p:cNvPr id="4" name="Rounded Rectangle 3"/>
          <p:cNvSpPr/>
          <p:nvPr/>
        </p:nvSpPr>
        <p:spPr>
          <a:xfrm>
            <a:off x="11173968" y="128016"/>
            <a:ext cx="749808" cy="58521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itbbs_logo_official.png"/>
          <p:cNvPicPr>
            <a:picLocks noChangeAspect="1"/>
          </p:cNvPicPr>
          <p:nvPr/>
        </p:nvPicPr>
        <p:blipFill>
          <a:blip r:embed="rId2"/>
          <a:stretch>
            <a:fillRect/>
          </a:stretch>
        </p:blipFill>
        <p:spPr>
          <a:xfrm>
            <a:off x="11283696" y="164592"/>
            <a:ext cx="530352" cy="493776"/>
          </a:xfrm>
          <a:prstGeom prst="rect">
            <a:avLst/>
          </a:prstGeom>
        </p:spPr>
      </p:pic>
      <p:cxnSp>
        <p:nvCxnSpPr>
          <p:cNvPr id="6" name="Connector 5"/>
          <p:cNvCxnSpPr/>
          <p:nvPr/>
        </p:nvCxnSpPr>
        <p:spPr>
          <a:xfrm>
            <a:off x="640080" y="1005840"/>
            <a:ext cx="10899648" cy="0"/>
          </a:xfrm>
          <a:prstGeom prst="line">
            <a:avLst/>
          </a:prstGeom>
          <a:ln w="10160">
            <a:solidFill>
              <a:srgbClr val="D8E2E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473952"/>
            <a:ext cx="10899648" cy="0"/>
          </a:xfrm>
          <a:prstGeom prst="line">
            <a:avLst/>
          </a:prstGeom>
          <a:ln w="8890">
            <a:solidFill>
              <a:srgbClr val="D8E2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58368" y="6547104"/>
            <a:ext cx="9784080" cy="164592"/>
          </a:xfrm>
          <a:prstGeom prst="rect">
            <a:avLst/>
          </a:prstGeom>
          <a:noFill/>
        </p:spPr>
        <p:txBody>
          <a:bodyPr wrap="square" lIns="0" rIns="0" tIns="0" bIns="0" anchor="t">
            <a:spAutoFit/>
          </a:bodyPr>
          <a:lstStyle/>
          <a:p>
            <a:pPr algn="l">
              <a:lnSpc>
                <a:spcPct val="100000"/>
              </a:lnSpc>
            </a:pPr>
            <a:r>
              <a:rPr sz="760" b="1" i="0">
                <a:solidFill>
                  <a:srgbClr val="596C78"/>
                </a:solidFill>
                <a:latin typeface="Aptos"/>
              </a:rPr>
              <a:t>EXTERNAL REDACTED DRAFT • IP STATUS TO CONFIRM • DISTRIBUTE ONLY WITH IITBBS IP APPROVAL</a:t>
            </a:r>
          </a:p>
        </p:txBody>
      </p:sp>
      <p:sp>
        <p:nvSpPr>
          <p:cNvPr id="9" name="TextBox 8"/>
          <p:cNvSpPr txBox="1"/>
          <p:nvPr/>
        </p:nvSpPr>
        <p:spPr>
          <a:xfrm>
            <a:off x="10972800" y="6528816"/>
            <a:ext cx="548640" cy="173736"/>
          </a:xfrm>
          <a:prstGeom prst="rect">
            <a:avLst/>
          </a:prstGeom>
          <a:noFill/>
        </p:spPr>
        <p:txBody>
          <a:bodyPr wrap="square" lIns="0" rIns="0" tIns="0" bIns="0" anchor="t">
            <a:spAutoFit/>
          </a:bodyPr>
          <a:lstStyle/>
          <a:p>
            <a:pPr algn="r">
              <a:lnSpc>
                <a:spcPct val="100000"/>
              </a:lnSpc>
            </a:pPr>
            <a:r>
              <a:rPr sz="830" b="1" i="0">
                <a:solidFill>
                  <a:srgbClr val="596C78"/>
                </a:solidFill>
                <a:latin typeface="Aptos"/>
              </a:rPr>
              <a:t>15</a:t>
            </a:r>
          </a:p>
        </p:txBody>
      </p:sp>
      <p:graphicFrame>
        <p:nvGraphicFramePr>
          <p:cNvPr id="10" name="Table 9"/>
          <p:cNvGraphicFramePr>
            <a:graphicFrameLocks noGrp="1"/>
          </p:cNvGraphicFramePr>
          <p:nvPr/>
        </p:nvGraphicFramePr>
        <p:xfrm>
          <a:off x="658368" y="1207008"/>
          <a:ext cx="6812277" cy="4251960"/>
        </p:xfrm>
        <a:graphic>
          <a:graphicData uri="http://schemas.openxmlformats.org/drawingml/2006/table">
            <a:tbl>
              <a:tblPr firstRow="1" bandRow="1">
                <a:tableStyleId>{5C22544A-7EE6-4342-B048-85BDC9FD1C3A}</a:tableStyleId>
              </a:tblPr>
              <a:tblGrid>
                <a:gridCol w="1487187"/>
                <a:gridCol w="2254768"/>
                <a:gridCol w="2062873"/>
                <a:gridCol w="1007449"/>
              </a:tblGrid>
              <a:tr h="607422">
                <a:tc>
                  <a:txBody>
                    <a:bodyPr/>
                    <a:lstStyle/>
                    <a:p>
                      <a:pPr algn="l"/>
                      <a:r>
                        <a:rPr sz="840" b="1" i="0">
                          <a:solidFill>
                            <a:srgbClr val="FFFFFF"/>
                          </a:solidFill>
                          <a:latin typeface="Aptos"/>
                        </a:rPr>
                        <a:t>Evidence</a:t>
                      </a:r>
                    </a:p>
                  </a:txBody>
                  <a:tcPr marL="36576" marR="36576" marT="27432" marB="27432" anchor="ctr">
                    <a:solidFill>
                      <a:srgbClr val="08243A"/>
                    </a:solidFill>
                  </a:tcPr>
                </a:tc>
                <a:tc>
                  <a:txBody>
                    <a:bodyPr/>
                    <a:lstStyle/>
                    <a:p>
                      <a:pPr algn="ctr"/>
                      <a:r>
                        <a:rPr sz="840" b="1" i="0">
                          <a:solidFill>
                            <a:srgbClr val="FFFFFF"/>
                          </a:solidFill>
                          <a:latin typeface="Aptos"/>
                        </a:rPr>
                        <a:t>Observed LWC15 result</a:t>
                      </a:r>
                    </a:p>
                  </a:txBody>
                  <a:tcPr marL="36576" marR="36576" marT="27432" marB="27432" anchor="ctr">
                    <a:solidFill>
                      <a:srgbClr val="08243A"/>
                    </a:solidFill>
                  </a:tcPr>
                </a:tc>
                <a:tc>
                  <a:txBody>
                    <a:bodyPr/>
                    <a:lstStyle/>
                    <a:p>
                      <a:pPr algn="ctr"/>
                      <a:r>
                        <a:rPr sz="840" b="1" i="0">
                          <a:solidFill>
                            <a:srgbClr val="FFFFFF"/>
                          </a:solidFill>
                          <a:latin typeface="Aptos"/>
                        </a:rPr>
                        <a:t>Supports</a:t>
                      </a:r>
                    </a:p>
                  </a:txBody>
                  <a:tcPr marL="36576" marR="36576" marT="27432" marB="27432" anchor="ctr">
                    <a:solidFill>
                      <a:srgbClr val="08243A"/>
                    </a:solidFill>
                  </a:tcPr>
                </a:tc>
                <a:tc>
                  <a:txBody>
                    <a:bodyPr/>
                    <a:lstStyle/>
                    <a:p>
                      <a:pPr algn="ctr"/>
                      <a:r>
                        <a:rPr sz="840" b="1" i="0">
                          <a:solidFill>
                            <a:srgbClr val="FFFFFF"/>
                          </a:solidFill>
                          <a:latin typeface="Aptos"/>
                        </a:rPr>
                        <a:t>Confidence</a:t>
                      </a:r>
                    </a:p>
                  </a:txBody>
                  <a:tcPr marL="36576" marR="36576" marT="27432" marB="27432" anchor="ctr">
                    <a:solidFill>
                      <a:srgbClr val="08243A"/>
                    </a:solidFill>
                  </a:tcPr>
                </a:tc>
              </a:tr>
              <a:tr h="607422">
                <a:tc>
                  <a:txBody>
                    <a:bodyPr/>
                    <a:lstStyle/>
                    <a:p>
                      <a:pPr algn="l"/>
                      <a:r>
                        <a:rPr sz="860" b="1" i="0">
                          <a:solidFill>
                            <a:srgbClr val="172733"/>
                          </a:solidFill>
                          <a:latin typeface="Aptos"/>
                        </a:rPr>
                        <a:t>Reported density</a:t>
                      </a:r>
                    </a:p>
                  </a:txBody>
                  <a:tcPr marL="36576" marR="36576" marT="27432" marB="27432" anchor="ctr">
                    <a:solidFill>
                      <a:srgbClr val="FFFFFF"/>
                    </a:solidFill>
                  </a:tcPr>
                </a:tc>
                <a:tc>
                  <a:txBody>
                    <a:bodyPr/>
                    <a:lstStyle/>
                    <a:p>
                      <a:pPr algn="ctr"/>
                      <a:r>
                        <a:rPr sz="860" b="0" i="0">
                          <a:solidFill>
                            <a:srgbClr val="172733"/>
                          </a:solidFill>
                          <a:latin typeface="Aptos"/>
                        </a:rPr>
                        <a:t>1,987 kg/m³; −19.4% vs NWC</a:t>
                      </a:r>
                    </a:p>
                  </a:txBody>
                  <a:tcPr marL="36576" marR="36576" marT="27432" marB="27432" anchor="ctr">
                    <a:solidFill>
                      <a:srgbClr val="FFFFFF"/>
                    </a:solidFill>
                  </a:tcPr>
                </a:tc>
                <a:tc>
                  <a:txBody>
                    <a:bodyPr/>
                    <a:lstStyle/>
                    <a:p>
                      <a:pPr algn="ctr"/>
                      <a:r>
                        <a:rPr sz="860" b="0" i="0">
                          <a:solidFill>
                            <a:srgbClr val="172733"/>
                          </a:solidFill>
                          <a:latin typeface="Aptos"/>
                        </a:rPr>
                        <a:t>Lightweight article / transport value</a:t>
                      </a:r>
                    </a:p>
                  </a:txBody>
                  <a:tcPr marL="36576" marR="36576" marT="27432" marB="27432" anchor="ctr">
                    <a:solidFill>
                      <a:srgbClr val="FFFFFF"/>
                    </a:solidFill>
                  </a:tcPr>
                </a:tc>
                <a:tc>
                  <a:txBody>
                    <a:bodyPr/>
                    <a:lstStyle/>
                    <a:p>
                      <a:pPr algn="ctr"/>
                      <a:r>
                        <a:rPr sz="860" b="0" i="0">
                          <a:solidFill>
                            <a:srgbClr val="172733"/>
                          </a:solidFill>
                          <a:latin typeface="Aptos"/>
                        </a:rPr>
                        <a:t>Medium*</a:t>
                      </a:r>
                    </a:p>
                  </a:txBody>
                  <a:tcPr marL="36576" marR="36576" marT="27432" marB="27432" anchor="ctr">
                    <a:solidFill>
                      <a:srgbClr val="FFFFFF"/>
                    </a:solidFill>
                  </a:tcPr>
                </a:tc>
              </a:tr>
              <a:tr h="607422">
                <a:tc>
                  <a:txBody>
                    <a:bodyPr/>
                    <a:lstStyle/>
                    <a:p>
                      <a:pPr algn="l"/>
                      <a:r>
                        <a:rPr sz="860" b="1" i="0">
                          <a:solidFill>
                            <a:srgbClr val="172733"/>
                          </a:solidFill>
                          <a:latin typeface="Aptos"/>
                        </a:rPr>
                        <a:t>Compressive strength</a:t>
                      </a:r>
                    </a:p>
                  </a:txBody>
                  <a:tcPr marL="36576" marR="36576" marT="27432" marB="27432" anchor="ctr">
                    <a:solidFill>
                      <a:srgbClr val="F8FAFB"/>
                    </a:solidFill>
                  </a:tcPr>
                </a:tc>
                <a:tc>
                  <a:txBody>
                    <a:bodyPr/>
                    <a:lstStyle/>
                    <a:p>
                      <a:pPr algn="ctr"/>
                      <a:r>
                        <a:rPr sz="860" b="0" i="0">
                          <a:solidFill>
                            <a:srgbClr val="172733"/>
                          </a:solidFill>
                          <a:latin typeface="Aptos"/>
                        </a:rPr>
                        <a:t>55.4 MPa; M40+</a:t>
                      </a:r>
                    </a:p>
                  </a:txBody>
                  <a:tcPr marL="36576" marR="36576" marT="27432" marB="27432" anchor="ctr">
                    <a:solidFill>
                      <a:srgbClr val="F8FAFB"/>
                    </a:solidFill>
                  </a:tcPr>
                </a:tc>
                <a:tc>
                  <a:txBody>
                    <a:bodyPr/>
                    <a:lstStyle/>
                    <a:p>
                      <a:pPr algn="ctr"/>
                      <a:r>
                        <a:rPr sz="860" b="0" i="0">
                          <a:solidFill>
                            <a:srgbClr val="172733"/>
                          </a:solidFill>
                          <a:latin typeface="Aptos"/>
                        </a:rPr>
                        <a:t>Structural-use enablement</a:t>
                      </a:r>
                    </a:p>
                  </a:txBody>
                  <a:tcPr marL="36576" marR="36576" marT="27432" marB="27432" anchor="ctr">
                    <a:solidFill>
                      <a:srgbClr val="F8FAFB"/>
                    </a:solidFill>
                  </a:tcPr>
                </a:tc>
                <a:tc>
                  <a:txBody>
                    <a:bodyPr/>
                    <a:lstStyle/>
                    <a:p>
                      <a:pPr algn="ctr"/>
                      <a:r>
                        <a:rPr sz="860" b="0" i="0">
                          <a:solidFill>
                            <a:srgbClr val="172733"/>
                          </a:solidFill>
                          <a:latin typeface="Aptos"/>
                        </a:rPr>
                        <a:t>High</a:t>
                      </a:r>
                    </a:p>
                  </a:txBody>
                  <a:tcPr marL="36576" marR="36576" marT="27432" marB="27432" anchor="ctr">
                    <a:solidFill>
                      <a:srgbClr val="F8FAFB"/>
                    </a:solidFill>
                  </a:tcPr>
                </a:tc>
              </a:tr>
              <a:tr h="607422">
                <a:tc>
                  <a:txBody>
                    <a:bodyPr/>
                    <a:lstStyle/>
                    <a:p>
                      <a:pPr algn="l"/>
                      <a:r>
                        <a:rPr sz="860" b="1" i="0">
                          <a:solidFill>
                            <a:srgbClr val="172733"/>
                          </a:solidFill>
                          <a:latin typeface="Aptos"/>
                        </a:rPr>
                        <a:t>Split tensile</a:t>
                      </a:r>
                    </a:p>
                  </a:txBody>
                  <a:tcPr marL="36576" marR="36576" marT="27432" marB="27432" anchor="ctr">
                    <a:solidFill>
                      <a:srgbClr val="FFFFFF"/>
                    </a:solidFill>
                  </a:tcPr>
                </a:tc>
                <a:tc>
                  <a:txBody>
                    <a:bodyPr/>
                    <a:lstStyle/>
                    <a:p>
                      <a:pPr algn="ctr"/>
                      <a:r>
                        <a:rPr sz="860" b="0" i="0">
                          <a:solidFill>
                            <a:srgbClr val="172733"/>
                          </a:solidFill>
                          <a:latin typeface="Aptos"/>
                        </a:rPr>
                        <a:t>7.60 MPa; +76%</a:t>
                      </a:r>
                    </a:p>
                  </a:txBody>
                  <a:tcPr marL="36576" marR="36576" marT="27432" marB="27432" anchor="ctr">
                    <a:solidFill>
                      <a:srgbClr val="FFFFFF"/>
                    </a:solidFill>
                  </a:tcPr>
                </a:tc>
                <a:tc>
                  <a:txBody>
                    <a:bodyPr/>
                    <a:lstStyle/>
                    <a:p>
                      <a:pPr algn="ctr"/>
                      <a:r>
                        <a:rPr sz="860" b="0" i="0">
                          <a:solidFill>
                            <a:srgbClr val="172733"/>
                          </a:solidFill>
                          <a:latin typeface="Aptos"/>
                        </a:rPr>
                        <a:t>Fibre-bridging function</a:t>
                      </a:r>
                    </a:p>
                  </a:txBody>
                  <a:tcPr marL="36576" marR="36576" marT="27432" marB="27432" anchor="ctr">
                    <a:solidFill>
                      <a:srgbClr val="FFFFFF"/>
                    </a:solidFill>
                  </a:tcPr>
                </a:tc>
                <a:tc>
                  <a:txBody>
                    <a:bodyPr/>
                    <a:lstStyle/>
                    <a:p>
                      <a:pPr algn="ctr"/>
                      <a:r>
                        <a:rPr sz="860" b="0" i="0">
                          <a:solidFill>
                            <a:srgbClr val="172733"/>
                          </a:solidFill>
                          <a:latin typeface="Aptos"/>
                        </a:rPr>
                        <a:t>High</a:t>
                      </a:r>
                    </a:p>
                  </a:txBody>
                  <a:tcPr marL="36576" marR="36576" marT="27432" marB="27432" anchor="ctr">
                    <a:solidFill>
                      <a:srgbClr val="FFFFFF"/>
                    </a:solidFill>
                  </a:tcPr>
                </a:tc>
              </a:tr>
              <a:tr h="607422">
                <a:tc>
                  <a:txBody>
                    <a:bodyPr/>
                    <a:lstStyle/>
                    <a:p>
                      <a:pPr algn="l"/>
                      <a:r>
                        <a:rPr sz="860" b="1" i="0">
                          <a:solidFill>
                            <a:srgbClr val="172733"/>
                          </a:solidFill>
                          <a:latin typeface="Aptos"/>
                        </a:rPr>
                        <a:t>Prism failure energy</a:t>
                      </a:r>
                    </a:p>
                  </a:txBody>
                  <a:tcPr marL="36576" marR="36576" marT="27432" marB="27432" anchor="ctr">
                    <a:solidFill>
                      <a:srgbClr val="FFF0DF"/>
                    </a:solidFill>
                  </a:tcPr>
                </a:tc>
                <a:tc>
                  <a:txBody>
                    <a:bodyPr/>
                    <a:lstStyle/>
                    <a:p>
                      <a:pPr algn="ctr"/>
                      <a:r>
                        <a:rPr sz="860" b="0" i="0">
                          <a:solidFill>
                            <a:srgbClr val="172733"/>
                          </a:solidFill>
                          <a:latin typeface="Aptos"/>
                        </a:rPr>
                        <a:t>2,927.8 N·m; 55.3× NWC</a:t>
                      </a:r>
                    </a:p>
                  </a:txBody>
                  <a:tcPr marL="36576" marR="36576" marT="27432" marB="27432" anchor="ctr">
                    <a:solidFill>
                      <a:srgbClr val="FFF0DF"/>
                    </a:solidFill>
                  </a:tcPr>
                </a:tc>
                <a:tc>
                  <a:txBody>
                    <a:bodyPr/>
                    <a:lstStyle/>
                    <a:p>
                      <a:pPr algn="ctr"/>
                      <a:r>
                        <a:rPr sz="860" b="0" i="0">
                          <a:solidFill>
                            <a:srgbClr val="172733"/>
                          </a:solidFill>
                          <a:latin typeface="Aptos"/>
                        </a:rPr>
                        <a:t>Unexpected technical effect</a:t>
                      </a:r>
                    </a:p>
                  </a:txBody>
                  <a:tcPr marL="36576" marR="36576" marT="27432" marB="27432" anchor="ctr">
                    <a:solidFill>
                      <a:srgbClr val="FFF0DF"/>
                    </a:solidFill>
                  </a:tcPr>
                </a:tc>
                <a:tc>
                  <a:txBody>
                    <a:bodyPr/>
                    <a:lstStyle/>
                    <a:p>
                      <a:pPr algn="ctr"/>
                      <a:r>
                        <a:rPr sz="860" b="0" i="0">
                          <a:solidFill>
                            <a:srgbClr val="172733"/>
                          </a:solidFill>
                          <a:latin typeface="Aptos"/>
                        </a:rPr>
                        <a:t>Medium</a:t>
                      </a:r>
                    </a:p>
                  </a:txBody>
                  <a:tcPr marL="36576" marR="36576" marT="27432" marB="27432" anchor="ctr">
                    <a:solidFill>
                      <a:srgbClr val="FFF0DF"/>
                    </a:solidFill>
                  </a:tcPr>
                </a:tc>
              </a:tr>
              <a:tr h="607422">
                <a:tc>
                  <a:txBody>
                    <a:bodyPr/>
                    <a:lstStyle/>
                    <a:p>
                      <a:pPr algn="l"/>
                      <a:r>
                        <a:rPr sz="860" b="1" i="0">
                          <a:solidFill>
                            <a:srgbClr val="172733"/>
                          </a:solidFill>
                          <a:latin typeface="Aptos"/>
                        </a:rPr>
                        <a:t>Scaled barrier</a:t>
                      </a:r>
                    </a:p>
                  </a:txBody>
                  <a:tcPr marL="36576" marR="36576" marT="27432" marB="27432" anchor="ctr">
                    <a:solidFill>
                      <a:srgbClr val="DDF5F4"/>
                    </a:solidFill>
                  </a:tcPr>
                </a:tc>
                <a:tc>
                  <a:txBody>
                    <a:bodyPr/>
                    <a:lstStyle/>
                    <a:p>
                      <a:pPr algn="ctr"/>
                      <a:r>
                        <a:rPr sz="860" b="0" i="0">
                          <a:solidFill>
                            <a:srgbClr val="172733"/>
                          </a:solidFill>
                          <a:latin typeface="Aptos"/>
                        </a:rPr>
                        <a:t>2,746 N·m; 2.0× NWC</a:t>
                      </a:r>
                    </a:p>
                  </a:txBody>
                  <a:tcPr marL="36576" marR="36576" marT="27432" marB="27432" anchor="ctr">
                    <a:solidFill>
                      <a:srgbClr val="DDF5F4"/>
                    </a:solidFill>
                  </a:tcPr>
                </a:tc>
                <a:tc>
                  <a:txBody>
                    <a:bodyPr/>
                    <a:lstStyle/>
                    <a:p>
                      <a:pPr algn="ctr"/>
                      <a:r>
                        <a:rPr sz="860" b="0" i="0">
                          <a:solidFill>
                            <a:srgbClr val="172733"/>
                          </a:solidFill>
                          <a:latin typeface="Aptos"/>
                        </a:rPr>
                        <a:t>Barrier-use embodiment</a:t>
                      </a:r>
                    </a:p>
                  </a:txBody>
                  <a:tcPr marL="36576" marR="36576" marT="27432" marB="27432" anchor="ctr">
                    <a:solidFill>
                      <a:srgbClr val="DDF5F4"/>
                    </a:solidFill>
                  </a:tcPr>
                </a:tc>
                <a:tc>
                  <a:txBody>
                    <a:bodyPr/>
                    <a:lstStyle/>
                    <a:p>
                      <a:pPr algn="ctr"/>
                      <a:r>
                        <a:rPr sz="860" b="0" i="0">
                          <a:solidFill>
                            <a:srgbClr val="172733"/>
                          </a:solidFill>
                          <a:latin typeface="Aptos"/>
                        </a:rPr>
                        <a:t>Preliminary</a:t>
                      </a:r>
                    </a:p>
                  </a:txBody>
                  <a:tcPr marL="36576" marR="36576" marT="27432" marB="27432" anchor="ctr">
                    <a:solidFill>
                      <a:srgbClr val="DDF5F4"/>
                    </a:solidFill>
                  </a:tcPr>
                </a:tc>
              </a:tr>
              <a:tr h="607428">
                <a:tc>
                  <a:txBody>
                    <a:bodyPr/>
                    <a:lstStyle/>
                    <a:p>
                      <a:pPr algn="l"/>
                      <a:r>
                        <a:rPr sz="860" b="1" i="0">
                          <a:solidFill>
                            <a:srgbClr val="172733"/>
                          </a:solidFill>
                          <a:latin typeface="Aptos"/>
                        </a:rPr>
                        <a:t>Fragmentation</a:t>
                      </a:r>
                    </a:p>
                  </a:txBody>
                  <a:tcPr marL="36576" marR="36576" marT="27432" marB="27432" anchor="ctr">
                    <a:solidFill>
                      <a:srgbClr val="F8FAFB"/>
                    </a:solidFill>
                  </a:tcPr>
                </a:tc>
                <a:tc>
                  <a:txBody>
                    <a:bodyPr/>
                    <a:lstStyle/>
                    <a:p>
                      <a:pPr algn="ctr"/>
                      <a:r>
                        <a:rPr sz="860" b="0" i="0">
                          <a:solidFill>
                            <a:srgbClr val="172733"/>
                          </a:solidFill>
                          <a:latin typeface="Aptos"/>
                        </a:rPr>
                        <a:t>Finer / distributed debris observed</a:t>
                      </a:r>
                    </a:p>
                  </a:txBody>
                  <a:tcPr marL="36576" marR="36576" marT="27432" marB="27432" anchor="ctr">
                    <a:solidFill>
                      <a:srgbClr val="F8FAFB"/>
                    </a:solidFill>
                  </a:tcPr>
                </a:tc>
                <a:tc>
                  <a:txBody>
                    <a:bodyPr/>
                    <a:lstStyle/>
                    <a:p>
                      <a:pPr algn="ctr"/>
                      <a:r>
                        <a:rPr sz="860" b="0" i="0">
                          <a:solidFill>
                            <a:srgbClr val="172733"/>
                          </a:solidFill>
                          <a:latin typeface="Aptos"/>
                        </a:rPr>
                        <a:t>Controlled-damage function</a:t>
                      </a:r>
                    </a:p>
                  </a:txBody>
                  <a:tcPr marL="36576" marR="36576" marT="27432" marB="27432" anchor="ctr">
                    <a:solidFill>
                      <a:srgbClr val="F8FAFB"/>
                    </a:solidFill>
                  </a:tcPr>
                </a:tc>
                <a:tc>
                  <a:txBody>
                    <a:bodyPr/>
                    <a:lstStyle/>
                    <a:p>
                      <a:pPr algn="ctr"/>
                      <a:r>
                        <a:rPr sz="860" b="0" i="0">
                          <a:solidFill>
                            <a:srgbClr val="172733"/>
                          </a:solidFill>
                          <a:latin typeface="Aptos"/>
                        </a:rPr>
                        <a:t>Preliminary</a:t>
                      </a:r>
                    </a:p>
                  </a:txBody>
                  <a:tcPr marL="36576" marR="36576" marT="27432" marB="27432" anchor="ctr">
                    <a:solidFill>
                      <a:srgbClr val="F8FAFB"/>
                    </a:solidFill>
                  </a:tcPr>
                </a:tc>
              </a:tr>
            </a:tbl>
          </a:graphicData>
        </a:graphic>
      </p:graphicFrame>
      <p:sp>
        <p:nvSpPr>
          <p:cNvPr id="11" name="Rounded Rectangle 10"/>
          <p:cNvSpPr/>
          <p:nvPr/>
        </p:nvSpPr>
        <p:spPr>
          <a:xfrm>
            <a:off x="7744968" y="1216152"/>
            <a:ext cx="3584448" cy="4251960"/>
          </a:xfrm>
          <a:prstGeom prst="roundRect">
            <a:avLst/>
          </a:prstGeom>
          <a:solidFill>
            <a:srgbClr val="08243A"/>
          </a:solidFill>
          <a:ln>
            <a:solidFill>
              <a:srgbClr val="0824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431" y="1490472"/>
            <a:ext cx="2999232" cy="365760"/>
          </a:xfrm>
          <a:prstGeom prst="rect">
            <a:avLst/>
          </a:prstGeom>
          <a:noFill/>
        </p:spPr>
        <p:txBody>
          <a:bodyPr wrap="square" lIns="0" rIns="0" tIns="0" bIns="0" anchor="t">
            <a:spAutoFit/>
          </a:bodyPr>
          <a:lstStyle/>
          <a:p>
            <a:pPr algn="l">
              <a:lnSpc>
                <a:spcPct val="100000"/>
              </a:lnSpc>
            </a:pPr>
            <a:r>
              <a:rPr sz="1019" b="1" i="0">
                <a:solidFill>
                  <a:srgbClr val="22B8C7"/>
                </a:solidFill>
                <a:latin typeface="Aptos"/>
              </a:rPr>
              <a:t>PROTECTABLE VALUE STACK</a:t>
            </a:r>
          </a:p>
        </p:txBody>
      </p:sp>
      <p:sp>
        <p:nvSpPr>
          <p:cNvPr id="13" name="Oval 12"/>
          <p:cNvSpPr/>
          <p:nvPr/>
        </p:nvSpPr>
        <p:spPr>
          <a:xfrm>
            <a:off x="8046720" y="2002536"/>
            <a:ext cx="347472" cy="347472"/>
          </a:xfrm>
          <a:prstGeom prst="ellipse">
            <a:avLst/>
          </a:prstGeom>
          <a:solidFill>
            <a:srgbClr val="2B78A6"/>
          </a:solidFill>
          <a:ln>
            <a:solidFill>
              <a:srgbClr val="2B7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0" y="2002536"/>
            <a:ext cx="347472" cy="347472"/>
          </a:xfrm>
          <a:prstGeom prst="rect">
            <a:avLst/>
          </a:prstGeom>
          <a:noFill/>
        </p:spPr>
        <p:txBody>
          <a:bodyPr wrap="square" lIns="0" rIns="0" tIns="0" bIns="0" anchor="ctr">
            <a:spAutoFit/>
          </a:bodyPr>
          <a:lstStyle/>
          <a:p>
            <a:pPr algn="ctr">
              <a:lnSpc>
                <a:spcPct val="100000"/>
              </a:lnSpc>
            </a:pPr>
            <a:r>
              <a:rPr sz="900" b="1" i="0">
                <a:solidFill>
                  <a:srgbClr val="FFFFFF"/>
                </a:solidFill>
                <a:latin typeface="Aptos"/>
              </a:rPr>
              <a:t>A</a:t>
            </a:r>
          </a:p>
        </p:txBody>
      </p:sp>
      <p:sp>
        <p:nvSpPr>
          <p:cNvPr id="15" name="TextBox 14"/>
          <p:cNvSpPr txBox="1"/>
          <p:nvPr/>
        </p:nvSpPr>
        <p:spPr>
          <a:xfrm>
            <a:off x="8503920" y="1993392"/>
            <a:ext cx="1024128" cy="246888"/>
          </a:xfrm>
          <a:prstGeom prst="rect">
            <a:avLst/>
          </a:prstGeom>
          <a:noFill/>
        </p:spPr>
        <p:txBody>
          <a:bodyPr wrap="square" lIns="0" rIns="0" tIns="0" bIns="0" anchor="t">
            <a:spAutoFit/>
          </a:bodyPr>
          <a:lstStyle/>
          <a:p>
            <a:pPr algn="l">
              <a:lnSpc>
                <a:spcPct val="100000"/>
              </a:lnSpc>
            </a:pPr>
            <a:r>
              <a:rPr sz="940" b="1" i="0">
                <a:solidFill>
                  <a:srgbClr val="FFFFFF"/>
                </a:solidFill>
                <a:latin typeface="Aptos"/>
              </a:rPr>
              <a:t>Material platform</a:t>
            </a:r>
          </a:p>
        </p:txBody>
      </p:sp>
      <p:sp>
        <p:nvSpPr>
          <p:cNvPr id="16" name="TextBox 15"/>
          <p:cNvSpPr txBox="1"/>
          <p:nvPr/>
        </p:nvSpPr>
        <p:spPr>
          <a:xfrm>
            <a:off x="9537192" y="1975104"/>
            <a:ext cx="1453896" cy="384048"/>
          </a:xfrm>
          <a:prstGeom prst="rect">
            <a:avLst/>
          </a:prstGeom>
          <a:noFill/>
        </p:spPr>
        <p:txBody>
          <a:bodyPr wrap="square" lIns="0" rIns="0" tIns="0" bIns="0" anchor="t">
            <a:spAutoFit/>
          </a:bodyPr>
          <a:lstStyle/>
          <a:p>
            <a:pPr algn="l">
              <a:lnSpc>
                <a:spcPct val="100000"/>
              </a:lnSpc>
            </a:pPr>
            <a:r>
              <a:rPr sz="790" b="0" i="0">
                <a:solidFill>
                  <a:srgbClr val="C4D4DC"/>
                </a:solidFill>
                <a:latin typeface="Aptos"/>
              </a:rPr>
              <a:t>integrated lightweight energy-dissipation system</a:t>
            </a:r>
          </a:p>
        </p:txBody>
      </p:sp>
      <p:sp>
        <p:nvSpPr>
          <p:cNvPr id="17" name="Oval 16"/>
          <p:cNvSpPr/>
          <p:nvPr/>
        </p:nvSpPr>
        <p:spPr>
          <a:xfrm>
            <a:off x="8046720" y="2615184"/>
            <a:ext cx="347472" cy="347472"/>
          </a:xfrm>
          <a:prstGeom prst="ellipse">
            <a:avLst/>
          </a:prstGeom>
          <a:solidFill>
            <a:srgbClr val="22B8C7"/>
          </a:solidFill>
          <a:ln>
            <a:solidFill>
              <a:srgbClr val="22B8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0" y="2615184"/>
            <a:ext cx="347472" cy="347472"/>
          </a:xfrm>
          <a:prstGeom prst="rect">
            <a:avLst/>
          </a:prstGeom>
          <a:noFill/>
        </p:spPr>
        <p:txBody>
          <a:bodyPr wrap="square" lIns="0" rIns="0" tIns="0" bIns="0" anchor="ctr">
            <a:spAutoFit/>
          </a:bodyPr>
          <a:lstStyle/>
          <a:p>
            <a:pPr algn="ctr">
              <a:lnSpc>
                <a:spcPct val="100000"/>
              </a:lnSpc>
            </a:pPr>
            <a:r>
              <a:rPr sz="900" b="1" i="0">
                <a:solidFill>
                  <a:srgbClr val="FFFFFF"/>
                </a:solidFill>
                <a:latin typeface="Aptos"/>
              </a:rPr>
              <a:t>B</a:t>
            </a:r>
          </a:p>
        </p:txBody>
      </p:sp>
      <p:sp>
        <p:nvSpPr>
          <p:cNvPr id="19" name="TextBox 18"/>
          <p:cNvSpPr txBox="1"/>
          <p:nvPr/>
        </p:nvSpPr>
        <p:spPr>
          <a:xfrm>
            <a:off x="8503920" y="2606040"/>
            <a:ext cx="1024128" cy="246888"/>
          </a:xfrm>
          <a:prstGeom prst="rect">
            <a:avLst/>
          </a:prstGeom>
          <a:noFill/>
        </p:spPr>
        <p:txBody>
          <a:bodyPr wrap="square" lIns="0" rIns="0" tIns="0" bIns="0" anchor="t">
            <a:spAutoFit/>
          </a:bodyPr>
          <a:lstStyle/>
          <a:p>
            <a:pPr algn="l">
              <a:lnSpc>
                <a:spcPct val="100000"/>
              </a:lnSpc>
            </a:pPr>
            <a:r>
              <a:rPr sz="940" b="1" i="0">
                <a:solidFill>
                  <a:srgbClr val="FFFFFF"/>
                </a:solidFill>
                <a:latin typeface="Aptos"/>
              </a:rPr>
              <a:t>Manufacturing know-how</a:t>
            </a:r>
          </a:p>
        </p:txBody>
      </p:sp>
      <p:sp>
        <p:nvSpPr>
          <p:cNvPr id="20" name="TextBox 19"/>
          <p:cNvSpPr txBox="1"/>
          <p:nvPr/>
        </p:nvSpPr>
        <p:spPr>
          <a:xfrm>
            <a:off x="9537192" y="2587752"/>
            <a:ext cx="1453896" cy="384048"/>
          </a:xfrm>
          <a:prstGeom prst="rect">
            <a:avLst/>
          </a:prstGeom>
          <a:noFill/>
        </p:spPr>
        <p:txBody>
          <a:bodyPr wrap="square" lIns="0" rIns="0" tIns="0" bIns="0" anchor="t">
            <a:spAutoFit/>
          </a:bodyPr>
          <a:lstStyle/>
          <a:p>
            <a:pPr algn="l">
              <a:lnSpc>
                <a:spcPct val="100000"/>
              </a:lnSpc>
            </a:pPr>
            <a:r>
              <a:rPr sz="790" b="0" i="0">
                <a:solidFill>
                  <a:srgbClr val="C4D4DC"/>
                </a:solidFill>
                <a:latin typeface="Aptos"/>
              </a:rPr>
              <a:t>controlled processing and quality assurance</a:t>
            </a:r>
          </a:p>
        </p:txBody>
      </p:sp>
      <p:sp>
        <p:nvSpPr>
          <p:cNvPr id="21" name="Oval 20"/>
          <p:cNvSpPr/>
          <p:nvPr/>
        </p:nvSpPr>
        <p:spPr>
          <a:xfrm>
            <a:off x="8046720" y="3227832"/>
            <a:ext cx="347472" cy="347472"/>
          </a:xfrm>
          <a:prstGeom prst="ellipse">
            <a:avLst/>
          </a:prstGeom>
          <a:solidFill>
            <a:srgbClr val="178D86"/>
          </a:solidFill>
          <a:ln>
            <a:solidFill>
              <a:srgbClr val="178D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0" y="3227832"/>
            <a:ext cx="347472" cy="347472"/>
          </a:xfrm>
          <a:prstGeom prst="rect">
            <a:avLst/>
          </a:prstGeom>
          <a:noFill/>
        </p:spPr>
        <p:txBody>
          <a:bodyPr wrap="square" lIns="0" rIns="0" tIns="0" bIns="0" anchor="ctr">
            <a:spAutoFit/>
          </a:bodyPr>
          <a:lstStyle/>
          <a:p>
            <a:pPr algn="ctr">
              <a:lnSpc>
                <a:spcPct val="100000"/>
              </a:lnSpc>
            </a:pPr>
            <a:r>
              <a:rPr sz="900" b="1" i="0">
                <a:solidFill>
                  <a:srgbClr val="FFFFFF"/>
                </a:solidFill>
                <a:latin typeface="Aptos"/>
              </a:rPr>
              <a:t>C</a:t>
            </a:r>
          </a:p>
        </p:txBody>
      </p:sp>
      <p:sp>
        <p:nvSpPr>
          <p:cNvPr id="23" name="TextBox 22"/>
          <p:cNvSpPr txBox="1"/>
          <p:nvPr/>
        </p:nvSpPr>
        <p:spPr>
          <a:xfrm>
            <a:off x="8503920" y="3218688"/>
            <a:ext cx="1024128" cy="246888"/>
          </a:xfrm>
          <a:prstGeom prst="rect">
            <a:avLst/>
          </a:prstGeom>
          <a:noFill/>
        </p:spPr>
        <p:txBody>
          <a:bodyPr wrap="square" lIns="0" rIns="0" tIns="0" bIns="0" anchor="t">
            <a:spAutoFit/>
          </a:bodyPr>
          <a:lstStyle/>
          <a:p>
            <a:pPr algn="l">
              <a:lnSpc>
                <a:spcPct val="100000"/>
              </a:lnSpc>
            </a:pPr>
            <a:r>
              <a:rPr sz="940" b="1" i="0">
                <a:solidFill>
                  <a:srgbClr val="FFFFFF"/>
                </a:solidFill>
                <a:latin typeface="Aptos"/>
              </a:rPr>
              <a:t>Barrier embodiment</a:t>
            </a:r>
          </a:p>
        </p:txBody>
      </p:sp>
      <p:sp>
        <p:nvSpPr>
          <p:cNvPr id="24" name="TextBox 23"/>
          <p:cNvSpPr txBox="1"/>
          <p:nvPr/>
        </p:nvSpPr>
        <p:spPr>
          <a:xfrm>
            <a:off x="9537192" y="3200400"/>
            <a:ext cx="1453896" cy="384048"/>
          </a:xfrm>
          <a:prstGeom prst="rect">
            <a:avLst/>
          </a:prstGeom>
          <a:noFill/>
        </p:spPr>
        <p:txBody>
          <a:bodyPr wrap="square" lIns="0" rIns="0" tIns="0" bIns="0" anchor="t">
            <a:spAutoFit/>
          </a:bodyPr>
          <a:lstStyle/>
          <a:p>
            <a:pPr algn="l">
              <a:lnSpc>
                <a:spcPct val="100000"/>
              </a:lnSpc>
            </a:pPr>
            <a:r>
              <a:rPr sz="790" b="0" i="0">
                <a:solidFill>
                  <a:srgbClr val="C4D4DC"/>
                </a:solidFill>
                <a:latin typeface="Aptos"/>
              </a:rPr>
              <a:t>application-specific structural article</a:t>
            </a:r>
          </a:p>
        </p:txBody>
      </p:sp>
      <p:sp>
        <p:nvSpPr>
          <p:cNvPr id="25" name="Oval 24"/>
          <p:cNvSpPr/>
          <p:nvPr/>
        </p:nvSpPr>
        <p:spPr>
          <a:xfrm>
            <a:off x="8046720" y="3840480"/>
            <a:ext cx="347472" cy="347472"/>
          </a:xfrm>
          <a:prstGeom prst="ellipse">
            <a:avLst/>
          </a:prstGeom>
          <a:solidFill>
            <a:srgbClr val="F39C3D"/>
          </a:solidFill>
          <a:ln>
            <a:solidFill>
              <a:srgbClr val="F39C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6720" y="3840480"/>
            <a:ext cx="347472" cy="347472"/>
          </a:xfrm>
          <a:prstGeom prst="rect">
            <a:avLst/>
          </a:prstGeom>
          <a:noFill/>
        </p:spPr>
        <p:txBody>
          <a:bodyPr wrap="square" lIns="0" rIns="0" tIns="0" bIns="0" anchor="ctr">
            <a:spAutoFit/>
          </a:bodyPr>
          <a:lstStyle/>
          <a:p>
            <a:pPr algn="ctr">
              <a:lnSpc>
                <a:spcPct val="100000"/>
              </a:lnSpc>
            </a:pPr>
            <a:r>
              <a:rPr sz="900" b="1" i="0">
                <a:solidFill>
                  <a:srgbClr val="FFFFFF"/>
                </a:solidFill>
                <a:latin typeface="Aptos"/>
              </a:rPr>
              <a:t>D</a:t>
            </a:r>
          </a:p>
        </p:txBody>
      </p:sp>
      <p:sp>
        <p:nvSpPr>
          <p:cNvPr id="27" name="TextBox 26"/>
          <p:cNvSpPr txBox="1"/>
          <p:nvPr/>
        </p:nvSpPr>
        <p:spPr>
          <a:xfrm>
            <a:off x="8503920" y="3831336"/>
            <a:ext cx="1024128" cy="246888"/>
          </a:xfrm>
          <a:prstGeom prst="rect">
            <a:avLst/>
          </a:prstGeom>
          <a:noFill/>
        </p:spPr>
        <p:txBody>
          <a:bodyPr wrap="square" lIns="0" rIns="0" tIns="0" bIns="0" anchor="t">
            <a:spAutoFit/>
          </a:bodyPr>
          <a:lstStyle/>
          <a:p>
            <a:pPr algn="l">
              <a:lnSpc>
                <a:spcPct val="100000"/>
              </a:lnSpc>
            </a:pPr>
            <a:r>
              <a:rPr sz="940" b="1" i="0">
                <a:solidFill>
                  <a:srgbClr val="FFFFFF"/>
                </a:solidFill>
                <a:latin typeface="Aptos"/>
              </a:rPr>
              <a:t>Performance envelope</a:t>
            </a:r>
          </a:p>
        </p:txBody>
      </p:sp>
      <p:sp>
        <p:nvSpPr>
          <p:cNvPr id="28" name="TextBox 27"/>
          <p:cNvSpPr txBox="1"/>
          <p:nvPr/>
        </p:nvSpPr>
        <p:spPr>
          <a:xfrm>
            <a:off x="9537192" y="3813048"/>
            <a:ext cx="1453896" cy="384048"/>
          </a:xfrm>
          <a:prstGeom prst="rect">
            <a:avLst/>
          </a:prstGeom>
          <a:noFill/>
        </p:spPr>
        <p:txBody>
          <a:bodyPr wrap="square" lIns="0" rIns="0" tIns="0" bIns="0" anchor="t">
            <a:spAutoFit/>
          </a:bodyPr>
          <a:lstStyle/>
          <a:p>
            <a:pPr algn="l">
              <a:lnSpc>
                <a:spcPct val="100000"/>
              </a:lnSpc>
            </a:pPr>
            <a:r>
              <a:rPr sz="790" b="0" i="0">
                <a:solidFill>
                  <a:srgbClr val="C4D4DC"/>
                </a:solidFill>
                <a:latin typeface="Aptos"/>
              </a:rPr>
              <a:t>strength, impact endurance and damage control</a:t>
            </a:r>
          </a:p>
        </p:txBody>
      </p:sp>
      <p:sp>
        <p:nvSpPr>
          <p:cNvPr id="29" name="Oval 28"/>
          <p:cNvSpPr/>
          <p:nvPr/>
        </p:nvSpPr>
        <p:spPr>
          <a:xfrm>
            <a:off x="8046720" y="4453128"/>
            <a:ext cx="347472" cy="347472"/>
          </a:xfrm>
          <a:prstGeom prst="ellipse">
            <a:avLst/>
          </a:prstGeom>
          <a:solidFill>
            <a:srgbClr val="D95D5D"/>
          </a:solidFill>
          <a:ln>
            <a:solidFill>
              <a:srgbClr val="D95D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0" y="4453128"/>
            <a:ext cx="347472" cy="347472"/>
          </a:xfrm>
          <a:prstGeom prst="rect">
            <a:avLst/>
          </a:prstGeom>
          <a:noFill/>
        </p:spPr>
        <p:txBody>
          <a:bodyPr wrap="square" lIns="0" rIns="0" tIns="0" bIns="0" anchor="ctr">
            <a:spAutoFit/>
          </a:bodyPr>
          <a:lstStyle/>
          <a:p>
            <a:pPr algn="ctr">
              <a:lnSpc>
                <a:spcPct val="100000"/>
              </a:lnSpc>
            </a:pPr>
            <a:r>
              <a:rPr sz="900" b="1" i="0">
                <a:solidFill>
                  <a:srgbClr val="FFFFFF"/>
                </a:solidFill>
                <a:latin typeface="Aptos"/>
              </a:rPr>
              <a:t>E</a:t>
            </a:r>
          </a:p>
        </p:txBody>
      </p:sp>
      <p:sp>
        <p:nvSpPr>
          <p:cNvPr id="31" name="TextBox 30"/>
          <p:cNvSpPr txBox="1"/>
          <p:nvPr/>
        </p:nvSpPr>
        <p:spPr>
          <a:xfrm>
            <a:off x="8503920" y="4443984"/>
            <a:ext cx="1024128" cy="246888"/>
          </a:xfrm>
          <a:prstGeom prst="rect">
            <a:avLst/>
          </a:prstGeom>
          <a:noFill/>
        </p:spPr>
        <p:txBody>
          <a:bodyPr wrap="square" lIns="0" rIns="0" tIns="0" bIns="0" anchor="t">
            <a:spAutoFit/>
          </a:bodyPr>
          <a:lstStyle/>
          <a:p>
            <a:pPr algn="l">
              <a:lnSpc>
                <a:spcPct val="100000"/>
              </a:lnSpc>
            </a:pPr>
            <a:r>
              <a:rPr sz="940" b="1" i="0">
                <a:solidFill>
                  <a:srgbClr val="FFFFFF"/>
                </a:solidFill>
                <a:latin typeface="Aptos"/>
              </a:rPr>
              <a:t>Deployment package</a:t>
            </a:r>
          </a:p>
        </p:txBody>
      </p:sp>
      <p:sp>
        <p:nvSpPr>
          <p:cNvPr id="32" name="TextBox 31"/>
          <p:cNvSpPr txBox="1"/>
          <p:nvPr/>
        </p:nvSpPr>
        <p:spPr>
          <a:xfrm>
            <a:off x="9537192" y="4425696"/>
            <a:ext cx="1453896" cy="384048"/>
          </a:xfrm>
          <a:prstGeom prst="rect">
            <a:avLst/>
          </a:prstGeom>
          <a:noFill/>
        </p:spPr>
        <p:txBody>
          <a:bodyPr wrap="square" lIns="0" rIns="0" tIns="0" bIns="0" anchor="t">
            <a:spAutoFit/>
          </a:bodyPr>
          <a:lstStyle/>
          <a:p>
            <a:pPr algn="l">
              <a:lnSpc>
                <a:spcPct val="100000"/>
              </a:lnSpc>
            </a:pPr>
            <a:r>
              <a:rPr sz="790" b="0" i="0">
                <a:solidFill>
                  <a:srgbClr val="C4D4DC"/>
                </a:solidFill>
                <a:latin typeface="Aptos"/>
              </a:rPr>
              <a:t>precast production and field implementation</a:t>
            </a:r>
          </a:p>
        </p:txBody>
      </p:sp>
      <p:sp>
        <p:nvSpPr>
          <p:cNvPr id="33" name="TextBox 32"/>
          <p:cNvSpPr txBox="1"/>
          <p:nvPr/>
        </p:nvSpPr>
        <p:spPr>
          <a:xfrm>
            <a:off x="8028431" y="5084064"/>
            <a:ext cx="2971800" cy="274320"/>
          </a:xfrm>
          <a:prstGeom prst="rect">
            <a:avLst/>
          </a:prstGeom>
          <a:noFill/>
        </p:spPr>
        <p:txBody>
          <a:bodyPr wrap="square" lIns="0" rIns="0" tIns="0" bIns="0" anchor="t">
            <a:spAutoFit/>
          </a:bodyPr>
          <a:lstStyle/>
          <a:p>
            <a:pPr algn="l">
              <a:lnSpc>
                <a:spcPct val="100000"/>
              </a:lnSpc>
            </a:pPr>
            <a:r>
              <a:rPr sz="780" b="1" i="0">
                <a:solidFill>
                  <a:srgbClr val="F39C3D"/>
                </a:solidFill>
                <a:latin typeface="Aptos"/>
              </a:rPr>
              <a:t>* Density basis must be corrected.</a:t>
            </a:r>
          </a:p>
        </p:txBody>
      </p:sp>
      <p:sp>
        <p:nvSpPr>
          <p:cNvPr id="34" name="TextBox 33"/>
          <p:cNvSpPr txBox="1"/>
          <p:nvPr/>
        </p:nvSpPr>
        <p:spPr>
          <a:xfrm>
            <a:off x="667512" y="5806440"/>
            <a:ext cx="10652760" cy="256032"/>
          </a:xfrm>
          <a:prstGeom prst="rect">
            <a:avLst/>
          </a:prstGeom>
          <a:noFill/>
        </p:spPr>
        <p:txBody>
          <a:bodyPr wrap="square" lIns="0" rIns="0" tIns="0" bIns="0" anchor="ctr">
            <a:spAutoFit/>
          </a:bodyPr>
          <a:lstStyle/>
          <a:p>
            <a:pPr algn="l">
              <a:lnSpc>
                <a:spcPct val="100000"/>
              </a:lnSpc>
            </a:pPr>
            <a:r>
              <a:rPr sz="700" b="0" i="0">
                <a:solidFill>
                  <a:srgbClr val="596C78"/>
                </a:solidFill>
                <a:latin typeface="Aptos"/>
              </a:rPr>
              <a:t>Source: Evidence: inventor dataset. Claim structure is a technical drafting aid only—not legal advice. Patentability/FTO requires professional searching, claim construction and jurisdiction-specific counsel.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640080" y="164592"/>
            <a:ext cx="2514600" cy="201168"/>
          </a:xfrm>
          <a:prstGeom prst="rect">
            <a:avLst/>
          </a:prstGeom>
          <a:noFill/>
        </p:spPr>
        <p:txBody>
          <a:bodyPr wrap="square" lIns="0" rIns="0" tIns="0" bIns="0" anchor="t">
            <a:spAutoFit/>
          </a:bodyPr>
          <a:lstStyle/>
          <a:p>
            <a:pPr algn="l">
              <a:lnSpc>
                <a:spcPct val="100000"/>
              </a:lnSpc>
            </a:pPr>
            <a:r>
              <a:rPr sz="850" b="1" i="0">
                <a:solidFill>
                  <a:srgbClr val="2B78A6"/>
                </a:solidFill>
                <a:latin typeface="Aptos"/>
              </a:rPr>
              <a:t>TRANSLATION ROADMAP</a:t>
            </a:r>
          </a:p>
        </p:txBody>
      </p:sp>
      <p:sp>
        <p:nvSpPr>
          <p:cNvPr id="3" name="TextBox 2"/>
          <p:cNvSpPr txBox="1"/>
          <p:nvPr/>
        </p:nvSpPr>
        <p:spPr>
          <a:xfrm>
            <a:off x="640080" y="338328"/>
            <a:ext cx="9921240" cy="612648"/>
          </a:xfrm>
          <a:prstGeom prst="rect">
            <a:avLst/>
          </a:prstGeom>
          <a:noFill/>
        </p:spPr>
        <p:txBody>
          <a:bodyPr wrap="square" lIns="0" rIns="0" tIns="0" bIns="0" anchor="ctr">
            <a:spAutoFit/>
          </a:bodyPr>
          <a:lstStyle/>
          <a:p>
            <a:pPr algn="l">
              <a:lnSpc>
                <a:spcPct val="92000"/>
              </a:lnSpc>
            </a:pPr>
            <a:r>
              <a:rPr sz="2080" b="1" i="0">
                <a:solidFill>
                  <a:srgbClr val="172733"/>
                </a:solidFill>
                <a:latin typeface="Aptos Display"/>
              </a:rPr>
              <a:t>De-risking plan: convert a laboratory signal into a certifiable product</a:t>
            </a:r>
          </a:p>
        </p:txBody>
      </p:sp>
      <p:sp>
        <p:nvSpPr>
          <p:cNvPr id="4" name="Rounded Rectangle 3"/>
          <p:cNvSpPr/>
          <p:nvPr/>
        </p:nvSpPr>
        <p:spPr>
          <a:xfrm>
            <a:off x="11173968" y="128016"/>
            <a:ext cx="749808" cy="58521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itbbs_logo_official.png"/>
          <p:cNvPicPr>
            <a:picLocks noChangeAspect="1"/>
          </p:cNvPicPr>
          <p:nvPr/>
        </p:nvPicPr>
        <p:blipFill>
          <a:blip r:embed="rId2"/>
          <a:stretch>
            <a:fillRect/>
          </a:stretch>
        </p:blipFill>
        <p:spPr>
          <a:xfrm>
            <a:off x="11283696" y="164592"/>
            <a:ext cx="530352" cy="493776"/>
          </a:xfrm>
          <a:prstGeom prst="rect">
            <a:avLst/>
          </a:prstGeom>
        </p:spPr>
      </p:pic>
      <p:cxnSp>
        <p:nvCxnSpPr>
          <p:cNvPr id="6" name="Connector 5"/>
          <p:cNvCxnSpPr/>
          <p:nvPr/>
        </p:nvCxnSpPr>
        <p:spPr>
          <a:xfrm>
            <a:off x="640080" y="1005840"/>
            <a:ext cx="10899648" cy="0"/>
          </a:xfrm>
          <a:prstGeom prst="line">
            <a:avLst/>
          </a:prstGeom>
          <a:ln w="10160">
            <a:solidFill>
              <a:srgbClr val="D8E2E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473952"/>
            <a:ext cx="10899648" cy="0"/>
          </a:xfrm>
          <a:prstGeom prst="line">
            <a:avLst/>
          </a:prstGeom>
          <a:ln w="8890">
            <a:solidFill>
              <a:srgbClr val="D8E2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58368" y="6547104"/>
            <a:ext cx="9784080" cy="164592"/>
          </a:xfrm>
          <a:prstGeom prst="rect">
            <a:avLst/>
          </a:prstGeom>
          <a:noFill/>
        </p:spPr>
        <p:txBody>
          <a:bodyPr wrap="square" lIns="0" rIns="0" tIns="0" bIns="0" anchor="t">
            <a:spAutoFit/>
          </a:bodyPr>
          <a:lstStyle/>
          <a:p>
            <a:pPr algn="l">
              <a:lnSpc>
                <a:spcPct val="100000"/>
              </a:lnSpc>
            </a:pPr>
            <a:r>
              <a:rPr sz="760" b="1" i="0">
                <a:solidFill>
                  <a:srgbClr val="596C78"/>
                </a:solidFill>
                <a:latin typeface="Aptos"/>
              </a:rPr>
              <a:t>EXTERNAL REDACTED DRAFT • IP STATUS TO CONFIRM • DISTRIBUTE ONLY WITH IITBBS IP APPROVAL</a:t>
            </a:r>
          </a:p>
        </p:txBody>
      </p:sp>
      <p:sp>
        <p:nvSpPr>
          <p:cNvPr id="9" name="TextBox 8"/>
          <p:cNvSpPr txBox="1"/>
          <p:nvPr/>
        </p:nvSpPr>
        <p:spPr>
          <a:xfrm>
            <a:off x="10972800" y="6528816"/>
            <a:ext cx="548640" cy="173736"/>
          </a:xfrm>
          <a:prstGeom prst="rect">
            <a:avLst/>
          </a:prstGeom>
          <a:noFill/>
        </p:spPr>
        <p:txBody>
          <a:bodyPr wrap="square" lIns="0" rIns="0" tIns="0" bIns="0" anchor="t">
            <a:spAutoFit/>
          </a:bodyPr>
          <a:lstStyle/>
          <a:p>
            <a:pPr algn="r">
              <a:lnSpc>
                <a:spcPct val="100000"/>
              </a:lnSpc>
            </a:pPr>
            <a:r>
              <a:rPr sz="830" b="1" i="0">
                <a:solidFill>
                  <a:srgbClr val="596C78"/>
                </a:solidFill>
                <a:latin typeface="Aptos"/>
              </a:rPr>
              <a:t>16</a:t>
            </a:r>
          </a:p>
        </p:txBody>
      </p:sp>
      <p:sp>
        <p:nvSpPr>
          <p:cNvPr id="10" name="TextBox 9"/>
          <p:cNvSpPr txBox="1"/>
          <p:nvPr/>
        </p:nvSpPr>
        <p:spPr>
          <a:xfrm>
            <a:off x="667512" y="1243584"/>
            <a:ext cx="1938528" cy="256032"/>
          </a:xfrm>
          <a:prstGeom prst="rect">
            <a:avLst/>
          </a:prstGeom>
          <a:noFill/>
        </p:spPr>
        <p:txBody>
          <a:bodyPr wrap="square" lIns="0" rIns="0" tIns="0" bIns="0" anchor="t">
            <a:spAutoFit/>
          </a:bodyPr>
          <a:lstStyle/>
          <a:p>
            <a:pPr algn="ctr">
              <a:lnSpc>
                <a:spcPct val="100000"/>
              </a:lnSpc>
            </a:pPr>
            <a:r>
              <a:rPr sz="880" b="1" i="0">
                <a:solidFill>
                  <a:srgbClr val="2B78A6"/>
                </a:solidFill>
                <a:latin typeface="Aptos"/>
              </a:rPr>
              <a:t>NOW</a:t>
            </a:r>
          </a:p>
        </p:txBody>
      </p:sp>
      <p:sp>
        <p:nvSpPr>
          <p:cNvPr id="11" name="Oval 10"/>
          <p:cNvSpPr/>
          <p:nvPr/>
        </p:nvSpPr>
        <p:spPr>
          <a:xfrm>
            <a:off x="1399032" y="1600200"/>
            <a:ext cx="475488" cy="475488"/>
          </a:xfrm>
          <a:prstGeom prst="ellipse">
            <a:avLst/>
          </a:prstGeom>
          <a:solidFill>
            <a:srgbClr val="2B78A6"/>
          </a:solidFill>
          <a:ln>
            <a:solidFill>
              <a:srgbClr val="2B7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99032" y="1600200"/>
            <a:ext cx="475488" cy="475488"/>
          </a:xfrm>
          <a:prstGeom prst="rect">
            <a:avLst/>
          </a:prstGeom>
          <a:noFill/>
        </p:spPr>
        <p:txBody>
          <a:bodyPr wrap="square" lIns="0" rIns="0" tIns="0" bIns="0" anchor="ctr">
            <a:spAutoFit/>
          </a:bodyPr>
          <a:lstStyle/>
          <a:p>
            <a:pPr algn="ctr">
              <a:lnSpc>
                <a:spcPct val="100000"/>
              </a:lnSpc>
            </a:pPr>
            <a:r>
              <a:rPr sz="1000" b="1" i="0">
                <a:solidFill>
                  <a:srgbClr val="FFFFFF"/>
                </a:solidFill>
                <a:latin typeface="Aptos"/>
              </a:rPr>
              <a:t>1</a:t>
            </a:r>
          </a:p>
        </p:txBody>
      </p:sp>
      <p:cxnSp>
        <p:nvCxnSpPr>
          <p:cNvPr id="13" name="Connector 12"/>
          <p:cNvCxnSpPr/>
          <p:nvPr/>
        </p:nvCxnSpPr>
        <p:spPr>
          <a:xfrm>
            <a:off x="1874519" y="1837943"/>
            <a:ext cx="1051561" cy="0"/>
          </a:xfrm>
          <a:prstGeom prst="line">
            <a:avLst/>
          </a:prstGeom>
          <a:ln w="26670">
            <a:solidFill>
              <a:srgbClr val="D8E2E8"/>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67512" y="2295144"/>
            <a:ext cx="1938528" cy="310896"/>
          </a:xfrm>
          <a:prstGeom prst="rect">
            <a:avLst/>
          </a:prstGeom>
          <a:noFill/>
        </p:spPr>
        <p:txBody>
          <a:bodyPr wrap="square" lIns="0" rIns="0" tIns="0" bIns="0" anchor="t">
            <a:spAutoFit/>
          </a:bodyPr>
          <a:lstStyle/>
          <a:p>
            <a:pPr algn="ctr">
              <a:lnSpc>
                <a:spcPct val="100000"/>
              </a:lnSpc>
            </a:pPr>
            <a:r>
              <a:rPr sz="1250" b="1" i="0">
                <a:solidFill>
                  <a:srgbClr val="172733"/>
                </a:solidFill>
                <a:latin typeface="Aptos Display"/>
              </a:rPr>
              <a:t>Protect</a:t>
            </a:r>
          </a:p>
        </p:txBody>
      </p:sp>
      <p:sp>
        <p:nvSpPr>
          <p:cNvPr id="15" name="TextBox 14"/>
          <p:cNvSpPr txBox="1"/>
          <p:nvPr/>
        </p:nvSpPr>
        <p:spPr>
          <a:xfrm>
            <a:off x="722376" y="2706624"/>
            <a:ext cx="1828800" cy="1024128"/>
          </a:xfrm>
          <a:prstGeom prst="rect">
            <a:avLst/>
          </a:prstGeom>
          <a:noFill/>
        </p:spPr>
        <p:txBody>
          <a:bodyPr wrap="square" lIns="0" rIns="0" tIns="0" bIns="0" anchor="t">
            <a:spAutoFit/>
          </a:bodyPr>
          <a:lstStyle/>
          <a:p>
            <a:pPr algn="ctr">
              <a:lnSpc>
                <a:spcPct val="100000"/>
              </a:lnSpc>
            </a:pPr>
            <a:r>
              <a:rPr sz="900" b="0" i="0">
                <a:solidFill>
                  <a:srgbClr val="596C78"/>
                </a:solidFill>
                <a:latin typeface="Aptos"/>
              </a:rPr>
              <a:t>File before disclosure; professional search; lock data provenance</a:t>
            </a:r>
          </a:p>
        </p:txBody>
      </p:sp>
      <p:sp>
        <p:nvSpPr>
          <p:cNvPr id="16" name="TextBox 15"/>
          <p:cNvSpPr txBox="1"/>
          <p:nvPr/>
        </p:nvSpPr>
        <p:spPr>
          <a:xfrm>
            <a:off x="2916936" y="1243584"/>
            <a:ext cx="1938528" cy="256032"/>
          </a:xfrm>
          <a:prstGeom prst="rect">
            <a:avLst/>
          </a:prstGeom>
          <a:noFill/>
        </p:spPr>
        <p:txBody>
          <a:bodyPr wrap="square" lIns="0" rIns="0" tIns="0" bIns="0" anchor="t">
            <a:spAutoFit/>
          </a:bodyPr>
          <a:lstStyle/>
          <a:p>
            <a:pPr algn="ctr">
              <a:lnSpc>
                <a:spcPct val="100000"/>
              </a:lnSpc>
            </a:pPr>
            <a:r>
              <a:rPr sz="880" b="1" i="0">
                <a:solidFill>
                  <a:srgbClr val="22B8C7"/>
                </a:solidFill>
                <a:latin typeface="Aptos"/>
              </a:rPr>
              <a:t>0–6 m</a:t>
            </a:r>
          </a:p>
        </p:txBody>
      </p:sp>
      <p:sp>
        <p:nvSpPr>
          <p:cNvPr id="17" name="Oval 16"/>
          <p:cNvSpPr/>
          <p:nvPr/>
        </p:nvSpPr>
        <p:spPr>
          <a:xfrm>
            <a:off x="3648456" y="1600200"/>
            <a:ext cx="475488" cy="475488"/>
          </a:xfrm>
          <a:prstGeom prst="ellipse">
            <a:avLst/>
          </a:prstGeom>
          <a:solidFill>
            <a:srgbClr val="22B8C7"/>
          </a:solidFill>
          <a:ln>
            <a:solidFill>
              <a:srgbClr val="22B8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48456" y="1600200"/>
            <a:ext cx="475488" cy="475488"/>
          </a:xfrm>
          <a:prstGeom prst="rect">
            <a:avLst/>
          </a:prstGeom>
          <a:noFill/>
        </p:spPr>
        <p:txBody>
          <a:bodyPr wrap="square" lIns="0" rIns="0" tIns="0" bIns="0" anchor="ctr">
            <a:spAutoFit/>
          </a:bodyPr>
          <a:lstStyle/>
          <a:p>
            <a:pPr algn="ctr">
              <a:lnSpc>
                <a:spcPct val="100000"/>
              </a:lnSpc>
            </a:pPr>
            <a:r>
              <a:rPr sz="1000" b="1" i="0">
                <a:solidFill>
                  <a:srgbClr val="FFFFFF"/>
                </a:solidFill>
                <a:latin typeface="Aptos"/>
              </a:rPr>
              <a:t>2</a:t>
            </a:r>
          </a:p>
        </p:txBody>
      </p:sp>
      <p:cxnSp>
        <p:nvCxnSpPr>
          <p:cNvPr id="19" name="Connector 18"/>
          <p:cNvCxnSpPr/>
          <p:nvPr/>
        </p:nvCxnSpPr>
        <p:spPr>
          <a:xfrm>
            <a:off x="4123944" y="1837943"/>
            <a:ext cx="1051560" cy="0"/>
          </a:xfrm>
          <a:prstGeom prst="line">
            <a:avLst/>
          </a:prstGeom>
          <a:ln w="26670">
            <a:solidFill>
              <a:srgbClr val="D8E2E8"/>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2916936" y="2295144"/>
            <a:ext cx="1938528" cy="310896"/>
          </a:xfrm>
          <a:prstGeom prst="rect">
            <a:avLst/>
          </a:prstGeom>
          <a:noFill/>
        </p:spPr>
        <p:txBody>
          <a:bodyPr wrap="square" lIns="0" rIns="0" tIns="0" bIns="0" anchor="t">
            <a:spAutoFit/>
          </a:bodyPr>
          <a:lstStyle/>
          <a:p>
            <a:pPr algn="ctr">
              <a:lnSpc>
                <a:spcPct val="100000"/>
              </a:lnSpc>
            </a:pPr>
            <a:r>
              <a:rPr sz="1250" b="1" i="0">
                <a:solidFill>
                  <a:srgbClr val="172733"/>
                </a:solidFill>
                <a:latin typeface="Aptos Display"/>
              </a:rPr>
              <a:t>Reproduce</a:t>
            </a:r>
          </a:p>
        </p:txBody>
      </p:sp>
      <p:sp>
        <p:nvSpPr>
          <p:cNvPr id="21" name="TextBox 20"/>
          <p:cNvSpPr txBox="1"/>
          <p:nvPr/>
        </p:nvSpPr>
        <p:spPr>
          <a:xfrm>
            <a:off x="2971800" y="2706624"/>
            <a:ext cx="1828800" cy="1024128"/>
          </a:xfrm>
          <a:prstGeom prst="rect">
            <a:avLst/>
          </a:prstGeom>
          <a:noFill/>
        </p:spPr>
        <p:txBody>
          <a:bodyPr wrap="square" lIns="0" rIns="0" tIns="0" bIns="0" anchor="t">
            <a:spAutoFit/>
          </a:bodyPr>
          <a:lstStyle/>
          <a:p>
            <a:pPr algn="ctr">
              <a:lnSpc>
                <a:spcPct val="100000"/>
              </a:lnSpc>
            </a:pPr>
            <a:r>
              <a:rPr sz="900" b="0" i="0">
                <a:solidFill>
                  <a:srgbClr val="596C78"/>
                </a:solidFill>
                <a:latin typeface="Aptos"/>
              </a:rPr>
              <a:t>Resolve method conflicts; replicate barrier tests; quantify debris</a:t>
            </a:r>
          </a:p>
        </p:txBody>
      </p:sp>
      <p:sp>
        <p:nvSpPr>
          <p:cNvPr id="22" name="TextBox 21"/>
          <p:cNvSpPr txBox="1"/>
          <p:nvPr/>
        </p:nvSpPr>
        <p:spPr>
          <a:xfrm>
            <a:off x="5166360" y="1243584"/>
            <a:ext cx="1938528" cy="256032"/>
          </a:xfrm>
          <a:prstGeom prst="rect">
            <a:avLst/>
          </a:prstGeom>
          <a:noFill/>
        </p:spPr>
        <p:txBody>
          <a:bodyPr wrap="square" lIns="0" rIns="0" tIns="0" bIns="0" anchor="t">
            <a:spAutoFit/>
          </a:bodyPr>
          <a:lstStyle/>
          <a:p>
            <a:pPr algn="ctr">
              <a:lnSpc>
                <a:spcPct val="100000"/>
              </a:lnSpc>
            </a:pPr>
            <a:r>
              <a:rPr sz="880" b="1" i="0">
                <a:solidFill>
                  <a:srgbClr val="178D86"/>
                </a:solidFill>
                <a:latin typeface="Aptos"/>
              </a:rPr>
              <a:t>6–12 m</a:t>
            </a:r>
          </a:p>
        </p:txBody>
      </p:sp>
      <p:sp>
        <p:nvSpPr>
          <p:cNvPr id="23" name="Oval 22"/>
          <p:cNvSpPr/>
          <p:nvPr/>
        </p:nvSpPr>
        <p:spPr>
          <a:xfrm>
            <a:off x="5897880" y="1600200"/>
            <a:ext cx="475488" cy="475488"/>
          </a:xfrm>
          <a:prstGeom prst="ellipse">
            <a:avLst/>
          </a:prstGeom>
          <a:solidFill>
            <a:srgbClr val="178D86"/>
          </a:solidFill>
          <a:ln>
            <a:solidFill>
              <a:srgbClr val="178D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97880" y="1600200"/>
            <a:ext cx="475488" cy="475488"/>
          </a:xfrm>
          <a:prstGeom prst="rect">
            <a:avLst/>
          </a:prstGeom>
          <a:noFill/>
        </p:spPr>
        <p:txBody>
          <a:bodyPr wrap="square" lIns="0" rIns="0" tIns="0" bIns="0" anchor="ctr">
            <a:spAutoFit/>
          </a:bodyPr>
          <a:lstStyle/>
          <a:p>
            <a:pPr algn="ctr">
              <a:lnSpc>
                <a:spcPct val="100000"/>
              </a:lnSpc>
            </a:pPr>
            <a:r>
              <a:rPr sz="1000" b="1" i="0">
                <a:solidFill>
                  <a:srgbClr val="FFFFFF"/>
                </a:solidFill>
                <a:latin typeface="Aptos"/>
              </a:rPr>
              <a:t>3</a:t>
            </a:r>
          </a:p>
        </p:txBody>
      </p:sp>
      <p:cxnSp>
        <p:nvCxnSpPr>
          <p:cNvPr id="25" name="Connector 24"/>
          <p:cNvCxnSpPr/>
          <p:nvPr/>
        </p:nvCxnSpPr>
        <p:spPr>
          <a:xfrm>
            <a:off x="6373368" y="1837943"/>
            <a:ext cx="1051560" cy="0"/>
          </a:xfrm>
          <a:prstGeom prst="line">
            <a:avLst/>
          </a:prstGeom>
          <a:ln w="26670">
            <a:solidFill>
              <a:srgbClr val="D8E2E8"/>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166360" y="2295144"/>
            <a:ext cx="1938528" cy="310896"/>
          </a:xfrm>
          <a:prstGeom prst="rect">
            <a:avLst/>
          </a:prstGeom>
          <a:noFill/>
        </p:spPr>
        <p:txBody>
          <a:bodyPr wrap="square" lIns="0" rIns="0" tIns="0" bIns="0" anchor="t">
            <a:spAutoFit/>
          </a:bodyPr>
          <a:lstStyle/>
          <a:p>
            <a:pPr algn="ctr">
              <a:lnSpc>
                <a:spcPct val="100000"/>
              </a:lnSpc>
            </a:pPr>
            <a:r>
              <a:rPr sz="1250" b="1" i="0">
                <a:solidFill>
                  <a:srgbClr val="172733"/>
                </a:solidFill>
                <a:latin typeface="Aptos Display"/>
              </a:rPr>
              <a:t>Model + age</a:t>
            </a:r>
          </a:p>
        </p:txBody>
      </p:sp>
      <p:sp>
        <p:nvSpPr>
          <p:cNvPr id="27" name="TextBox 26"/>
          <p:cNvSpPr txBox="1"/>
          <p:nvPr/>
        </p:nvSpPr>
        <p:spPr>
          <a:xfrm>
            <a:off x="5221224" y="2706624"/>
            <a:ext cx="1828800" cy="1024128"/>
          </a:xfrm>
          <a:prstGeom prst="rect">
            <a:avLst/>
          </a:prstGeom>
          <a:noFill/>
        </p:spPr>
        <p:txBody>
          <a:bodyPr wrap="square" lIns="0" rIns="0" tIns="0" bIns="0" anchor="t">
            <a:spAutoFit/>
          </a:bodyPr>
          <a:lstStyle/>
          <a:p>
            <a:pPr algn="ctr">
              <a:lnSpc>
                <a:spcPct val="100000"/>
              </a:lnSpc>
            </a:pPr>
            <a:r>
              <a:rPr sz="900" b="0" i="0">
                <a:solidFill>
                  <a:srgbClr val="596C78"/>
                </a:solidFill>
                <a:latin typeface="Aptos"/>
              </a:rPr>
              <a:t>Calibrate FE; fatigue/repeat impact; chloride, fire and weather</a:t>
            </a:r>
          </a:p>
        </p:txBody>
      </p:sp>
      <p:sp>
        <p:nvSpPr>
          <p:cNvPr id="28" name="TextBox 27"/>
          <p:cNvSpPr txBox="1"/>
          <p:nvPr/>
        </p:nvSpPr>
        <p:spPr>
          <a:xfrm>
            <a:off x="7415783" y="1243584"/>
            <a:ext cx="1938528" cy="256032"/>
          </a:xfrm>
          <a:prstGeom prst="rect">
            <a:avLst/>
          </a:prstGeom>
          <a:noFill/>
        </p:spPr>
        <p:txBody>
          <a:bodyPr wrap="square" lIns="0" rIns="0" tIns="0" bIns="0" anchor="t">
            <a:spAutoFit/>
          </a:bodyPr>
          <a:lstStyle/>
          <a:p>
            <a:pPr algn="ctr">
              <a:lnSpc>
                <a:spcPct val="100000"/>
              </a:lnSpc>
            </a:pPr>
            <a:r>
              <a:rPr sz="880" b="1" i="0">
                <a:solidFill>
                  <a:srgbClr val="F39C3D"/>
                </a:solidFill>
                <a:latin typeface="Aptos"/>
              </a:rPr>
              <a:t>12–24 m</a:t>
            </a:r>
          </a:p>
        </p:txBody>
      </p:sp>
      <p:sp>
        <p:nvSpPr>
          <p:cNvPr id="29" name="Oval 28"/>
          <p:cNvSpPr/>
          <p:nvPr/>
        </p:nvSpPr>
        <p:spPr>
          <a:xfrm>
            <a:off x="8147304" y="1600200"/>
            <a:ext cx="475488" cy="475488"/>
          </a:xfrm>
          <a:prstGeom prst="ellipse">
            <a:avLst/>
          </a:prstGeom>
          <a:solidFill>
            <a:srgbClr val="F39C3D"/>
          </a:solidFill>
          <a:ln>
            <a:solidFill>
              <a:srgbClr val="F39C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47304" y="1600200"/>
            <a:ext cx="475488" cy="475488"/>
          </a:xfrm>
          <a:prstGeom prst="rect">
            <a:avLst/>
          </a:prstGeom>
          <a:noFill/>
        </p:spPr>
        <p:txBody>
          <a:bodyPr wrap="square" lIns="0" rIns="0" tIns="0" bIns="0" anchor="ctr">
            <a:spAutoFit/>
          </a:bodyPr>
          <a:lstStyle/>
          <a:p>
            <a:pPr algn="ctr">
              <a:lnSpc>
                <a:spcPct val="100000"/>
              </a:lnSpc>
            </a:pPr>
            <a:r>
              <a:rPr sz="1000" b="1" i="0">
                <a:solidFill>
                  <a:srgbClr val="FFFFFF"/>
                </a:solidFill>
                <a:latin typeface="Aptos"/>
              </a:rPr>
              <a:t>4</a:t>
            </a:r>
          </a:p>
        </p:txBody>
      </p:sp>
      <p:cxnSp>
        <p:nvCxnSpPr>
          <p:cNvPr id="31" name="Connector 30"/>
          <p:cNvCxnSpPr/>
          <p:nvPr/>
        </p:nvCxnSpPr>
        <p:spPr>
          <a:xfrm>
            <a:off x="8622792" y="1837943"/>
            <a:ext cx="1051560" cy="0"/>
          </a:xfrm>
          <a:prstGeom prst="line">
            <a:avLst/>
          </a:prstGeom>
          <a:ln w="26670">
            <a:solidFill>
              <a:srgbClr val="D8E2E8"/>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7415783" y="2295144"/>
            <a:ext cx="1938528" cy="310896"/>
          </a:xfrm>
          <a:prstGeom prst="rect">
            <a:avLst/>
          </a:prstGeom>
          <a:noFill/>
        </p:spPr>
        <p:txBody>
          <a:bodyPr wrap="square" lIns="0" rIns="0" tIns="0" bIns="0" anchor="t">
            <a:spAutoFit/>
          </a:bodyPr>
          <a:lstStyle/>
          <a:p>
            <a:pPr algn="ctr">
              <a:lnSpc>
                <a:spcPct val="100000"/>
              </a:lnSpc>
            </a:pPr>
            <a:r>
              <a:rPr sz="1250" b="1" i="0">
                <a:solidFill>
                  <a:srgbClr val="172733"/>
                </a:solidFill>
                <a:latin typeface="Aptos Display"/>
              </a:rPr>
              <a:t>Full-scale certify</a:t>
            </a:r>
          </a:p>
        </p:txBody>
      </p:sp>
      <p:sp>
        <p:nvSpPr>
          <p:cNvPr id="33" name="TextBox 32"/>
          <p:cNvSpPr txBox="1"/>
          <p:nvPr/>
        </p:nvSpPr>
        <p:spPr>
          <a:xfrm>
            <a:off x="7470648" y="2706624"/>
            <a:ext cx="1828800" cy="1024128"/>
          </a:xfrm>
          <a:prstGeom prst="rect">
            <a:avLst/>
          </a:prstGeom>
          <a:noFill/>
        </p:spPr>
        <p:txBody>
          <a:bodyPr wrap="square" lIns="0" rIns="0" tIns="0" bIns="0" anchor="t">
            <a:spAutoFit/>
          </a:bodyPr>
          <a:lstStyle/>
          <a:p>
            <a:pPr algn="ctr">
              <a:lnSpc>
                <a:spcPct val="100000"/>
              </a:lnSpc>
            </a:pPr>
            <a:r>
              <a:rPr sz="900" b="0" i="0">
                <a:solidFill>
                  <a:srgbClr val="596C78"/>
                </a:solidFill>
                <a:latin typeface="Aptos"/>
              </a:rPr>
              <a:t>Vehicle crash: containment, redirection, ASI/THIV and debris</a:t>
            </a:r>
          </a:p>
        </p:txBody>
      </p:sp>
      <p:sp>
        <p:nvSpPr>
          <p:cNvPr id="34" name="TextBox 33"/>
          <p:cNvSpPr txBox="1"/>
          <p:nvPr/>
        </p:nvSpPr>
        <p:spPr>
          <a:xfrm>
            <a:off x="9665208" y="1243584"/>
            <a:ext cx="1938528" cy="256032"/>
          </a:xfrm>
          <a:prstGeom prst="rect">
            <a:avLst/>
          </a:prstGeom>
          <a:noFill/>
        </p:spPr>
        <p:txBody>
          <a:bodyPr wrap="square" lIns="0" rIns="0" tIns="0" bIns="0" anchor="t">
            <a:spAutoFit/>
          </a:bodyPr>
          <a:lstStyle/>
          <a:p>
            <a:pPr algn="ctr">
              <a:lnSpc>
                <a:spcPct val="100000"/>
              </a:lnSpc>
            </a:pPr>
            <a:r>
              <a:rPr sz="880" b="1" i="0">
                <a:solidFill>
                  <a:srgbClr val="D95D5D"/>
                </a:solidFill>
                <a:latin typeface="Aptos"/>
              </a:rPr>
              <a:t>24–36 m</a:t>
            </a:r>
          </a:p>
        </p:txBody>
      </p:sp>
      <p:sp>
        <p:nvSpPr>
          <p:cNvPr id="35" name="Oval 34"/>
          <p:cNvSpPr/>
          <p:nvPr/>
        </p:nvSpPr>
        <p:spPr>
          <a:xfrm>
            <a:off x="10396728" y="1600200"/>
            <a:ext cx="475488" cy="475488"/>
          </a:xfrm>
          <a:prstGeom prst="ellipse">
            <a:avLst/>
          </a:prstGeom>
          <a:solidFill>
            <a:srgbClr val="D95D5D"/>
          </a:solidFill>
          <a:ln>
            <a:solidFill>
              <a:srgbClr val="D95D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396728" y="1600200"/>
            <a:ext cx="475488" cy="475488"/>
          </a:xfrm>
          <a:prstGeom prst="rect">
            <a:avLst/>
          </a:prstGeom>
          <a:noFill/>
        </p:spPr>
        <p:txBody>
          <a:bodyPr wrap="square" lIns="0" rIns="0" tIns="0" bIns="0" anchor="ctr">
            <a:spAutoFit/>
          </a:bodyPr>
          <a:lstStyle/>
          <a:p>
            <a:pPr algn="ctr">
              <a:lnSpc>
                <a:spcPct val="100000"/>
              </a:lnSpc>
            </a:pPr>
            <a:r>
              <a:rPr sz="1000" b="1" i="0">
                <a:solidFill>
                  <a:srgbClr val="FFFFFF"/>
                </a:solidFill>
                <a:latin typeface="Aptos"/>
              </a:rPr>
              <a:t>5</a:t>
            </a:r>
          </a:p>
        </p:txBody>
      </p:sp>
      <p:sp>
        <p:nvSpPr>
          <p:cNvPr id="37" name="TextBox 36"/>
          <p:cNvSpPr txBox="1"/>
          <p:nvPr/>
        </p:nvSpPr>
        <p:spPr>
          <a:xfrm>
            <a:off x="9665208" y="2295144"/>
            <a:ext cx="1938528" cy="310896"/>
          </a:xfrm>
          <a:prstGeom prst="rect">
            <a:avLst/>
          </a:prstGeom>
          <a:noFill/>
        </p:spPr>
        <p:txBody>
          <a:bodyPr wrap="square" lIns="0" rIns="0" tIns="0" bIns="0" anchor="t">
            <a:spAutoFit/>
          </a:bodyPr>
          <a:lstStyle/>
          <a:p>
            <a:pPr algn="ctr">
              <a:lnSpc>
                <a:spcPct val="100000"/>
              </a:lnSpc>
            </a:pPr>
            <a:r>
              <a:rPr sz="1250" b="1" i="0">
                <a:solidFill>
                  <a:srgbClr val="172733"/>
                </a:solidFill>
                <a:latin typeface="Aptos Display"/>
              </a:rPr>
              <a:t>Pilot + license</a:t>
            </a:r>
          </a:p>
        </p:txBody>
      </p:sp>
      <p:sp>
        <p:nvSpPr>
          <p:cNvPr id="38" name="TextBox 37"/>
          <p:cNvSpPr txBox="1"/>
          <p:nvPr/>
        </p:nvSpPr>
        <p:spPr>
          <a:xfrm>
            <a:off x="9720072" y="2706624"/>
            <a:ext cx="1828800" cy="1024128"/>
          </a:xfrm>
          <a:prstGeom prst="rect">
            <a:avLst/>
          </a:prstGeom>
          <a:noFill/>
        </p:spPr>
        <p:txBody>
          <a:bodyPr wrap="square" lIns="0" rIns="0" tIns="0" bIns="0" anchor="t">
            <a:spAutoFit/>
          </a:bodyPr>
          <a:lstStyle/>
          <a:p>
            <a:pPr algn="ctr">
              <a:lnSpc>
                <a:spcPct val="100000"/>
              </a:lnSpc>
            </a:pPr>
            <a:r>
              <a:rPr sz="900" b="0" i="0">
                <a:solidFill>
                  <a:srgbClr val="596C78"/>
                </a:solidFill>
                <a:latin typeface="Aptos"/>
              </a:rPr>
              <a:t>Precast QA, field demonstration, LCA/TEA and partner transfer</a:t>
            </a:r>
          </a:p>
        </p:txBody>
      </p:sp>
      <p:sp>
        <p:nvSpPr>
          <p:cNvPr id="39" name="Rounded Rectangle 38"/>
          <p:cNvSpPr/>
          <p:nvPr/>
        </p:nvSpPr>
        <p:spPr>
          <a:xfrm>
            <a:off x="685800" y="4133087"/>
            <a:ext cx="10808208" cy="1353312"/>
          </a:xfrm>
          <a:prstGeom prst="roundRect">
            <a:avLst/>
          </a:prstGeom>
          <a:solidFill>
            <a:srgbClr val="08243A"/>
          </a:solidFill>
          <a:ln>
            <a:solidFill>
              <a:srgbClr val="0824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32688" y="4389120"/>
            <a:ext cx="1143000" cy="274320"/>
          </a:xfrm>
          <a:prstGeom prst="rect">
            <a:avLst/>
          </a:prstGeom>
          <a:noFill/>
        </p:spPr>
        <p:txBody>
          <a:bodyPr wrap="square" lIns="0" rIns="0" tIns="0" bIns="0" anchor="t">
            <a:spAutoFit/>
          </a:bodyPr>
          <a:lstStyle/>
          <a:p>
            <a:pPr algn="l">
              <a:lnSpc>
                <a:spcPct val="100000"/>
              </a:lnSpc>
            </a:pPr>
            <a:r>
              <a:rPr sz="919" b="1" i="0">
                <a:solidFill>
                  <a:srgbClr val="22B8C7"/>
                </a:solidFill>
                <a:latin typeface="Aptos"/>
              </a:rPr>
              <a:t>TOP RISKS</a:t>
            </a:r>
          </a:p>
        </p:txBody>
      </p:sp>
      <p:sp>
        <p:nvSpPr>
          <p:cNvPr id="41" name="Oval 40"/>
          <p:cNvSpPr/>
          <p:nvPr/>
        </p:nvSpPr>
        <p:spPr>
          <a:xfrm>
            <a:off x="2066543" y="4325112"/>
            <a:ext cx="256032" cy="256032"/>
          </a:xfrm>
          <a:prstGeom prst="ellipse">
            <a:avLst/>
          </a:prstGeom>
          <a:solidFill>
            <a:srgbClr val="D95D5D"/>
          </a:solidFill>
          <a:ln>
            <a:solidFill>
              <a:srgbClr val="D95D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066543" y="4325112"/>
            <a:ext cx="256032" cy="256032"/>
          </a:xfrm>
          <a:prstGeom prst="rect">
            <a:avLst/>
          </a:prstGeom>
          <a:noFill/>
        </p:spPr>
        <p:txBody>
          <a:bodyPr wrap="square" lIns="0" rIns="0" tIns="0" bIns="0" anchor="ctr">
            <a:spAutoFit/>
          </a:bodyPr>
          <a:lstStyle/>
          <a:p>
            <a:pPr algn="ctr">
              <a:lnSpc>
                <a:spcPct val="100000"/>
              </a:lnSpc>
            </a:pPr>
            <a:r>
              <a:rPr sz="800" b="1" i="0">
                <a:solidFill>
                  <a:srgbClr val="FFFFFF"/>
                </a:solidFill>
                <a:latin typeface="Aptos"/>
              </a:rPr>
              <a:t>!</a:t>
            </a:r>
          </a:p>
        </p:txBody>
      </p:sp>
      <p:sp>
        <p:nvSpPr>
          <p:cNvPr id="43" name="TextBox 42"/>
          <p:cNvSpPr txBox="1"/>
          <p:nvPr/>
        </p:nvSpPr>
        <p:spPr>
          <a:xfrm>
            <a:off x="2423160" y="4315968"/>
            <a:ext cx="2468880" cy="310896"/>
          </a:xfrm>
          <a:prstGeom prst="rect">
            <a:avLst/>
          </a:prstGeom>
          <a:noFill/>
        </p:spPr>
        <p:txBody>
          <a:bodyPr wrap="square" lIns="0" rIns="0" tIns="0" bIns="0" anchor="t">
            <a:spAutoFit/>
          </a:bodyPr>
          <a:lstStyle/>
          <a:p>
            <a:pPr algn="l">
              <a:lnSpc>
                <a:spcPct val="100000"/>
              </a:lnSpc>
            </a:pPr>
            <a:r>
              <a:rPr sz="869" b="1" i="0">
                <a:solidFill>
                  <a:srgbClr val="FFFFFF"/>
                </a:solidFill>
                <a:latin typeface="Aptos"/>
              </a:rPr>
              <a:t>Full-scale vehicle response</a:t>
            </a:r>
          </a:p>
        </p:txBody>
      </p:sp>
      <p:sp>
        <p:nvSpPr>
          <p:cNvPr id="44" name="Oval 43"/>
          <p:cNvSpPr/>
          <p:nvPr/>
        </p:nvSpPr>
        <p:spPr>
          <a:xfrm>
            <a:off x="5074920" y="4325112"/>
            <a:ext cx="256032" cy="256032"/>
          </a:xfrm>
          <a:prstGeom prst="ellipse">
            <a:avLst/>
          </a:prstGeom>
          <a:solidFill>
            <a:srgbClr val="D95D5D"/>
          </a:solidFill>
          <a:ln>
            <a:solidFill>
              <a:srgbClr val="D95D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074920" y="4325112"/>
            <a:ext cx="256032" cy="256032"/>
          </a:xfrm>
          <a:prstGeom prst="rect">
            <a:avLst/>
          </a:prstGeom>
          <a:noFill/>
        </p:spPr>
        <p:txBody>
          <a:bodyPr wrap="square" lIns="0" rIns="0" tIns="0" bIns="0" anchor="ctr">
            <a:spAutoFit/>
          </a:bodyPr>
          <a:lstStyle/>
          <a:p>
            <a:pPr algn="ctr">
              <a:lnSpc>
                <a:spcPct val="100000"/>
              </a:lnSpc>
            </a:pPr>
            <a:r>
              <a:rPr sz="800" b="1" i="0">
                <a:solidFill>
                  <a:srgbClr val="FFFFFF"/>
                </a:solidFill>
                <a:latin typeface="Aptos"/>
              </a:rPr>
              <a:t>!</a:t>
            </a:r>
          </a:p>
        </p:txBody>
      </p:sp>
      <p:sp>
        <p:nvSpPr>
          <p:cNvPr id="46" name="TextBox 45"/>
          <p:cNvSpPr txBox="1"/>
          <p:nvPr/>
        </p:nvSpPr>
        <p:spPr>
          <a:xfrm>
            <a:off x="5431536" y="4315968"/>
            <a:ext cx="2468880" cy="310896"/>
          </a:xfrm>
          <a:prstGeom prst="rect">
            <a:avLst/>
          </a:prstGeom>
          <a:noFill/>
        </p:spPr>
        <p:txBody>
          <a:bodyPr wrap="square" lIns="0" rIns="0" tIns="0" bIns="0" anchor="t">
            <a:spAutoFit/>
          </a:bodyPr>
          <a:lstStyle/>
          <a:p>
            <a:pPr algn="l">
              <a:lnSpc>
                <a:spcPct val="100000"/>
              </a:lnSpc>
            </a:pPr>
            <a:r>
              <a:rPr sz="869" b="1" i="0">
                <a:solidFill>
                  <a:srgbClr val="FFFFFF"/>
                </a:solidFill>
                <a:latin typeface="Aptos"/>
              </a:rPr>
              <a:t>Reinforcement workability</a:t>
            </a:r>
          </a:p>
        </p:txBody>
      </p:sp>
      <p:sp>
        <p:nvSpPr>
          <p:cNvPr id="47" name="Oval 46"/>
          <p:cNvSpPr/>
          <p:nvPr/>
        </p:nvSpPr>
        <p:spPr>
          <a:xfrm>
            <a:off x="8083296" y="4325112"/>
            <a:ext cx="256032" cy="256032"/>
          </a:xfrm>
          <a:prstGeom prst="ellipse">
            <a:avLst/>
          </a:prstGeom>
          <a:solidFill>
            <a:srgbClr val="D95D5D"/>
          </a:solidFill>
          <a:ln>
            <a:solidFill>
              <a:srgbClr val="D95D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083296" y="4325112"/>
            <a:ext cx="256032" cy="256032"/>
          </a:xfrm>
          <a:prstGeom prst="rect">
            <a:avLst/>
          </a:prstGeom>
          <a:noFill/>
        </p:spPr>
        <p:txBody>
          <a:bodyPr wrap="square" lIns="0" rIns="0" tIns="0" bIns="0" anchor="ctr">
            <a:spAutoFit/>
          </a:bodyPr>
          <a:lstStyle/>
          <a:p>
            <a:pPr algn="ctr">
              <a:lnSpc>
                <a:spcPct val="100000"/>
              </a:lnSpc>
            </a:pPr>
            <a:r>
              <a:rPr sz="800" b="1" i="0">
                <a:solidFill>
                  <a:srgbClr val="FFFFFF"/>
                </a:solidFill>
                <a:latin typeface="Aptos"/>
              </a:rPr>
              <a:t>!</a:t>
            </a:r>
          </a:p>
        </p:txBody>
      </p:sp>
      <p:sp>
        <p:nvSpPr>
          <p:cNvPr id="49" name="TextBox 48"/>
          <p:cNvSpPr txBox="1"/>
          <p:nvPr/>
        </p:nvSpPr>
        <p:spPr>
          <a:xfrm>
            <a:off x="8439912" y="4315968"/>
            <a:ext cx="2468880" cy="310896"/>
          </a:xfrm>
          <a:prstGeom prst="rect">
            <a:avLst/>
          </a:prstGeom>
          <a:noFill/>
        </p:spPr>
        <p:txBody>
          <a:bodyPr wrap="square" lIns="0" rIns="0" tIns="0" bIns="0" anchor="t">
            <a:spAutoFit/>
          </a:bodyPr>
          <a:lstStyle/>
          <a:p>
            <a:pPr algn="l">
              <a:lnSpc>
                <a:spcPct val="100000"/>
              </a:lnSpc>
            </a:pPr>
            <a:r>
              <a:rPr sz="869" b="1" i="0">
                <a:solidFill>
                  <a:srgbClr val="FFFFFF"/>
                </a:solidFill>
                <a:latin typeface="Aptos"/>
              </a:rPr>
              <a:t>Aggregate moisture + variability</a:t>
            </a:r>
          </a:p>
        </p:txBody>
      </p:sp>
      <p:sp>
        <p:nvSpPr>
          <p:cNvPr id="50" name="Oval 49"/>
          <p:cNvSpPr/>
          <p:nvPr/>
        </p:nvSpPr>
        <p:spPr>
          <a:xfrm>
            <a:off x="2066543" y="4855464"/>
            <a:ext cx="256032" cy="256032"/>
          </a:xfrm>
          <a:prstGeom prst="ellipse">
            <a:avLst/>
          </a:prstGeom>
          <a:solidFill>
            <a:srgbClr val="D95D5D"/>
          </a:solidFill>
          <a:ln>
            <a:solidFill>
              <a:srgbClr val="D95D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066543" y="4855464"/>
            <a:ext cx="256032" cy="256032"/>
          </a:xfrm>
          <a:prstGeom prst="rect">
            <a:avLst/>
          </a:prstGeom>
          <a:noFill/>
        </p:spPr>
        <p:txBody>
          <a:bodyPr wrap="square" lIns="0" rIns="0" tIns="0" bIns="0" anchor="ctr">
            <a:spAutoFit/>
          </a:bodyPr>
          <a:lstStyle/>
          <a:p>
            <a:pPr algn="ctr">
              <a:lnSpc>
                <a:spcPct val="100000"/>
              </a:lnSpc>
            </a:pPr>
            <a:r>
              <a:rPr sz="800" b="1" i="0">
                <a:solidFill>
                  <a:srgbClr val="FFFFFF"/>
                </a:solidFill>
                <a:latin typeface="Aptos"/>
              </a:rPr>
              <a:t>!</a:t>
            </a:r>
          </a:p>
        </p:txBody>
      </p:sp>
      <p:sp>
        <p:nvSpPr>
          <p:cNvPr id="52" name="TextBox 51"/>
          <p:cNvSpPr txBox="1"/>
          <p:nvPr/>
        </p:nvSpPr>
        <p:spPr>
          <a:xfrm>
            <a:off x="2423160" y="4846320"/>
            <a:ext cx="2468880" cy="310896"/>
          </a:xfrm>
          <a:prstGeom prst="rect">
            <a:avLst/>
          </a:prstGeom>
          <a:noFill/>
        </p:spPr>
        <p:txBody>
          <a:bodyPr wrap="square" lIns="0" rIns="0" tIns="0" bIns="0" anchor="t">
            <a:spAutoFit/>
          </a:bodyPr>
          <a:lstStyle/>
          <a:p>
            <a:pPr algn="l">
              <a:lnSpc>
                <a:spcPct val="100000"/>
              </a:lnSpc>
            </a:pPr>
            <a:r>
              <a:rPr sz="869" b="1" i="0">
                <a:solidFill>
                  <a:srgbClr val="FFFFFF"/>
                </a:solidFill>
                <a:latin typeface="Aptos"/>
              </a:rPr>
              <a:t>Durability / corrosion</a:t>
            </a:r>
          </a:p>
        </p:txBody>
      </p:sp>
      <p:sp>
        <p:nvSpPr>
          <p:cNvPr id="53" name="Oval 52"/>
          <p:cNvSpPr/>
          <p:nvPr/>
        </p:nvSpPr>
        <p:spPr>
          <a:xfrm>
            <a:off x="5074920" y="4855464"/>
            <a:ext cx="256032" cy="256032"/>
          </a:xfrm>
          <a:prstGeom prst="ellipse">
            <a:avLst/>
          </a:prstGeom>
          <a:solidFill>
            <a:srgbClr val="D95D5D"/>
          </a:solidFill>
          <a:ln>
            <a:solidFill>
              <a:srgbClr val="D95D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074920" y="4855464"/>
            <a:ext cx="256032" cy="256032"/>
          </a:xfrm>
          <a:prstGeom prst="rect">
            <a:avLst/>
          </a:prstGeom>
          <a:noFill/>
        </p:spPr>
        <p:txBody>
          <a:bodyPr wrap="square" lIns="0" rIns="0" tIns="0" bIns="0" anchor="ctr">
            <a:spAutoFit/>
          </a:bodyPr>
          <a:lstStyle/>
          <a:p>
            <a:pPr algn="ctr">
              <a:lnSpc>
                <a:spcPct val="100000"/>
              </a:lnSpc>
            </a:pPr>
            <a:r>
              <a:rPr sz="800" b="1" i="0">
                <a:solidFill>
                  <a:srgbClr val="FFFFFF"/>
                </a:solidFill>
                <a:latin typeface="Aptos"/>
              </a:rPr>
              <a:t>!</a:t>
            </a:r>
          </a:p>
        </p:txBody>
      </p:sp>
      <p:sp>
        <p:nvSpPr>
          <p:cNvPr id="55" name="TextBox 54"/>
          <p:cNvSpPr txBox="1"/>
          <p:nvPr/>
        </p:nvSpPr>
        <p:spPr>
          <a:xfrm>
            <a:off x="5431536" y="4846320"/>
            <a:ext cx="2468880" cy="310896"/>
          </a:xfrm>
          <a:prstGeom prst="rect">
            <a:avLst/>
          </a:prstGeom>
          <a:noFill/>
        </p:spPr>
        <p:txBody>
          <a:bodyPr wrap="square" lIns="0" rIns="0" tIns="0" bIns="0" anchor="t">
            <a:spAutoFit/>
          </a:bodyPr>
          <a:lstStyle/>
          <a:p>
            <a:pPr algn="l">
              <a:lnSpc>
                <a:spcPct val="100000"/>
              </a:lnSpc>
            </a:pPr>
            <a:r>
              <a:rPr sz="869" b="1" i="0">
                <a:solidFill>
                  <a:srgbClr val="FFFFFF"/>
                </a:solidFill>
                <a:latin typeface="Aptos"/>
              </a:rPr>
              <a:t>Installed-system cost</a:t>
            </a:r>
          </a:p>
        </p:txBody>
      </p:sp>
      <p:sp>
        <p:nvSpPr>
          <p:cNvPr id="56" name="Oval 55"/>
          <p:cNvSpPr/>
          <p:nvPr/>
        </p:nvSpPr>
        <p:spPr>
          <a:xfrm>
            <a:off x="8083296" y="4855464"/>
            <a:ext cx="256032" cy="256032"/>
          </a:xfrm>
          <a:prstGeom prst="ellipse">
            <a:avLst/>
          </a:prstGeom>
          <a:solidFill>
            <a:srgbClr val="D95D5D"/>
          </a:solidFill>
          <a:ln>
            <a:solidFill>
              <a:srgbClr val="D95D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083296" y="4855464"/>
            <a:ext cx="256032" cy="256032"/>
          </a:xfrm>
          <a:prstGeom prst="rect">
            <a:avLst/>
          </a:prstGeom>
          <a:noFill/>
        </p:spPr>
        <p:txBody>
          <a:bodyPr wrap="square" lIns="0" rIns="0" tIns="0" bIns="0" anchor="ctr">
            <a:spAutoFit/>
          </a:bodyPr>
          <a:lstStyle/>
          <a:p>
            <a:pPr algn="ctr">
              <a:lnSpc>
                <a:spcPct val="100000"/>
              </a:lnSpc>
            </a:pPr>
            <a:r>
              <a:rPr sz="800" b="1" i="0">
                <a:solidFill>
                  <a:srgbClr val="FFFFFF"/>
                </a:solidFill>
                <a:latin typeface="Aptos"/>
              </a:rPr>
              <a:t>!</a:t>
            </a:r>
          </a:p>
        </p:txBody>
      </p:sp>
      <p:sp>
        <p:nvSpPr>
          <p:cNvPr id="58" name="TextBox 57"/>
          <p:cNvSpPr txBox="1"/>
          <p:nvPr/>
        </p:nvSpPr>
        <p:spPr>
          <a:xfrm>
            <a:off x="8439912" y="4846320"/>
            <a:ext cx="2468880" cy="310896"/>
          </a:xfrm>
          <a:prstGeom prst="rect">
            <a:avLst/>
          </a:prstGeom>
          <a:noFill/>
        </p:spPr>
        <p:txBody>
          <a:bodyPr wrap="square" lIns="0" rIns="0" tIns="0" bIns="0" anchor="t">
            <a:spAutoFit/>
          </a:bodyPr>
          <a:lstStyle/>
          <a:p>
            <a:pPr algn="l">
              <a:lnSpc>
                <a:spcPct val="100000"/>
              </a:lnSpc>
            </a:pPr>
            <a:r>
              <a:rPr sz="869" b="1" i="0">
                <a:solidFill>
                  <a:srgbClr val="FFFFFF"/>
                </a:solidFill>
                <a:latin typeface="Aptos"/>
              </a:rPr>
              <a:t>Patent landscape / disclosure timing</a:t>
            </a:r>
          </a:p>
        </p:txBody>
      </p:sp>
      <p:sp>
        <p:nvSpPr>
          <p:cNvPr id="59" name="TextBox 58"/>
          <p:cNvSpPr txBox="1"/>
          <p:nvPr/>
        </p:nvSpPr>
        <p:spPr>
          <a:xfrm>
            <a:off x="667512" y="5797296"/>
            <a:ext cx="10652760" cy="256032"/>
          </a:xfrm>
          <a:prstGeom prst="rect">
            <a:avLst/>
          </a:prstGeom>
          <a:noFill/>
        </p:spPr>
        <p:txBody>
          <a:bodyPr wrap="square" lIns="0" rIns="0" tIns="0" bIns="0" anchor="ctr">
            <a:spAutoFit/>
          </a:bodyPr>
          <a:lstStyle/>
          <a:p>
            <a:pPr algn="l">
              <a:lnSpc>
                <a:spcPct val="100000"/>
              </a:lnSpc>
            </a:pPr>
            <a:r>
              <a:rPr sz="700" b="0" i="0">
                <a:solidFill>
                  <a:srgbClr val="596C78"/>
                </a:solidFill>
                <a:latin typeface="Aptos"/>
              </a:rPr>
              <a:t>Source: Roadmap synthesizes inventor questionnaire/technology profile and validation gaps against IRC:119-2015, EN 1317/MASH-style evaluation principles, and peer-reviewed barrier crash-test literature. Indicative timing only.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61B2C"/>
        </a:solidFill>
        <a:effectLst/>
      </p:bgPr>
    </p:bg>
    <p:spTree>
      <p:nvGrpSpPr>
        <p:cNvPr id="1" name=""/>
        <p:cNvGrpSpPr/>
        <p:nvPr/>
      </p:nvGrpSpPr>
      <p:grpSpPr/>
      <p:sp>
        <p:nvSpPr>
          <p:cNvPr id="2" name="TextBox 1"/>
          <p:cNvSpPr txBox="1"/>
          <p:nvPr/>
        </p:nvSpPr>
        <p:spPr>
          <a:xfrm>
            <a:off x="640080" y="164592"/>
            <a:ext cx="2514600" cy="201168"/>
          </a:xfrm>
          <a:prstGeom prst="rect">
            <a:avLst/>
          </a:prstGeom>
          <a:noFill/>
        </p:spPr>
        <p:txBody>
          <a:bodyPr wrap="square" lIns="0" rIns="0" tIns="0" bIns="0" anchor="t">
            <a:spAutoFit/>
          </a:bodyPr>
          <a:lstStyle/>
          <a:p>
            <a:pPr algn="l">
              <a:lnSpc>
                <a:spcPct val="100000"/>
              </a:lnSpc>
            </a:pPr>
            <a:r>
              <a:rPr sz="850" b="1" i="0">
                <a:solidFill>
                  <a:srgbClr val="22B8C7"/>
                </a:solidFill>
                <a:latin typeface="Aptos"/>
              </a:rPr>
              <a:t>RECOMMENDATION</a:t>
            </a:r>
          </a:p>
        </p:txBody>
      </p:sp>
      <p:sp>
        <p:nvSpPr>
          <p:cNvPr id="3" name="TextBox 2"/>
          <p:cNvSpPr txBox="1"/>
          <p:nvPr/>
        </p:nvSpPr>
        <p:spPr>
          <a:xfrm>
            <a:off x="640080" y="338328"/>
            <a:ext cx="9921240" cy="612648"/>
          </a:xfrm>
          <a:prstGeom prst="rect">
            <a:avLst/>
          </a:prstGeom>
          <a:noFill/>
        </p:spPr>
        <p:txBody>
          <a:bodyPr wrap="square" lIns="0" rIns="0" tIns="0" bIns="0" anchor="ctr">
            <a:spAutoFit/>
          </a:bodyPr>
          <a:lstStyle/>
          <a:p>
            <a:pPr algn="l">
              <a:lnSpc>
                <a:spcPct val="92000"/>
              </a:lnSpc>
            </a:pPr>
            <a:r>
              <a:rPr sz="2080" b="1" i="0">
                <a:solidFill>
                  <a:srgbClr val="FFFFFF"/>
                </a:solidFill>
                <a:latin typeface="Aptos Display"/>
              </a:rPr>
              <a:t>Decision proposition: protect the platform, fund the validation</a:t>
            </a:r>
          </a:p>
        </p:txBody>
      </p:sp>
      <p:sp>
        <p:nvSpPr>
          <p:cNvPr id="4" name="Rounded Rectangle 3"/>
          <p:cNvSpPr/>
          <p:nvPr/>
        </p:nvSpPr>
        <p:spPr>
          <a:xfrm>
            <a:off x="11173968" y="128016"/>
            <a:ext cx="749808" cy="58521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itbbs_logo_official.png"/>
          <p:cNvPicPr>
            <a:picLocks noChangeAspect="1"/>
          </p:cNvPicPr>
          <p:nvPr/>
        </p:nvPicPr>
        <p:blipFill>
          <a:blip r:embed="rId2"/>
          <a:stretch>
            <a:fillRect/>
          </a:stretch>
        </p:blipFill>
        <p:spPr>
          <a:xfrm>
            <a:off x="11283696" y="164592"/>
            <a:ext cx="530352" cy="493776"/>
          </a:xfrm>
          <a:prstGeom prst="rect">
            <a:avLst/>
          </a:prstGeom>
        </p:spPr>
      </p:pic>
      <p:cxnSp>
        <p:nvCxnSpPr>
          <p:cNvPr id="6" name="Connector 5"/>
          <p:cNvCxnSpPr/>
          <p:nvPr/>
        </p:nvCxnSpPr>
        <p:spPr>
          <a:xfrm>
            <a:off x="640080" y="1005840"/>
            <a:ext cx="10899648" cy="0"/>
          </a:xfrm>
          <a:prstGeom prst="line">
            <a:avLst/>
          </a:prstGeom>
          <a:ln w="10160">
            <a:solidFill>
              <a:srgbClr val="284A6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473952"/>
            <a:ext cx="10899648" cy="0"/>
          </a:xfrm>
          <a:prstGeom prst="line">
            <a:avLst/>
          </a:prstGeom>
          <a:ln w="8890">
            <a:solidFill>
              <a:srgbClr val="284A6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58368" y="6547104"/>
            <a:ext cx="9784080" cy="164592"/>
          </a:xfrm>
          <a:prstGeom prst="rect">
            <a:avLst/>
          </a:prstGeom>
          <a:noFill/>
        </p:spPr>
        <p:txBody>
          <a:bodyPr wrap="square" lIns="0" rIns="0" tIns="0" bIns="0" anchor="t">
            <a:spAutoFit/>
          </a:bodyPr>
          <a:lstStyle/>
          <a:p>
            <a:pPr algn="l">
              <a:lnSpc>
                <a:spcPct val="100000"/>
              </a:lnSpc>
            </a:pPr>
            <a:r>
              <a:rPr sz="760" b="1" i="0">
                <a:solidFill>
                  <a:srgbClr val="AEC0CA"/>
                </a:solidFill>
                <a:latin typeface="Aptos"/>
              </a:rPr>
              <a:t>EXTERNAL REDACTED DRAFT • IP STATUS TO CONFIRM • DISTRIBUTE ONLY WITH IITBBS IP APPROVAL</a:t>
            </a:r>
          </a:p>
        </p:txBody>
      </p:sp>
      <p:sp>
        <p:nvSpPr>
          <p:cNvPr id="9" name="TextBox 8"/>
          <p:cNvSpPr txBox="1"/>
          <p:nvPr/>
        </p:nvSpPr>
        <p:spPr>
          <a:xfrm>
            <a:off x="10972800" y="6528816"/>
            <a:ext cx="548640" cy="173736"/>
          </a:xfrm>
          <a:prstGeom prst="rect">
            <a:avLst/>
          </a:prstGeom>
          <a:noFill/>
        </p:spPr>
        <p:txBody>
          <a:bodyPr wrap="square" lIns="0" rIns="0" tIns="0" bIns="0" anchor="t">
            <a:spAutoFit/>
          </a:bodyPr>
          <a:lstStyle/>
          <a:p>
            <a:pPr algn="r">
              <a:lnSpc>
                <a:spcPct val="100000"/>
              </a:lnSpc>
            </a:pPr>
            <a:r>
              <a:rPr sz="830" b="1" i="0">
                <a:solidFill>
                  <a:srgbClr val="AEC0CA"/>
                </a:solidFill>
                <a:latin typeface="Aptos"/>
              </a:rPr>
              <a:t>17</a:t>
            </a:r>
          </a:p>
        </p:txBody>
      </p:sp>
      <p:sp>
        <p:nvSpPr>
          <p:cNvPr id="10" name="TextBox 9"/>
          <p:cNvSpPr txBox="1"/>
          <p:nvPr/>
        </p:nvSpPr>
        <p:spPr>
          <a:xfrm>
            <a:off x="685800" y="1243584"/>
            <a:ext cx="6995160" cy="868680"/>
          </a:xfrm>
          <a:prstGeom prst="rect">
            <a:avLst/>
          </a:prstGeom>
          <a:noFill/>
        </p:spPr>
        <p:txBody>
          <a:bodyPr wrap="square" lIns="0" rIns="0" tIns="0" bIns="0" anchor="t">
            <a:spAutoFit/>
          </a:bodyPr>
          <a:lstStyle/>
          <a:p>
            <a:pPr algn="l">
              <a:lnSpc>
                <a:spcPct val="93000"/>
              </a:lnSpc>
            </a:pPr>
            <a:r>
              <a:rPr sz="2300" b="1" i="0">
                <a:solidFill>
                  <a:srgbClr val="FFFFFF"/>
                </a:solidFill>
                <a:latin typeface="Aptos Display"/>
              </a:rPr>
              <a:t>The evidence is sufficient to justify a focused patent filing—
not yet sufficient to claim certified occupant-safety benefit.</a:t>
            </a:r>
          </a:p>
        </p:txBody>
      </p:sp>
      <p:sp>
        <p:nvSpPr>
          <p:cNvPr id="11" name="Rounded Rectangle 10"/>
          <p:cNvSpPr/>
          <p:nvPr/>
        </p:nvSpPr>
        <p:spPr>
          <a:xfrm>
            <a:off x="731520" y="2423160"/>
            <a:ext cx="2084831" cy="1207008"/>
          </a:xfrm>
          <a:prstGeom prst="roundRect">
            <a:avLst/>
          </a:prstGeom>
          <a:solidFill>
            <a:srgbClr val="0E3047"/>
          </a:solidFill>
          <a:ln w="10160">
            <a:solidFill>
              <a:srgbClr val="2048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6968" y="2606040"/>
            <a:ext cx="1773936" cy="402336"/>
          </a:xfrm>
          <a:prstGeom prst="rect">
            <a:avLst/>
          </a:prstGeom>
          <a:noFill/>
        </p:spPr>
        <p:txBody>
          <a:bodyPr wrap="square" lIns="0" rIns="0" tIns="0" bIns="0" anchor="t">
            <a:spAutoFit/>
          </a:bodyPr>
          <a:lstStyle/>
          <a:p>
            <a:pPr algn="ctr">
              <a:lnSpc>
                <a:spcPct val="100000"/>
              </a:lnSpc>
            </a:pPr>
            <a:r>
              <a:rPr sz="2400" b="1" i="0">
                <a:solidFill>
                  <a:srgbClr val="F39C3D"/>
                </a:solidFill>
                <a:latin typeface="Aptos Display"/>
              </a:rPr>
              <a:t>55.3×</a:t>
            </a:r>
          </a:p>
        </p:txBody>
      </p:sp>
      <p:sp>
        <p:nvSpPr>
          <p:cNvPr id="13" name="TextBox 12"/>
          <p:cNvSpPr txBox="1"/>
          <p:nvPr/>
        </p:nvSpPr>
        <p:spPr>
          <a:xfrm>
            <a:off x="886968" y="3108960"/>
            <a:ext cx="1773936" cy="256032"/>
          </a:xfrm>
          <a:prstGeom prst="rect">
            <a:avLst/>
          </a:prstGeom>
          <a:noFill/>
        </p:spPr>
        <p:txBody>
          <a:bodyPr wrap="square" lIns="0" rIns="0" tIns="0" bIns="0" anchor="t">
            <a:spAutoFit/>
          </a:bodyPr>
          <a:lstStyle/>
          <a:p>
            <a:pPr algn="ctr">
              <a:lnSpc>
                <a:spcPct val="100000"/>
              </a:lnSpc>
            </a:pPr>
            <a:r>
              <a:rPr sz="890" b="1" i="0">
                <a:solidFill>
                  <a:srgbClr val="C3D5DD"/>
                </a:solidFill>
                <a:latin typeface="Aptos"/>
              </a:rPr>
              <a:t>prism E₂ vs NWC</a:t>
            </a:r>
          </a:p>
        </p:txBody>
      </p:sp>
      <p:sp>
        <p:nvSpPr>
          <p:cNvPr id="14" name="Rounded Rectangle 13"/>
          <p:cNvSpPr/>
          <p:nvPr/>
        </p:nvSpPr>
        <p:spPr>
          <a:xfrm>
            <a:off x="3063239" y="2423160"/>
            <a:ext cx="2084831" cy="1207008"/>
          </a:xfrm>
          <a:prstGeom prst="roundRect">
            <a:avLst/>
          </a:prstGeom>
          <a:solidFill>
            <a:srgbClr val="0E3047"/>
          </a:solidFill>
          <a:ln w="10160">
            <a:solidFill>
              <a:srgbClr val="2048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18687" y="2606040"/>
            <a:ext cx="1773936" cy="402336"/>
          </a:xfrm>
          <a:prstGeom prst="rect">
            <a:avLst/>
          </a:prstGeom>
          <a:noFill/>
        </p:spPr>
        <p:txBody>
          <a:bodyPr wrap="square" lIns="0" rIns="0" tIns="0" bIns="0" anchor="t">
            <a:spAutoFit/>
          </a:bodyPr>
          <a:lstStyle/>
          <a:p>
            <a:pPr algn="ctr">
              <a:lnSpc>
                <a:spcPct val="100000"/>
              </a:lnSpc>
            </a:pPr>
            <a:r>
              <a:rPr sz="2400" b="1" i="0">
                <a:solidFill>
                  <a:srgbClr val="D95D5D"/>
                </a:solidFill>
                <a:latin typeface="Aptos Display"/>
              </a:rPr>
              <a:t>2.0×</a:t>
            </a:r>
          </a:p>
        </p:txBody>
      </p:sp>
      <p:sp>
        <p:nvSpPr>
          <p:cNvPr id="16" name="TextBox 15"/>
          <p:cNvSpPr txBox="1"/>
          <p:nvPr/>
        </p:nvSpPr>
        <p:spPr>
          <a:xfrm>
            <a:off x="3218687" y="3108960"/>
            <a:ext cx="1773936" cy="256032"/>
          </a:xfrm>
          <a:prstGeom prst="rect">
            <a:avLst/>
          </a:prstGeom>
          <a:noFill/>
        </p:spPr>
        <p:txBody>
          <a:bodyPr wrap="square" lIns="0" rIns="0" tIns="0" bIns="0" anchor="t">
            <a:spAutoFit/>
          </a:bodyPr>
          <a:lstStyle/>
          <a:p>
            <a:pPr algn="ctr">
              <a:lnSpc>
                <a:spcPct val="100000"/>
              </a:lnSpc>
            </a:pPr>
            <a:r>
              <a:rPr sz="890" b="1" i="0">
                <a:solidFill>
                  <a:srgbClr val="C3D5DD"/>
                </a:solidFill>
                <a:latin typeface="Aptos"/>
              </a:rPr>
              <a:t>scaled barrier E₂</a:t>
            </a:r>
          </a:p>
        </p:txBody>
      </p:sp>
      <p:sp>
        <p:nvSpPr>
          <p:cNvPr id="17" name="Rounded Rectangle 16"/>
          <p:cNvSpPr/>
          <p:nvPr/>
        </p:nvSpPr>
        <p:spPr>
          <a:xfrm>
            <a:off x="5394959" y="2423160"/>
            <a:ext cx="2084831" cy="1207008"/>
          </a:xfrm>
          <a:prstGeom prst="roundRect">
            <a:avLst/>
          </a:prstGeom>
          <a:solidFill>
            <a:srgbClr val="0E3047"/>
          </a:solidFill>
          <a:ln w="10160">
            <a:solidFill>
              <a:srgbClr val="2048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550407" y="2606040"/>
            <a:ext cx="1773936" cy="402336"/>
          </a:xfrm>
          <a:prstGeom prst="rect">
            <a:avLst/>
          </a:prstGeom>
          <a:noFill/>
        </p:spPr>
        <p:txBody>
          <a:bodyPr wrap="square" lIns="0" rIns="0" tIns="0" bIns="0" anchor="t">
            <a:spAutoFit/>
          </a:bodyPr>
          <a:lstStyle/>
          <a:p>
            <a:pPr algn="ctr">
              <a:lnSpc>
                <a:spcPct val="100000"/>
              </a:lnSpc>
            </a:pPr>
            <a:r>
              <a:rPr sz="2400" b="1" i="0">
                <a:solidFill>
                  <a:srgbClr val="22B8C7"/>
                </a:solidFill>
                <a:latin typeface="Aptos Display"/>
              </a:rPr>
              <a:t>16.9×</a:t>
            </a:r>
          </a:p>
        </p:txBody>
      </p:sp>
      <p:sp>
        <p:nvSpPr>
          <p:cNvPr id="19" name="TextBox 18"/>
          <p:cNvSpPr txBox="1"/>
          <p:nvPr/>
        </p:nvSpPr>
        <p:spPr>
          <a:xfrm>
            <a:off x="5550407" y="3108960"/>
            <a:ext cx="1773936" cy="256032"/>
          </a:xfrm>
          <a:prstGeom prst="rect">
            <a:avLst/>
          </a:prstGeom>
          <a:noFill/>
        </p:spPr>
        <p:txBody>
          <a:bodyPr wrap="square" lIns="0" rIns="0" tIns="0" bIns="0" anchor="t">
            <a:spAutoFit/>
          </a:bodyPr>
          <a:lstStyle/>
          <a:p>
            <a:pPr algn="ctr">
              <a:lnSpc>
                <a:spcPct val="100000"/>
              </a:lnSpc>
            </a:pPr>
            <a:r>
              <a:rPr sz="890" b="1" i="0">
                <a:solidFill>
                  <a:srgbClr val="C3D5DD"/>
                </a:solidFill>
                <a:latin typeface="Aptos"/>
              </a:rPr>
              <a:t>lab unit-impact value</a:t>
            </a:r>
          </a:p>
        </p:txBody>
      </p:sp>
      <p:sp>
        <p:nvSpPr>
          <p:cNvPr id="20" name="Rounded Rectangle 19"/>
          <p:cNvSpPr/>
          <p:nvPr/>
        </p:nvSpPr>
        <p:spPr>
          <a:xfrm>
            <a:off x="8028431" y="1243584"/>
            <a:ext cx="3346704" cy="4453128"/>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21040" y="1572768"/>
            <a:ext cx="2743200" cy="365760"/>
          </a:xfrm>
          <a:prstGeom prst="rect">
            <a:avLst/>
          </a:prstGeom>
          <a:noFill/>
        </p:spPr>
        <p:txBody>
          <a:bodyPr wrap="square" lIns="0" rIns="0" tIns="0" bIns="0" anchor="t">
            <a:spAutoFit/>
          </a:bodyPr>
          <a:lstStyle/>
          <a:p>
            <a:pPr algn="l">
              <a:lnSpc>
                <a:spcPct val="100000"/>
              </a:lnSpc>
            </a:pPr>
            <a:r>
              <a:rPr sz="1019" b="1" i="0">
                <a:solidFill>
                  <a:srgbClr val="2B78A6"/>
                </a:solidFill>
                <a:latin typeface="Aptos"/>
              </a:rPr>
              <a:t>APPROVALS REQUESTED</a:t>
            </a:r>
          </a:p>
        </p:txBody>
      </p:sp>
      <p:sp>
        <p:nvSpPr>
          <p:cNvPr id="22" name="Oval 21"/>
          <p:cNvSpPr/>
          <p:nvPr/>
        </p:nvSpPr>
        <p:spPr>
          <a:xfrm>
            <a:off x="8321040" y="2112264"/>
            <a:ext cx="384048" cy="384048"/>
          </a:xfrm>
          <a:prstGeom prst="ellipse">
            <a:avLst/>
          </a:prstGeom>
          <a:solidFill>
            <a:srgbClr val="2B78A6"/>
          </a:solidFill>
          <a:ln>
            <a:solidFill>
              <a:srgbClr val="2B7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1040" y="2112264"/>
            <a:ext cx="384048" cy="384048"/>
          </a:xfrm>
          <a:prstGeom prst="rect">
            <a:avLst/>
          </a:prstGeom>
          <a:noFill/>
        </p:spPr>
        <p:txBody>
          <a:bodyPr wrap="square" lIns="0" rIns="0" tIns="0" bIns="0" anchor="ctr">
            <a:spAutoFit/>
          </a:bodyPr>
          <a:lstStyle/>
          <a:p>
            <a:pPr algn="ctr">
              <a:lnSpc>
                <a:spcPct val="100000"/>
              </a:lnSpc>
            </a:pPr>
            <a:r>
              <a:rPr sz="900" b="1" i="0">
                <a:solidFill>
                  <a:srgbClr val="FFFFFF"/>
                </a:solidFill>
                <a:latin typeface="Aptos"/>
              </a:rPr>
              <a:t>1</a:t>
            </a:r>
          </a:p>
        </p:txBody>
      </p:sp>
      <p:sp>
        <p:nvSpPr>
          <p:cNvPr id="24" name="TextBox 23"/>
          <p:cNvSpPr txBox="1"/>
          <p:nvPr/>
        </p:nvSpPr>
        <p:spPr>
          <a:xfrm>
            <a:off x="8833104" y="2093976"/>
            <a:ext cx="2011680" cy="256032"/>
          </a:xfrm>
          <a:prstGeom prst="rect">
            <a:avLst/>
          </a:prstGeom>
          <a:noFill/>
        </p:spPr>
        <p:txBody>
          <a:bodyPr wrap="square" lIns="0" rIns="0" tIns="0" bIns="0" anchor="t">
            <a:spAutoFit/>
          </a:bodyPr>
          <a:lstStyle/>
          <a:p>
            <a:pPr algn="l">
              <a:lnSpc>
                <a:spcPct val="100000"/>
              </a:lnSpc>
            </a:pPr>
            <a:r>
              <a:rPr sz="980" b="1" i="0">
                <a:solidFill>
                  <a:srgbClr val="172733"/>
                </a:solidFill>
                <a:latin typeface="Aptos"/>
              </a:rPr>
              <a:t>Authorize patent drafting</a:t>
            </a:r>
          </a:p>
        </p:txBody>
      </p:sp>
      <p:sp>
        <p:nvSpPr>
          <p:cNvPr id="25" name="TextBox 24"/>
          <p:cNvSpPr txBox="1"/>
          <p:nvPr/>
        </p:nvSpPr>
        <p:spPr>
          <a:xfrm>
            <a:off x="8833104" y="2386584"/>
            <a:ext cx="2039112" cy="365760"/>
          </a:xfrm>
          <a:prstGeom prst="rect">
            <a:avLst/>
          </a:prstGeom>
          <a:noFill/>
        </p:spPr>
        <p:txBody>
          <a:bodyPr wrap="square" lIns="0" rIns="0" tIns="0" bIns="0" anchor="t">
            <a:spAutoFit/>
          </a:bodyPr>
          <a:lstStyle/>
          <a:p>
            <a:pPr algn="l">
              <a:lnSpc>
                <a:spcPct val="100000"/>
              </a:lnSpc>
            </a:pPr>
            <a:r>
              <a:rPr sz="810" b="0" i="0">
                <a:solidFill>
                  <a:srgbClr val="596C78"/>
                </a:solidFill>
                <a:latin typeface="Aptos"/>
              </a:rPr>
              <a:t>Composition + process + barrier + use claims</a:t>
            </a:r>
          </a:p>
        </p:txBody>
      </p:sp>
      <p:sp>
        <p:nvSpPr>
          <p:cNvPr id="26" name="Oval 25"/>
          <p:cNvSpPr/>
          <p:nvPr/>
        </p:nvSpPr>
        <p:spPr>
          <a:xfrm>
            <a:off x="8321040" y="2944368"/>
            <a:ext cx="384048" cy="384048"/>
          </a:xfrm>
          <a:prstGeom prst="ellipse">
            <a:avLst/>
          </a:prstGeom>
          <a:solidFill>
            <a:srgbClr val="F39C3D"/>
          </a:solidFill>
          <a:ln>
            <a:solidFill>
              <a:srgbClr val="F39C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21040" y="2944368"/>
            <a:ext cx="384048" cy="384048"/>
          </a:xfrm>
          <a:prstGeom prst="rect">
            <a:avLst/>
          </a:prstGeom>
          <a:noFill/>
        </p:spPr>
        <p:txBody>
          <a:bodyPr wrap="square" lIns="0" rIns="0" tIns="0" bIns="0" anchor="ctr">
            <a:spAutoFit/>
          </a:bodyPr>
          <a:lstStyle/>
          <a:p>
            <a:pPr algn="ctr">
              <a:lnSpc>
                <a:spcPct val="100000"/>
              </a:lnSpc>
            </a:pPr>
            <a:r>
              <a:rPr sz="900" b="1" i="0">
                <a:solidFill>
                  <a:srgbClr val="FFFFFF"/>
                </a:solidFill>
                <a:latin typeface="Aptos"/>
              </a:rPr>
              <a:t>2</a:t>
            </a:r>
          </a:p>
        </p:txBody>
      </p:sp>
      <p:sp>
        <p:nvSpPr>
          <p:cNvPr id="28" name="TextBox 27"/>
          <p:cNvSpPr txBox="1"/>
          <p:nvPr/>
        </p:nvSpPr>
        <p:spPr>
          <a:xfrm>
            <a:off x="8833104" y="2926080"/>
            <a:ext cx="2011680" cy="256032"/>
          </a:xfrm>
          <a:prstGeom prst="rect">
            <a:avLst/>
          </a:prstGeom>
          <a:noFill/>
        </p:spPr>
        <p:txBody>
          <a:bodyPr wrap="square" lIns="0" rIns="0" tIns="0" bIns="0" anchor="t">
            <a:spAutoFit/>
          </a:bodyPr>
          <a:lstStyle/>
          <a:p>
            <a:pPr algn="l">
              <a:lnSpc>
                <a:spcPct val="100000"/>
              </a:lnSpc>
            </a:pPr>
            <a:r>
              <a:rPr sz="980" b="1" i="0">
                <a:solidFill>
                  <a:srgbClr val="172733"/>
                </a:solidFill>
                <a:latin typeface="Aptos"/>
              </a:rPr>
              <a:t>Freeze public disclosure</a:t>
            </a:r>
          </a:p>
        </p:txBody>
      </p:sp>
      <p:sp>
        <p:nvSpPr>
          <p:cNvPr id="29" name="TextBox 28"/>
          <p:cNvSpPr txBox="1"/>
          <p:nvPr/>
        </p:nvSpPr>
        <p:spPr>
          <a:xfrm>
            <a:off x="8833104" y="3218688"/>
            <a:ext cx="2039112" cy="365760"/>
          </a:xfrm>
          <a:prstGeom prst="rect">
            <a:avLst/>
          </a:prstGeom>
          <a:noFill/>
        </p:spPr>
        <p:txBody>
          <a:bodyPr wrap="square" lIns="0" rIns="0" tIns="0" bIns="0" anchor="t">
            <a:spAutoFit/>
          </a:bodyPr>
          <a:lstStyle/>
          <a:p>
            <a:pPr algn="l">
              <a:lnSpc>
                <a:spcPct val="100000"/>
              </a:lnSpc>
            </a:pPr>
            <a:r>
              <a:rPr sz="810" b="0" i="0">
                <a:solidFill>
                  <a:srgbClr val="596C78"/>
                </a:solidFill>
                <a:latin typeface="Aptos"/>
              </a:rPr>
              <a:t>Coordinate manuscript timing with filing</a:t>
            </a:r>
          </a:p>
        </p:txBody>
      </p:sp>
      <p:sp>
        <p:nvSpPr>
          <p:cNvPr id="30" name="Oval 29"/>
          <p:cNvSpPr/>
          <p:nvPr/>
        </p:nvSpPr>
        <p:spPr>
          <a:xfrm>
            <a:off x="8321040" y="3776472"/>
            <a:ext cx="384048" cy="384048"/>
          </a:xfrm>
          <a:prstGeom prst="ellipse">
            <a:avLst/>
          </a:prstGeom>
          <a:solidFill>
            <a:srgbClr val="178D86"/>
          </a:solidFill>
          <a:ln>
            <a:solidFill>
              <a:srgbClr val="178D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21040" y="3776472"/>
            <a:ext cx="384048" cy="384048"/>
          </a:xfrm>
          <a:prstGeom prst="rect">
            <a:avLst/>
          </a:prstGeom>
          <a:noFill/>
        </p:spPr>
        <p:txBody>
          <a:bodyPr wrap="square" lIns="0" rIns="0" tIns="0" bIns="0" anchor="ctr">
            <a:spAutoFit/>
          </a:bodyPr>
          <a:lstStyle/>
          <a:p>
            <a:pPr algn="ctr">
              <a:lnSpc>
                <a:spcPct val="100000"/>
              </a:lnSpc>
            </a:pPr>
            <a:r>
              <a:rPr sz="900" b="1" i="0">
                <a:solidFill>
                  <a:srgbClr val="FFFFFF"/>
                </a:solidFill>
                <a:latin typeface="Aptos"/>
              </a:rPr>
              <a:t>3</a:t>
            </a:r>
          </a:p>
        </p:txBody>
      </p:sp>
      <p:sp>
        <p:nvSpPr>
          <p:cNvPr id="32" name="TextBox 31"/>
          <p:cNvSpPr txBox="1"/>
          <p:nvPr/>
        </p:nvSpPr>
        <p:spPr>
          <a:xfrm>
            <a:off x="8833104" y="3758184"/>
            <a:ext cx="2011680" cy="256032"/>
          </a:xfrm>
          <a:prstGeom prst="rect">
            <a:avLst/>
          </a:prstGeom>
          <a:noFill/>
        </p:spPr>
        <p:txBody>
          <a:bodyPr wrap="square" lIns="0" rIns="0" tIns="0" bIns="0" anchor="t">
            <a:spAutoFit/>
          </a:bodyPr>
          <a:lstStyle/>
          <a:p>
            <a:pPr algn="l">
              <a:lnSpc>
                <a:spcPct val="100000"/>
              </a:lnSpc>
            </a:pPr>
            <a:r>
              <a:rPr sz="980" b="1" i="0">
                <a:solidFill>
                  <a:srgbClr val="172733"/>
                </a:solidFill>
                <a:latin typeface="Aptos"/>
              </a:rPr>
              <a:t>Fund validation gate</a:t>
            </a:r>
          </a:p>
        </p:txBody>
      </p:sp>
      <p:sp>
        <p:nvSpPr>
          <p:cNvPr id="33" name="TextBox 32"/>
          <p:cNvSpPr txBox="1"/>
          <p:nvPr/>
        </p:nvSpPr>
        <p:spPr>
          <a:xfrm>
            <a:off x="8833104" y="4050791"/>
            <a:ext cx="2039112" cy="365760"/>
          </a:xfrm>
          <a:prstGeom prst="rect">
            <a:avLst/>
          </a:prstGeom>
          <a:noFill/>
        </p:spPr>
        <p:txBody>
          <a:bodyPr wrap="square" lIns="0" rIns="0" tIns="0" bIns="0" anchor="t">
            <a:spAutoFit/>
          </a:bodyPr>
          <a:lstStyle/>
          <a:p>
            <a:pPr algn="l">
              <a:lnSpc>
                <a:spcPct val="100000"/>
              </a:lnSpc>
            </a:pPr>
            <a:r>
              <a:rPr sz="810" b="0" i="0">
                <a:solidFill>
                  <a:srgbClr val="596C78"/>
                </a:solidFill>
                <a:latin typeface="Aptos"/>
              </a:rPr>
              <a:t>Replicates, debris metrics, FE and full-scale crash</a:t>
            </a:r>
          </a:p>
        </p:txBody>
      </p:sp>
      <p:sp>
        <p:nvSpPr>
          <p:cNvPr id="34" name="Oval 33"/>
          <p:cNvSpPr/>
          <p:nvPr/>
        </p:nvSpPr>
        <p:spPr>
          <a:xfrm>
            <a:off x="8321040" y="4608576"/>
            <a:ext cx="384048" cy="384048"/>
          </a:xfrm>
          <a:prstGeom prst="ellipse">
            <a:avLst/>
          </a:prstGeom>
          <a:solidFill>
            <a:srgbClr val="D95D5D"/>
          </a:solidFill>
          <a:ln>
            <a:solidFill>
              <a:srgbClr val="D95D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21040" y="4608576"/>
            <a:ext cx="384048" cy="384048"/>
          </a:xfrm>
          <a:prstGeom prst="rect">
            <a:avLst/>
          </a:prstGeom>
          <a:noFill/>
        </p:spPr>
        <p:txBody>
          <a:bodyPr wrap="square" lIns="0" rIns="0" tIns="0" bIns="0" anchor="ctr">
            <a:spAutoFit/>
          </a:bodyPr>
          <a:lstStyle/>
          <a:p>
            <a:pPr algn="ctr">
              <a:lnSpc>
                <a:spcPct val="100000"/>
              </a:lnSpc>
            </a:pPr>
            <a:r>
              <a:rPr sz="900" b="1" i="0">
                <a:solidFill>
                  <a:srgbClr val="FFFFFF"/>
                </a:solidFill>
                <a:latin typeface="Aptos"/>
              </a:rPr>
              <a:t>4</a:t>
            </a:r>
          </a:p>
        </p:txBody>
      </p:sp>
      <p:sp>
        <p:nvSpPr>
          <p:cNvPr id="36" name="TextBox 35"/>
          <p:cNvSpPr txBox="1"/>
          <p:nvPr/>
        </p:nvSpPr>
        <p:spPr>
          <a:xfrm>
            <a:off x="8833104" y="4590288"/>
            <a:ext cx="2011680" cy="256032"/>
          </a:xfrm>
          <a:prstGeom prst="rect">
            <a:avLst/>
          </a:prstGeom>
          <a:noFill/>
        </p:spPr>
        <p:txBody>
          <a:bodyPr wrap="square" lIns="0" rIns="0" tIns="0" bIns="0" anchor="t">
            <a:spAutoFit/>
          </a:bodyPr>
          <a:lstStyle/>
          <a:p>
            <a:pPr algn="l">
              <a:lnSpc>
                <a:spcPct val="100000"/>
              </a:lnSpc>
            </a:pPr>
            <a:r>
              <a:rPr sz="980" b="1" i="0">
                <a:solidFill>
                  <a:srgbClr val="172733"/>
                </a:solidFill>
                <a:latin typeface="Aptos"/>
              </a:rPr>
              <a:t>Open partner pathway</a:t>
            </a:r>
          </a:p>
        </p:txBody>
      </p:sp>
      <p:sp>
        <p:nvSpPr>
          <p:cNvPr id="37" name="TextBox 36"/>
          <p:cNvSpPr txBox="1"/>
          <p:nvPr/>
        </p:nvSpPr>
        <p:spPr>
          <a:xfrm>
            <a:off x="8833104" y="4882896"/>
            <a:ext cx="2039112" cy="365760"/>
          </a:xfrm>
          <a:prstGeom prst="rect">
            <a:avLst/>
          </a:prstGeom>
          <a:noFill/>
        </p:spPr>
        <p:txBody>
          <a:bodyPr wrap="square" lIns="0" rIns="0" tIns="0" bIns="0" anchor="t">
            <a:spAutoFit/>
          </a:bodyPr>
          <a:lstStyle/>
          <a:p>
            <a:pPr algn="l">
              <a:lnSpc>
                <a:spcPct val="100000"/>
              </a:lnSpc>
            </a:pPr>
            <a:r>
              <a:rPr sz="810" b="0" i="0">
                <a:solidFill>
                  <a:srgbClr val="596C78"/>
                </a:solidFill>
                <a:latin typeface="Aptos"/>
              </a:rPr>
              <a:t>CRRI / NHAI / precast / barrier manufacturer</a:t>
            </a:r>
          </a:p>
        </p:txBody>
      </p:sp>
      <p:sp>
        <p:nvSpPr>
          <p:cNvPr id="38" name="Rounded Rectangle 37"/>
          <p:cNvSpPr/>
          <p:nvPr/>
        </p:nvSpPr>
        <p:spPr>
          <a:xfrm>
            <a:off x="731520" y="4041648"/>
            <a:ext cx="6839712" cy="1170432"/>
          </a:xfrm>
          <a:prstGeom prst="roundRect">
            <a:avLst/>
          </a:prstGeom>
          <a:solidFill>
            <a:srgbClr val="0E3047"/>
          </a:solidFill>
          <a:ln w="10160">
            <a:solidFill>
              <a:srgbClr val="2048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69264" y="4297680"/>
            <a:ext cx="1097280" cy="274320"/>
          </a:xfrm>
          <a:prstGeom prst="rect">
            <a:avLst/>
          </a:prstGeom>
          <a:noFill/>
        </p:spPr>
        <p:txBody>
          <a:bodyPr wrap="square" lIns="0" rIns="0" tIns="0" bIns="0" anchor="t">
            <a:spAutoFit/>
          </a:bodyPr>
          <a:lstStyle/>
          <a:p>
            <a:pPr algn="l">
              <a:lnSpc>
                <a:spcPct val="100000"/>
              </a:lnSpc>
            </a:pPr>
            <a:r>
              <a:rPr sz="900" b="1" i="0">
                <a:solidFill>
                  <a:srgbClr val="22B8C7"/>
                </a:solidFill>
                <a:latin typeface="Aptos"/>
              </a:rPr>
              <a:t>BOTTOM LINE</a:t>
            </a:r>
          </a:p>
        </p:txBody>
      </p:sp>
      <p:sp>
        <p:nvSpPr>
          <p:cNvPr id="40" name="TextBox 39"/>
          <p:cNvSpPr txBox="1"/>
          <p:nvPr/>
        </p:nvSpPr>
        <p:spPr>
          <a:xfrm>
            <a:off x="2029968" y="4215384"/>
            <a:ext cx="5257800" cy="585216"/>
          </a:xfrm>
          <a:prstGeom prst="rect">
            <a:avLst/>
          </a:prstGeom>
          <a:noFill/>
        </p:spPr>
        <p:txBody>
          <a:bodyPr wrap="square" lIns="0" rIns="0" tIns="0" bIns="0" anchor="t">
            <a:spAutoFit/>
          </a:bodyPr>
          <a:lstStyle/>
          <a:p>
            <a:pPr algn="l">
              <a:lnSpc>
                <a:spcPct val="100000"/>
              </a:lnSpc>
            </a:pPr>
            <a:r>
              <a:rPr sz="1220" b="1" i="0">
                <a:solidFill>
                  <a:srgbClr val="FFFFFF"/>
                </a:solidFill>
                <a:latin typeface="Aptos"/>
              </a:rPr>
              <a:t>Protect the integrated material–mechanism–barrier platform now; make full-scale occupant-risk validation the commercial release gate.</a:t>
            </a:r>
          </a:p>
        </p:txBody>
      </p:sp>
      <p:sp>
        <p:nvSpPr>
          <p:cNvPr id="41" name="TextBox 40"/>
          <p:cNvSpPr txBox="1"/>
          <p:nvPr/>
        </p:nvSpPr>
        <p:spPr>
          <a:xfrm>
            <a:off x="731520" y="5888736"/>
            <a:ext cx="10607040" cy="256032"/>
          </a:xfrm>
          <a:prstGeom prst="rect">
            <a:avLst/>
          </a:prstGeom>
          <a:noFill/>
        </p:spPr>
        <p:txBody>
          <a:bodyPr wrap="square" lIns="0" rIns="0" tIns="0" bIns="0" anchor="ctr">
            <a:spAutoFit/>
          </a:bodyPr>
          <a:lstStyle/>
          <a:p>
            <a:pPr algn="l">
              <a:lnSpc>
                <a:spcPct val="100000"/>
              </a:lnSpc>
            </a:pPr>
            <a:r>
              <a:rPr sz="700" b="0" i="0">
                <a:solidFill>
                  <a:srgbClr val="A9BBC4"/>
                </a:solidFill>
                <a:latin typeface="Aptos"/>
              </a:rPr>
              <a:t>Source: Recommendation based on inventor-supplied evidence and disclosed patent status as of 16 Jul 2026. No legal, safety-certification or investment assurance is implied.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640080" y="164592"/>
            <a:ext cx="2514600" cy="201168"/>
          </a:xfrm>
          <a:prstGeom prst="rect">
            <a:avLst/>
          </a:prstGeom>
          <a:noFill/>
        </p:spPr>
        <p:txBody>
          <a:bodyPr wrap="square" lIns="0" rIns="0" tIns="0" bIns="0" anchor="t">
            <a:spAutoFit/>
          </a:bodyPr>
          <a:lstStyle/>
          <a:p>
            <a:pPr algn="l">
              <a:lnSpc>
                <a:spcPct val="100000"/>
              </a:lnSpc>
            </a:pPr>
            <a:r>
              <a:rPr sz="850" b="1" i="0">
                <a:solidFill>
                  <a:srgbClr val="2B78A6"/>
                </a:solidFill>
                <a:latin typeface="Aptos"/>
              </a:rPr>
              <a:t>SOURCES</a:t>
            </a:r>
          </a:p>
        </p:txBody>
      </p:sp>
      <p:sp>
        <p:nvSpPr>
          <p:cNvPr id="3" name="TextBox 2"/>
          <p:cNvSpPr txBox="1"/>
          <p:nvPr/>
        </p:nvSpPr>
        <p:spPr>
          <a:xfrm>
            <a:off x="640080" y="338328"/>
            <a:ext cx="9921240" cy="612648"/>
          </a:xfrm>
          <a:prstGeom prst="rect">
            <a:avLst/>
          </a:prstGeom>
          <a:noFill/>
        </p:spPr>
        <p:txBody>
          <a:bodyPr wrap="square" lIns="0" rIns="0" tIns="0" bIns="0" anchor="ctr">
            <a:spAutoFit/>
          </a:bodyPr>
          <a:lstStyle/>
          <a:p>
            <a:pPr algn="l">
              <a:lnSpc>
                <a:spcPct val="92000"/>
              </a:lnSpc>
            </a:pPr>
            <a:r>
              <a:rPr sz="2250" b="1" i="0">
                <a:solidFill>
                  <a:srgbClr val="172733"/>
                </a:solidFill>
                <a:latin typeface="Aptos Display"/>
              </a:rPr>
              <a:t>References &amp; primary sources (1/2)</a:t>
            </a:r>
          </a:p>
        </p:txBody>
      </p:sp>
      <p:sp>
        <p:nvSpPr>
          <p:cNvPr id="4" name="Rounded Rectangle 3"/>
          <p:cNvSpPr/>
          <p:nvPr/>
        </p:nvSpPr>
        <p:spPr>
          <a:xfrm>
            <a:off x="11173968" y="128016"/>
            <a:ext cx="749808" cy="58521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itbbs_logo_official.png"/>
          <p:cNvPicPr>
            <a:picLocks noChangeAspect="1"/>
          </p:cNvPicPr>
          <p:nvPr/>
        </p:nvPicPr>
        <p:blipFill>
          <a:blip r:embed="rId2"/>
          <a:stretch>
            <a:fillRect/>
          </a:stretch>
        </p:blipFill>
        <p:spPr>
          <a:xfrm>
            <a:off x="11283696" y="164592"/>
            <a:ext cx="530352" cy="493776"/>
          </a:xfrm>
          <a:prstGeom prst="rect">
            <a:avLst/>
          </a:prstGeom>
        </p:spPr>
      </p:pic>
      <p:cxnSp>
        <p:nvCxnSpPr>
          <p:cNvPr id="6" name="Connector 5"/>
          <p:cNvCxnSpPr/>
          <p:nvPr/>
        </p:nvCxnSpPr>
        <p:spPr>
          <a:xfrm>
            <a:off x="640080" y="1005840"/>
            <a:ext cx="10899648" cy="0"/>
          </a:xfrm>
          <a:prstGeom prst="line">
            <a:avLst/>
          </a:prstGeom>
          <a:ln w="10160">
            <a:solidFill>
              <a:srgbClr val="D8E2E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473952"/>
            <a:ext cx="10899648" cy="0"/>
          </a:xfrm>
          <a:prstGeom prst="line">
            <a:avLst/>
          </a:prstGeom>
          <a:ln w="8890">
            <a:solidFill>
              <a:srgbClr val="D8E2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58368" y="6547104"/>
            <a:ext cx="9784080" cy="164592"/>
          </a:xfrm>
          <a:prstGeom prst="rect">
            <a:avLst/>
          </a:prstGeom>
          <a:noFill/>
        </p:spPr>
        <p:txBody>
          <a:bodyPr wrap="square" lIns="0" rIns="0" tIns="0" bIns="0" anchor="t">
            <a:spAutoFit/>
          </a:bodyPr>
          <a:lstStyle/>
          <a:p>
            <a:pPr algn="l">
              <a:lnSpc>
                <a:spcPct val="100000"/>
              </a:lnSpc>
            </a:pPr>
            <a:r>
              <a:rPr sz="760" b="1" i="0">
                <a:solidFill>
                  <a:srgbClr val="596C78"/>
                </a:solidFill>
                <a:latin typeface="Aptos"/>
              </a:rPr>
              <a:t>EXTERNAL REDACTED DRAFT • IP STATUS TO CONFIRM • DISTRIBUTE ONLY WITH IITBBS IP APPROVAL</a:t>
            </a:r>
          </a:p>
        </p:txBody>
      </p:sp>
      <p:sp>
        <p:nvSpPr>
          <p:cNvPr id="9" name="TextBox 8"/>
          <p:cNvSpPr txBox="1"/>
          <p:nvPr/>
        </p:nvSpPr>
        <p:spPr>
          <a:xfrm>
            <a:off x="10972800" y="6528816"/>
            <a:ext cx="548640" cy="173736"/>
          </a:xfrm>
          <a:prstGeom prst="rect">
            <a:avLst/>
          </a:prstGeom>
          <a:noFill/>
        </p:spPr>
        <p:txBody>
          <a:bodyPr wrap="square" lIns="0" rIns="0" tIns="0" bIns="0" anchor="t">
            <a:spAutoFit/>
          </a:bodyPr>
          <a:lstStyle/>
          <a:p>
            <a:pPr algn="r">
              <a:lnSpc>
                <a:spcPct val="100000"/>
              </a:lnSpc>
            </a:pPr>
            <a:r>
              <a:rPr sz="830" b="1" i="0">
                <a:solidFill>
                  <a:srgbClr val="596C78"/>
                </a:solidFill>
                <a:latin typeface="Aptos"/>
              </a:rPr>
              <a:t>18</a:t>
            </a:r>
          </a:p>
        </p:txBody>
      </p:sp>
      <p:sp>
        <p:nvSpPr>
          <p:cNvPr id="10" name="Rounded Rectangle 9"/>
          <p:cNvSpPr/>
          <p:nvPr/>
        </p:nvSpPr>
        <p:spPr>
          <a:xfrm>
            <a:off x="667512" y="1188720"/>
            <a:ext cx="5321808" cy="5138928"/>
          </a:xfrm>
          <a:prstGeom prst="roundRect">
            <a:avLst/>
          </a:prstGeom>
          <a:solidFill>
            <a:srgbClr val="FFFFFF"/>
          </a:solidFill>
          <a:ln w="1016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17320"/>
            <a:ext cx="4919472" cy="841248"/>
          </a:xfrm>
          <a:prstGeom prst="rect">
            <a:avLst/>
          </a:prstGeom>
          <a:noFill/>
        </p:spPr>
        <p:txBody>
          <a:bodyPr wrap="square" lIns="0" rIns="0" tIns="0" bIns="0" anchor="t">
            <a:spAutoFit/>
          </a:bodyPr>
          <a:lstStyle/>
          <a:p>
            <a:pPr algn="l">
              <a:lnSpc>
                <a:spcPct val="102000"/>
              </a:lnSpc>
            </a:pPr>
            <a:r>
              <a:rPr sz="890" b="0" i="0">
                <a:solidFill>
                  <a:srgbClr val="172733"/>
                </a:solidFill>
                <a:latin typeface="Aptos"/>
              </a:rPr>
              <a:t>1  IIT Bhubaneswar invention team (2026). Confidential inventor-supplied crash-barrier research manuscript; submitted 18 Jul 2026. Title and formulation details redacted pending filing.</a:t>
            </a:r>
          </a:p>
        </p:txBody>
      </p:sp>
      <p:sp>
        <p:nvSpPr>
          <p:cNvPr id="12" name="TextBox 11"/>
          <p:cNvSpPr txBox="1"/>
          <p:nvPr/>
        </p:nvSpPr>
        <p:spPr>
          <a:xfrm>
            <a:off x="868680" y="2331720"/>
            <a:ext cx="4919472" cy="841248"/>
          </a:xfrm>
          <a:prstGeom prst="rect">
            <a:avLst/>
          </a:prstGeom>
          <a:noFill/>
        </p:spPr>
        <p:txBody>
          <a:bodyPr wrap="square" lIns="0" rIns="0" tIns="0" bIns="0" anchor="t">
            <a:spAutoFit/>
          </a:bodyPr>
          <a:lstStyle/>
          <a:p>
            <a:pPr algn="l">
              <a:lnSpc>
                <a:spcPct val="102000"/>
              </a:lnSpc>
            </a:pPr>
            <a:r>
              <a:rPr sz="890" b="0" i="0">
                <a:solidFill>
                  <a:srgbClr val="172733"/>
                </a:solidFill>
                <a:latin typeface="Aptos"/>
              </a:rPr>
              <a:t>2  IIT Bhubaneswar invention team (2026). Invention and Technology Disclosure Form: Novel Concrete Composition for Impact Energy Dissipating Crash Barriers, dated 16 Jul 2026; Questionnaire; Technology Profile.</a:t>
            </a:r>
          </a:p>
        </p:txBody>
      </p:sp>
      <p:sp>
        <p:nvSpPr>
          <p:cNvPr id="13" name="TextBox 12"/>
          <p:cNvSpPr txBox="1"/>
          <p:nvPr/>
        </p:nvSpPr>
        <p:spPr>
          <a:xfrm>
            <a:off x="868680" y="3246120"/>
            <a:ext cx="4919472" cy="694944"/>
          </a:xfrm>
          <a:prstGeom prst="rect">
            <a:avLst/>
          </a:prstGeom>
          <a:noFill/>
        </p:spPr>
        <p:txBody>
          <a:bodyPr wrap="square" lIns="0" rIns="0" tIns="0" bIns="0" anchor="t">
            <a:spAutoFit/>
          </a:bodyPr>
          <a:lstStyle/>
          <a:p>
            <a:pPr algn="l">
              <a:lnSpc>
                <a:spcPct val="102000"/>
              </a:lnSpc>
            </a:pPr>
            <a:r>
              <a:rPr sz="890" b="0" i="0">
                <a:solidFill>
                  <a:srgbClr val="172733"/>
                </a:solidFill>
                <a:latin typeface="Aptos"/>
              </a:rPr>
              <a:t>3  World Health Organization (2023). Global Status Report on Road Safety 2023. https://www.who.int/publications/i/item/9789240086517</a:t>
            </a:r>
          </a:p>
        </p:txBody>
      </p:sp>
      <p:sp>
        <p:nvSpPr>
          <p:cNvPr id="14" name="TextBox 13"/>
          <p:cNvSpPr txBox="1"/>
          <p:nvPr/>
        </p:nvSpPr>
        <p:spPr>
          <a:xfrm>
            <a:off x="868680" y="4014215"/>
            <a:ext cx="4919472" cy="694944"/>
          </a:xfrm>
          <a:prstGeom prst="rect">
            <a:avLst/>
          </a:prstGeom>
          <a:noFill/>
        </p:spPr>
        <p:txBody>
          <a:bodyPr wrap="square" lIns="0" rIns="0" tIns="0" bIns="0" anchor="t">
            <a:spAutoFit/>
          </a:bodyPr>
          <a:lstStyle/>
          <a:p>
            <a:pPr algn="l">
              <a:lnSpc>
                <a:spcPct val="102000"/>
              </a:lnSpc>
            </a:pPr>
            <a:r>
              <a:rPr sz="890" b="0" i="0">
                <a:solidFill>
                  <a:srgbClr val="172733"/>
                </a:solidFill>
                <a:latin typeface="Aptos"/>
              </a:rPr>
              <a:t>4  UNEP (2022). Sand and Sustainability: 10 Strategic Recommendations to Avert a Crisis. https://wedocs.unep.org/20.500.11822/38362</a:t>
            </a:r>
          </a:p>
        </p:txBody>
      </p:sp>
      <p:sp>
        <p:nvSpPr>
          <p:cNvPr id="15" name="TextBox 14"/>
          <p:cNvSpPr txBox="1"/>
          <p:nvPr/>
        </p:nvSpPr>
        <p:spPr>
          <a:xfrm>
            <a:off x="868680" y="4782312"/>
            <a:ext cx="4919472" cy="694944"/>
          </a:xfrm>
          <a:prstGeom prst="rect">
            <a:avLst/>
          </a:prstGeom>
          <a:noFill/>
        </p:spPr>
        <p:txBody>
          <a:bodyPr wrap="square" lIns="0" rIns="0" tIns="0" bIns="0" anchor="t">
            <a:spAutoFit/>
          </a:bodyPr>
          <a:lstStyle/>
          <a:p>
            <a:pPr algn="l">
              <a:lnSpc>
                <a:spcPct val="102000"/>
              </a:lnSpc>
            </a:pPr>
            <a:r>
              <a:rPr sz="890" b="0" i="0">
                <a:solidFill>
                  <a:srgbClr val="172733"/>
                </a:solidFill>
                <a:latin typeface="Aptos"/>
              </a:rPr>
              <a:t>5  U.S. Geological Survey (2025). Mineral Commodity Summaries 2025—Cement. https://pubs.usgs.gov/periodicals/mcs2025/mcs2025-cement.pdf</a:t>
            </a:r>
          </a:p>
        </p:txBody>
      </p:sp>
      <p:sp>
        <p:nvSpPr>
          <p:cNvPr id="16" name="TextBox 15"/>
          <p:cNvSpPr txBox="1"/>
          <p:nvPr/>
        </p:nvSpPr>
        <p:spPr>
          <a:xfrm>
            <a:off x="868680" y="5550407"/>
            <a:ext cx="4919472" cy="694944"/>
          </a:xfrm>
          <a:prstGeom prst="rect">
            <a:avLst/>
          </a:prstGeom>
          <a:noFill/>
        </p:spPr>
        <p:txBody>
          <a:bodyPr wrap="square" lIns="0" rIns="0" tIns="0" bIns="0" anchor="t">
            <a:spAutoFit/>
          </a:bodyPr>
          <a:lstStyle/>
          <a:p>
            <a:pPr algn="l">
              <a:lnSpc>
                <a:spcPct val="102000"/>
              </a:lnSpc>
            </a:pPr>
            <a:r>
              <a:rPr sz="890" b="0" i="0">
                <a:solidFill>
                  <a:srgbClr val="172733"/>
                </a:solidFill>
                <a:latin typeface="Aptos"/>
              </a:rPr>
              <a:t>6  International Energy Agency (2023). Cement—Tracking Clean Energy Progress. https://www.iea.org/energy-system/industry/cement</a:t>
            </a:r>
          </a:p>
        </p:txBody>
      </p:sp>
      <p:sp>
        <p:nvSpPr>
          <p:cNvPr id="17" name="Rounded Rectangle 16"/>
          <p:cNvSpPr/>
          <p:nvPr/>
        </p:nvSpPr>
        <p:spPr>
          <a:xfrm>
            <a:off x="6172200" y="1188720"/>
            <a:ext cx="5321808" cy="5138928"/>
          </a:xfrm>
          <a:prstGeom prst="roundRect">
            <a:avLst/>
          </a:prstGeom>
          <a:solidFill>
            <a:srgbClr val="FFFFFF"/>
          </a:solidFill>
          <a:ln w="1016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3368" y="1417320"/>
            <a:ext cx="4919472" cy="694944"/>
          </a:xfrm>
          <a:prstGeom prst="rect">
            <a:avLst/>
          </a:prstGeom>
          <a:noFill/>
        </p:spPr>
        <p:txBody>
          <a:bodyPr wrap="square" lIns="0" rIns="0" tIns="0" bIns="0" anchor="t">
            <a:spAutoFit/>
          </a:bodyPr>
          <a:lstStyle/>
          <a:p>
            <a:pPr algn="l">
              <a:lnSpc>
                <a:spcPct val="102000"/>
              </a:lnSpc>
            </a:pPr>
            <a:r>
              <a:rPr sz="890" b="0" i="0">
                <a:solidFill>
                  <a:srgbClr val="172733"/>
                </a:solidFill>
                <a:latin typeface="Aptos"/>
              </a:rPr>
              <a:t>7  Reid, I.; Carpenter, A.M.; Masili, A. (2020). Beneficial Uses of Coal Fly Ash. IEA Clean Coal Centre, CCC/303, ISBN 978-92-9029-626-3.</a:t>
            </a:r>
          </a:p>
        </p:txBody>
      </p:sp>
      <p:sp>
        <p:nvSpPr>
          <p:cNvPr id="19" name="TextBox 18"/>
          <p:cNvSpPr txBox="1"/>
          <p:nvPr/>
        </p:nvSpPr>
        <p:spPr>
          <a:xfrm>
            <a:off x="6373368" y="2185416"/>
            <a:ext cx="4919472" cy="694944"/>
          </a:xfrm>
          <a:prstGeom prst="rect">
            <a:avLst/>
          </a:prstGeom>
          <a:noFill/>
        </p:spPr>
        <p:txBody>
          <a:bodyPr wrap="square" lIns="0" rIns="0" tIns="0" bIns="0" anchor="t">
            <a:spAutoFit/>
          </a:bodyPr>
          <a:lstStyle/>
          <a:p>
            <a:pPr algn="l">
              <a:lnSpc>
                <a:spcPct val="102000"/>
              </a:lnSpc>
            </a:pPr>
            <a:r>
              <a:rPr sz="890" b="0" i="0">
                <a:solidFill>
                  <a:srgbClr val="172733"/>
                </a:solidFill>
                <a:latin typeface="Aptos"/>
              </a:rPr>
              <a:t>8  IRC:119-2015. Guidelines for Traffic Safety Barriers. Indian Roads Congress, New Delhi.</a:t>
            </a:r>
          </a:p>
        </p:txBody>
      </p:sp>
      <p:sp>
        <p:nvSpPr>
          <p:cNvPr id="20" name="TextBox 19"/>
          <p:cNvSpPr txBox="1"/>
          <p:nvPr/>
        </p:nvSpPr>
        <p:spPr>
          <a:xfrm>
            <a:off x="6373368" y="2953512"/>
            <a:ext cx="4919472" cy="694944"/>
          </a:xfrm>
          <a:prstGeom prst="rect">
            <a:avLst/>
          </a:prstGeom>
          <a:noFill/>
        </p:spPr>
        <p:txBody>
          <a:bodyPr wrap="square" lIns="0" rIns="0" tIns="0" bIns="0" anchor="t">
            <a:spAutoFit/>
          </a:bodyPr>
          <a:lstStyle/>
          <a:p>
            <a:pPr algn="l">
              <a:lnSpc>
                <a:spcPct val="102000"/>
              </a:lnSpc>
            </a:pPr>
            <a:r>
              <a:rPr sz="890" b="0" i="0">
                <a:solidFill>
                  <a:srgbClr val="172733"/>
                </a:solidFill>
                <a:latin typeface="Aptos"/>
              </a:rPr>
              <a:t>9  IRC:6-2016. Standard Specifications and Code of Practice for Road Bridges. Indian Roads Congress.</a:t>
            </a:r>
          </a:p>
        </p:txBody>
      </p:sp>
      <p:sp>
        <p:nvSpPr>
          <p:cNvPr id="21" name="TextBox 20"/>
          <p:cNvSpPr txBox="1"/>
          <p:nvPr/>
        </p:nvSpPr>
        <p:spPr>
          <a:xfrm>
            <a:off x="6373368" y="3721608"/>
            <a:ext cx="4919472" cy="694944"/>
          </a:xfrm>
          <a:prstGeom prst="rect">
            <a:avLst/>
          </a:prstGeom>
          <a:noFill/>
        </p:spPr>
        <p:txBody>
          <a:bodyPr wrap="square" lIns="0" rIns="0" tIns="0" bIns="0" anchor="t">
            <a:spAutoFit/>
          </a:bodyPr>
          <a:lstStyle/>
          <a:p>
            <a:pPr algn="l">
              <a:lnSpc>
                <a:spcPct val="102000"/>
              </a:lnSpc>
            </a:pPr>
            <a:r>
              <a:rPr sz="890" b="0" i="0">
                <a:solidFill>
                  <a:srgbClr val="172733"/>
                </a:solidFill>
                <a:latin typeface="Aptos"/>
              </a:rPr>
              <a:t>10 ACI 211.2-98. Standard Practice for Selecting Proportions for Structural Lightweight Concrete. American Concrete Institute.</a:t>
            </a:r>
          </a:p>
        </p:txBody>
      </p:sp>
      <p:sp>
        <p:nvSpPr>
          <p:cNvPr id="22" name="TextBox 21"/>
          <p:cNvSpPr txBox="1"/>
          <p:nvPr/>
        </p:nvSpPr>
        <p:spPr>
          <a:xfrm>
            <a:off x="6373368" y="4489704"/>
            <a:ext cx="4919472" cy="694944"/>
          </a:xfrm>
          <a:prstGeom prst="rect">
            <a:avLst/>
          </a:prstGeom>
          <a:noFill/>
        </p:spPr>
        <p:txBody>
          <a:bodyPr wrap="square" lIns="0" rIns="0" tIns="0" bIns="0" anchor="t">
            <a:spAutoFit/>
          </a:bodyPr>
          <a:lstStyle/>
          <a:p>
            <a:pPr algn="l">
              <a:lnSpc>
                <a:spcPct val="102000"/>
              </a:lnSpc>
            </a:pPr>
            <a:r>
              <a:rPr sz="890" b="0" i="0">
                <a:solidFill>
                  <a:srgbClr val="172733"/>
                </a:solidFill>
                <a:latin typeface="Aptos"/>
              </a:rPr>
              <a:t>11 ACI 544.2R-89. Measurement of Properties of Fiber Reinforced Concrete. American Concrete Institute.</a:t>
            </a:r>
          </a:p>
        </p:txBody>
      </p:sp>
      <p:sp>
        <p:nvSpPr>
          <p:cNvPr id="23" name="TextBox 22"/>
          <p:cNvSpPr txBox="1"/>
          <p:nvPr/>
        </p:nvSpPr>
        <p:spPr>
          <a:xfrm>
            <a:off x="6373368" y="5257800"/>
            <a:ext cx="4919472" cy="694944"/>
          </a:xfrm>
          <a:prstGeom prst="rect">
            <a:avLst/>
          </a:prstGeom>
          <a:noFill/>
        </p:spPr>
        <p:txBody>
          <a:bodyPr wrap="square" lIns="0" rIns="0" tIns="0" bIns="0" anchor="t">
            <a:spAutoFit/>
          </a:bodyPr>
          <a:lstStyle/>
          <a:p>
            <a:pPr algn="l">
              <a:lnSpc>
                <a:spcPct val="102000"/>
              </a:lnSpc>
            </a:pPr>
            <a:r>
              <a:rPr sz="890" b="0" i="0">
                <a:solidFill>
                  <a:srgbClr val="172733"/>
                </a:solidFill>
                <a:latin typeface="Aptos"/>
              </a:rPr>
              <a:t>12 Applicable Bureau of Indian Standards lightweight-aggregate specification; detailed material designation withheld pending patent filing.</a:t>
            </a:r>
          </a:p>
        </p:txBody>
      </p:sp>
      <p:sp>
        <p:nvSpPr>
          <p:cNvPr id="24" name="TextBox 23"/>
          <p:cNvSpPr txBox="1"/>
          <p:nvPr/>
        </p:nvSpPr>
        <p:spPr>
          <a:xfrm>
            <a:off x="6373368" y="6025896"/>
            <a:ext cx="4919472" cy="694944"/>
          </a:xfrm>
          <a:prstGeom prst="rect">
            <a:avLst/>
          </a:prstGeom>
          <a:noFill/>
        </p:spPr>
        <p:txBody>
          <a:bodyPr wrap="square" lIns="0" rIns="0" tIns="0" bIns="0" anchor="t">
            <a:spAutoFit/>
          </a:bodyPr>
          <a:lstStyle/>
          <a:p>
            <a:pPr algn="l">
              <a:lnSpc>
                <a:spcPct val="102000"/>
              </a:lnSpc>
            </a:pPr>
            <a:r>
              <a:rPr sz="890" b="0" i="0">
                <a:solidFill>
                  <a:srgbClr val="172733"/>
                </a:solidFill>
                <a:latin typeface="Aptos"/>
              </a:rPr>
              <a:t>13 IIT Bhubaneswar visual identity/logo: https://www.iitbbs.ac.in/ (accessed Aug 2026).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640080" y="164592"/>
            <a:ext cx="2514600" cy="201168"/>
          </a:xfrm>
          <a:prstGeom prst="rect">
            <a:avLst/>
          </a:prstGeom>
          <a:noFill/>
        </p:spPr>
        <p:txBody>
          <a:bodyPr wrap="square" lIns="0" rIns="0" tIns="0" bIns="0" anchor="t">
            <a:spAutoFit/>
          </a:bodyPr>
          <a:lstStyle/>
          <a:p>
            <a:pPr algn="l">
              <a:lnSpc>
                <a:spcPct val="100000"/>
              </a:lnSpc>
            </a:pPr>
            <a:r>
              <a:rPr sz="850" b="1" i="0">
                <a:solidFill>
                  <a:srgbClr val="2B78A6"/>
                </a:solidFill>
                <a:latin typeface="Aptos"/>
              </a:rPr>
              <a:t>SOURCES</a:t>
            </a:r>
          </a:p>
        </p:txBody>
      </p:sp>
      <p:sp>
        <p:nvSpPr>
          <p:cNvPr id="3" name="TextBox 2"/>
          <p:cNvSpPr txBox="1"/>
          <p:nvPr/>
        </p:nvSpPr>
        <p:spPr>
          <a:xfrm>
            <a:off x="640080" y="338328"/>
            <a:ext cx="9921240" cy="612648"/>
          </a:xfrm>
          <a:prstGeom prst="rect">
            <a:avLst/>
          </a:prstGeom>
          <a:noFill/>
        </p:spPr>
        <p:txBody>
          <a:bodyPr wrap="square" lIns="0" rIns="0" tIns="0" bIns="0" anchor="ctr">
            <a:spAutoFit/>
          </a:bodyPr>
          <a:lstStyle/>
          <a:p>
            <a:pPr algn="l">
              <a:lnSpc>
                <a:spcPct val="92000"/>
              </a:lnSpc>
            </a:pPr>
            <a:r>
              <a:rPr sz="2250" b="1" i="0">
                <a:solidFill>
                  <a:srgbClr val="172733"/>
                </a:solidFill>
                <a:latin typeface="Aptos Display"/>
              </a:rPr>
              <a:t>Peer-reviewed literature &amp; proceedings (2/2)</a:t>
            </a:r>
          </a:p>
        </p:txBody>
      </p:sp>
      <p:sp>
        <p:nvSpPr>
          <p:cNvPr id="4" name="Rounded Rectangle 3"/>
          <p:cNvSpPr/>
          <p:nvPr/>
        </p:nvSpPr>
        <p:spPr>
          <a:xfrm>
            <a:off x="11173968" y="128016"/>
            <a:ext cx="749808" cy="58521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itbbs_logo_official.png"/>
          <p:cNvPicPr>
            <a:picLocks noChangeAspect="1"/>
          </p:cNvPicPr>
          <p:nvPr/>
        </p:nvPicPr>
        <p:blipFill>
          <a:blip r:embed="rId2"/>
          <a:stretch>
            <a:fillRect/>
          </a:stretch>
        </p:blipFill>
        <p:spPr>
          <a:xfrm>
            <a:off x="11283696" y="164592"/>
            <a:ext cx="530352" cy="493776"/>
          </a:xfrm>
          <a:prstGeom prst="rect">
            <a:avLst/>
          </a:prstGeom>
        </p:spPr>
      </p:pic>
      <p:cxnSp>
        <p:nvCxnSpPr>
          <p:cNvPr id="6" name="Connector 5"/>
          <p:cNvCxnSpPr/>
          <p:nvPr/>
        </p:nvCxnSpPr>
        <p:spPr>
          <a:xfrm>
            <a:off x="640080" y="1005840"/>
            <a:ext cx="10899648" cy="0"/>
          </a:xfrm>
          <a:prstGeom prst="line">
            <a:avLst/>
          </a:prstGeom>
          <a:ln w="10160">
            <a:solidFill>
              <a:srgbClr val="D8E2E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473952"/>
            <a:ext cx="10899648" cy="0"/>
          </a:xfrm>
          <a:prstGeom prst="line">
            <a:avLst/>
          </a:prstGeom>
          <a:ln w="8890">
            <a:solidFill>
              <a:srgbClr val="D8E2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58368" y="6547104"/>
            <a:ext cx="9784080" cy="164592"/>
          </a:xfrm>
          <a:prstGeom prst="rect">
            <a:avLst/>
          </a:prstGeom>
          <a:noFill/>
        </p:spPr>
        <p:txBody>
          <a:bodyPr wrap="square" lIns="0" rIns="0" tIns="0" bIns="0" anchor="t">
            <a:spAutoFit/>
          </a:bodyPr>
          <a:lstStyle/>
          <a:p>
            <a:pPr algn="l">
              <a:lnSpc>
                <a:spcPct val="100000"/>
              </a:lnSpc>
            </a:pPr>
            <a:r>
              <a:rPr sz="760" b="1" i="0">
                <a:solidFill>
                  <a:srgbClr val="596C78"/>
                </a:solidFill>
                <a:latin typeface="Aptos"/>
              </a:rPr>
              <a:t>EXTERNAL REDACTED DRAFT • IP STATUS TO CONFIRM • DISTRIBUTE ONLY WITH IITBBS IP APPROVAL</a:t>
            </a:r>
          </a:p>
        </p:txBody>
      </p:sp>
      <p:sp>
        <p:nvSpPr>
          <p:cNvPr id="9" name="TextBox 8"/>
          <p:cNvSpPr txBox="1"/>
          <p:nvPr/>
        </p:nvSpPr>
        <p:spPr>
          <a:xfrm>
            <a:off x="10972800" y="6528816"/>
            <a:ext cx="548640" cy="173736"/>
          </a:xfrm>
          <a:prstGeom prst="rect">
            <a:avLst/>
          </a:prstGeom>
          <a:noFill/>
        </p:spPr>
        <p:txBody>
          <a:bodyPr wrap="square" lIns="0" rIns="0" tIns="0" bIns="0" anchor="t">
            <a:spAutoFit/>
          </a:bodyPr>
          <a:lstStyle/>
          <a:p>
            <a:pPr algn="r">
              <a:lnSpc>
                <a:spcPct val="100000"/>
              </a:lnSpc>
            </a:pPr>
            <a:r>
              <a:rPr sz="830" b="1" i="0">
                <a:solidFill>
                  <a:srgbClr val="596C78"/>
                </a:solidFill>
                <a:latin typeface="Aptos"/>
              </a:rPr>
              <a:t>19</a:t>
            </a:r>
          </a:p>
        </p:txBody>
      </p:sp>
      <p:sp>
        <p:nvSpPr>
          <p:cNvPr id="10" name="Rounded Rectangle 9"/>
          <p:cNvSpPr/>
          <p:nvPr/>
        </p:nvSpPr>
        <p:spPr>
          <a:xfrm>
            <a:off x="667512" y="1188720"/>
            <a:ext cx="5321808" cy="5138928"/>
          </a:xfrm>
          <a:prstGeom prst="roundRect">
            <a:avLst/>
          </a:prstGeom>
          <a:solidFill>
            <a:srgbClr val="FFFFFF"/>
          </a:solidFill>
          <a:ln w="1016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389888"/>
            <a:ext cx="4919472" cy="658368"/>
          </a:xfrm>
          <a:prstGeom prst="rect">
            <a:avLst/>
          </a:prstGeom>
          <a:noFill/>
        </p:spPr>
        <p:txBody>
          <a:bodyPr wrap="square" lIns="0" rIns="0" tIns="0" bIns="0" anchor="t">
            <a:spAutoFit/>
          </a:bodyPr>
          <a:lstStyle/>
          <a:p>
            <a:pPr algn="l">
              <a:lnSpc>
                <a:spcPct val="98000"/>
              </a:lnSpc>
            </a:pPr>
            <a:r>
              <a:rPr sz="810" b="0" i="0">
                <a:solidFill>
                  <a:srgbClr val="172733"/>
                </a:solidFill>
                <a:latin typeface="Aptos"/>
              </a:rPr>
              <a:t>14 Raj, A.; Nagarajan, P.; Pallikkara, S.A. (2020). Application of Fiber-Reinforced Rubcrete for Crash Barriers. J. Mater. Civ. Eng. 32(12), 04020358. doi:10.1061/(ASCE)MT.1943-5533.0003454.</a:t>
            </a:r>
          </a:p>
        </p:txBody>
      </p:sp>
      <p:sp>
        <p:nvSpPr>
          <p:cNvPr id="12" name="TextBox 11"/>
          <p:cNvSpPr txBox="1"/>
          <p:nvPr/>
        </p:nvSpPr>
        <p:spPr>
          <a:xfrm>
            <a:off x="868680" y="2098548"/>
            <a:ext cx="4919472" cy="658368"/>
          </a:xfrm>
          <a:prstGeom prst="rect">
            <a:avLst/>
          </a:prstGeom>
          <a:noFill/>
        </p:spPr>
        <p:txBody>
          <a:bodyPr wrap="square" lIns="0" rIns="0" tIns="0" bIns="0" anchor="t">
            <a:spAutoFit/>
          </a:bodyPr>
          <a:lstStyle/>
          <a:p>
            <a:pPr algn="l">
              <a:lnSpc>
                <a:spcPct val="98000"/>
              </a:lnSpc>
            </a:pPr>
            <a:r>
              <a:rPr sz="810" b="0" i="0">
                <a:solidFill>
                  <a:srgbClr val="172733"/>
                </a:solidFill>
                <a:latin typeface="Aptos"/>
              </a:rPr>
              <a:t>15 Shen, W. et al. (2014). Investigation on the safety concrete for highway crash barrier. Constr. Build. Mater. 70, 394–398. doi:10.1016/j.conbuildmat.2014.07.060.</a:t>
            </a:r>
          </a:p>
        </p:txBody>
      </p:sp>
      <p:sp>
        <p:nvSpPr>
          <p:cNvPr id="13" name="TextBox 12"/>
          <p:cNvSpPr txBox="1"/>
          <p:nvPr/>
        </p:nvSpPr>
        <p:spPr>
          <a:xfrm>
            <a:off x="868680" y="2807208"/>
            <a:ext cx="4919472" cy="658368"/>
          </a:xfrm>
          <a:prstGeom prst="rect">
            <a:avLst/>
          </a:prstGeom>
          <a:noFill/>
        </p:spPr>
        <p:txBody>
          <a:bodyPr wrap="square" lIns="0" rIns="0" tIns="0" bIns="0" anchor="t">
            <a:spAutoFit/>
          </a:bodyPr>
          <a:lstStyle/>
          <a:p>
            <a:pPr algn="l">
              <a:lnSpc>
                <a:spcPct val="98000"/>
              </a:lnSpc>
            </a:pPr>
            <a:r>
              <a:rPr sz="810" b="0" i="0">
                <a:solidFill>
                  <a:srgbClr val="172733"/>
                </a:solidFill>
                <a:latin typeface="Aptos"/>
              </a:rPr>
              <a:t>16 Zain, M.F.M.; Mohammed, H.J. (2015). Concrete road barriers subjected to impact loads: an overview. Lat. Am. J. Solids Struct. 12, 1824–1858. doi:10.1590/1679-78251783.</a:t>
            </a:r>
          </a:p>
        </p:txBody>
      </p:sp>
      <p:sp>
        <p:nvSpPr>
          <p:cNvPr id="14" name="TextBox 13"/>
          <p:cNvSpPr txBox="1"/>
          <p:nvPr/>
        </p:nvSpPr>
        <p:spPr>
          <a:xfrm>
            <a:off x="868680" y="3515868"/>
            <a:ext cx="4919472" cy="658368"/>
          </a:xfrm>
          <a:prstGeom prst="rect">
            <a:avLst/>
          </a:prstGeom>
          <a:noFill/>
        </p:spPr>
        <p:txBody>
          <a:bodyPr wrap="square" lIns="0" rIns="0" tIns="0" bIns="0" anchor="t">
            <a:spAutoFit/>
          </a:bodyPr>
          <a:lstStyle/>
          <a:p>
            <a:pPr algn="l">
              <a:lnSpc>
                <a:spcPct val="98000"/>
              </a:lnSpc>
            </a:pPr>
            <a:r>
              <a:rPr sz="810" b="0" i="0">
                <a:solidFill>
                  <a:srgbClr val="172733"/>
                </a:solidFill>
                <a:latin typeface="Aptos"/>
              </a:rPr>
              <a:t>17 Wang, H.T.; Wang, L.C. (2013). Static and dynamic properties of steel fiber reinforced lightweight aggregate concrete. Constr. Build. Mater. 38, 1146–1151. doi:10.1016/j.conbuildmat.2012.09.016.</a:t>
            </a:r>
          </a:p>
        </p:txBody>
      </p:sp>
      <p:sp>
        <p:nvSpPr>
          <p:cNvPr id="15" name="TextBox 14"/>
          <p:cNvSpPr txBox="1"/>
          <p:nvPr/>
        </p:nvSpPr>
        <p:spPr>
          <a:xfrm>
            <a:off x="868680" y="4224528"/>
            <a:ext cx="4919472" cy="749808"/>
          </a:xfrm>
          <a:prstGeom prst="rect">
            <a:avLst/>
          </a:prstGeom>
          <a:noFill/>
        </p:spPr>
        <p:txBody>
          <a:bodyPr wrap="square" lIns="0" rIns="0" tIns="0" bIns="0" anchor="t">
            <a:spAutoFit/>
          </a:bodyPr>
          <a:lstStyle/>
          <a:p>
            <a:pPr algn="l">
              <a:lnSpc>
                <a:spcPct val="98000"/>
              </a:lnSpc>
            </a:pPr>
            <a:r>
              <a:rPr sz="810" b="0" i="0">
                <a:solidFill>
                  <a:srgbClr val="172733"/>
                </a:solidFill>
                <a:latin typeface="Aptos"/>
              </a:rPr>
              <a:t>18 Sahoo, S.; Selvaraju, A.K.; Suriya Prakash, S. (2020). Mechanical characterization of structural lightweight aggregate concrete made with SFA and synthetic fibres. Cem. Concr. Compos. 113, 103712. doi:10.1016/j.cemconcomp.2020.103712.</a:t>
            </a:r>
          </a:p>
        </p:txBody>
      </p:sp>
      <p:sp>
        <p:nvSpPr>
          <p:cNvPr id="16" name="TextBox 15"/>
          <p:cNvSpPr txBox="1"/>
          <p:nvPr/>
        </p:nvSpPr>
        <p:spPr>
          <a:xfrm>
            <a:off x="868680" y="5024628"/>
            <a:ext cx="4919472" cy="749808"/>
          </a:xfrm>
          <a:prstGeom prst="rect">
            <a:avLst/>
          </a:prstGeom>
          <a:noFill/>
        </p:spPr>
        <p:txBody>
          <a:bodyPr wrap="square" lIns="0" rIns="0" tIns="0" bIns="0" anchor="t">
            <a:spAutoFit/>
          </a:bodyPr>
          <a:lstStyle/>
          <a:p>
            <a:pPr algn="l">
              <a:lnSpc>
                <a:spcPct val="98000"/>
              </a:lnSpc>
            </a:pPr>
            <a:r>
              <a:rPr sz="810" b="0" i="0">
                <a:solidFill>
                  <a:srgbClr val="172733"/>
                </a:solidFill>
                <a:latin typeface="Aptos"/>
              </a:rPr>
              <a:t>19 Nadesan, M.S.; Dinakar, P. (2017). Mix design and properties of fly ash waste lightweight aggregates in structural lightweight concrete. Case Stud. Constr. Mater. 7, 336–347. doi:10.1016/j.cscm.2017.09.005.</a:t>
            </a:r>
          </a:p>
        </p:txBody>
      </p:sp>
      <p:sp>
        <p:nvSpPr>
          <p:cNvPr id="17" name="TextBox 16"/>
          <p:cNvSpPr txBox="1"/>
          <p:nvPr/>
        </p:nvSpPr>
        <p:spPr>
          <a:xfrm>
            <a:off x="868680" y="5824728"/>
            <a:ext cx="4919472" cy="658368"/>
          </a:xfrm>
          <a:prstGeom prst="rect">
            <a:avLst/>
          </a:prstGeom>
          <a:noFill/>
        </p:spPr>
        <p:txBody>
          <a:bodyPr wrap="square" lIns="0" rIns="0" tIns="0" bIns="0" anchor="t">
            <a:spAutoFit/>
          </a:bodyPr>
          <a:lstStyle/>
          <a:p>
            <a:pPr algn="l">
              <a:lnSpc>
                <a:spcPct val="98000"/>
              </a:lnSpc>
            </a:pPr>
            <a:r>
              <a:rPr sz="810" b="0" i="0">
                <a:solidFill>
                  <a:srgbClr val="172733"/>
                </a:solidFill>
                <a:latin typeface="Aptos"/>
              </a:rPr>
              <a:t>20 Kim, W. et al. (2019). Evaluation of concrete barriers with novel shock absorbers subjected to impact loading. Arch. Civ. Mech. Eng. 19, 657–671. doi:10.1016/j.acme.2019.01.004.</a:t>
            </a:r>
          </a:p>
        </p:txBody>
      </p:sp>
      <p:sp>
        <p:nvSpPr>
          <p:cNvPr id="18" name="Rounded Rectangle 17"/>
          <p:cNvSpPr/>
          <p:nvPr/>
        </p:nvSpPr>
        <p:spPr>
          <a:xfrm>
            <a:off x="6172200" y="1188720"/>
            <a:ext cx="5321808" cy="5138928"/>
          </a:xfrm>
          <a:prstGeom prst="roundRect">
            <a:avLst/>
          </a:prstGeom>
          <a:solidFill>
            <a:srgbClr val="FFFFFF"/>
          </a:solidFill>
          <a:ln w="1016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73368" y="1389888"/>
            <a:ext cx="4919472" cy="658368"/>
          </a:xfrm>
          <a:prstGeom prst="rect">
            <a:avLst/>
          </a:prstGeom>
          <a:noFill/>
        </p:spPr>
        <p:txBody>
          <a:bodyPr wrap="square" lIns="0" rIns="0" tIns="0" bIns="0" anchor="t">
            <a:spAutoFit/>
          </a:bodyPr>
          <a:lstStyle/>
          <a:p>
            <a:pPr algn="l">
              <a:lnSpc>
                <a:spcPct val="98000"/>
              </a:lnSpc>
            </a:pPr>
            <a:r>
              <a:rPr sz="810" b="0" i="0">
                <a:solidFill>
                  <a:srgbClr val="172733"/>
                </a:solidFill>
                <a:latin typeface="Aptos"/>
              </a:rPr>
              <a:t>21 Yang, J. et al. (2019). Crash performance evaluation of a new movable median guardrail. Eng. Struct. 182, 459–472. doi:10.1016/j.engstruct.2018.12.090.</a:t>
            </a:r>
          </a:p>
        </p:txBody>
      </p:sp>
      <p:sp>
        <p:nvSpPr>
          <p:cNvPr id="20" name="TextBox 19"/>
          <p:cNvSpPr txBox="1"/>
          <p:nvPr/>
        </p:nvSpPr>
        <p:spPr>
          <a:xfrm>
            <a:off x="6373368" y="2098548"/>
            <a:ext cx="4919472" cy="658368"/>
          </a:xfrm>
          <a:prstGeom prst="rect">
            <a:avLst/>
          </a:prstGeom>
          <a:noFill/>
        </p:spPr>
        <p:txBody>
          <a:bodyPr wrap="square" lIns="0" rIns="0" tIns="0" bIns="0" anchor="t">
            <a:spAutoFit/>
          </a:bodyPr>
          <a:lstStyle/>
          <a:p>
            <a:pPr algn="l">
              <a:lnSpc>
                <a:spcPct val="98000"/>
              </a:lnSpc>
            </a:pPr>
            <a:r>
              <a:rPr sz="810" b="0" i="0">
                <a:solidFill>
                  <a:srgbClr val="172733"/>
                </a:solidFill>
                <a:latin typeface="Aptos"/>
              </a:rPr>
              <a:t>22 Abid, S.R. et al. (2020). Repeated drop-weight impact tests on self-compacting concrete reinforced with microsteel fiber. Heliyon 6, e03198. doi:10.1016/j.heliyon.2020.e03198.</a:t>
            </a:r>
          </a:p>
        </p:txBody>
      </p:sp>
      <p:sp>
        <p:nvSpPr>
          <p:cNvPr id="21" name="TextBox 20"/>
          <p:cNvSpPr txBox="1"/>
          <p:nvPr/>
        </p:nvSpPr>
        <p:spPr>
          <a:xfrm>
            <a:off x="6373368" y="2807208"/>
            <a:ext cx="4919472" cy="658368"/>
          </a:xfrm>
          <a:prstGeom prst="rect">
            <a:avLst/>
          </a:prstGeom>
          <a:noFill/>
        </p:spPr>
        <p:txBody>
          <a:bodyPr wrap="square" lIns="0" rIns="0" tIns="0" bIns="0" anchor="t">
            <a:spAutoFit/>
          </a:bodyPr>
          <a:lstStyle/>
          <a:p>
            <a:pPr algn="l">
              <a:lnSpc>
                <a:spcPct val="98000"/>
              </a:lnSpc>
            </a:pPr>
            <a:r>
              <a:rPr sz="810" b="0" i="0">
                <a:solidFill>
                  <a:srgbClr val="172733"/>
                </a:solidFill>
                <a:latin typeface="Aptos"/>
              </a:rPr>
              <a:t>23 Li, N.; Park, B.B.; Lambert, J.H. (2018). Effect of guardrail on reducing fatal and severe injuries on freeways. J. Transp. Saf. Secur. 10(5), 455–470. doi:10.1080/19439962.2017.1297970.</a:t>
            </a:r>
          </a:p>
        </p:txBody>
      </p:sp>
      <p:sp>
        <p:nvSpPr>
          <p:cNvPr id="22" name="TextBox 21"/>
          <p:cNvSpPr txBox="1"/>
          <p:nvPr/>
        </p:nvSpPr>
        <p:spPr>
          <a:xfrm>
            <a:off x="6373368" y="3515868"/>
            <a:ext cx="4919472" cy="658368"/>
          </a:xfrm>
          <a:prstGeom prst="rect">
            <a:avLst/>
          </a:prstGeom>
          <a:noFill/>
        </p:spPr>
        <p:txBody>
          <a:bodyPr wrap="square" lIns="0" rIns="0" tIns="0" bIns="0" anchor="t">
            <a:spAutoFit/>
          </a:bodyPr>
          <a:lstStyle/>
          <a:p>
            <a:pPr algn="l">
              <a:lnSpc>
                <a:spcPct val="98000"/>
              </a:lnSpc>
            </a:pPr>
            <a:r>
              <a:rPr sz="810" b="0" i="0">
                <a:solidFill>
                  <a:srgbClr val="172733"/>
                </a:solidFill>
                <a:latin typeface="Aptos"/>
              </a:rPr>
              <a:t>24 Grzebieta, R.H. et al. (2005). Roadside Hazard and Barrier Crashworthiness Issues. Proc. 19th Int’l Technical Conf. on Enhanced Safety of Vehicles, Paper 05-0149-O, NHTSA.</a:t>
            </a:r>
          </a:p>
        </p:txBody>
      </p:sp>
      <p:sp>
        <p:nvSpPr>
          <p:cNvPr id="23" name="TextBox 22"/>
          <p:cNvSpPr txBox="1"/>
          <p:nvPr/>
        </p:nvSpPr>
        <p:spPr>
          <a:xfrm>
            <a:off x="6373368" y="4224528"/>
            <a:ext cx="4919472" cy="749808"/>
          </a:xfrm>
          <a:prstGeom prst="rect">
            <a:avLst/>
          </a:prstGeom>
          <a:noFill/>
        </p:spPr>
        <p:txBody>
          <a:bodyPr wrap="square" lIns="0" rIns="0" tIns="0" bIns="0" anchor="t">
            <a:spAutoFit/>
          </a:bodyPr>
          <a:lstStyle/>
          <a:p>
            <a:pPr algn="l">
              <a:lnSpc>
                <a:spcPct val="98000"/>
              </a:lnSpc>
            </a:pPr>
            <a:r>
              <a:rPr sz="810" b="0" i="0">
                <a:solidFill>
                  <a:srgbClr val="172733"/>
                </a:solidFill>
                <a:latin typeface="Aptos"/>
              </a:rPr>
              <a:t>25 Bonin, G.; Cantisani, G.; Loprencipe, G.; Ranzo, A. (2004). Road safety barriers with short elements of lightweight concrete. Proc. II Int’l Congress SIIV—New Technologies and Modelling Tools for Roads.</a:t>
            </a:r>
          </a:p>
        </p:txBody>
      </p:sp>
      <p:sp>
        <p:nvSpPr>
          <p:cNvPr id="24" name="TextBox 23"/>
          <p:cNvSpPr txBox="1"/>
          <p:nvPr/>
        </p:nvSpPr>
        <p:spPr>
          <a:xfrm>
            <a:off x="6373368" y="5024628"/>
            <a:ext cx="4919472" cy="658368"/>
          </a:xfrm>
          <a:prstGeom prst="rect">
            <a:avLst/>
          </a:prstGeom>
          <a:noFill/>
        </p:spPr>
        <p:txBody>
          <a:bodyPr wrap="square" lIns="0" rIns="0" tIns="0" bIns="0" anchor="t">
            <a:spAutoFit/>
          </a:bodyPr>
          <a:lstStyle/>
          <a:p>
            <a:pPr algn="l">
              <a:lnSpc>
                <a:spcPct val="98000"/>
              </a:lnSpc>
            </a:pPr>
            <a:r>
              <a:rPr sz="810" b="0" i="0">
                <a:solidFill>
                  <a:srgbClr val="172733"/>
                </a:solidFill>
                <a:latin typeface="Aptos"/>
              </a:rPr>
              <a:t>26 Iqbal, M. (2011). Vehicular Impact Loading and Barrier Design. ACI Symposium Publication SP-281, 1–16. doi:10.14359/51683612.</a:t>
            </a:r>
          </a:p>
        </p:txBody>
      </p:sp>
      <p:sp>
        <p:nvSpPr>
          <p:cNvPr id="25" name="TextBox 24"/>
          <p:cNvSpPr txBox="1"/>
          <p:nvPr/>
        </p:nvSpPr>
        <p:spPr>
          <a:xfrm>
            <a:off x="6373368" y="5733288"/>
            <a:ext cx="4919472" cy="658368"/>
          </a:xfrm>
          <a:prstGeom prst="rect">
            <a:avLst/>
          </a:prstGeom>
          <a:noFill/>
        </p:spPr>
        <p:txBody>
          <a:bodyPr wrap="square" lIns="0" rIns="0" tIns="0" bIns="0" anchor="t">
            <a:spAutoFit/>
          </a:bodyPr>
          <a:lstStyle/>
          <a:p>
            <a:pPr algn="l">
              <a:lnSpc>
                <a:spcPct val="98000"/>
              </a:lnSpc>
            </a:pPr>
            <a:r>
              <a:rPr sz="810" b="0" i="0">
                <a:solidFill>
                  <a:srgbClr val="172733"/>
                </a:solidFill>
                <a:latin typeface="Aptos"/>
              </a:rPr>
              <a:t>27 Pachocki, Ł.; Bruski, D. (2020). Modeling, simulation and validation of a TB41 concrete restraint-system crash test. Arch. Civ. Mech. Eng. doi:10.1007/s43452-020-00065-7.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Novel Concrete Composition for Impact Energy Dissipating Crash Barriers</dc:title>
  <dc:subject>Editable external redacted patent-value presentation with experimental evidence and references</dc:subject>
  <dc:creator>IIT Bhubaneswar invention team</dc:creator>
  <cp:keywords>crash barrier, lightweight concrete, impact energy, patent, IIT Bhubaneswar</cp:keywords>
  <dc:description>Generated from inventor-supplied documents. Claims and certification statements are evidence-qualified.</dc:description>
  <cp:lastModifiedBy>Steve Canny</cp:lastModifiedBy>
  <cp:revision>1</cp:revision>
  <dcterms:created xsi:type="dcterms:W3CDTF">2013-01-27T09:14:16Z</dcterms:created>
  <dcterms:modified xsi:type="dcterms:W3CDTF">2013-01-27T09:15:58Z</dcterms:modified>
  <cp:category/>
</cp:coreProperties>
</file>