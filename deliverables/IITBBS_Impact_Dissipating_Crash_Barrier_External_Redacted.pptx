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Share</c:v>
                </c:pt>
              </c:strCache>
            </c:strRef>
          </c:tx>
          <c:dPt>
            <c:idx val="0"/>
            <c:spPr>
              <a:solidFill>
                <a:srgbClr val="2E6F9E"/>
              </a:solidFill>
              <a:ln>
                <a:solidFill>
                  <a:srgbClr val="2E6F9E"/>
                </a:solidFill>
              </a:ln>
            </c:spPr>
          </c:dPt>
          <c:dPt>
            <c:idx val="1"/>
            <c:spPr>
              <a:solidFill>
                <a:srgbClr val="4A89A3"/>
              </a:solidFill>
              <a:ln>
                <a:solidFill>
                  <a:srgbClr val="4A89A3"/>
                </a:solidFill>
              </a:ln>
            </c:spPr>
          </c:dPt>
          <c:dPt>
            <c:idx val="2"/>
            <c:spPr>
              <a:solidFill>
                <a:srgbClr val="B37A30"/>
              </a:solidFill>
              <a:ln>
                <a:solidFill>
                  <a:srgbClr val="B37A30"/>
                </a:solidFill>
              </a:ln>
            </c:spPr>
          </c:dPt>
          <c:dPt>
            <c:idx val="3"/>
            <c:spPr>
              <a:solidFill>
                <a:srgbClr val="CCD6DE"/>
              </a:solidFill>
              <a:ln>
                <a:solidFill>
                  <a:srgbClr val="CCD6DE"/>
                </a:solidFill>
              </a:ln>
            </c:spPr>
          </c:dPt>
          <c:cat>
            <c:strRef>
              <c:f>Sheet1!$A$2:$A$5</c:f>
              <c:strCache>
                <c:ptCount val="4"/>
                <c:pt idx="0">
                  <c:v>Upper-middle</c:v>
                </c:pt>
                <c:pt idx="1">
                  <c:v>Lower-middle</c:v>
                </c:pt>
                <c:pt idx="2">
                  <c:v>Low</c:v>
                </c:pt>
                <c:pt idx="3">
                  <c:v>High</c:v>
                </c:pt>
              </c:strCache>
            </c:strRef>
          </c:cat>
          <c:val>
            <c:numRef>
              <c:f>Sheet1!$B$2:$B$5</c:f>
              <c:numCache>
                <c:formatCode>General</c:formatCode>
                <c:ptCount val="4"/>
                <c:pt idx="0">
                  <c:v>35</c:v>
                </c:pt>
                <c:pt idx="1">
                  <c:v>44</c:v>
                </c:pt>
                <c:pt idx="2">
                  <c:v>13</c:v>
                </c:pt>
                <c:pt idx="3">
                  <c:v>8</c:v>
                </c:pt>
              </c:numCache>
            </c:numRef>
          </c:val>
        </c:ser>
        <c:firstSliceAng val="0"/>
        <c:holeSize val="50"/>
      </c:doughnutChart>
    </c:plotArea>
    <c:legend>
      <c:legendPos val="b"/>
      <c:layout/>
      <c:overlay val="0"/>
      <c:txPr>
        <a:bodyPr/>
        <a:lstStyle/>
        <a:p>
          <a:pPr>
            <a:defRPr sz="800">
              <a:solidFill>
                <a:srgbClr val="5D6972"/>
              </a:solidFill>
              <a:latin typeface="Aptos"/>
            </a:defRPr>
          </a:pPr>
        </a:p>
      </c:txPr>
    </c:legend>
    <c:plotVisOnly val="1"/>
    <c:dispBlanksAs val="gap"/>
    <c:showDLblsOverMax val="0"/>
  </c:chart>
  <c:txPr>
    <a:bodyPr/>
    <a:lstStyle/>
    <a:p>
      <a:pPr>
        <a:defRPr sz="800">
          <a:solidFill>
            <a:srgbClr val="5D6972"/>
          </a:solidFill>
          <a:latin typeface="Aptos"/>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Reported density</c:v>
                </c:pt>
              </c:strCache>
            </c:strRef>
          </c:tx>
          <c:spPr>
            <a:solidFill>
              <a:srgbClr val="2E6F9E"/>
            </a:solidFill>
            <a:ln>
              <a:solidFill>
                <a:srgbClr val="2E6F9E"/>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2466</c:v>
                </c:pt>
                <c:pt idx="1">
                  <c:v>1885</c:v>
                </c:pt>
                <c:pt idx="2">
                  <c:v>1923</c:v>
                </c:pt>
                <c:pt idx="3">
                  <c:v>1951</c:v>
                </c:pt>
                <c:pt idx="4">
                  <c:v>1987</c:v>
                </c:pt>
              </c:numCache>
            </c:numRef>
          </c:val>
        </c:ser>
        <c:dLbls>
          <c:numFmt formatCode="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62"/>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2700.0"/>
          <c:min val="0.0"/>
        </c:scaling>
        <c:delete val="0"/>
        <c:axPos val="l"/>
        <c:majorGridlines>
          <c:spPr>
            <a:ln>
              <a:solidFill>
                <a:srgbClr val="CCD6DE"/>
              </a:solidFill>
            </a:ln>
          </c:spPr>
        </c:majorGridlines>
        <c:title>
          <c:tx>
            <c:rich>
              <a:bodyPr/>
              <a:lstStyle/>
              <a:p>
                <a:r>
                  <a:rPr sz="800"/>
                  <a:t>kg/m³</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Compression</c:v>
                </c:pt>
              </c:strCache>
            </c:strRef>
          </c:tx>
          <c:spPr>
            <a:solidFill>
              <a:srgbClr val="3F7E73"/>
            </a:solidFill>
            <a:ln>
              <a:solidFill>
                <a:srgbClr val="3F7E73"/>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49.62</c:v>
                </c:pt>
                <c:pt idx="1">
                  <c:v>51.1</c:v>
                </c:pt>
                <c:pt idx="2">
                  <c:v>53.7</c:v>
                </c:pt>
                <c:pt idx="3">
                  <c:v>56.8</c:v>
                </c:pt>
                <c:pt idx="4">
                  <c:v>55.4</c:v>
                </c:pt>
              </c:numCache>
            </c:numRef>
          </c:val>
        </c:ser>
        <c:dLbls>
          <c:numFmt formatCode="0.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62"/>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65.0"/>
          <c:min val="0.0"/>
        </c:scaling>
        <c:delete val="0"/>
        <c:axPos val="l"/>
        <c:majorGridlines>
          <c:spPr>
            <a:ln>
              <a:solidFill>
                <a:srgbClr val="CCD6DE"/>
              </a:solidFill>
            </a:ln>
          </c:spPr>
        </c:majorGridlines>
        <c:title>
          <c:tx>
            <c:rich>
              <a:bodyPr/>
              <a:lstStyle/>
              <a:p>
                <a:r>
                  <a:rPr sz="800"/>
                  <a:t>MPa</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Split tension</c:v>
                </c:pt>
              </c:strCache>
            </c:strRef>
          </c:tx>
          <c:spPr>
            <a:solidFill>
              <a:srgbClr val="B37A30"/>
            </a:solidFill>
            <a:ln>
              <a:solidFill>
                <a:srgbClr val="B37A30"/>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4.32</c:v>
                </c:pt>
                <c:pt idx="1">
                  <c:v>3.36</c:v>
                </c:pt>
                <c:pt idx="2">
                  <c:v>4.77</c:v>
                </c:pt>
                <c:pt idx="3">
                  <c:v>5.92</c:v>
                </c:pt>
                <c:pt idx="4">
                  <c:v>7.6</c:v>
                </c:pt>
              </c:numCache>
            </c:numRef>
          </c:val>
        </c:ser>
        <c:dLbls>
          <c:numFmt formatCode="0.0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62"/>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9.0"/>
          <c:min val="0.0"/>
        </c:scaling>
        <c:delete val="0"/>
        <c:axPos val="l"/>
        <c:majorGridlines>
          <c:spPr>
            <a:ln>
              <a:solidFill>
                <a:srgbClr val="CCD6DE"/>
              </a:solidFill>
            </a:ln>
          </c:spPr>
        </c:majorGridlines>
        <c:title>
          <c:tx>
            <c:rich>
              <a:bodyPr/>
              <a:lstStyle/>
              <a:p>
                <a:r>
                  <a:rPr sz="800"/>
                  <a:t>MPa</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2E6F9E"/>
            </a:solidFill>
            <a:ln>
              <a:solidFill>
                <a:srgbClr val="2E6F9E"/>
              </a:solidFill>
            </a:ln>
          </c:spPr>
          <c:dPt>
            <c:idx val="0"/>
            <c:spPr>
              <a:solidFill>
                <a:srgbClr val="CCD6DE"/>
              </a:solidFill>
              <a:ln>
                <a:solidFill>
                  <a:srgbClr val="CCD6DE"/>
                </a:solidFill>
              </a:ln>
            </c:spPr>
          </c:dPt>
          <c:dPt>
            <c:idx val="1"/>
            <c:spPr>
              <a:solidFill>
                <a:srgbClr val="9ABFD1"/>
              </a:solidFill>
              <a:ln>
                <a:solidFill>
                  <a:srgbClr val="9ABFD1"/>
                </a:solidFill>
              </a:ln>
            </c:spPr>
          </c:dPt>
          <c:dPt>
            <c:idx val="2"/>
            <c:spPr>
              <a:solidFill>
                <a:srgbClr val="4A89A3"/>
              </a:solidFill>
              <a:ln>
                <a:solidFill>
                  <a:srgbClr val="4A89A3"/>
                </a:solidFill>
              </a:ln>
            </c:spPr>
          </c:dPt>
          <c:dPt>
            <c:idx val="3"/>
            <c:spPr>
              <a:solidFill>
                <a:srgbClr val="B37A30"/>
              </a:solidFill>
              <a:ln>
                <a:solidFill>
                  <a:srgbClr val="B37A30"/>
                </a:solidFill>
              </a:ln>
            </c:spPr>
          </c:dPt>
          <c:dPt>
            <c:idx val="4"/>
            <c:spPr>
              <a:solidFill>
                <a:srgbClr val="9A4651"/>
              </a:solidFill>
              <a:ln>
                <a:solidFill>
                  <a:srgbClr val="9A4651"/>
                </a:solidFill>
              </a:ln>
            </c:spPr>
          </c:dPt>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52.97</c:v>
                </c:pt>
                <c:pt idx="1">
                  <c:v>26.49</c:v>
                </c:pt>
                <c:pt idx="2">
                  <c:v>264.87</c:v>
                </c:pt>
                <c:pt idx="3">
                  <c:v>595.96</c:v>
                </c:pt>
                <c:pt idx="4">
                  <c:v>2927.81</c:v>
                </c:pt>
              </c:numCache>
            </c:numRef>
          </c:val>
        </c:ser>
        <c:dLbls>
          <c:numFmt formatCode="0" sourceLinked="0"/>
          <c:txPr>
            <a:bodyPr/>
            <a:lstStyle/>
            <a:p>
              <a:pPr>
                <a:defRPr sz="800">
                  <a:solidFill>
                    <a:srgbClr val="202B33"/>
                  </a:solidFill>
                  <a:latin typeface="Aptos"/>
                </a:defRPr>
              </a:pPr>
            </a:p>
          </c:txPr>
          <c:dLblPos val="outEnd"/>
          <c:showLegendKey val="0"/>
          <c:showVal val="1"/>
          <c:showCatName val="0"/>
          <c:showSerName val="0"/>
          <c:showPercent val="0"/>
          <c:showBubbleSize val="0"/>
          <c:showLeaderLines val="1"/>
        </c:dLbls>
        <c:gapWidth val="58"/>
        <c:axId val="-2068027336"/>
        <c:axId val="-2113994440"/>
      </c:barChart>
      <c:catAx>
        <c:axId val="-2068027336"/>
        <c:scaling>
          <c:orientation val="maxMin"/>
        </c:scaling>
        <c:delete val="0"/>
        <c:axPos val="l"/>
        <c:majorTickMark val="out"/>
        <c:minorTickMark val="none"/>
        <c:tickLblPos val="nextTo"/>
        <c:spPr>
          <a:ln>
            <a:solidFill>
              <a:srgbClr val="CCD6DE"/>
            </a:solidFill>
          </a:ln>
        </c:spPr>
        <c:txPr>
          <a:bodyPr/>
          <a:lstStyle/>
          <a:p>
            <a:pPr>
              <a:defRPr sz="830">
                <a:latin typeface="Aptos"/>
              </a:defRPr>
            </a:pPr>
          </a:p>
        </c:txPr>
        <c:crossAx val="-2113994440"/>
        <c:crosses val="autoZero"/>
        <c:auto val="1"/>
        <c:lblAlgn val="ctr"/>
        <c:lblOffset val="100"/>
        <c:noMultiLvlLbl val="0"/>
      </c:catAx>
      <c:valAx>
        <c:axId val="-2113994440"/>
        <c:scaling>
          <c:max val="3300.0"/>
          <c:min val="0.0"/>
        </c:scaling>
        <c:delete val="0"/>
        <c:axPos val="b"/>
        <c:majorGridlines>
          <c:spPr>
            <a:ln>
              <a:solidFill>
                <a:srgbClr val="CCD6DE"/>
              </a:solidFill>
            </a:ln>
          </c:spPr>
        </c:majorGridlines>
        <c:majorTickMark val="out"/>
        <c:minorTickMark val="none"/>
        <c:tickLblPos val="nextTo"/>
        <c:spPr>
          <a:ln>
            <a:solidFill>
              <a:srgbClr val="CCD6DE"/>
            </a:solidFill>
          </a:ln>
        </c:spPr>
        <c:txPr>
          <a:bodyPr/>
          <a:lstStyle/>
          <a:p>
            <a:pPr>
              <a:defRPr sz="750"/>
            </a:pPr>
          </a:p>
        </c:txPr>
        <c:crossAx val="-2068027336"/>
        <c:crosses val="autoZero"/>
      </c:valAx>
    </c:plotArea>
    <c:dispBlanksAs val="gap"/>
  </c:chart>
  <c:txPr>
    <a:bodyPr/>
    <a:lstStyle/>
    <a:p>
      <a:pPr>
        <a:defRPr sz="819">
          <a:solidFill>
            <a:srgbClr val="5D6972"/>
          </a:solidFill>
          <a:latin typeface="Apto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First crack N₁</c:v>
                </c:pt>
              </c:strCache>
            </c:strRef>
          </c:tx>
          <c:spPr>
            <a:solidFill>
              <a:srgbClr val="4A89A3"/>
            </a:solidFill>
            <a:ln>
              <a:solidFill>
                <a:srgbClr val="4A89A3"/>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c:v>
                </c:pt>
                <c:pt idx="1">
                  <c:v>1</c:v>
                </c:pt>
                <c:pt idx="2">
                  <c:v>5</c:v>
                </c:pt>
                <c:pt idx="3">
                  <c:v>15</c:v>
                </c:pt>
                <c:pt idx="4">
                  <c:v>35</c:v>
                </c:pt>
              </c:numCache>
            </c:numRef>
          </c:val>
        </c:ser>
        <c:ser>
          <c:idx val="1"/>
          <c:order val="1"/>
          <c:tx>
            <c:strRef>
              <c:f>Sheet1!$C$1</c:f>
              <c:strCache>
                <c:ptCount val="1"/>
                <c:pt idx="0">
                  <c:v>Failure N₂</c:v>
                </c:pt>
              </c:strCache>
            </c:strRef>
          </c:tx>
          <c:spPr>
            <a:solidFill>
              <a:srgbClr val="17365D"/>
            </a:solidFill>
            <a:ln>
              <a:solidFill>
                <a:srgbClr val="17365D"/>
              </a:solidFill>
            </a:ln>
          </c:spPr>
          <c:cat>
            <c:strRef>
              <c:f>Sheet1!$A$2:$A$6</c:f>
              <c:strCache>
                <c:ptCount val="5"/>
                <c:pt idx="0">
                  <c:v>NWC</c:v>
                </c:pt>
                <c:pt idx="1">
                  <c:v>LWC00</c:v>
                </c:pt>
                <c:pt idx="2">
                  <c:v>LWC05</c:v>
                </c:pt>
                <c:pt idx="3">
                  <c:v>LWC10</c:v>
                </c:pt>
                <c:pt idx="4">
                  <c:v>LWC15</c:v>
                </c:pt>
              </c:strCache>
            </c:strRef>
          </c:cat>
          <c:val>
            <c:numRef>
              <c:f>Sheet1!$C$2:$C$6</c:f>
              <c:numCache>
                <c:formatCode>General</c:formatCode>
                <c:ptCount val="5"/>
                <c:pt idx="0">
                  <c:v>4</c:v>
                </c:pt>
                <c:pt idx="1">
                  <c:v>2</c:v>
                </c:pt>
                <c:pt idx="2">
                  <c:v>20</c:v>
                </c:pt>
                <c:pt idx="3">
                  <c:v>45</c:v>
                </c:pt>
                <c:pt idx="4">
                  <c:v>221</c:v>
                </c:pt>
              </c:numCache>
            </c:numRef>
          </c:val>
        </c:ser>
        <c:dLbls>
          <c:numFmt formatCode="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250.0"/>
          <c:min val="0.0"/>
        </c:scaling>
        <c:delete val="0"/>
        <c:axPos val="l"/>
        <c:majorGridlines>
          <c:spPr>
            <a:ln>
              <a:solidFill>
                <a:srgbClr val="CCD6DE"/>
              </a:solidFill>
            </a:ln>
          </c:spPr>
        </c:majorGridlines>
        <c:title>
          <c:tx>
            <c:rich>
              <a:bodyPr/>
              <a:lstStyle/>
              <a:p>
                <a:r>
                  <a:rPr sz="800"/>
                  <a:t>blows</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legend>
      <c:legendPos val="b"/>
      <c:overlay val="0"/>
      <c:txPr>
        <a:bodyPr/>
        <a:lstStyle/>
        <a:p>
          <a:pPr>
            <a:defRPr sz="800">
              <a:solidFill>
                <a:srgbClr val="5D6972"/>
              </a:solidFill>
              <a:latin typeface="Aptos"/>
            </a:defRPr>
          </a:pPr>
        </a:p>
      </c:txPr>
    </c:legend>
    <c:dispBlanksAs val="gap"/>
  </c:chart>
  <c:txPr>
    <a:bodyPr/>
    <a:lstStyle/>
    <a:p>
      <a:pPr>
        <a:defRPr sz="800">
          <a:solidFill>
            <a:srgbClr val="5D6972"/>
          </a:solidFill>
          <a:latin typeface="Aptos"/>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Peak displacement</c:v>
                </c:pt>
              </c:strCache>
            </c:strRef>
          </c:tx>
          <c:spPr>
            <a:solidFill>
              <a:srgbClr val="B37A30"/>
            </a:solidFill>
            <a:ln>
              <a:solidFill>
                <a:srgbClr val="B37A30"/>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0.28</c:v>
                </c:pt>
                <c:pt idx="1">
                  <c:v>0.08</c:v>
                </c:pt>
                <c:pt idx="2">
                  <c:v>0.14</c:v>
                </c:pt>
                <c:pt idx="3">
                  <c:v>0.85</c:v>
                </c:pt>
                <c:pt idx="4">
                  <c:v>0.71</c:v>
                </c:pt>
              </c:numCache>
            </c:numRef>
          </c:val>
        </c:ser>
        <c:dLbls>
          <c:numFmt formatCode="0.0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CCD6DE"/>
              </a:solidFill>
            </a:ln>
          </c:spPr>
        </c:majorGridlines>
        <c:title>
          <c:tx>
            <c:rich>
              <a:bodyPr/>
              <a:lstStyle/>
              <a:p>
                <a:r>
                  <a:rPr sz="800"/>
                  <a:t>mm</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Material cost</c:v>
                </c:pt>
              </c:strCache>
            </c:strRef>
          </c:tx>
          <c:spPr>
            <a:solidFill>
              <a:srgbClr val="17365D"/>
            </a:solidFill>
            <a:ln>
              <a:solidFill>
                <a:srgbClr val="17365D"/>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4945.24</c:v>
                </c:pt>
                <c:pt idx="1">
                  <c:v>4411.62</c:v>
                </c:pt>
                <c:pt idx="2">
                  <c:v>8336.62</c:v>
                </c:pt>
                <c:pt idx="3">
                  <c:v>12261.62</c:v>
                </c:pt>
                <c:pt idx="4">
                  <c:v>16191.62</c:v>
                </c:pt>
              </c:numCache>
            </c:numRef>
          </c:val>
        </c:ser>
        <c:dLbls>
          <c:numFmt formatCode="₹#,##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58"/>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18000.0"/>
          <c:min val="0.0"/>
        </c:scaling>
        <c:delete val="0"/>
        <c:axPos val="l"/>
        <c:majorGridlines>
          <c:spPr>
            <a:ln>
              <a:solidFill>
                <a:srgbClr val="CCD6DE"/>
              </a:solidFill>
            </a:ln>
          </c:spPr>
        </c:majorGridlines>
        <c:title>
          <c:tx>
            <c:rich>
              <a:bodyPr/>
              <a:lstStyle/>
              <a:p>
                <a:r>
                  <a:rPr sz="800"/>
                  <a:t>₹/m³</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Cost / failure energy</c:v>
                </c:pt>
              </c:strCache>
            </c:strRef>
          </c:tx>
          <c:spPr>
            <a:solidFill>
              <a:srgbClr val="B37A30"/>
            </a:solidFill>
            <a:ln>
              <a:solidFill>
                <a:srgbClr val="B37A30"/>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93.36</c:v>
                </c:pt>
                <c:pt idx="1">
                  <c:v>166.54</c:v>
                </c:pt>
                <c:pt idx="2">
                  <c:v>31.47</c:v>
                </c:pt>
                <c:pt idx="3">
                  <c:v>20.57</c:v>
                </c:pt>
                <c:pt idx="4">
                  <c:v>5.53</c:v>
                </c:pt>
              </c:numCache>
            </c:numRef>
          </c:val>
        </c:ser>
        <c:dLbls>
          <c:numFmt formatCode="0.0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58"/>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185.0"/>
          <c:min val="0.0"/>
        </c:scaling>
        <c:delete val="0"/>
        <c:axPos val="l"/>
        <c:majorGridlines>
          <c:spPr>
            <a:ln>
              <a:solidFill>
                <a:srgbClr val="CCD6DE"/>
              </a:solidFill>
            </a:ln>
          </c:spPr>
        </c:majorGridlines>
        <c:title>
          <c:tx>
            <c:rich>
              <a:bodyPr/>
              <a:lstStyle/>
              <a:p>
                <a:r>
                  <a:rPr sz="800"/>
                  <a:t>₹/(N·m)</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Failure energy</c:v>
                </c:pt>
              </c:strCache>
            </c:strRef>
          </c:tx>
          <c:spPr>
            <a:solidFill>
              <a:srgbClr val="9A4651"/>
            </a:solidFill>
            <a:ln>
              <a:solidFill>
                <a:srgbClr val="9A4651"/>
              </a:solidFill>
            </a:ln>
          </c:spPr>
          <c:cat>
            <c:strRef>
              <c:f>Sheet1!$A$2:$A$3</c:f>
              <c:strCache>
                <c:ptCount val="2"/>
                <c:pt idx="0">
                  <c:v>NWC</c:v>
                </c:pt>
                <c:pt idx="1">
                  <c:v>LWC15</c:v>
                </c:pt>
              </c:strCache>
            </c:strRef>
          </c:cat>
          <c:val>
            <c:numRef>
              <c:f>Sheet1!$B$2:$B$3</c:f>
              <c:numCache>
                <c:formatCode>General</c:formatCode>
                <c:ptCount val="2"/>
                <c:pt idx="0">
                  <c:v>1373</c:v>
                </c:pt>
                <c:pt idx="1">
                  <c:v>2746</c:v>
                </c:pt>
              </c:numCache>
            </c:numRef>
          </c:val>
        </c:ser>
        <c:dLbls>
          <c:numFmt formatCode="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3100.0"/>
          <c:min val="0.0"/>
        </c:scaling>
        <c:delete val="0"/>
        <c:axPos val="l"/>
        <c:majorGridlines>
          <c:spPr>
            <a:ln>
              <a:solidFill>
                <a:srgbClr val="CCD6DE"/>
              </a:solidFill>
            </a:ln>
          </c:spPr>
        </c:majorGridlines>
        <c:title>
          <c:tx>
            <c:rich>
              <a:bodyPr/>
              <a:lstStyle/>
              <a:p>
                <a:r>
                  <a:rPr sz="800"/>
                  <a:t>N·m</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Deformation</c:v>
                </c:pt>
              </c:strCache>
            </c:strRef>
          </c:tx>
          <c:spPr>
            <a:solidFill>
              <a:srgbClr val="B37A30"/>
            </a:solidFill>
            <a:ln>
              <a:solidFill>
                <a:srgbClr val="B37A30"/>
              </a:solidFill>
            </a:ln>
          </c:spPr>
          <c:cat>
            <c:strRef>
              <c:f>Sheet1!$A$2:$A$3</c:f>
              <c:strCache>
                <c:ptCount val="2"/>
                <c:pt idx="0">
                  <c:v>NWC</c:v>
                </c:pt>
                <c:pt idx="1">
                  <c:v>LWC15</c:v>
                </c:pt>
              </c:strCache>
            </c:strRef>
          </c:cat>
          <c:val>
            <c:numRef>
              <c:f>Sheet1!$B$2:$B$3</c:f>
              <c:numCache>
                <c:formatCode>General</c:formatCode>
                <c:ptCount val="2"/>
                <c:pt idx="0">
                  <c:v>4.22</c:v>
                </c:pt>
                <c:pt idx="1">
                  <c:v>12.7</c:v>
                </c:pt>
              </c:numCache>
            </c:numRef>
          </c:val>
        </c:ser>
        <c:dLbls>
          <c:numFmt formatCode="0.0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15.0"/>
          <c:min val="0.0"/>
        </c:scaling>
        <c:delete val="0"/>
        <c:axPos val="l"/>
        <c:majorGridlines>
          <c:spPr>
            <a:ln>
              <a:solidFill>
                <a:srgbClr val="CCD6DE"/>
              </a:solidFill>
            </a:ln>
          </c:spPr>
        </c:majorGridlines>
        <c:title>
          <c:tx>
            <c:rich>
              <a:bodyPr/>
              <a:lstStyle/>
              <a:p>
                <a:r>
                  <a:rPr sz="800"/>
                  <a:t>mm</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OPENING — approximately 45 seconds</a:t>
            </a:r>
          </a:p>
          <a:p/>
          <a:p>
            <a:r>
              <a:rPr sz="1200" b="0" i="0">
                <a:solidFill>
                  <a:srgbClr val="202B33"/>
                </a:solidFill>
                <a:latin typeface="Aptos"/>
              </a:rPr>
              <a:t>• This presentation evaluates an experimentally reduced-to-practice material platform for impact-energy-dissipating crash barriers. It is not a legal patentability opinion.</a:t>
            </a:r>
          </a:p>
          <a:p>
            <a:r>
              <a:rPr sz="1200" b="0" i="0">
                <a:solidFill>
                  <a:srgbClr val="202B33"/>
                </a:solidFill>
                <a:latin typeface="Aptos"/>
              </a:rPr>
              <a:t>• The invention team is Haruna Al-Amir Saleh, Pratik Kanungo, Dr Anush K. Chandrappa and Prof Dinakar Pasla, School of Infrastructure, IIT Bhubaneswar.</a:t>
            </a:r>
          </a:p>
          <a:p>
            <a:r>
              <a:rPr sz="1200" b="0" i="0">
                <a:solidFill>
                  <a:srgbClr val="202B33"/>
                </a:solidFill>
                <a:latin typeface="Aptos"/>
              </a:rPr>
              <a:t>• The inventors confirm that the patent has not yet been filed. This is the pre-filing presentation to the IIT Bhubaneswar IPR section seeking approval to proceed with professional drafting and filing. A related manuscript was submitted on 18 July 2026, so confidentiality and disclosure timing are critical. Treat this deck accordingly: EXTERNAL REDACTED DRAFT • NOT FOR DISTRIBUTION BEFORE FILING • IITBBS IPR APPROVAL REQUIRED.</a:t>
            </a:r>
          </a:p>
          <a:p>
            <a:r>
              <a:rPr sz="1200" b="0" i="0">
                <a:solidFill>
                  <a:srgbClr val="202B33"/>
                </a:solidFill>
                <a:latin typeface="Aptos"/>
              </a:rPr>
              <a:t>• The central question is not whether the concrete is merely lighter. It is whether the tested combination creates a defensible, multi-mechanism improvement in energy absorption, post-cracking integrity and controlled damage while retaining structural-grade strength.</a:t>
            </a:r>
          </a:p>
          <a:p>
            <a:r>
              <a:rPr sz="1200" b="0" i="0">
                <a:solidFill>
                  <a:srgbClr val="202B33"/>
                </a:solidFill>
                <a:latin typeface="Aptos"/>
              </a:rPr>
              <a:t>• The presentation separates measured evidence from proposed occupant-safety benefit. Full-scale vehicle testing is still required before any claim of reduced occupant injury or standards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KEY MESSAGE — approximately 60 seconds</a:t>
            </a:r>
          </a:p>
          <a:p/>
          <a:p>
            <a:r>
              <a:rPr sz="1200" b="0" i="0">
                <a:solidFill>
                  <a:srgbClr val="202B33"/>
                </a:solidFill>
                <a:latin typeface="Aptos"/>
              </a:rPr>
              <a:t>• Lead with the evidence: relative to normal-weight concrete, the selected lightweight mixture has 19.4% lower reported density and 75.9% higher splitting tensile strength. In the repeated drop-weight prism test it absorbed 55.3 times the failure energy of NWC.</a:t>
            </a:r>
          </a:p>
          <a:p>
            <a:r>
              <a:rPr sz="1200" b="0" i="0">
                <a:solidFill>
                  <a:srgbClr val="202B33"/>
                </a:solidFill>
                <a:latin typeface="Aptos"/>
              </a:rPr>
              <a:t>• At the barrier scale, the one-third model absorbed twice the cumulative pendulum energy before failure and deformed approximately three times as much as the NWC model. That is the most application-relevant result, but it is preliminary because only one barrier per mix was tested.</a:t>
            </a:r>
          </a:p>
          <a:p>
            <a:r>
              <a:rPr sz="1200" b="0" i="0">
                <a:solidFill>
                  <a:srgbClr val="202B33"/>
                </a:solidFill>
                <a:latin typeface="Aptos"/>
              </a:rPr>
              <a:t>• The potentially protectable value is the integrated material architecture, crash-barrier application, dual energy-dissipation mechanism and demonstrated performance combination. Exact formulation and processing details are redacted from this version.</a:t>
            </a:r>
          </a:p>
          <a:p>
            <a:r>
              <a:rPr sz="1200" b="0" i="0">
                <a:solidFill>
                  <a:srgbClr val="202B33"/>
                </a:solidFill>
                <a:latin typeface="Aptos"/>
              </a:rPr>
              <a:t>• Commercially, the material can use conventional concrete/precast infrastructure. The cost per unit of laboratory impact energy is favourable, but no lifecycle cost analysis or environmental life-cycle assessment has yet been performed.</a:t>
            </a:r>
          </a:p>
          <a:p>
            <a:r>
              <a:rPr sz="1200" b="0" i="0">
                <a:solidFill>
                  <a:srgbClr val="202B33"/>
                </a:solidFill>
                <a:latin typeface="Aptos"/>
              </a:rPr>
              <a:t>• Do not state that occupant injury has been reduced. Say that the measured deformation and energy absorption support a hypothesis of lower force transmission that must be tested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GLOBAL CONTEXT — approximately 75 seconds</a:t>
            </a:r>
          </a:p>
          <a:p/>
          <a:p>
            <a:r>
              <a:rPr sz="1200" b="0" i="0">
                <a:solidFill>
                  <a:srgbClr val="202B33"/>
                </a:solidFill>
                <a:latin typeface="Aptos"/>
              </a:rPr>
              <a:t>• The global road-safety burden is about 1.19 million deaths annually. WHO estimates that 92% occur in low- and middle-income countries. The pie chart is a global dataset: 35% upper-middle, 44% lower-middle, 13% low-income and 8% high-income countries.</a:t>
            </a:r>
          </a:p>
          <a:p>
            <a:r>
              <a:rPr sz="1200" b="0" i="0">
                <a:solidFill>
                  <a:srgbClr val="202B33"/>
                </a:solidFill>
                <a:latin typeface="Aptos"/>
              </a:rPr>
              <a:t>• At the same time, construction operates at planetary material scale: UNEP estimates 50 billion tonnes of sand and gravel are used each year; USGS estimates about 4.0 billion tonnes of cement were produced in 2024, while IEA reports direct cement-emissions intensity just under 0.6 tonnes of CO₂ per tonne.</a:t>
            </a:r>
          </a:p>
          <a:p>
            <a:r>
              <a:rPr sz="1200" b="0" i="0">
                <a:solidFill>
                  <a:srgbClr val="202B33"/>
                </a:solidFill>
                <a:latin typeface="Aptos"/>
              </a:rPr>
              <a:t>• Coal combustion also generates more than one billion tonnes of fly ash annually by order of magnitude. Availability and specification vary regionally, so this figure supports the resource opportunity—not a guaranteed feedstock claim.</a:t>
            </a:r>
          </a:p>
          <a:p>
            <a:r>
              <a:rPr sz="1200" b="0" i="0">
                <a:solidFill>
                  <a:srgbClr val="202B33"/>
                </a:solidFill>
                <a:latin typeface="Aptos"/>
              </a:rPr>
              <a:t>• The invention sits at the intersection of three needs: safer roadside infrastructure, lower self-weight and virgin-aggregate demand, and productive use of industrial by-products.</a:t>
            </a:r>
          </a:p>
          <a:p>
            <a:r>
              <a:rPr sz="1200" b="0" i="0">
                <a:solidFill>
                  <a:srgbClr val="202B33"/>
                </a:solidFill>
                <a:latin typeface="Aptos"/>
              </a:rPr>
              <a:t>• Be explicit about the environmental boundary. The technology incorporates industrial by-product pathways, but aggregate processing and the reinforcing phase also carry embodied impacts; exact constituents are redacted. A comparative, region-specific LCA is required before claiming a net carbon reduction.</a:t>
            </a:r>
          </a:p>
          <a:p>
            <a:r>
              <a:rPr sz="1200" b="0" i="0">
                <a:solidFill>
                  <a:srgbClr val="202B33"/>
                </a:solidFill>
                <a:latin typeface="Aptos"/>
              </a:rPr>
              <a:t>• Transition: global need alone does not establish novelty. The next slide maps the prior-art trade space.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PRIOR ART AND DIFFERENTIATION — approximately 90 seconds</a:t>
            </a:r>
          </a:p>
          <a:p/>
          <a:p>
            <a:r>
              <a:rPr sz="1200" b="0" i="0">
                <a:solidFill>
                  <a:srgbClr val="202B33"/>
                </a:solidFill>
                <a:latin typeface="Aptos"/>
              </a:rPr>
              <a:t>• Conventional rigid concrete barriers are mature and effective for containment, but their low deflection can create a severe vehicle pulse, and brittle damage can generate debris under severe impact.</a:t>
            </a:r>
          </a:p>
          <a:p>
            <a:r>
              <a:rPr sz="1200" b="0" i="0">
                <a:solidFill>
                  <a:srgbClr val="202B33"/>
                </a:solidFill>
                <a:latin typeface="Aptos"/>
              </a:rPr>
              <a:t>• Flexible and semi-rigid systems dissipate energy through global deflection, but require working width and post-impact repair. Rubberised, UHPC and ECC concepts each solve part of the problem, while introducing strength, cost, stiffness or processing trade-offs.</a:t>
            </a:r>
          </a:p>
          <a:p>
            <a:r>
              <a:rPr sz="1200" b="0" i="0">
                <a:solidFill>
                  <a:srgbClr val="202B33"/>
                </a:solidFill>
                <a:latin typeface="Aptos"/>
              </a:rPr>
              <a:t>• A critical patentability point: prior conference literature includes lightweight concrete road-safety barrier concepts—for example Bonin and co-authors at the 2004 SIIV congress. Therefore, do not rely on a sweeping “first lightweight barrier” proposition.</a:t>
            </a:r>
          </a:p>
          <a:p>
            <a:r>
              <a:rPr sz="1200" b="0" i="0">
                <a:solidFill>
                  <a:srgbClr val="202B33"/>
                </a:solidFill>
                <a:latin typeface="Aptos"/>
              </a:rPr>
              <a:t>• The narrower differentiation thesis is the protected integrated architecture, its crash-barrier use and the measured combination of structural strength, lower reported density, post-cracking impact resistance and controlled damage. Exact formulation details are intentionally omitted from this version.</a:t>
            </a:r>
          </a:p>
          <a:p>
            <a:r>
              <a:rPr sz="1200" b="0" i="0">
                <a:solidFill>
                  <a:srgbClr val="202B33"/>
                </a:solidFill>
                <a:latin typeface="Aptos"/>
              </a:rPr>
              <a:t>• The literature and patent searches documented by the inventors are preliminary. A professional claim-by-claim patentability and freedom-to-operate search is still required, including material-platform, manufacturing, barrier-article and system-use claims.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MECHANISM — approximately 80 seconds</a:t>
            </a:r>
          </a:p>
          <a:p/>
          <a:p>
            <a:r>
              <a:rPr sz="1200" b="0" i="0">
                <a:solidFill>
                  <a:srgbClr val="202B33"/>
                </a:solidFill>
                <a:latin typeface="Aptos"/>
              </a:rPr>
              <a:t>• The concept intentionally combines three functions. First, a porous lightweight phase can crush locally and contribute internal damping. Second, a discrete crack-bridging phase dissipates energy through progressive debonding, friction and pull-out. Third, a structural matrix maintains the load path. Exact constituent identity and proportions are redacted.</a:t>
            </a:r>
          </a:p>
          <a:p>
            <a:r>
              <a:rPr sz="1200" b="0" i="0">
                <a:solidFill>
                  <a:srgbClr val="202B33"/>
                </a:solidFill>
                <a:latin typeface="Aptos"/>
              </a:rPr>
              <a:t>• The expected sequence is crack initiation, distributed bridging and controlled deformation, followed by progressive internal energy dissipation and improved residual integrity.</a:t>
            </a:r>
          </a:p>
          <a:p>
            <a:r>
              <a:rPr sz="1200" b="0" i="0">
                <a:solidFill>
                  <a:srgbClr val="202B33"/>
                </a:solidFill>
                <a:latin typeface="Aptos"/>
              </a:rPr>
              <a:t>• This mechanism is consistent with published composite-material literature, but the invention’s value proposition is the protected integration and crash-barrier application supported by the experimental results.</a:t>
            </a:r>
          </a:p>
          <a:p>
            <a:r>
              <a:rPr sz="1200" b="0" i="0">
                <a:solidFill>
                  <a:srgbClr val="202B33"/>
                </a:solidFill>
                <a:latin typeface="Aptos"/>
              </a:rPr>
              <a:t>• Phrase the final outcome carefully. The experiments demonstrate increased specimen deformation and cumulative absorbed energy. They do not directly demonstrate a lower peak vehicle force, reduced ASI or reduced occupant injury. Those remain mechanistically plausible validation targets.</a:t>
            </a:r>
          </a:p>
          <a:p>
            <a:r>
              <a:rPr sz="1200" b="0" i="0">
                <a:solidFill>
                  <a:srgbClr val="202B33"/>
                </a:solidFill>
                <a:latin typeface="Aptos"/>
              </a:rPr>
              <a:t>• This redacted version should not be used to disclose formulation ranges or process controls. Release detailed claim-enabling information only after filing and IITBBS IP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EXPERIMENTAL LOGIC — approximately 75 seconds</a:t>
            </a:r>
          </a:p>
          <a:p/>
          <a:p>
            <a:r>
              <a:rPr sz="1200" b="0" i="0">
                <a:solidFill>
                  <a:srgbClr val="202B33"/>
                </a:solidFill>
                <a:latin typeface="Aptos"/>
              </a:rPr>
              <a:t>• The evidence was built in five layers: constituent characterization, mixture screening, static mechanical tests, repeated drop-weight impact testing and a one-third-scale barrier comparison.</a:t>
            </a:r>
          </a:p>
          <a:p>
            <a:r>
              <a:rPr sz="1200" b="0" i="0">
                <a:solidFill>
                  <a:srgbClr val="202B33"/>
                </a:solidFill>
                <a:latin typeface="Aptos"/>
              </a:rPr>
              <a:t>• Four lightweight variants with progressively increasing crack-bridging reinforcement were evaluated alongside an M40 normal-weight reference; exact proportions are redacted.</a:t>
            </a:r>
          </a:p>
          <a:p>
            <a:r>
              <a:rPr sz="1200" b="0" i="0">
                <a:solidFill>
                  <a:srgbClr val="202B33"/>
                </a:solidFill>
                <a:latin typeface="Aptos"/>
              </a:rPr>
              <a:t>• Static tests provide the strength and density boundary. The repeated impact test provides the key post-cracking energy evidence. Acceleration signals were processed to derive displacement. The selected highest-performing mixture was then used in a New Jersey barrier model and compared with NWC.</a:t>
            </a:r>
          </a:p>
          <a:p>
            <a:r>
              <a:rPr sz="1200" b="0" i="0">
                <a:solidFill>
                  <a:srgbClr val="202B33"/>
                </a:solidFill>
                <a:latin typeface="Aptos"/>
              </a:rPr>
              <a:t>• This is a coherent reduction-to-practice chain and is valuable for enablement. However, the uncertainty reporting is incomplete. The article states that three cubes, three cylinders and four beams were cast per mix, but the impact result tables do not provide N1/N2 dispersion. Only one NWC and one selected lightweight barrier were cast.</a:t>
            </a:r>
          </a:p>
          <a:p>
            <a:r>
              <a:rPr sz="1200" b="0" i="0">
                <a:solidFill>
                  <a:srgbClr val="202B33"/>
                </a:solidFill>
                <a:latin typeface="Aptos"/>
              </a:rPr>
              <a:t>• The deck therefore uses measured ratios as experimental observations—not as statistically generalized performance guarantees.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TESTED EMBODIMENTS — approximately 60 seconds</a:t>
            </a:r>
          </a:p>
          <a:p/>
          <a:p>
            <a:r>
              <a:rPr sz="1200" b="0" i="0">
                <a:solidFill>
                  <a:srgbClr val="202B33"/>
                </a:solidFill>
                <a:latin typeface="Aptos"/>
              </a:rPr>
              <a:t>• The programme compares a normal-weight structural reference, an unreinforced lightweight control and three progressively reinforced lightweight variants.</a:t>
            </a:r>
          </a:p>
          <a:p>
            <a:r>
              <a:rPr sz="1200" b="0" i="0">
                <a:solidFill>
                  <a:srgbClr val="202B33"/>
                </a:solidFill>
                <a:latin typeface="Aptos"/>
              </a:rPr>
              <a:t>• The highest-performing tested variant was selected for the barrier comparison because it maximized repeated-impact endurance and laboratory cost per unit of absorbed energy while maintaining strength above M40.</a:t>
            </a:r>
          </a:p>
          <a:p>
            <a:r>
              <a:rPr sz="1200" b="0" i="0">
                <a:solidFill>
                  <a:srgbClr val="202B33"/>
                </a:solidFill>
                <a:latin typeface="Aptos"/>
              </a:rPr>
              <a:t>• Exact material identities, dosages, moisture-conditioning protocol, mixing sequence and quality-control limits are intentionally excluded from this external version.</a:t>
            </a:r>
          </a:p>
          <a:p>
            <a:r>
              <a:rPr sz="1200" b="0" i="0">
                <a:solidFill>
                  <a:srgbClr val="202B33"/>
                </a:solidFill>
                <a:latin typeface="Aptos"/>
              </a:rPr>
              <a:t>• The source alternates between “wet” and “dry” density; the deck therefore uses the neutral phrase “reported density.”</a:t>
            </a:r>
          </a:p>
          <a:p>
            <a:r>
              <a:rPr sz="1200" b="0" i="0">
                <a:solidFill>
                  <a:srgbClr val="202B33"/>
                </a:solidFill>
                <a:latin typeface="Aptos"/>
              </a:rPr>
              <a:t>• Do not provide the internal formulation table or related speaker notes to an external audience until the patent filing is complete and IITBBS IP approval is documented.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STATIC RESULTS — approximately 75 seconds</a:t>
            </a:r>
          </a:p>
          <a:p/>
          <a:p>
            <a:r>
              <a:rPr sz="1200" b="0" i="0">
                <a:solidFill>
                  <a:srgbClr val="202B33"/>
                </a:solidFill>
                <a:latin typeface="Aptos"/>
              </a:rPr>
              <a:t>• The material clears the first gate: all mixtures are reported above the M40 target used for rigid crash barriers in the source.</a:t>
            </a:r>
          </a:p>
          <a:p>
            <a:r>
              <a:rPr sz="1200" b="0" i="0">
                <a:solidFill>
                  <a:srgbClr val="202B33"/>
                </a:solidFill>
                <a:latin typeface="Aptos"/>
              </a:rPr>
              <a:t>• The selected LWC15 mixture has a reported density of 1,987 kg per cubic metre versus 2,466 for NWC—a 19.4% reduction. Because the manuscript alternates between wet and dry density, describe this as the reported value until the test basis is confirmed.</a:t>
            </a:r>
          </a:p>
          <a:p>
            <a:r>
              <a:rPr sz="1200" b="0" i="0">
                <a:solidFill>
                  <a:srgbClr val="202B33"/>
                </a:solidFill>
                <a:latin typeface="Aptos"/>
              </a:rPr>
              <a:t>• Compressive strength is not the main source of the impact benefit, but it is preserved. LWC10 has the maximum measured value at 56.8 MPa; LWC15 remains at 55.4 MPa, 11.7% above NWC.</a:t>
            </a:r>
          </a:p>
          <a:p>
            <a:r>
              <a:rPr sz="1200" b="0" i="0">
                <a:solidFill>
                  <a:srgbClr val="202B33"/>
                </a:solidFill>
                <a:latin typeface="Aptos"/>
              </a:rPr>
              <a:t>• The more important shift is tensile: LWC15 reaches 7.60 MPa versus 4.32 MPa for NWC, a 75.9% increase. This supports crack bridging and post-cracking integrity.</a:t>
            </a:r>
          </a:p>
          <a:p>
            <a:r>
              <a:rPr sz="1200" b="0" i="0">
                <a:solidFill>
                  <a:srgbClr val="202B33"/>
                </a:solidFill>
                <a:latin typeface="Aptos"/>
              </a:rPr>
              <a:t>• The manufacturing trade-off is workability. Slump decreases to 87 mm at the highest fibre content. Mixing energy, fibre addition rate, moisture condition and compaction therefore belong in the process know-how and quality-control package.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REPEATED-IMPACT METHOD — approximately 75 seconds</a:t>
            </a:r>
          </a:p>
          <a:p/>
          <a:p>
            <a:r>
              <a:rPr sz="1200" b="0" i="0">
                <a:solidFill>
                  <a:srgbClr val="202B33"/>
                </a:solidFill>
                <a:latin typeface="Aptos"/>
              </a:rPr>
              <a:t>• The prism test uses a 13.5-kilogram hammer dropped 100 millimetres onto a simply supported 100-by-100-by-500-millimetre beam. Each impact supplies approximately 13.24 joules.</a:t>
            </a:r>
          </a:p>
          <a:p>
            <a:r>
              <a:rPr sz="1200" b="0" i="0">
                <a:solidFill>
                  <a:srgbClr val="202B33"/>
                </a:solidFill>
                <a:latin typeface="Aptos"/>
              </a:rPr>
              <a:t>• N1 is the number of blows to the first visible crack; N2 is the number to complete failure. Multiplying the counts by mgh gives first-crack and failure energy.</a:t>
            </a:r>
          </a:p>
          <a:p>
            <a:r>
              <a:rPr sz="1200" b="0" i="0">
                <a:solidFill>
                  <a:srgbClr val="202B33"/>
                </a:solidFill>
                <a:latin typeface="Aptos"/>
              </a:rPr>
              <a:t>• This test is especially useful for the invention because the differentiating mechanism is expected after cracking. The gap N2 minus N1 is a direct, if simplified, indicator of residual post-cracking endurance.</a:t>
            </a:r>
          </a:p>
          <a:p>
            <a:r>
              <a:rPr sz="1200" b="0" i="0">
                <a:solidFill>
                  <a:srgbClr val="202B33"/>
                </a:solidFill>
                <a:latin typeface="Aptos"/>
              </a:rPr>
              <a:t>• An accelerometer recorded the first-impact response. The manuscript describes linear detrending, a fourth-order zero-phase Butterworth high-pass filter at 3 hertz, trapezoidal integration, drift correction and a second integration to derive displacement.</a:t>
            </a:r>
          </a:p>
          <a:p>
            <a:r>
              <a:rPr sz="1200" b="0" i="0">
                <a:solidFill>
                  <a:srgbClr val="202B33"/>
                </a:solidFill>
                <a:latin typeface="Aptos"/>
              </a:rPr>
              <a:t>• This is technically stronger than relying only on compressive strength. However, repeated low-velocity drop-weight tests are screening tests—not a substitute for a full-scale oblique vehicle–barrier crash under MASH, EN 1317 or the applicable IRC protocol.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PRISM IMPACT RESULTS — approximately 80 seconds</a:t>
            </a:r>
          </a:p>
          <a:p/>
          <a:p>
            <a:r>
              <a:rPr sz="1200" b="0" i="0">
                <a:solidFill>
                  <a:srgbClr val="202B33"/>
                </a:solidFill>
                <a:latin typeface="Aptos"/>
              </a:rPr>
              <a:t>• Plain lightweight concrete is more brittle than NWC in this test: LWC00 fails after two blows and absorbs 26.49 newton-metres.</a:t>
            </a:r>
          </a:p>
          <a:p>
            <a:r>
              <a:rPr sz="1200" b="0" i="0">
                <a:solidFill>
                  <a:srgbClr val="202B33"/>
                </a:solidFill>
                <a:latin typeface="Aptos"/>
              </a:rPr>
              <a:t>• Progressive crack-bridging reinforcement changes the response nonlinearly. The three reinforced variants reach 264.9, 596.0 and 2,927.8 newton-metres at failure, respectively.</a:t>
            </a:r>
          </a:p>
          <a:p>
            <a:r>
              <a:rPr sz="1200" b="0" i="0">
                <a:solidFill>
                  <a:srgbClr val="202B33"/>
                </a:solidFill>
                <a:latin typeface="Aptos"/>
              </a:rPr>
              <a:t>• Relative to NWC, LWC15 absorbs 55.3 times the cumulative failure energy. Relative to the plain lightweight control, the factor is 110.5. These very large ratios are driven by post-cracking endurance rather than a comparable increase in compressive strength.</a:t>
            </a:r>
          </a:p>
          <a:p>
            <a:r>
              <a:rPr sz="1200" b="0" i="0">
                <a:solidFill>
                  <a:srgbClr val="202B33"/>
                </a:solidFill>
                <a:latin typeface="Aptos"/>
              </a:rPr>
              <a:t>• LWC15 cracks after 35 blows but does not fail until 221 blows, leaving 186 blows in the post-cracking phase. This directly supports the crack-bridging and fibre pull-out mechanism.</a:t>
            </a:r>
          </a:p>
          <a:p>
            <a:r>
              <a:rPr sz="1200" b="0" i="0">
                <a:solidFill>
                  <a:srgbClr val="202B33"/>
                </a:solidFill>
                <a:latin typeface="Aptos"/>
              </a:rPr>
              <a:t>• Use the magnitude as strong experimental evidence, but avoid implying a universal material factor. The table does not report dispersion for N1 and N2, and drop-weight impact counts often show high variability. Repeat testing with raw specimen-level data and a suitable statistical model should be a next-step validation task.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DEFORMATION AND MECHANISM — approximately 75 seconds</a:t>
            </a:r>
          </a:p>
          <a:p/>
          <a:p>
            <a:r>
              <a:rPr sz="1200" b="0" i="0">
                <a:solidFill>
                  <a:srgbClr val="202B33"/>
                </a:solidFill>
                <a:latin typeface="Aptos"/>
              </a:rPr>
              <a:t>• Peak displacement after the first impact rises sharply with reinforcement. The intermediate high-reinforcement variant reaches 0.85 millimetres and the selected variant reaches 0.71, compared with 0.28 for NWC and only 0.08 for plain LWC.</a:t>
            </a:r>
          </a:p>
          <a:p>
            <a:r>
              <a:rPr sz="1200" b="0" i="0">
                <a:solidFill>
                  <a:srgbClr val="202B33"/>
                </a:solidFill>
                <a:latin typeface="Aptos"/>
              </a:rPr>
              <a:t>• The lower displacement of plain LWC should not be interpreted as superior stiffness. In the context of its immediate failure, it indicates a brittle, low-deformation response.</a:t>
            </a:r>
          </a:p>
          <a:p>
            <a:r>
              <a:rPr sz="1200" b="0" i="0">
                <a:solidFill>
                  <a:srgbClr val="202B33"/>
                </a:solidFill>
                <a:latin typeface="Aptos"/>
              </a:rPr>
              <a:t>• The selected variant is slightly less deformable than the preceding variant on the first impact, plausibly because the denser reinforcement network increases stiffness. Yet it has vastly greater repeated-impact endurance. First-impact displacement and cumulative post-cracking toughness are different response dimensions.</a:t>
            </a:r>
          </a:p>
          <a:p>
            <a:r>
              <a:rPr sz="1200" b="0" i="0">
                <a:solidFill>
                  <a:srgbClr val="202B33"/>
                </a:solidFill>
                <a:latin typeface="Aptos"/>
              </a:rPr>
              <a:t>• The protected material mechanism couples local crushing in an energy-absorbing phase with bridging, debonding and frictional pull-out in a reinforcing phase. Constituent identity and proportions remain redacted.</a:t>
            </a:r>
          </a:p>
          <a:p>
            <a:r>
              <a:rPr sz="1200" b="0" i="0">
                <a:solidFill>
                  <a:srgbClr val="202B33"/>
                </a:solidFill>
                <a:latin typeface="Aptos"/>
              </a:rPr>
              <a:t>• The source supplies standard deviations for displacement; a future analysis should present full time histories, filtering sensitivity, uncertainty bands and independent displacement verification, because double integration of acceleration is sensitive to drift and cutoff selection.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TECHNO-ECONOMIC RESULT — approximately 80 seconds</a:t>
            </a:r>
          </a:p>
          <a:p/>
          <a:p>
            <a:r>
              <a:rPr sz="1200" b="0" i="0">
                <a:solidFill>
                  <a:srgbClr val="202B33"/>
                </a:solidFill>
                <a:latin typeface="Aptos"/>
              </a:rPr>
              <a:t>• The selected lightweight variant is not the cheapest concrete. Its inventor-estimated material cost is about 16,192 rupees per cubic metre, 3.27 times NWC, primarily because of the high reinforcement dosage.</a:t>
            </a:r>
          </a:p>
          <a:p>
            <a:r>
              <a:rPr sz="1200" b="0" i="0">
                <a:solidFill>
                  <a:srgbClr val="202B33"/>
                </a:solidFill>
                <a:latin typeface="Aptos"/>
              </a:rPr>
              <a:t>• The relevant engineering denominator is failure energy. When the reported prism impact capacity is included, LWC15 costs 5.53 rupees per newton-metre versus 93.36 for NWC—about 16.9 times better on this laboratory metric.</a:t>
            </a:r>
          </a:p>
          <a:p>
            <a:r>
              <a:rPr sz="1200" b="0" i="0">
                <a:solidFill>
                  <a:srgbClr val="202B33"/>
                </a:solidFill>
                <a:latin typeface="Aptos"/>
              </a:rPr>
              <a:t>• This supports selection of LWC15 for the barrier test and creates a compelling value narrative: pay more per unit volume, receive substantially more post-cracking impact capacity.</a:t>
            </a:r>
          </a:p>
          <a:p>
            <a:r>
              <a:rPr sz="1200" b="0" i="0">
                <a:solidFill>
                  <a:srgbClr val="202B33"/>
                </a:solidFill>
                <a:latin typeface="Aptos"/>
              </a:rPr>
              <a:t>• Keep the boundary explicit. This is not a full barrier cost, lifecycle cost or cost-benefit analysis. It omits reinforcement, formwork, labour, transport, curing, installation, repair frequency, downtime and uncertainty. Prices are local and time-specific.</a:t>
            </a:r>
          </a:p>
          <a:p>
            <a:r>
              <a:rPr sz="1200" b="0" i="0">
                <a:solidFill>
                  <a:srgbClr val="202B33"/>
                </a:solidFill>
                <a:latin typeface="Aptos"/>
              </a:rPr>
              <a:t>• The commercial study should therefore compare complete installed systems and include lower transport mass, bridge-deck dead load, expected repair after impact, quality-control cost, industrial-aggregate logistics and any savings from modular precast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SCALED BARRIER TEST — approximately 80 seconds</a:t>
            </a:r>
          </a:p>
          <a:p/>
          <a:p>
            <a:r>
              <a:rPr sz="1200" b="0" i="0">
                <a:solidFill>
                  <a:srgbClr val="202B33"/>
                </a:solidFill>
                <a:latin typeface="Aptos"/>
              </a:rPr>
              <a:t>• To move beyond material coupons, the team fabricated one-third-scale New Jersey-profile barriers using NWC and the selected LWC15 mixture.</a:t>
            </a:r>
          </a:p>
          <a:p>
            <a:r>
              <a:rPr sz="1200" b="0" i="0">
                <a:solidFill>
                  <a:srgbClr val="202B33"/>
                </a:solidFill>
                <a:latin typeface="Aptos"/>
              </a:rPr>
              <a:t>• The dimensions were reduced by a factor of three, and a pendulum rig applied repeated impact at mid-height. The impactor mass was 40 kilograms, the vertical rise 0.35 metres and the energy approximately 137.3 joules per blow.</a:t>
            </a:r>
          </a:p>
          <a:p>
            <a:r>
              <a:rPr sz="1200" b="0" i="0">
                <a:solidFill>
                  <a:srgbClr val="202B33"/>
                </a:solidFill>
                <a:latin typeface="Aptos"/>
              </a:rPr>
              <a:t>• An accelerometer on the rear face captured the response for the same filtering and integration workflow used in the beam tests.</a:t>
            </a:r>
          </a:p>
          <a:p>
            <a:r>
              <a:rPr sz="1200" b="0" i="0">
                <a:solidFill>
                  <a:srgbClr val="202B33"/>
                </a:solidFill>
                <a:latin typeface="Aptos"/>
              </a:rPr>
              <a:t>• This experiment is valuable as an application-scale proof of concept and supports reduction to practice. It also provides comparative failure patterns and cumulative impact energy.</a:t>
            </a:r>
          </a:p>
          <a:p>
            <a:r>
              <a:rPr sz="1200" b="0" i="0">
                <a:solidFill>
                  <a:srgbClr val="202B33"/>
                </a:solidFill>
                <a:latin typeface="Aptos"/>
              </a:rPr>
              <a:t>• It is not a standards-compliant crash test. Geometric similarity alone does not guarantee similitude of strain rate, fracture, reinforcement bond, contact, mass, velocity and gravity effects. The specimen was restrained, and there was no vehicle to evaluate containment, redirection, wheel climb, rollover, occupant compartment intrusion, ASI or THIV.</a:t>
            </a:r>
          </a:p>
          <a:p>
            <a:r>
              <a:rPr sz="1200" b="0" i="0">
                <a:solidFill>
                  <a:srgbClr val="202B33"/>
                </a:solidFill>
                <a:latin typeface="Aptos"/>
              </a:rPr>
              <a:t>• Also note the sample size: one barrier per material. Treat the result as preliminary but decision-relevant.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BARRIER RESULTS — approximately 90 seconds</a:t>
            </a:r>
          </a:p>
          <a:p/>
          <a:p>
            <a:r>
              <a:rPr sz="1200" b="0" i="0">
                <a:solidFill>
                  <a:srgbClr val="202B33"/>
                </a:solidFill>
                <a:latin typeface="Aptos"/>
              </a:rPr>
              <a:t>• The application-scale result points in the same direction as the prism tests. The NWC barrier failed after 10 blows and 1,373 newton-metres; LWC15 reached 20 blows and 2,746 newton-metres—exactly twice the cumulative impact energy in the reported setup.</a:t>
            </a:r>
          </a:p>
          <a:p>
            <a:r>
              <a:rPr sz="1200" b="0" i="0">
                <a:solidFill>
                  <a:srgbClr val="202B33"/>
                </a:solidFill>
                <a:latin typeface="Aptos"/>
              </a:rPr>
              <a:t>• Peak deformation increased from 4.22 to 12.70 millimetres, a factor of approximately 3.01. Controlled deformation is consistent with the intended energy-dissipation philosophy.</a:t>
            </a:r>
          </a:p>
          <a:p>
            <a:r>
              <a:rPr sz="1200" b="0" i="0">
                <a:solidFill>
                  <a:srgbClr val="202B33"/>
                </a:solidFill>
                <a:latin typeface="Aptos"/>
              </a:rPr>
              <a:t>• The failure photographs show a broader, more brittle crack and large localized fragments in NWC, while LWC15 exhibits a narrower crack path and finer, more distributed debris after more impacts.</a:t>
            </a:r>
          </a:p>
          <a:p>
            <a:r>
              <a:rPr sz="1200" b="0" i="0">
                <a:solidFill>
                  <a:srgbClr val="202B33"/>
                </a:solidFill>
                <a:latin typeface="Aptos"/>
              </a:rPr>
              <a:t>• That fragmentation finding is qualitative. A stronger patent and commercialization evidence package should sieve and weigh debris, map crack width and density, measure ejection velocity, and assess residual load capacity after prescribed impacts.</a:t>
            </a:r>
          </a:p>
          <a:p>
            <a:r>
              <a:rPr sz="1200" b="0" i="0">
                <a:solidFill>
                  <a:srgbClr val="202B33"/>
                </a:solidFill>
                <a:latin typeface="Aptos"/>
              </a:rPr>
              <a:t>• Because n equals one per mix, do not attach confidence intervals or claim a guaranteed two-times product performance. State that the single comparative barrier experiment reproduced the direction of the material-level benefit and justifies replicated/full-scale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EVIDENCE-TO-VALUE MAP — approximately 75 seconds</a:t>
            </a:r>
          </a:p>
          <a:p/>
          <a:p>
            <a:r>
              <a:rPr sz="1200" b="0" i="0">
                <a:solidFill>
                  <a:srgbClr val="202B33"/>
                </a:solidFill>
                <a:latin typeface="Aptos"/>
              </a:rPr>
              <a:t>• This slide separates measured performance from the protectable value categories that may be relevant after filing.</a:t>
            </a:r>
          </a:p>
          <a:p>
            <a:r>
              <a:rPr sz="1200" b="0" i="0">
                <a:solidFill>
                  <a:srgbClr val="202B33"/>
                </a:solidFill>
                <a:latin typeface="Aptos"/>
              </a:rPr>
              <a:t>• Static strength, tensile resistance, repeated-impact energy, scaled-barrier response and observed damage control together support a coherent technology platform.</a:t>
            </a:r>
          </a:p>
          <a:p>
            <a:r>
              <a:rPr sz="1200" b="0" i="0">
                <a:solidFill>
                  <a:srgbClr val="202B33"/>
                </a:solidFill>
                <a:latin typeface="Aptos"/>
              </a:rPr>
              <a:t>• The barrier result remains preliminary because only one barrier per material was tested and no standards-compliant vehicle test was performed.</a:t>
            </a:r>
          </a:p>
          <a:p>
            <a:r>
              <a:rPr sz="1200" b="0" i="0">
                <a:solidFill>
                  <a:srgbClr val="202B33"/>
                </a:solidFill>
                <a:latin typeface="Aptos"/>
              </a:rPr>
              <a:t>• Detailed composition ranges, processing parameters, conditioning controls and claim fallbacks are intentionally excluded from this external presentation.</a:t>
            </a:r>
          </a:p>
          <a:p>
            <a:r>
              <a:rPr sz="1200" b="0" i="0">
                <a:solidFill>
                  <a:srgbClr val="202B33"/>
                </a:solidFill>
                <a:latin typeface="Aptos"/>
              </a:rPr>
              <a:t>• Do not answer external questions about formulation or manufacturing specifics from memory. Refer them to the IITBBS technology-transfer/IP team after filing and approval.</a:t>
            </a:r>
          </a:p>
          <a:p>
            <a:r>
              <a:rPr sz="1200" b="0" i="0">
                <a:solidFill>
                  <a:srgbClr val="202B33"/>
                </a:solidFill>
                <a:latin typeface="Aptos"/>
              </a:rPr>
              <a:t>• The claim/value structure shown here is a technical communication aid, not legal advice or a patentability assurance.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TRANSLATION ROADMAP — approximately 90 seconds</a:t>
            </a:r>
          </a:p>
          <a:p/>
          <a:p>
            <a:r>
              <a:rPr sz="1200" b="0" i="0">
                <a:solidFill>
                  <a:srgbClr val="202B33"/>
                </a:solidFill>
                <a:latin typeface="Aptos"/>
              </a:rPr>
              <a:t>• The immediate action is protection: reconcile the technical record, complete professional searching and file before any publication, conference presentation, industry pitch or external distribution.</a:t>
            </a:r>
          </a:p>
          <a:p>
            <a:r>
              <a:rPr sz="1200" b="0" i="0">
                <a:solidFill>
                  <a:srgbClr val="202B33"/>
                </a:solidFill>
                <a:latin typeface="Aptos"/>
              </a:rPr>
              <a:t>• In the first six months, repeat the key tests with specimen-level data, quantify uncertainty, resolve the method and density conflicts, replicate barrier specimens and turn fragmentation into a measured particle-size, mass and velocity dataset.</a:t>
            </a:r>
          </a:p>
          <a:p>
            <a:r>
              <a:rPr sz="1200" b="0" i="0">
                <a:solidFill>
                  <a:srgbClr val="202B33"/>
                </a:solidFill>
                <a:latin typeface="Aptos"/>
              </a:rPr>
              <a:t>• In parallel, calibrate an LS-DYNA or ABAQUS vehicle–barrier model against the experiments, and add durability, corrosion, environmental exposure, repeated-impact and repairability studies.</a:t>
            </a:r>
          </a:p>
          <a:p>
            <a:r>
              <a:rPr sz="1200" b="0" i="0">
                <a:solidFill>
                  <a:srgbClr val="202B33"/>
                </a:solidFill>
                <a:latin typeface="Aptos"/>
              </a:rPr>
              <a:t>• The decisive commercialization gate is a full-scale vehicle crash conducted to the required jurisdictional standard. It must evaluate containment, redirection, stability, debris, occupant compartment performance and occupant-risk measures such as ASI or THIV where applicable.</a:t>
            </a:r>
          </a:p>
          <a:p>
            <a:r>
              <a:rPr sz="1200" b="0" i="0">
                <a:solidFill>
                  <a:srgbClr val="202B33"/>
                </a:solidFill>
                <a:latin typeface="Aptos"/>
              </a:rPr>
              <a:t>• A pilot then needs precast quality controls and protected material/process acceptance limits, a full installed-system cost model and comparative LCA.</a:t>
            </a:r>
          </a:p>
          <a:p>
            <a:r>
              <a:rPr sz="1200" b="0" i="0">
                <a:solidFill>
                  <a:srgbClr val="202B33"/>
                </a:solidFill>
                <a:latin typeface="Aptos"/>
              </a:rPr>
              <a:t>• Candidate partners listed by the inventors include CRRI, MoRTH/NHAI, state PWDs, precast manufacturers, barrier suppliers and major infrastructure contractors.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CLOSE — approximately 60 seconds</a:t>
            </a:r>
          </a:p>
          <a:p/>
          <a:p>
            <a:r>
              <a:rPr sz="1200" b="0" i="0">
                <a:solidFill>
                  <a:srgbClr val="202B33"/>
                </a:solidFill>
                <a:latin typeface="Aptos"/>
              </a:rPr>
              <a:t>• The recommendation to the IIT Bhubaneswar IPR section is to approve proceeding with a focused patent filing. The team has reduced the concept to practice and demonstrated a distinctive combination of lower reported density, retained structural strength, major repeated-impact endurance and a positive one-third-scale barrier result.</a:t>
            </a:r>
          </a:p>
          <a:p>
            <a:r>
              <a:rPr sz="1200" b="0" i="0">
                <a:solidFill>
                  <a:srgbClr val="202B33"/>
                </a:solidFill>
                <a:latin typeface="Aptos"/>
              </a:rPr>
              <a:t>• The evidence does not yet support a certified occupant-safety claim. The commercial release gate must be a full-scale standards-compliant vehicle test with occupant-risk, containment, redirection, stability and debris criteria.</a:t>
            </a:r>
          </a:p>
          <a:p>
            <a:r>
              <a:rPr sz="1200" b="0" i="0">
                <a:solidFill>
                  <a:srgbClr val="202B33"/>
                </a:solidFill>
                <a:latin typeface="Aptos"/>
              </a:rPr>
              <a:t>• Four IPR decisions are requested: approve professional prior-art searching, drafting and filing; maintain confidentiality and coordinate manuscript release; endorse a staged validation programme; and enable controlled engagement with crash-test and precast partners.</a:t>
            </a:r>
          </a:p>
          <a:p>
            <a:r>
              <a:rPr sz="1200" b="0" i="0">
                <a:solidFill>
                  <a:srgbClr val="202B33"/>
                </a:solidFill>
                <a:latin typeface="Aptos"/>
              </a:rPr>
              <a:t>• The claim strategy should protect the integrated platform rather than a single recipe: material composition and ranges, process controls, a barrier article, and the use/performance relationship where legally enabled.</a:t>
            </a:r>
          </a:p>
          <a:p>
            <a:r>
              <a:rPr sz="1200" b="0" i="0">
                <a:solidFill>
                  <a:srgbClr val="202B33"/>
                </a:solidFill>
                <a:latin typeface="Aptos"/>
              </a:rPr>
              <a:t>• Final line: approve protection now, validate the occupant benefit next, and commercialize only after the full-scale safety gate is passed.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REFERENCE SLIDE — do not normally read aloud.</a:t>
            </a:r>
          </a:p>
          <a:p/>
          <a:p>
            <a:r>
              <a:rPr sz="1200" b="0" i="0">
                <a:solidFill>
                  <a:srgbClr val="202B33"/>
                </a:solidFill>
                <a:latin typeface="Aptos"/>
              </a:rPr>
              <a:t>• These are the primary inventor documents, global datasets and design/test standards used in the presentation.</a:t>
            </a:r>
          </a:p>
          <a:p>
            <a:r>
              <a:rPr sz="1200" b="0" i="0">
                <a:solidFill>
                  <a:srgbClr val="202B33"/>
                </a:solidFill>
                <a:latin typeface="Aptos"/>
              </a:rPr>
              <a:t>• The inventor manuscript is not represented as published or peer reviewed. It is identified as an inventor-supplied manuscript submitted on 18 July 2026.</a:t>
            </a:r>
          </a:p>
          <a:p>
            <a:r>
              <a:rPr sz="1200" b="0" i="0">
                <a:solidFill>
                  <a:srgbClr val="202B33"/>
                </a:solidFill>
                <a:latin typeface="Aptos"/>
              </a:rPr>
              <a:t>• The WHO global road-death distribution, UNEP materials estimate, USGS cement-production estimate and IEA cement-emissions context are independently sourced.</a:t>
            </a:r>
          </a:p>
          <a:p>
            <a:r>
              <a:rPr sz="1200" b="0" i="0">
                <a:solidFill>
                  <a:srgbClr val="202B33"/>
                </a:solidFill>
                <a:latin typeface="Aptos"/>
              </a:rPr>
              <a:t>• Confirm the current editions and legal applicability of IRC, BIS, ACI, MASH and EN 1317 requirements with the intended certification authority before test planning or product claims.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REFERENCE SLIDE — do not normally read aloud.</a:t>
            </a:r>
          </a:p>
          <a:p/>
          <a:p>
            <a:r>
              <a:rPr sz="1200" b="0" i="0">
                <a:solidFill>
                  <a:srgbClr val="202B33"/>
                </a:solidFill>
                <a:latin typeface="Aptos"/>
              </a:rPr>
              <a:t>• This list deliberately includes both reputable journal literature and conference/symposium proceedings relevant to concrete-barrier crashworthiness and lightweight material concepts.</a:t>
            </a:r>
          </a:p>
          <a:p>
            <a:r>
              <a:rPr sz="1200" b="0" i="0">
                <a:solidFill>
                  <a:srgbClr val="202B33"/>
                </a:solidFill>
                <a:latin typeface="Aptos"/>
              </a:rPr>
              <a:t>• Bonin et al. is particularly important for novelty framing because it shows that lightweight-concrete road-safety barrier concepts existed before this invention. The proposed patent position must therefore be narrower and evidence-led.</a:t>
            </a:r>
          </a:p>
          <a:p>
            <a:r>
              <a:rPr sz="1200" b="0" i="0">
                <a:solidFill>
                  <a:srgbClr val="202B33"/>
                </a:solidFill>
                <a:latin typeface="Aptos"/>
              </a:rPr>
              <a:t>• The literature supports the plausibility of fibre bridging, lightweight-aggregate energy dissipation and the importance of occupant-risk metrics; it does not independently validate the exact invented formulation.</a:t>
            </a:r>
          </a:p>
          <a:p>
            <a:r>
              <a:rPr sz="1200" b="0" i="0">
                <a:solidFill>
                  <a:srgbClr val="202B33"/>
                </a:solidFill>
                <a:latin typeface="Aptos"/>
              </a:rPr>
              <a:t>• A patent professional should expand this literature review into a jurisdiction-specific patentability and freedom-to-operate search before claims are finalized.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7.xml"/><Relationship Id="rId4" Type="http://schemas.openxmlformats.org/officeDocument/2006/relationships/image" Target="../media/image4.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 Id="rId4" Type="http://schemas.openxmlformats.org/officeDocument/2006/relationships/chart" Target="../charts/chart10.xml"/><Relationship Id="rId5" Type="http://schemas.openxmlformats.org/officeDocument/2006/relationships/chart" Target="../charts/chart1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itbbs_logo_official.png"/>
          <p:cNvPicPr>
            <a:picLocks noChangeAspect="1"/>
          </p:cNvPicPr>
          <p:nvPr/>
        </p:nvPicPr>
        <p:blipFill>
          <a:blip r:embed="rId2"/>
          <a:stretch>
            <a:fillRect/>
          </a:stretch>
        </p:blipFill>
        <p:spPr>
          <a:xfrm>
            <a:off x="11283696" y="164592"/>
            <a:ext cx="530352" cy="493776"/>
          </a:xfrm>
          <a:prstGeom prst="rect">
            <a:avLst/>
          </a:prstGeom>
        </p:spPr>
      </p:pic>
      <p:sp>
        <p:nvSpPr>
          <p:cNvPr id="5" name="TextBox 4"/>
          <p:cNvSpPr txBox="1"/>
          <p:nvPr/>
        </p:nvSpPr>
        <p:spPr>
          <a:xfrm>
            <a:off x="713232" y="438912"/>
            <a:ext cx="4572000" cy="256032"/>
          </a:xfrm>
          <a:prstGeom prst="rect">
            <a:avLst/>
          </a:prstGeom>
          <a:noFill/>
        </p:spPr>
        <p:txBody>
          <a:bodyPr wrap="square" lIns="0" rIns="0" tIns="0" bIns="0" anchor="t">
            <a:spAutoFit/>
          </a:bodyPr>
          <a:lstStyle/>
          <a:p>
            <a:pPr algn="l">
              <a:lnSpc>
                <a:spcPct val="100000"/>
              </a:lnSpc>
            </a:pPr>
            <a:r>
              <a:rPr sz="900" b="1" i="0">
                <a:solidFill>
                  <a:srgbClr val="2E6F9E"/>
                </a:solidFill>
                <a:latin typeface="Aptos"/>
              </a:rPr>
              <a:t>IIT BHUBANESWAR • SCHOOL OF INFRASTRUCTURE</a:t>
            </a:r>
          </a:p>
        </p:txBody>
      </p:sp>
      <p:sp>
        <p:nvSpPr>
          <p:cNvPr id="6" name="TextBox 5"/>
          <p:cNvSpPr txBox="1"/>
          <p:nvPr/>
        </p:nvSpPr>
        <p:spPr>
          <a:xfrm>
            <a:off x="713232" y="768096"/>
            <a:ext cx="4572000" cy="274320"/>
          </a:xfrm>
          <a:prstGeom prst="rect">
            <a:avLst/>
          </a:prstGeom>
          <a:noFill/>
        </p:spPr>
        <p:txBody>
          <a:bodyPr wrap="square" lIns="0" rIns="0" tIns="0" bIns="0" anchor="t">
            <a:spAutoFit/>
          </a:bodyPr>
          <a:lstStyle/>
          <a:p>
            <a:pPr algn="l">
              <a:lnSpc>
                <a:spcPct val="100000"/>
              </a:lnSpc>
            </a:pPr>
            <a:r>
              <a:rPr sz="1000" b="1" i="0">
                <a:solidFill>
                  <a:srgbClr val="9A4651"/>
                </a:solidFill>
                <a:latin typeface="Aptos"/>
              </a:rPr>
              <a:t>REDACTED ACADEMIC TECHNOLOGY OVERVIEW</a:t>
            </a:r>
          </a:p>
        </p:txBody>
      </p:sp>
      <p:sp>
        <p:nvSpPr>
          <p:cNvPr id="7" name="TextBox 6"/>
          <p:cNvSpPr txBox="1"/>
          <p:nvPr/>
        </p:nvSpPr>
        <p:spPr>
          <a:xfrm>
            <a:off x="713232" y="1298448"/>
            <a:ext cx="6995160" cy="1572768"/>
          </a:xfrm>
          <a:prstGeom prst="rect">
            <a:avLst/>
          </a:prstGeom>
          <a:noFill/>
        </p:spPr>
        <p:txBody>
          <a:bodyPr wrap="square" lIns="0" rIns="0" tIns="0" bIns="0" anchor="t">
            <a:spAutoFit/>
          </a:bodyPr>
          <a:lstStyle/>
          <a:p>
            <a:pPr algn="l">
              <a:lnSpc>
                <a:spcPct val="94000"/>
              </a:lnSpc>
            </a:pPr>
            <a:r>
              <a:rPr sz="2900" b="1" i="0">
                <a:solidFill>
                  <a:srgbClr val="17365D"/>
                </a:solidFill>
                <a:latin typeface="Cambria"/>
              </a:rPr>
              <a:t>Novel concrete composition for
impact-energy-dissipating crash barriers</a:t>
            </a:r>
          </a:p>
        </p:txBody>
      </p:sp>
      <p:sp>
        <p:nvSpPr>
          <p:cNvPr id="8" name="TextBox 7"/>
          <p:cNvSpPr txBox="1"/>
          <p:nvPr/>
        </p:nvSpPr>
        <p:spPr>
          <a:xfrm>
            <a:off x="731520" y="2990088"/>
            <a:ext cx="6812280" cy="530352"/>
          </a:xfrm>
          <a:prstGeom prst="rect">
            <a:avLst/>
          </a:prstGeom>
          <a:noFill/>
        </p:spPr>
        <p:txBody>
          <a:bodyPr wrap="square" lIns="0" rIns="0" tIns="0" bIns="0" anchor="t">
            <a:spAutoFit/>
          </a:bodyPr>
          <a:lstStyle/>
          <a:p>
            <a:pPr algn="l">
              <a:lnSpc>
                <a:spcPct val="102000"/>
              </a:lnSpc>
            </a:pPr>
            <a:r>
              <a:rPr sz="1400" b="0" i="0">
                <a:solidFill>
                  <a:srgbClr val="202B33"/>
                </a:solidFill>
                <a:latin typeface="Aptos"/>
              </a:rPr>
              <a:t>A lightweight, ductile concrete platform for impact-resistant rigid barriers</a:t>
            </a:r>
          </a:p>
        </p:txBody>
      </p:sp>
      <p:cxnSp>
        <p:nvCxnSpPr>
          <p:cNvPr id="9" name="Connector 8"/>
          <p:cNvCxnSpPr/>
          <p:nvPr/>
        </p:nvCxnSpPr>
        <p:spPr>
          <a:xfrm>
            <a:off x="731520" y="3730752"/>
            <a:ext cx="6748272" cy="0"/>
          </a:xfrm>
          <a:prstGeom prst="line">
            <a:avLst/>
          </a:prstGeom>
          <a:ln w="13970">
            <a:solidFill>
              <a:srgbClr val="2E6F9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1520" y="3968496"/>
            <a:ext cx="6903720" cy="512064"/>
          </a:xfrm>
          <a:prstGeom prst="rect">
            <a:avLst/>
          </a:prstGeom>
          <a:noFill/>
        </p:spPr>
        <p:txBody>
          <a:bodyPr wrap="square" lIns="0" rIns="0" tIns="0" bIns="0" anchor="t">
            <a:spAutoFit/>
          </a:bodyPr>
          <a:lstStyle/>
          <a:p>
            <a:pPr algn="l">
              <a:lnSpc>
                <a:spcPct val="100000"/>
              </a:lnSpc>
            </a:pPr>
            <a:r>
              <a:rPr sz="1090" b="1" i="0">
                <a:solidFill>
                  <a:srgbClr val="17365D"/>
                </a:solidFill>
                <a:latin typeface="Aptos"/>
              </a:rPr>
              <a:t>Haruna Al-Amir Saleh  •  Pratik Kanungo  •  Anush K. Chandrappa  •  Dinakar Pasla</a:t>
            </a:r>
          </a:p>
        </p:txBody>
      </p:sp>
      <p:sp>
        <p:nvSpPr>
          <p:cNvPr id="11" name="TextBox 10"/>
          <p:cNvSpPr txBox="1"/>
          <p:nvPr/>
        </p:nvSpPr>
        <p:spPr>
          <a:xfrm>
            <a:off x="731520" y="4498848"/>
            <a:ext cx="6720840" cy="530352"/>
          </a:xfrm>
          <a:prstGeom prst="rect">
            <a:avLst/>
          </a:prstGeom>
          <a:noFill/>
        </p:spPr>
        <p:txBody>
          <a:bodyPr wrap="square" lIns="0" rIns="0" tIns="0" bIns="0" anchor="t">
            <a:spAutoFit/>
          </a:bodyPr>
          <a:lstStyle/>
          <a:p>
            <a:pPr algn="l">
              <a:lnSpc>
                <a:spcPct val="100000"/>
              </a:lnSpc>
            </a:pPr>
            <a:r>
              <a:rPr sz="980" b="0" i="0">
                <a:solidFill>
                  <a:srgbClr val="5D6972"/>
                </a:solidFill>
                <a:latin typeface="Aptos"/>
              </a:rPr>
              <a:t>School of Infrastructure, Indian Institute of Technology Bhubaneswar
Odisha, India  •  14 August 2026</a:t>
            </a:r>
          </a:p>
        </p:txBody>
      </p:sp>
      <p:sp>
        <p:nvSpPr>
          <p:cNvPr id="12" name="Rectangle 11"/>
          <p:cNvSpPr/>
          <p:nvPr/>
        </p:nvSpPr>
        <p:spPr>
          <a:xfrm>
            <a:off x="731520" y="5230368"/>
            <a:ext cx="6839712" cy="566928"/>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376672"/>
            <a:ext cx="6473952" cy="274320"/>
          </a:xfrm>
          <a:prstGeom prst="rect">
            <a:avLst/>
          </a:prstGeom>
          <a:noFill/>
        </p:spPr>
        <p:txBody>
          <a:bodyPr wrap="square" lIns="0" rIns="0" tIns="0" bIns="0" anchor="t">
            <a:spAutoFit/>
          </a:bodyPr>
          <a:lstStyle/>
          <a:p>
            <a:pPr algn="l">
              <a:lnSpc>
                <a:spcPct val="100000"/>
              </a:lnSpc>
            </a:pPr>
            <a:r>
              <a:rPr sz="940" b="1" i="0">
                <a:solidFill>
                  <a:srgbClr val="9A4651"/>
                </a:solidFill>
                <a:latin typeface="Aptos"/>
              </a:rPr>
              <a:t>Status: not yet filed  |  Purpose: IPR approval to proceed with patent filing</a:t>
            </a:r>
          </a:p>
        </p:txBody>
      </p:sp>
      <p:sp>
        <p:nvSpPr>
          <p:cNvPr id="14" name="Rectangle 13"/>
          <p:cNvSpPr/>
          <p:nvPr/>
        </p:nvSpPr>
        <p:spPr>
          <a:xfrm>
            <a:off x="8001000" y="1024128"/>
            <a:ext cx="3520440" cy="4553712"/>
          </a:xfrm>
          <a:prstGeom prst="rect">
            <a:avLst/>
          </a:prstGeom>
          <a:solidFill>
            <a:srgbClr val="FFFFFF"/>
          </a:solidFill>
          <a:ln w="1016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cademic_title_barrier_setup.jpg"/>
          <p:cNvPicPr>
            <a:picLocks noChangeAspect="1"/>
          </p:cNvPicPr>
          <p:nvPr/>
        </p:nvPicPr>
        <p:blipFill>
          <a:blip r:embed="rId3"/>
          <a:stretch>
            <a:fillRect/>
          </a:stretch>
        </p:blipFill>
        <p:spPr>
          <a:xfrm>
            <a:off x="8101583" y="1124712"/>
            <a:ext cx="3319272" cy="4151376"/>
          </a:xfrm>
          <a:prstGeom prst="rect">
            <a:avLst/>
          </a:prstGeom>
        </p:spPr>
      </p:pic>
      <p:sp>
        <p:nvSpPr>
          <p:cNvPr id="16" name="TextBox 15"/>
          <p:cNvSpPr txBox="1"/>
          <p:nvPr/>
        </p:nvSpPr>
        <p:spPr>
          <a:xfrm>
            <a:off x="8147304" y="5303520"/>
            <a:ext cx="3218688" cy="228600"/>
          </a:xfrm>
          <a:prstGeom prst="rect">
            <a:avLst/>
          </a:prstGeom>
          <a:noFill/>
        </p:spPr>
        <p:txBody>
          <a:bodyPr wrap="square" lIns="0" rIns="0" tIns="0" bIns="0" anchor="t">
            <a:spAutoFit/>
          </a:bodyPr>
          <a:lstStyle/>
          <a:p>
            <a:pPr algn="ctr">
              <a:lnSpc>
                <a:spcPct val="100000"/>
              </a:lnSpc>
            </a:pPr>
            <a:r>
              <a:rPr sz="780" b="0" i="0">
                <a:solidFill>
                  <a:srgbClr val="5D6972"/>
                </a:solidFill>
                <a:latin typeface="Aptos"/>
              </a:rPr>
              <a:t>One-third-scale barrier pendulum-impact apparatus</a:t>
            </a:r>
          </a:p>
        </p:txBody>
      </p:sp>
      <p:sp>
        <p:nvSpPr>
          <p:cNvPr id="17" name="TextBox 16"/>
          <p:cNvSpPr txBox="1"/>
          <p:nvPr/>
        </p:nvSpPr>
        <p:spPr>
          <a:xfrm>
            <a:off x="8147304" y="5577840"/>
            <a:ext cx="3218688" cy="256032"/>
          </a:xfrm>
          <a:prstGeom prst="rect">
            <a:avLst/>
          </a:prstGeom>
          <a:noFill/>
        </p:spPr>
        <p:txBody>
          <a:bodyPr wrap="square" lIns="0" rIns="0" tIns="0" bIns="0" anchor="ctr">
            <a:spAutoFit/>
          </a:bodyPr>
          <a:lstStyle/>
          <a:p>
            <a:pPr algn="l">
              <a:lnSpc>
                <a:spcPct val="100000"/>
              </a:lnSpc>
            </a:pPr>
            <a:r>
              <a:rPr sz="680" b="0" i="0">
                <a:solidFill>
                  <a:srgbClr val="5D6972"/>
                </a:solidFill>
                <a:latin typeface="Aptos"/>
              </a:rPr>
              <a:t>Source: Inventor-supplied manuscript, Fig. 7</a:t>
            </a:r>
          </a:p>
        </p:txBody>
      </p:sp>
      <p:cxnSp>
        <p:nvCxnSpPr>
          <p:cNvPr id="18" name="Connector 1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20" name="TextBox 1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STUDY SYNOPSIS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Research contribution and quantitative evidence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02</a:t>
            </a:r>
          </a:p>
        </p:txBody>
      </p:sp>
      <p:sp>
        <p:nvSpPr>
          <p:cNvPr id="11" name="Rectangle 10"/>
          <p:cNvSpPr/>
          <p:nvPr/>
        </p:nvSpPr>
        <p:spPr>
          <a:xfrm>
            <a:off x="658368" y="1188720"/>
            <a:ext cx="10863072" cy="566928"/>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1325880"/>
            <a:ext cx="10460736" cy="283464"/>
          </a:xfrm>
          <a:prstGeom prst="rect">
            <a:avLst/>
          </a:prstGeom>
          <a:noFill/>
        </p:spPr>
        <p:txBody>
          <a:bodyPr wrap="square" lIns="0" rIns="0" tIns="0" bIns="0" anchor="t">
            <a:spAutoFit/>
          </a:bodyPr>
          <a:lstStyle/>
          <a:p>
            <a:pPr algn="l">
              <a:lnSpc>
                <a:spcPct val="100000"/>
              </a:lnSpc>
            </a:pPr>
            <a:r>
              <a:rPr sz="1120" b="1" i="0">
                <a:solidFill>
                  <a:srgbClr val="17365D"/>
                </a:solidFill>
                <a:latin typeface="Cambria"/>
              </a:rPr>
              <a:t>Research question: can structural lightweight concrete dissipate impact energy while retaining M40-class strength and post-cracking integrity?</a:t>
            </a:r>
          </a:p>
        </p:txBody>
      </p:sp>
      <p:graphicFrame>
        <p:nvGraphicFramePr>
          <p:cNvPr id="13" name="Table 12"/>
          <p:cNvGraphicFramePr>
            <a:graphicFrameLocks noGrp="1"/>
          </p:cNvGraphicFramePr>
          <p:nvPr/>
        </p:nvGraphicFramePr>
        <p:xfrm>
          <a:off x="658368" y="1938528"/>
          <a:ext cx="10863070" cy="3063240"/>
        </p:xfrm>
        <a:graphic>
          <a:graphicData uri="http://schemas.openxmlformats.org/drawingml/2006/table">
            <a:tbl>
              <a:tblPr firstRow="1" bandRow="1">
                <a:tableStyleId>{5C22544A-7EE6-4342-B048-85BDC9FD1C3A}</a:tableStyleId>
              </a:tblPr>
              <a:tblGrid>
                <a:gridCol w="2614108"/>
                <a:gridCol w="1800830"/>
                <a:gridCol w="1917012"/>
                <a:gridCol w="1568464"/>
                <a:gridCol w="2962656"/>
              </a:tblGrid>
              <a:tr h="437605">
                <a:tc>
                  <a:txBody>
                    <a:bodyPr/>
                    <a:lstStyle/>
                    <a:p>
                      <a:pPr algn="l"/>
                      <a:r>
                        <a:rPr sz="860" b="1" i="0">
                          <a:solidFill>
                            <a:srgbClr val="FFFFFF"/>
                          </a:solidFill>
                          <a:latin typeface="Aptos"/>
                        </a:rPr>
                        <a:t>Response</a:t>
                      </a:r>
                    </a:p>
                  </a:txBody>
                  <a:tcPr marL="36576" marR="36576" marT="27432" marB="27432" anchor="ctr">
                    <a:solidFill>
                      <a:srgbClr val="17365D"/>
                    </a:solidFill>
                  </a:tcPr>
                </a:tc>
                <a:tc>
                  <a:txBody>
                    <a:bodyPr/>
                    <a:lstStyle/>
                    <a:p>
                      <a:pPr algn="ctr"/>
                      <a:r>
                        <a:rPr sz="860" b="1" i="0">
                          <a:solidFill>
                            <a:srgbClr val="FFFFFF"/>
                          </a:solidFill>
                          <a:latin typeface="Aptos"/>
                        </a:rPr>
                        <a:t>NWC reference</a:t>
                      </a:r>
                    </a:p>
                  </a:txBody>
                  <a:tcPr marL="36576" marR="36576" marT="27432" marB="27432" anchor="ctr">
                    <a:solidFill>
                      <a:srgbClr val="17365D"/>
                    </a:solidFill>
                  </a:tcPr>
                </a:tc>
                <a:tc>
                  <a:txBody>
                    <a:bodyPr/>
                    <a:lstStyle/>
                    <a:p>
                      <a:pPr algn="ctr"/>
                      <a:r>
                        <a:rPr sz="860" b="1" i="0">
                          <a:solidFill>
                            <a:srgbClr val="FFFFFF"/>
                          </a:solidFill>
                          <a:latin typeface="Aptos"/>
                        </a:rPr>
                        <a:t>Selected LWC</a:t>
                      </a:r>
                    </a:p>
                  </a:txBody>
                  <a:tcPr marL="36576" marR="36576" marT="27432" marB="27432" anchor="ctr">
                    <a:solidFill>
                      <a:srgbClr val="17365D"/>
                    </a:solidFill>
                  </a:tcPr>
                </a:tc>
                <a:tc>
                  <a:txBody>
                    <a:bodyPr/>
                    <a:lstStyle/>
                    <a:p>
                      <a:pPr algn="ctr"/>
                      <a:r>
                        <a:rPr sz="860" b="1" i="0">
                          <a:solidFill>
                            <a:srgbClr val="FFFFFF"/>
                          </a:solidFill>
                          <a:latin typeface="Aptos"/>
                        </a:rPr>
                        <a:t>Relative effect</a:t>
                      </a:r>
                    </a:p>
                  </a:txBody>
                  <a:tcPr marL="36576" marR="36576" marT="27432" marB="27432" anchor="ctr">
                    <a:solidFill>
                      <a:srgbClr val="17365D"/>
                    </a:solidFill>
                  </a:tcPr>
                </a:tc>
                <a:tc>
                  <a:txBody>
                    <a:bodyPr/>
                    <a:lstStyle/>
                    <a:p>
                      <a:pPr algn="ctr"/>
                      <a:r>
                        <a:rPr sz="860" b="1" i="0">
                          <a:solidFill>
                            <a:srgbClr val="FFFFFF"/>
                          </a:solidFill>
                          <a:latin typeface="Aptos"/>
                        </a:rPr>
                        <a:t>Evidence / scope</a:t>
                      </a:r>
                    </a:p>
                  </a:txBody>
                  <a:tcPr marL="36576" marR="36576" marT="27432" marB="27432" anchor="ctr">
                    <a:solidFill>
                      <a:srgbClr val="17365D"/>
                    </a:solidFill>
                  </a:tcPr>
                </a:tc>
              </a:tr>
              <a:tr h="437605">
                <a:tc>
                  <a:txBody>
                    <a:bodyPr/>
                    <a:lstStyle/>
                    <a:p>
                      <a:pPr algn="l"/>
                      <a:r>
                        <a:rPr sz="880" b="1" i="0">
                          <a:solidFill>
                            <a:srgbClr val="202B33"/>
                          </a:solidFill>
                          <a:latin typeface="Aptos"/>
                        </a:rPr>
                        <a:t>Reported density</a:t>
                      </a:r>
                    </a:p>
                  </a:txBody>
                  <a:tcPr marL="36576" marR="36576" marT="27432" marB="27432" anchor="ctr">
                    <a:solidFill>
                      <a:srgbClr val="FFFFFF"/>
                    </a:solidFill>
                  </a:tcPr>
                </a:tc>
                <a:tc>
                  <a:txBody>
                    <a:bodyPr/>
                    <a:lstStyle/>
                    <a:p>
                      <a:pPr algn="ctr"/>
                      <a:r>
                        <a:rPr sz="880" b="0" i="0">
                          <a:solidFill>
                            <a:srgbClr val="202B33"/>
                          </a:solidFill>
                          <a:latin typeface="Aptos"/>
                        </a:rPr>
                        <a:t>2,466 kg/m³</a:t>
                      </a:r>
                    </a:p>
                  </a:txBody>
                  <a:tcPr marL="36576" marR="36576" marT="27432" marB="27432" anchor="ctr">
                    <a:solidFill>
                      <a:srgbClr val="FFFFFF"/>
                    </a:solidFill>
                  </a:tcPr>
                </a:tc>
                <a:tc>
                  <a:txBody>
                    <a:bodyPr/>
                    <a:lstStyle/>
                    <a:p>
                      <a:pPr algn="ctr"/>
                      <a:r>
                        <a:rPr sz="880" b="0" i="0">
                          <a:solidFill>
                            <a:srgbClr val="202B33"/>
                          </a:solidFill>
                          <a:latin typeface="Aptos"/>
                        </a:rPr>
                        <a:t>1,987 kg/m³</a:t>
                      </a:r>
                    </a:p>
                  </a:txBody>
                  <a:tcPr marL="36576" marR="36576" marT="27432" marB="27432" anchor="ctr">
                    <a:solidFill>
                      <a:srgbClr val="FFFFFF"/>
                    </a:solidFill>
                  </a:tcPr>
                </a:tc>
                <a:tc>
                  <a:txBody>
                    <a:bodyPr/>
                    <a:lstStyle/>
                    <a:p>
                      <a:pPr algn="ctr"/>
                      <a:r>
                        <a:rPr sz="880" b="0" i="0">
                          <a:solidFill>
                            <a:srgbClr val="202B33"/>
                          </a:solidFill>
                          <a:latin typeface="Aptos"/>
                        </a:rPr>
                        <a:t>−19.4%</a:t>
                      </a:r>
                    </a:p>
                  </a:txBody>
                  <a:tcPr marL="36576" marR="36576" marT="27432" marB="27432" anchor="ctr">
                    <a:solidFill>
                      <a:srgbClr val="FFFFFF"/>
                    </a:solidFill>
                  </a:tcPr>
                </a:tc>
                <a:tc>
                  <a:txBody>
                    <a:bodyPr/>
                    <a:lstStyle/>
                    <a:p>
                      <a:pPr algn="ctr"/>
                      <a:r>
                        <a:rPr sz="880" b="0" i="0">
                          <a:solidFill>
                            <a:srgbClr val="202B33"/>
                          </a:solidFill>
                          <a:latin typeface="Aptos"/>
                        </a:rPr>
                        <a:t>Measured; basis to verify</a:t>
                      </a:r>
                    </a:p>
                  </a:txBody>
                  <a:tcPr marL="36576" marR="36576" marT="27432" marB="27432" anchor="ctr">
                    <a:solidFill>
                      <a:srgbClr val="FFFFFF"/>
                    </a:solidFill>
                  </a:tcPr>
                </a:tc>
              </a:tr>
              <a:tr h="437605">
                <a:tc>
                  <a:txBody>
                    <a:bodyPr/>
                    <a:lstStyle/>
                    <a:p>
                      <a:pPr algn="l"/>
                      <a:r>
                        <a:rPr sz="880" b="1" i="0">
                          <a:solidFill>
                            <a:srgbClr val="202B33"/>
                          </a:solidFill>
                          <a:latin typeface="Aptos"/>
                        </a:rPr>
                        <a:t>28 d compression</a:t>
                      </a:r>
                    </a:p>
                  </a:txBody>
                  <a:tcPr marL="36576" marR="36576" marT="27432" marB="27432" anchor="ctr">
                    <a:solidFill>
                      <a:srgbClr val="F8FAFB"/>
                    </a:solidFill>
                  </a:tcPr>
                </a:tc>
                <a:tc>
                  <a:txBody>
                    <a:bodyPr/>
                    <a:lstStyle/>
                    <a:p>
                      <a:pPr algn="ctr"/>
                      <a:r>
                        <a:rPr sz="880" b="0" i="0">
                          <a:solidFill>
                            <a:srgbClr val="202B33"/>
                          </a:solidFill>
                          <a:latin typeface="Aptos"/>
                        </a:rPr>
                        <a:t>49.62 MPa</a:t>
                      </a:r>
                    </a:p>
                  </a:txBody>
                  <a:tcPr marL="36576" marR="36576" marT="27432" marB="27432" anchor="ctr">
                    <a:solidFill>
                      <a:srgbClr val="F8FAFB"/>
                    </a:solidFill>
                  </a:tcPr>
                </a:tc>
                <a:tc>
                  <a:txBody>
                    <a:bodyPr/>
                    <a:lstStyle/>
                    <a:p>
                      <a:pPr algn="ctr"/>
                      <a:r>
                        <a:rPr sz="880" b="0" i="0">
                          <a:solidFill>
                            <a:srgbClr val="202B33"/>
                          </a:solidFill>
                          <a:latin typeface="Aptos"/>
                        </a:rPr>
                        <a:t>55.40 MPa</a:t>
                      </a:r>
                    </a:p>
                  </a:txBody>
                  <a:tcPr marL="36576" marR="36576" marT="27432" marB="27432" anchor="ctr">
                    <a:solidFill>
                      <a:srgbClr val="F8FAFB"/>
                    </a:solidFill>
                  </a:tcPr>
                </a:tc>
                <a:tc>
                  <a:txBody>
                    <a:bodyPr/>
                    <a:lstStyle/>
                    <a:p>
                      <a:pPr algn="ctr"/>
                      <a:r>
                        <a:rPr sz="880" b="0" i="0">
                          <a:solidFill>
                            <a:srgbClr val="202B33"/>
                          </a:solidFill>
                          <a:latin typeface="Aptos"/>
                        </a:rPr>
                        <a:t>+11.6%</a:t>
                      </a:r>
                    </a:p>
                  </a:txBody>
                  <a:tcPr marL="36576" marR="36576" marT="27432" marB="27432" anchor="ctr">
                    <a:solidFill>
                      <a:srgbClr val="F8FAFB"/>
                    </a:solidFill>
                  </a:tcPr>
                </a:tc>
                <a:tc>
                  <a:txBody>
                    <a:bodyPr/>
                    <a:lstStyle/>
                    <a:p>
                      <a:pPr algn="ctr"/>
                      <a:r>
                        <a:rPr sz="880" b="0" i="0">
                          <a:solidFill>
                            <a:srgbClr val="202B33"/>
                          </a:solidFill>
                          <a:latin typeface="Aptos"/>
                        </a:rPr>
                        <a:t>3 cubes per mix stated</a:t>
                      </a:r>
                    </a:p>
                  </a:txBody>
                  <a:tcPr marL="36576" marR="36576" marT="27432" marB="27432" anchor="ctr">
                    <a:solidFill>
                      <a:srgbClr val="F8FAFB"/>
                    </a:solidFill>
                  </a:tcPr>
                </a:tc>
              </a:tr>
              <a:tr h="437605">
                <a:tc>
                  <a:txBody>
                    <a:bodyPr/>
                    <a:lstStyle/>
                    <a:p>
                      <a:pPr algn="l"/>
                      <a:r>
                        <a:rPr sz="880" b="1" i="0">
                          <a:solidFill>
                            <a:srgbClr val="202B33"/>
                          </a:solidFill>
                          <a:latin typeface="Aptos"/>
                        </a:rPr>
                        <a:t>28 d split tension</a:t>
                      </a:r>
                    </a:p>
                  </a:txBody>
                  <a:tcPr marL="36576" marR="36576" marT="27432" marB="27432" anchor="ctr">
                    <a:solidFill>
                      <a:srgbClr val="FFFFFF"/>
                    </a:solidFill>
                  </a:tcPr>
                </a:tc>
                <a:tc>
                  <a:txBody>
                    <a:bodyPr/>
                    <a:lstStyle/>
                    <a:p>
                      <a:pPr algn="ctr"/>
                      <a:r>
                        <a:rPr sz="880" b="0" i="0">
                          <a:solidFill>
                            <a:srgbClr val="202B33"/>
                          </a:solidFill>
                          <a:latin typeface="Aptos"/>
                        </a:rPr>
                        <a:t>4.32 MPa</a:t>
                      </a:r>
                    </a:p>
                  </a:txBody>
                  <a:tcPr marL="36576" marR="36576" marT="27432" marB="27432" anchor="ctr">
                    <a:solidFill>
                      <a:srgbClr val="FFFFFF"/>
                    </a:solidFill>
                  </a:tcPr>
                </a:tc>
                <a:tc>
                  <a:txBody>
                    <a:bodyPr/>
                    <a:lstStyle/>
                    <a:p>
                      <a:pPr algn="ctr"/>
                      <a:r>
                        <a:rPr sz="880" b="0" i="0">
                          <a:solidFill>
                            <a:srgbClr val="202B33"/>
                          </a:solidFill>
                          <a:latin typeface="Aptos"/>
                        </a:rPr>
                        <a:t>7.60 MPa</a:t>
                      </a:r>
                    </a:p>
                  </a:txBody>
                  <a:tcPr marL="36576" marR="36576" marT="27432" marB="27432" anchor="ctr">
                    <a:solidFill>
                      <a:srgbClr val="FFFFFF"/>
                    </a:solidFill>
                  </a:tcPr>
                </a:tc>
                <a:tc>
                  <a:txBody>
                    <a:bodyPr/>
                    <a:lstStyle/>
                    <a:p>
                      <a:pPr algn="ctr"/>
                      <a:r>
                        <a:rPr sz="880" b="0" i="0">
                          <a:solidFill>
                            <a:srgbClr val="202B33"/>
                          </a:solidFill>
                          <a:latin typeface="Aptos"/>
                        </a:rPr>
                        <a:t>+75.9%</a:t>
                      </a:r>
                    </a:p>
                  </a:txBody>
                  <a:tcPr marL="36576" marR="36576" marT="27432" marB="27432" anchor="ctr">
                    <a:solidFill>
                      <a:srgbClr val="FFFFFF"/>
                    </a:solidFill>
                  </a:tcPr>
                </a:tc>
                <a:tc>
                  <a:txBody>
                    <a:bodyPr/>
                    <a:lstStyle/>
                    <a:p>
                      <a:pPr algn="ctr"/>
                      <a:r>
                        <a:rPr sz="880" b="0" i="0">
                          <a:solidFill>
                            <a:srgbClr val="202B33"/>
                          </a:solidFill>
                          <a:latin typeface="Aptos"/>
                        </a:rPr>
                        <a:t>3 cylinders per mix stated</a:t>
                      </a:r>
                    </a:p>
                  </a:txBody>
                  <a:tcPr marL="36576" marR="36576" marT="27432" marB="27432" anchor="ctr">
                    <a:solidFill>
                      <a:srgbClr val="FFFFFF"/>
                    </a:solidFill>
                  </a:tcPr>
                </a:tc>
              </a:tr>
              <a:tr h="437605">
                <a:tc>
                  <a:txBody>
                    <a:bodyPr/>
                    <a:lstStyle/>
                    <a:p>
                      <a:pPr algn="l"/>
                      <a:r>
                        <a:rPr sz="880" b="1" i="0">
                          <a:solidFill>
                            <a:srgbClr val="202B33"/>
                          </a:solidFill>
                          <a:latin typeface="Aptos"/>
                        </a:rPr>
                        <a:t>Prism failure energy, E₂</a:t>
                      </a:r>
                    </a:p>
                  </a:txBody>
                  <a:tcPr marL="36576" marR="36576" marT="27432" marB="27432" anchor="ctr">
                    <a:solidFill>
                      <a:srgbClr val="F6EFE4"/>
                    </a:solidFill>
                  </a:tcPr>
                </a:tc>
                <a:tc>
                  <a:txBody>
                    <a:bodyPr/>
                    <a:lstStyle/>
                    <a:p>
                      <a:pPr algn="ctr"/>
                      <a:r>
                        <a:rPr sz="880" b="0" i="0">
                          <a:solidFill>
                            <a:srgbClr val="202B33"/>
                          </a:solidFill>
                          <a:latin typeface="Aptos"/>
                        </a:rPr>
                        <a:t>52.97 N·m</a:t>
                      </a:r>
                    </a:p>
                  </a:txBody>
                  <a:tcPr marL="36576" marR="36576" marT="27432" marB="27432" anchor="ctr">
                    <a:solidFill>
                      <a:srgbClr val="F6EFE4"/>
                    </a:solidFill>
                  </a:tcPr>
                </a:tc>
                <a:tc>
                  <a:txBody>
                    <a:bodyPr/>
                    <a:lstStyle/>
                    <a:p>
                      <a:pPr algn="ctr"/>
                      <a:r>
                        <a:rPr sz="880" b="0" i="0">
                          <a:solidFill>
                            <a:srgbClr val="202B33"/>
                          </a:solidFill>
                          <a:latin typeface="Aptos"/>
                        </a:rPr>
                        <a:t>2,927.81 N·m</a:t>
                      </a:r>
                    </a:p>
                  </a:txBody>
                  <a:tcPr marL="36576" marR="36576" marT="27432" marB="27432" anchor="ctr">
                    <a:solidFill>
                      <a:srgbClr val="F6EFE4"/>
                    </a:solidFill>
                  </a:tcPr>
                </a:tc>
                <a:tc>
                  <a:txBody>
                    <a:bodyPr/>
                    <a:lstStyle/>
                    <a:p>
                      <a:pPr algn="ctr"/>
                      <a:r>
                        <a:rPr sz="880" b="0" i="0">
                          <a:solidFill>
                            <a:srgbClr val="202B33"/>
                          </a:solidFill>
                          <a:latin typeface="Aptos"/>
                        </a:rPr>
                        <a:t>55.3×</a:t>
                      </a:r>
                    </a:p>
                  </a:txBody>
                  <a:tcPr marL="36576" marR="36576" marT="27432" marB="27432" anchor="ctr">
                    <a:solidFill>
                      <a:srgbClr val="F6EFE4"/>
                    </a:solidFill>
                  </a:tcPr>
                </a:tc>
                <a:tc>
                  <a:txBody>
                    <a:bodyPr/>
                    <a:lstStyle/>
                    <a:p>
                      <a:pPr algn="ctr"/>
                      <a:r>
                        <a:rPr sz="880" b="0" i="0">
                          <a:solidFill>
                            <a:srgbClr val="202B33"/>
                          </a:solidFill>
                          <a:latin typeface="Aptos"/>
                        </a:rPr>
                        <a:t>Repeated-impact screen</a:t>
                      </a:r>
                    </a:p>
                  </a:txBody>
                  <a:tcPr marL="36576" marR="36576" marT="27432" marB="27432" anchor="ctr">
                    <a:solidFill>
                      <a:srgbClr val="F6EFE4"/>
                    </a:solidFill>
                  </a:tcPr>
                </a:tc>
              </a:tr>
              <a:tr h="437605">
                <a:tc>
                  <a:txBody>
                    <a:bodyPr/>
                    <a:lstStyle/>
                    <a:p>
                      <a:pPr algn="l"/>
                      <a:r>
                        <a:rPr sz="880" b="1" i="0">
                          <a:solidFill>
                            <a:srgbClr val="202B33"/>
                          </a:solidFill>
                          <a:latin typeface="Aptos"/>
                        </a:rPr>
                        <a:t>Scaled-barrier E₂</a:t>
                      </a:r>
                    </a:p>
                  </a:txBody>
                  <a:tcPr marL="36576" marR="36576" marT="27432" marB="27432" anchor="ctr">
                    <a:solidFill>
                      <a:srgbClr val="EAF2F3"/>
                    </a:solidFill>
                  </a:tcPr>
                </a:tc>
                <a:tc>
                  <a:txBody>
                    <a:bodyPr/>
                    <a:lstStyle/>
                    <a:p>
                      <a:pPr algn="ctr"/>
                      <a:r>
                        <a:rPr sz="880" b="0" i="0">
                          <a:solidFill>
                            <a:srgbClr val="202B33"/>
                          </a:solidFill>
                          <a:latin typeface="Aptos"/>
                        </a:rPr>
                        <a:t>1,373 N·m</a:t>
                      </a:r>
                    </a:p>
                  </a:txBody>
                  <a:tcPr marL="36576" marR="36576" marT="27432" marB="27432" anchor="ctr">
                    <a:solidFill>
                      <a:srgbClr val="EAF2F3"/>
                    </a:solidFill>
                  </a:tcPr>
                </a:tc>
                <a:tc>
                  <a:txBody>
                    <a:bodyPr/>
                    <a:lstStyle/>
                    <a:p>
                      <a:pPr algn="ctr"/>
                      <a:r>
                        <a:rPr sz="880" b="0" i="0">
                          <a:solidFill>
                            <a:srgbClr val="202B33"/>
                          </a:solidFill>
                          <a:latin typeface="Aptos"/>
                        </a:rPr>
                        <a:t>2,746 N·m</a:t>
                      </a:r>
                    </a:p>
                  </a:txBody>
                  <a:tcPr marL="36576" marR="36576" marT="27432" marB="27432" anchor="ctr">
                    <a:solidFill>
                      <a:srgbClr val="EAF2F3"/>
                    </a:solidFill>
                  </a:tcPr>
                </a:tc>
                <a:tc>
                  <a:txBody>
                    <a:bodyPr/>
                    <a:lstStyle/>
                    <a:p>
                      <a:pPr algn="ctr"/>
                      <a:r>
                        <a:rPr sz="880" b="0" i="0">
                          <a:solidFill>
                            <a:srgbClr val="202B33"/>
                          </a:solidFill>
                          <a:latin typeface="Aptos"/>
                        </a:rPr>
                        <a:t>2.0×</a:t>
                      </a:r>
                    </a:p>
                  </a:txBody>
                  <a:tcPr marL="36576" marR="36576" marT="27432" marB="27432" anchor="ctr">
                    <a:solidFill>
                      <a:srgbClr val="EAF2F3"/>
                    </a:solidFill>
                  </a:tcPr>
                </a:tc>
                <a:tc>
                  <a:txBody>
                    <a:bodyPr/>
                    <a:lstStyle/>
                    <a:p>
                      <a:pPr algn="ctr"/>
                      <a:r>
                        <a:rPr sz="880" b="0" i="0">
                          <a:solidFill>
                            <a:srgbClr val="202B33"/>
                          </a:solidFill>
                          <a:latin typeface="Aptos"/>
                        </a:rPr>
                        <a:t>n = 1 barrier per mix</a:t>
                      </a:r>
                    </a:p>
                  </a:txBody>
                  <a:tcPr marL="36576" marR="36576" marT="27432" marB="27432" anchor="ctr">
                    <a:solidFill>
                      <a:srgbClr val="EAF2F3"/>
                    </a:solidFill>
                  </a:tcPr>
                </a:tc>
              </a:tr>
              <a:tr h="437610">
                <a:tc>
                  <a:txBody>
                    <a:bodyPr/>
                    <a:lstStyle/>
                    <a:p>
                      <a:pPr algn="l"/>
                      <a:r>
                        <a:rPr sz="880" b="1" i="0">
                          <a:solidFill>
                            <a:srgbClr val="202B33"/>
                          </a:solidFill>
                          <a:latin typeface="Aptos"/>
                        </a:rPr>
                        <a:t>Scaled-barrier deformation</a:t>
                      </a:r>
                    </a:p>
                  </a:txBody>
                  <a:tcPr marL="36576" marR="36576" marT="27432" marB="27432" anchor="ctr">
                    <a:solidFill>
                      <a:srgbClr val="EAF2F3"/>
                    </a:solidFill>
                  </a:tcPr>
                </a:tc>
                <a:tc>
                  <a:txBody>
                    <a:bodyPr/>
                    <a:lstStyle/>
                    <a:p>
                      <a:pPr algn="ctr"/>
                      <a:r>
                        <a:rPr sz="880" b="0" i="0">
                          <a:solidFill>
                            <a:srgbClr val="202B33"/>
                          </a:solidFill>
                          <a:latin typeface="Aptos"/>
                        </a:rPr>
                        <a:t>4.22 mm</a:t>
                      </a:r>
                    </a:p>
                  </a:txBody>
                  <a:tcPr marL="36576" marR="36576" marT="27432" marB="27432" anchor="ctr">
                    <a:solidFill>
                      <a:srgbClr val="EAF2F3"/>
                    </a:solidFill>
                  </a:tcPr>
                </a:tc>
                <a:tc>
                  <a:txBody>
                    <a:bodyPr/>
                    <a:lstStyle/>
                    <a:p>
                      <a:pPr algn="ctr"/>
                      <a:r>
                        <a:rPr sz="880" b="0" i="0">
                          <a:solidFill>
                            <a:srgbClr val="202B33"/>
                          </a:solidFill>
                          <a:latin typeface="Aptos"/>
                        </a:rPr>
                        <a:t>12.70 mm</a:t>
                      </a:r>
                    </a:p>
                  </a:txBody>
                  <a:tcPr marL="36576" marR="36576" marT="27432" marB="27432" anchor="ctr">
                    <a:solidFill>
                      <a:srgbClr val="EAF2F3"/>
                    </a:solidFill>
                  </a:tcPr>
                </a:tc>
                <a:tc>
                  <a:txBody>
                    <a:bodyPr/>
                    <a:lstStyle/>
                    <a:p>
                      <a:pPr algn="ctr"/>
                      <a:r>
                        <a:rPr sz="880" b="0" i="0">
                          <a:solidFill>
                            <a:srgbClr val="202B33"/>
                          </a:solidFill>
                          <a:latin typeface="Aptos"/>
                        </a:rPr>
                        <a:t>3.01×</a:t>
                      </a:r>
                    </a:p>
                  </a:txBody>
                  <a:tcPr marL="36576" marR="36576" marT="27432" marB="27432" anchor="ctr">
                    <a:solidFill>
                      <a:srgbClr val="EAF2F3"/>
                    </a:solidFill>
                  </a:tcPr>
                </a:tc>
                <a:tc>
                  <a:txBody>
                    <a:bodyPr/>
                    <a:lstStyle/>
                    <a:p>
                      <a:pPr algn="ctr"/>
                      <a:r>
                        <a:rPr sz="880" b="0" i="0">
                          <a:solidFill>
                            <a:srgbClr val="202B33"/>
                          </a:solidFill>
                          <a:latin typeface="Aptos"/>
                        </a:rPr>
                        <a:t>n = 1 barrier per mix</a:t>
                      </a:r>
                    </a:p>
                  </a:txBody>
                  <a:tcPr marL="36576" marR="36576" marT="27432" marB="27432" anchor="ctr">
                    <a:solidFill>
                      <a:srgbClr val="EAF2F3"/>
                    </a:solidFill>
                  </a:tcPr>
                </a:tc>
              </a:tr>
            </a:tbl>
          </a:graphicData>
        </a:graphic>
      </p:graphicFrame>
      <p:sp>
        <p:nvSpPr>
          <p:cNvPr id="14" name="Rectangle 13"/>
          <p:cNvSpPr/>
          <p:nvPr/>
        </p:nvSpPr>
        <p:spPr>
          <a:xfrm>
            <a:off x="658368" y="5230368"/>
            <a:ext cx="5266944" cy="585216"/>
          </a:xfrm>
          <a:prstGeom prst="rect">
            <a:avLst/>
          </a:prstGeom>
          <a:solidFill>
            <a:srgbClr val="FFFFFF"/>
          </a:solidFill>
          <a:ln w="1016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5358384"/>
            <a:ext cx="4919472" cy="329184"/>
          </a:xfrm>
          <a:prstGeom prst="rect">
            <a:avLst/>
          </a:prstGeom>
          <a:noFill/>
        </p:spPr>
        <p:txBody>
          <a:bodyPr wrap="square" lIns="0" rIns="0" tIns="0" bIns="0" anchor="t">
            <a:spAutoFit/>
          </a:bodyPr>
          <a:lstStyle/>
          <a:p>
            <a:pPr algn="l">
              <a:lnSpc>
                <a:spcPct val="100000"/>
              </a:lnSpc>
            </a:pPr>
            <a:r>
              <a:rPr sz="950" b="1" i="0">
                <a:solidFill>
                  <a:srgbClr val="17365D"/>
                </a:solidFill>
                <a:latin typeface="Aptos"/>
              </a:rPr>
              <a:t>Interpretation: strongest contribution is post-cracking impact endurance, not simply compressive strength.</a:t>
            </a:r>
          </a:p>
        </p:txBody>
      </p:sp>
      <p:sp>
        <p:nvSpPr>
          <p:cNvPr id="16" name="Rectangle 15"/>
          <p:cNvSpPr/>
          <p:nvPr/>
        </p:nvSpPr>
        <p:spPr>
          <a:xfrm>
            <a:off x="6144768" y="5230368"/>
            <a:ext cx="5376672" cy="585216"/>
          </a:xfrm>
          <a:prstGeom prst="rect">
            <a:avLst/>
          </a:prstGeom>
          <a:solidFill>
            <a:srgbClr val="FFFFFF"/>
          </a:solidFill>
          <a:ln w="1016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8504" y="5358384"/>
            <a:ext cx="5029200" cy="329184"/>
          </a:xfrm>
          <a:prstGeom prst="rect">
            <a:avLst/>
          </a:prstGeom>
          <a:noFill/>
        </p:spPr>
        <p:txBody>
          <a:bodyPr wrap="square" lIns="0" rIns="0" tIns="0" bIns="0" anchor="t">
            <a:spAutoFit/>
          </a:bodyPr>
          <a:lstStyle/>
          <a:p>
            <a:pPr algn="l">
              <a:lnSpc>
                <a:spcPct val="100000"/>
              </a:lnSpc>
            </a:pPr>
            <a:r>
              <a:rPr sz="950" b="1" i="0">
                <a:solidFill>
                  <a:srgbClr val="9A4651"/>
                </a:solidFill>
                <a:latin typeface="Aptos"/>
              </a:rPr>
              <a:t>Boundary: occupant-risk reduction and standards compliance require full-scale vehicle testing.</a:t>
            </a:r>
          </a:p>
        </p:txBody>
      </p:sp>
      <p:sp>
        <p:nvSpPr>
          <p:cNvPr id="18" name="TextBox 17"/>
          <p:cNvSpPr txBox="1"/>
          <p:nvPr/>
        </p:nvSpPr>
        <p:spPr>
          <a:xfrm>
            <a:off x="667512" y="5989320"/>
            <a:ext cx="1069848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dataset, Al-Amir et al. manuscript (submitted 18 Jul 2026), Tables/Figs. 8–12; calculations in accompanying workbook.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GLOBAL EVIDENCE</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020" b="1" i="0">
                <a:solidFill>
                  <a:srgbClr val="17365D"/>
                </a:solidFill>
                <a:latin typeface="Cambria"/>
              </a:rPr>
              <a:t>Global context: road safety, material demand and circularity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03</a:t>
            </a:r>
          </a:p>
        </p:txBody>
      </p:sp>
      <p:graphicFrame>
        <p:nvGraphicFramePr>
          <p:cNvPr id="11" name="Chart 10"/>
          <p:cNvGraphicFramePr>
            <a:graphicFrameLocks noGrp="1"/>
          </p:cNvGraphicFramePr>
          <p:nvPr/>
        </p:nvGraphicFramePr>
        <p:xfrm>
          <a:off x="658368" y="1225296"/>
          <a:ext cx="3703320" cy="2926080"/>
        </p:xfrm>
        <a:graphic>
          <a:graphicData uri="http://schemas.openxmlformats.org/drawingml/2006/chart">
            <c:chart xmlns:c="http://schemas.openxmlformats.org/drawingml/2006/chart" r:id="rId3"/>
          </a:graphicData>
        </a:graphic>
      </p:graphicFrame>
      <p:sp>
        <p:nvSpPr>
          <p:cNvPr id="12" name="TextBox 11"/>
          <p:cNvSpPr txBox="1"/>
          <p:nvPr/>
        </p:nvSpPr>
        <p:spPr>
          <a:xfrm>
            <a:off x="1828800" y="2029968"/>
            <a:ext cx="1371600" cy="640080"/>
          </a:xfrm>
          <a:prstGeom prst="rect">
            <a:avLst/>
          </a:prstGeom>
          <a:noFill/>
        </p:spPr>
        <p:txBody>
          <a:bodyPr wrap="square" lIns="0" rIns="0" tIns="0" bIns="0" anchor="ctr">
            <a:spAutoFit/>
          </a:bodyPr>
          <a:lstStyle/>
          <a:p>
            <a:pPr algn="ctr">
              <a:lnSpc>
                <a:spcPct val="100000"/>
              </a:lnSpc>
            </a:pPr>
            <a:r>
              <a:rPr sz="2600" b="1" i="0">
                <a:solidFill>
                  <a:srgbClr val="17365D"/>
                </a:solidFill>
                <a:latin typeface="Cambria"/>
              </a:rPr>
              <a:t>92%</a:t>
            </a:r>
          </a:p>
        </p:txBody>
      </p:sp>
      <p:sp>
        <p:nvSpPr>
          <p:cNvPr id="13" name="TextBox 12"/>
          <p:cNvSpPr txBox="1"/>
          <p:nvPr/>
        </p:nvSpPr>
        <p:spPr>
          <a:xfrm>
            <a:off x="768096" y="4169663"/>
            <a:ext cx="3502152" cy="402336"/>
          </a:xfrm>
          <a:prstGeom prst="rect">
            <a:avLst/>
          </a:prstGeom>
          <a:noFill/>
        </p:spPr>
        <p:txBody>
          <a:bodyPr wrap="square" lIns="0" rIns="0" tIns="0" bIns="0" anchor="t">
            <a:spAutoFit/>
          </a:bodyPr>
          <a:lstStyle/>
          <a:p>
            <a:pPr algn="ctr">
              <a:lnSpc>
                <a:spcPct val="100000"/>
              </a:lnSpc>
            </a:pPr>
            <a:r>
              <a:rPr sz="910" b="1" i="0">
                <a:solidFill>
                  <a:srgbClr val="17365D"/>
                </a:solidFill>
                <a:latin typeface="Aptos"/>
              </a:rPr>
              <a:t>Figure 1. Global road-traffic deaths by country income group (2021)</a:t>
            </a:r>
          </a:p>
        </p:txBody>
      </p:sp>
      <p:graphicFrame>
        <p:nvGraphicFramePr>
          <p:cNvPr id="14" name="Table 13"/>
          <p:cNvGraphicFramePr>
            <a:graphicFrameLocks noGrp="1"/>
          </p:cNvGraphicFramePr>
          <p:nvPr/>
        </p:nvGraphicFramePr>
        <p:xfrm>
          <a:off x="4617720" y="1261872"/>
          <a:ext cx="6903718" cy="3346704"/>
        </p:xfrm>
        <a:graphic>
          <a:graphicData uri="http://schemas.openxmlformats.org/drawingml/2006/table">
            <a:tbl>
              <a:tblPr firstRow="1" bandRow="1">
                <a:tableStyleId>{5C22544A-7EE6-4342-B048-85BDC9FD1C3A}</a:tableStyleId>
              </a:tblPr>
              <a:tblGrid>
                <a:gridCol w="1582102"/>
                <a:gridCol w="1390332"/>
                <a:gridCol w="2540952"/>
                <a:gridCol w="1390332"/>
              </a:tblGrid>
              <a:tr h="557784">
                <a:tc>
                  <a:txBody>
                    <a:bodyPr/>
                    <a:lstStyle/>
                    <a:p>
                      <a:pPr algn="l"/>
                      <a:r>
                        <a:rPr sz="850" b="1" i="0">
                          <a:solidFill>
                            <a:srgbClr val="FFFFFF"/>
                          </a:solidFill>
                          <a:latin typeface="Aptos"/>
                        </a:rPr>
                        <a:t>Indicator</a:t>
                      </a:r>
                    </a:p>
                  </a:txBody>
                  <a:tcPr marL="36576" marR="36576" marT="27432" marB="27432" anchor="ctr">
                    <a:solidFill>
                      <a:srgbClr val="17365D"/>
                    </a:solidFill>
                  </a:tcPr>
                </a:tc>
                <a:tc>
                  <a:txBody>
                    <a:bodyPr/>
                    <a:lstStyle/>
                    <a:p>
                      <a:pPr algn="ctr"/>
                      <a:r>
                        <a:rPr sz="850" b="1" i="0">
                          <a:solidFill>
                            <a:srgbClr val="FFFFFF"/>
                          </a:solidFill>
                          <a:latin typeface="Aptos"/>
                        </a:rPr>
                        <a:t>Global estimate</a:t>
                      </a:r>
                    </a:p>
                  </a:txBody>
                  <a:tcPr marL="36576" marR="36576" marT="27432" marB="27432" anchor="ctr">
                    <a:solidFill>
                      <a:srgbClr val="17365D"/>
                    </a:solidFill>
                  </a:tcPr>
                </a:tc>
                <a:tc>
                  <a:txBody>
                    <a:bodyPr/>
                    <a:lstStyle/>
                    <a:p>
                      <a:pPr algn="ctr"/>
                      <a:r>
                        <a:rPr sz="850" b="1" i="0">
                          <a:solidFill>
                            <a:srgbClr val="FFFFFF"/>
                          </a:solidFill>
                          <a:latin typeface="Aptos"/>
                        </a:rPr>
                        <a:t>Research relevance</a:t>
                      </a:r>
                    </a:p>
                  </a:txBody>
                  <a:tcPr marL="36576" marR="36576" marT="27432" marB="27432" anchor="ctr">
                    <a:solidFill>
                      <a:srgbClr val="17365D"/>
                    </a:solidFill>
                  </a:tcPr>
                </a:tc>
                <a:tc>
                  <a:txBody>
                    <a:bodyPr/>
                    <a:lstStyle/>
                    <a:p>
                      <a:pPr algn="ctr"/>
                      <a:r>
                        <a:rPr sz="850" b="1" i="0">
                          <a:solidFill>
                            <a:srgbClr val="FFFFFF"/>
                          </a:solidFill>
                          <a:latin typeface="Aptos"/>
                        </a:rPr>
                        <a:t>Primary source</a:t>
                      </a:r>
                    </a:p>
                  </a:txBody>
                  <a:tcPr marL="36576" marR="36576" marT="27432" marB="27432" anchor="ctr">
                    <a:solidFill>
                      <a:srgbClr val="17365D"/>
                    </a:solidFill>
                  </a:tcPr>
                </a:tc>
              </a:tr>
              <a:tr h="557784">
                <a:tc>
                  <a:txBody>
                    <a:bodyPr/>
                    <a:lstStyle/>
                    <a:p>
                      <a:pPr algn="l"/>
                      <a:r>
                        <a:rPr sz="869" b="1" i="0">
                          <a:solidFill>
                            <a:srgbClr val="202B33"/>
                          </a:solidFill>
                          <a:latin typeface="Aptos"/>
                        </a:rPr>
                        <a:t>Road-traffic mortality</a:t>
                      </a:r>
                    </a:p>
                  </a:txBody>
                  <a:tcPr marL="36576" marR="36576" marT="27432" marB="27432" anchor="ctr">
                    <a:solidFill>
                      <a:srgbClr val="FFFFFF"/>
                    </a:solidFill>
                  </a:tcPr>
                </a:tc>
                <a:tc>
                  <a:txBody>
                    <a:bodyPr/>
                    <a:lstStyle/>
                    <a:p>
                      <a:pPr algn="ctr"/>
                      <a:r>
                        <a:rPr sz="869" b="0" i="0">
                          <a:solidFill>
                            <a:srgbClr val="202B33"/>
                          </a:solidFill>
                          <a:latin typeface="Aptos"/>
                        </a:rPr>
                        <a:t>1.19 million y⁻¹</a:t>
                      </a:r>
                    </a:p>
                  </a:txBody>
                  <a:tcPr marL="36576" marR="36576" marT="27432" marB="27432" anchor="ctr">
                    <a:solidFill>
                      <a:srgbClr val="FFFFFF"/>
                    </a:solidFill>
                  </a:tcPr>
                </a:tc>
                <a:tc>
                  <a:txBody>
                    <a:bodyPr/>
                    <a:lstStyle/>
                    <a:p>
                      <a:pPr algn="ctr"/>
                      <a:r>
                        <a:rPr sz="869" b="0" i="0">
                          <a:solidFill>
                            <a:srgbClr val="202B33"/>
                          </a:solidFill>
                          <a:latin typeface="Aptos"/>
                        </a:rPr>
                        <a:t>Need to reduce crash severity</a:t>
                      </a:r>
                    </a:p>
                  </a:txBody>
                  <a:tcPr marL="36576" marR="36576" marT="27432" marB="27432" anchor="ctr">
                    <a:solidFill>
                      <a:srgbClr val="FFFFFF"/>
                    </a:solidFill>
                  </a:tcPr>
                </a:tc>
                <a:tc>
                  <a:txBody>
                    <a:bodyPr/>
                    <a:lstStyle/>
                    <a:p>
                      <a:pPr algn="ctr"/>
                      <a:r>
                        <a:rPr sz="869" b="0" i="0">
                          <a:solidFill>
                            <a:srgbClr val="202B33"/>
                          </a:solidFill>
                          <a:latin typeface="Aptos"/>
                        </a:rPr>
                        <a:t>WHO (2023)</a:t>
                      </a:r>
                    </a:p>
                  </a:txBody>
                  <a:tcPr marL="36576" marR="36576" marT="27432" marB="27432" anchor="ctr">
                    <a:solidFill>
                      <a:srgbClr val="FFFFFF"/>
                    </a:solidFill>
                  </a:tcPr>
                </a:tc>
              </a:tr>
              <a:tr h="557784">
                <a:tc>
                  <a:txBody>
                    <a:bodyPr/>
                    <a:lstStyle/>
                    <a:p>
                      <a:pPr algn="l"/>
                      <a:r>
                        <a:rPr sz="869" b="1" i="0">
                          <a:solidFill>
                            <a:srgbClr val="202B33"/>
                          </a:solidFill>
                          <a:latin typeface="Aptos"/>
                        </a:rPr>
                        <a:t>Sand + gravel use</a:t>
                      </a:r>
                    </a:p>
                  </a:txBody>
                  <a:tcPr marL="36576" marR="36576" marT="27432" marB="27432" anchor="ctr">
                    <a:solidFill>
                      <a:srgbClr val="F8FAFB"/>
                    </a:solidFill>
                  </a:tcPr>
                </a:tc>
                <a:tc>
                  <a:txBody>
                    <a:bodyPr/>
                    <a:lstStyle/>
                    <a:p>
                      <a:pPr algn="ctr"/>
                      <a:r>
                        <a:rPr sz="869" b="0" i="0">
                          <a:solidFill>
                            <a:srgbClr val="202B33"/>
                          </a:solidFill>
                          <a:latin typeface="Aptos"/>
                        </a:rPr>
                        <a:t>≈50 Gt y⁻¹</a:t>
                      </a:r>
                    </a:p>
                  </a:txBody>
                  <a:tcPr marL="36576" marR="36576" marT="27432" marB="27432" anchor="ctr">
                    <a:solidFill>
                      <a:srgbClr val="F8FAFB"/>
                    </a:solidFill>
                  </a:tcPr>
                </a:tc>
                <a:tc>
                  <a:txBody>
                    <a:bodyPr/>
                    <a:lstStyle/>
                    <a:p>
                      <a:pPr algn="ctr"/>
                      <a:r>
                        <a:rPr sz="869" b="0" i="0">
                          <a:solidFill>
                            <a:srgbClr val="202B33"/>
                          </a:solidFill>
                          <a:latin typeface="Aptos"/>
                        </a:rPr>
                        <a:t>Pressure on natural aggregate</a:t>
                      </a:r>
                    </a:p>
                  </a:txBody>
                  <a:tcPr marL="36576" marR="36576" marT="27432" marB="27432" anchor="ctr">
                    <a:solidFill>
                      <a:srgbClr val="F8FAFB"/>
                    </a:solidFill>
                  </a:tcPr>
                </a:tc>
                <a:tc>
                  <a:txBody>
                    <a:bodyPr/>
                    <a:lstStyle/>
                    <a:p>
                      <a:pPr algn="ctr"/>
                      <a:r>
                        <a:rPr sz="869" b="0" i="0">
                          <a:solidFill>
                            <a:srgbClr val="202B33"/>
                          </a:solidFill>
                          <a:latin typeface="Aptos"/>
                        </a:rPr>
                        <a:t>UNEP (2022)</a:t>
                      </a:r>
                    </a:p>
                  </a:txBody>
                  <a:tcPr marL="36576" marR="36576" marT="27432" marB="27432" anchor="ctr">
                    <a:solidFill>
                      <a:srgbClr val="F8FAFB"/>
                    </a:solidFill>
                  </a:tcPr>
                </a:tc>
              </a:tr>
              <a:tr h="557784">
                <a:tc>
                  <a:txBody>
                    <a:bodyPr/>
                    <a:lstStyle/>
                    <a:p>
                      <a:pPr algn="l"/>
                      <a:r>
                        <a:rPr sz="869" b="1" i="0">
                          <a:solidFill>
                            <a:srgbClr val="202B33"/>
                          </a:solidFill>
                          <a:latin typeface="Aptos"/>
                        </a:rPr>
                        <a:t>Cement production</a:t>
                      </a:r>
                    </a:p>
                  </a:txBody>
                  <a:tcPr marL="36576" marR="36576" marT="27432" marB="27432" anchor="ctr">
                    <a:solidFill>
                      <a:srgbClr val="FFFFFF"/>
                    </a:solidFill>
                  </a:tcPr>
                </a:tc>
                <a:tc>
                  <a:txBody>
                    <a:bodyPr/>
                    <a:lstStyle/>
                    <a:p>
                      <a:pPr algn="ctr"/>
                      <a:r>
                        <a:rPr sz="869" b="0" i="0">
                          <a:solidFill>
                            <a:srgbClr val="202B33"/>
                          </a:solidFill>
                          <a:latin typeface="Aptos"/>
                        </a:rPr>
                        <a:t>≈4.0 Gt (2024)</a:t>
                      </a:r>
                    </a:p>
                  </a:txBody>
                  <a:tcPr marL="36576" marR="36576" marT="27432" marB="27432" anchor="ctr">
                    <a:solidFill>
                      <a:srgbClr val="FFFFFF"/>
                    </a:solidFill>
                  </a:tcPr>
                </a:tc>
                <a:tc>
                  <a:txBody>
                    <a:bodyPr/>
                    <a:lstStyle/>
                    <a:p>
                      <a:pPr algn="ctr"/>
                      <a:r>
                        <a:rPr sz="869" b="0" i="0">
                          <a:solidFill>
                            <a:srgbClr val="202B33"/>
                          </a:solidFill>
                          <a:latin typeface="Aptos"/>
                        </a:rPr>
                        <a:t>Large infrastructure material flow</a:t>
                      </a:r>
                    </a:p>
                  </a:txBody>
                  <a:tcPr marL="36576" marR="36576" marT="27432" marB="27432" anchor="ctr">
                    <a:solidFill>
                      <a:srgbClr val="FFFFFF"/>
                    </a:solidFill>
                  </a:tcPr>
                </a:tc>
                <a:tc>
                  <a:txBody>
                    <a:bodyPr/>
                    <a:lstStyle/>
                    <a:p>
                      <a:pPr algn="ctr"/>
                      <a:r>
                        <a:rPr sz="869" b="0" i="0">
                          <a:solidFill>
                            <a:srgbClr val="202B33"/>
                          </a:solidFill>
                          <a:latin typeface="Aptos"/>
                        </a:rPr>
                        <a:t>USGS (2025)</a:t>
                      </a:r>
                    </a:p>
                  </a:txBody>
                  <a:tcPr marL="36576" marR="36576" marT="27432" marB="27432" anchor="ctr">
                    <a:solidFill>
                      <a:srgbClr val="FFFFFF"/>
                    </a:solidFill>
                  </a:tcPr>
                </a:tc>
              </a:tr>
              <a:tr h="557784">
                <a:tc>
                  <a:txBody>
                    <a:bodyPr/>
                    <a:lstStyle/>
                    <a:p>
                      <a:pPr algn="l"/>
                      <a:r>
                        <a:rPr sz="869" b="1" i="0">
                          <a:solidFill>
                            <a:srgbClr val="202B33"/>
                          </a:solidFill>
                          <a:latin typeface="Aptos"/>
                        </a:rPr>
                        <a:t>Cement CO₂ intensity</a:t>
                      </a:r>
                    </a:p>
                  </a:txBody>
                  <a:tcPr marL="36576" marR="36576" marT="27432" marB="27432" anchor="ctr">
                    <a:solidFill>
                      <a:srgbClr val="F8FAFB"/>
                    </a:solidFill>
                  </a:tcPr>
                </a:tc>
                <a:tc>
                  <a:txBody>
                    <a:bodyPr/>
                    <a:lstStyle/>
                    <a:p>
                      <a:pPr algn="ctr"/>
                      <a:r>
                        <a:rPr sz="869" b="0" i="0">
                          <a:solidFill>
                            <a:srgbClr val="202B33"/>
                          </a:solidFill>
                          <a:latin typeface="Aptos"/>
                        </a:rPr>
                        <a:t>just under 0.6 t/t</a:t>
                      </a:r>
                    </a:p>
                  </a:txBody>
                  <a:tcPr marL="36576" marR="36576" marT="27432" marB="27432" anchor="ctr">
                    <a:solidFill>
                      <a:srgbClr val="F8FAFB"/>
                    </a:solidFill>
                  </a:tcPr>
                </a:tc>
                <a:tc>
                  <a:txBody>
                    <a:bodyPr/>
                    <a:lstStyle/>
                    <a:p>
                      <a:pPr algn="ctr"/>
                      <a:r>
                        <a:rPr sz="869" b="0" i="0">
                          <a:solidFill>
                            <a:srgbClr val="202B33"/>
                          </a:solidFill>
                          <a:latin typeface="Aptos"/>
                        </a:rPr>
                        <a:t>Binder decarbonisation pressure</a:t>
                      </a:r>
                    </a:p>
                  </a:txBody>
                  <a:tcPr marL="36576" marR="36576" marT="27432" marB="27432" anchor="ctr">
                    <a:solidFill>
                      <a:srgbClr val="F8FAFB"/>
                    </a:solidFill>
                  </a:tcPr>
                </a:tc>
                <a:tc>
                  <a:txBody>
                    <a:bodyPr/>
                    <a:lstStyle/>
                    <a:p>
                      <a:pPr algn="ctr"/>
                      <a:r>
                        <a:rPr sz="869" b="0" i="0">
                          <a:solidFill>
                            <a:srgbClr val="202B33"/>
                          </a:solidFill>
                          <a:latin typeface="Aptos"/>
                        </a:rPr>
                        <a:t>IEA (2023)</a:t>
                      </a:r>
                    </a:p>
                  </a:txBody>
                  <a:tcPr marL="36576" marR="36576" marT="27432" marB="27432" anchor="ctr">
                    <a:solidFill>
                      <a:srgbClr val="F8FAFB"/>
                    </a:solidFill>
                  </a:tcPr>
                </a:tc>
              </a:tr>
              <a:tr h="557784">
                <a:tc>
                  <a:txBody>
                    <a:bodyPr/>
                    <a:lstStyle/>
                    <a:p>
                      <a:pPr algn="l"/>
                      <a:r>
                        <a:rPr sz="869" b="1" i="0">
                          <a:solidFill>
                            <a:srgbClr val="202B33"/>
                          </a:solidFill>
                          <a:latin typeface="Aptos"/>
                        </a:rPr>
                        <a:t>Coal fly ash</a:t>
                      </a:r>
                    </a:p>
                  </a:txBody>
                  <a:tcPr marL="36576" marR="36576" marT="27432" marB="27432" anchor="ctr">
                    <a:solidFill>
                      <a:srgbClr val="FFFFFF"/>
                    </a:solidFill>
                  </a:tcPr>
                </a:tc>
                <a:tc>
                  <a:txBody>
                    <a:bodyPr/>
                    <a:lstStyle/>
                    <a:p>
                      <a:pPr algn="ctr"/>
                      <a:r>
                        <a:rPr sz="869" b="0" i="0">
                          <a:solidFill>
                            <a:srgbClr val="202B33"/>
                          </a:solidFill>
                          <a:latin typeface="Aptos"/>
                        </a:rPr>
                        <a:t>&gt;1 Gt y⁻¹ (order)</a:t>
                      </a:r>
                    </a:p>
                  </a:txBody>
                  <a:tcPr marL="36576" marR="36576" marT="27432" marB="27432" anchor="ctr">
                    <a:solidFill>
                      <a:srgbClr val="FFFFFF"/>
                    </a:solidFill>
                  </a:tcPr>
                </a:tc>
                <a:tc>
                  <a:txBody>
                    <a:bodyPr/>
                    <a:lstStyle/>
                    <a:p>
                      <a:pPr algn="ctr"/>
                      <a:r>
                        <a:rPr sz="869" b="0" i="0">
                          <a:solidFill>
                            <a:srgbClr val="202B33"/>
                          </a:solidFill>
                          <a:latin typeface="Aptos"/>
                        </a:rPr>
                        <a:t>Potential circular feedstock</a:t>
                      </a:r>
                    </a:p>
                  </a:txBody>
                  <a:tcPr marL="36576" marR="36576" marT="27432" marB="27432" anchor="ctr">
                    <a:solidFill>
                      <a:srgbClr val="FFFFFF"/>
                    </a:solidFill>
                  </a:tcPr>
                </a:tc>
                <a:tc>
                  <a:txBody>
                    <a:bodyPr/>
                    <a:lstStyle/>
                    <a:p>
                      <a:pPr algn="ctr"/>
                      <a:r>
                        <a:rPr sz="869" b="0" i="0">
                          <a:solidFill>
                            <a:srgbClr val="202B33"/>
                          </a:solidFill>
                          <a:latin typeface="Aptos"/>
                        </a:rPr>
                        <a:t>Reid et al. (2020)</a:t>
                      </a:r>
                    </a:p>
                  </a:txBody>
                  <a:tcPr marL="36576" marR="36576" marT="27432" marB="27432" anchor="ctr">
                    <a:solidFill>
                      <a:srgbClr val="FFFFFF"/>
                    </a:solidFill>
                  </a:tcPr>
                </a:tc>
              </a:tr>
            </a:tbl>
          </a:graphicData>
        </a:graphic>
      </p:graphicFrame>
      <p:sp>
        <p:nvSpPr>
          <p:cNvPr id="15" name="Rectangle 14"/>
          <p:cNvSpPr/>
          <p:nvPr/>
        </p:nvSpPr>
        <p:spPr>
          <a:xfrm>
            <a:off x="749808" y="4901184"/>
            <a:ext cx="10698480" cy="457200"/>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010912"/>
            <a:ext cx="10332720" cy="228600"/>
          </a:xfrm>
          <a:prstGeom prst="rect">
            <a:avLst/>
          </a:prstGeom>
          <a:noFill/>
        </p:spPr>
        <p:txBody>
          <a:bodyPr wrap="square" lIns="0" rIns="0" tIns="0" bIns="0" anchor="t">
            <a:spAutoFit/>
          </a:bodyPr>
          <a:lstStyle/>
          <a:p>
            <a:pPr algn="l">
              <a:lnSpc>
                <a:spcPct val="100000"/>
              </a:lnSpc>
            </a:pPr>
            <a:r>
              <a:rPr sz="960" b="1" i="0">
                <a:solidFill>
                  <a:srgbClr val="17365D"/>
                </a:solidFill>
                <a:latin typeface="Aptos"/>
              </a:rPr>
              <a:t>Research relevance: the proposed barrier material links impact-energy management with reduced self-weight and industrial by-product utilisation.</a:t>
            </a:r>
          </a:p>
        </p:txBody>
      </p:sp>
      <p:sp>
        <p:nvSpPr>
          <p:cNvPr id="17" name="Rectangle 16"/>
          <p:cNvSpPr/>
          <p:nvPr/>
        </p:nvSpPr>
        <p:spPr>
          <a:xfrm>
            <a:off x="749808" y="5449824"/>
            <a:ext cx="10698480" cy="420624"/>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5550408"/>
            <a:ext cx="10332720" cy="210312"/>
          </a:xfrm>
          <a:prstGeom prst="rect">
            <a:avLst/>
          </a:prstGeom>
          <a:noFill/>
        </p:spPr>
        <p:txBody>
          <a:bodyPr wrap="square" lIns="0" rIns="0" tIns="0" bIns="0" anchor="t">
            <a:spAutoFit/>
          </a:bodyPr>
          <a:lstStyle/>
          <a:p>
            <a:pPr algn="l">
              <a:lnSpc>
                <a:spcPct val="100000"/>
              </a:lnSpc>
            </a:pPr>
            <a:r>
              <a:rPr sz="919" b="1" i="0">
                <a:solidFill>
                  <a:srgbClr val="9A4651"/>
                </a:solidFill>
                <a:latin typeface="Aptos"/>
              </a:rPr>
              <a:t>Evidence boundary: no product-level LCA or full-scale vehicle crash test has yet been completed.</a:t>
            </a:r>
          </a:p>
        </p:txBody>
      </p:sp>
      <p:sp>
        <p:nvSpPr>
          <p:cNvPr id="19" name="TextBox 18"/>
          <p:cNvSpPr txBox="1"/>
          <p:nvPr/>
        </p:nvSpPr>
        <p:spPr>
          <a:xfrm>
            <a:off x="667512" y="5998464"/>
            <a:ext cx="108813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WHO (2023), pp. 4, 14; UNEP (2022); USGS MCS—Cement (2025); IEA Cement (2023); Reid, Carpenter &amp; Masili, IEA CCC/303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RESEARCH GAP</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Literature and prior-art synthesis</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04</a:t>
            </a:r>
          </a:p>
        </p:txBody>
      </p:sp>
      <p:graphicFrame>
        <p:nvGraphicFramePr>
          <p:cNvPr id="11" name="Table 10"/>
          <p:cNvGraphicFramePr>
            <a:graphicFrameLocks noGrp="1"/>
          </p:cNvGraphicFramePr>
          <p:nvPr/>
        </p:nvGraphicFramePr>
        <p:xfrm>
          <a:off x="658368" y="1234440"/>
          <a:ext cx="10881357" cy="3456432"/>
        </p:xfrm>
        <a:graphic>
          <a:graphicData uri="http://schemas.openxmlformats.org/drawingml/2006/table">
            <a:tbl>
              <a:tblPr firstRow="1" bandRow="1">
                <a:tableStyleId>{5C22544A-7EE6-4342-B048-85BDC9FD1C3A}</a:tableStyleId>
              </a:tblPr>
              <a:tblGrid>
                <a:gridCol w="1967905"/>
                <a:gridCol w="1562748"/>
                <a:gridCol w="1562748"/>
                <a:gridCol w="1678507"/>
                <a:gridCol w="1678507"/>
                <a:gridCol w="2430942"/>
              </a:tblGrid>
              <a:tr h="493776">
                <a:tc>
                  <a:txBody>
                    <a:bodyPr/>
                    <a:lstStyle/>
                    <a:p>
                      <a:pPr algn="l"/>
                      <a:r>
                        <a:rPr sz="840" b="1" i="0">
                          <a:solidFill>
                            <a:srgbClr val="FFFFFF"/>
                          </a:solidFill>
                          <a:latin typeface="Aptos"/>
                        </a:rPr>
                        <a:t>Approach</a:t>
                      </a:r>
                    </a:p>
                  </a:txBody>
                  <a:tcPr marL="36576" marR="36576" marT="27432" marB="27432" anchor="ctr">
                    <a:solidFill>
                      <a:srgbClr val="17365D"/>
                    </a:solidFill>
                  </a:tcPr>
                </a:tc>
                <a:tc>
                  <a:txBody>
                    <a:bodyPr/>
                    <a:lstStyle/>
                    <a:p>
                      <a:pPr algn="ctr"/>
                      <a:r>
                        <a:rPr sz="840" b="1" i="0">
                          <a:solidFill>
                            <a:srgbClr val="FFFFFF"/>
                          </a:solidFill>
                          <a:latin typeface="Aptos"/>
                        </a:rPr>
                        <a:t>Containment / strength</a:t>
                      </a:r>
                    </a:p>
                  </a:txBody>
                  <a:tcPr marL="36576" marR="36576" marT="27432" marB="27432" anchor="ctr">
                    <a:solidFill>
                      <a:srgbClr val="17365D"/>
                    </a:solidFill>
                  </a:tcPr>
                </a:tc>
                <a:tc>
                  <a:txBody>
                    <a:bodyPr/>
                    <a:lstStyle/>
                    <a:p>
                      <a:pPr algn="ctr"/>
                      <a:r>
                        <a:rPr sz="840" b="1" i="0">
                          <a:solidFill>
                            <a:srgbClr val="FFFFFF"/>
                          </a:solidFill>
                          <a:latin typeface="Aptos"/>
                        </a:rPr>
                        <a:t>Energy dissipation</a:t>
                      </a:r>
                    </a:p>
                  </a:txBody>
                  <a:tcPr marL="36576" marR="36576" marT="27432" marB="27432" anchor="ctr">
                    <a:solidFill>
                      <a:srgbClr val="17365D"/>
                    </a:solidFill>
                  </a:tcPr>
                </a:tc>
                <a:tc>
                  <a:txBody>
                    <a:bodyPr/>
                    <a:lstStyle/>
                    <a:p>
                      <a:pPr algn="ctr"/>
                      <a:r>
                        <a:rPr sz="840" b="1" i="0">
                          <a:solidFill>
                            <a:srgbClr val="FFFFFF"/>
                          </a:solidFill>
                          <a:latin typeface="Aptos"/>
                        </a:rPr>
                        <a:t>Damage control</a:t>
                      </a:r>
                    </a:p>
                  </a:txBody>
                  <a:tcPr marL="36576" marR="36576" marT="27432" marB="27432" anchor="ctr">
                    <a:solidFill>
                      <a:srgbClr val="17365D"/>
                    </a:solidFill>
                  </a:tcPr>
                </a:tc>
                <a:tc>
                  <a:txBody>
                    <a:bodyPr/>
                    <a:lstStyle/>
                    <a:p>
                      <a:pPr algn="ctr"/>
                      <a:r>
                        <a:rPr sz="840" b="1" i="0">
                          <a:solidFill>
                            <a:srgbClr val="FFFFFF"/>
                          </a:solidFill>
                          <a:latin typeface="Aptos"/>
                        </a:rPr>
                        <a:t>Scale / cost</a:t>
                      </a:r>
                    </a:p>
                  </a:txBody>
                  <a:tcPr marL="36576" marR="36576" marT="27432" marB="27432" anchor="ctr">
                    <a:solidFill>
                      <a:srgbClr val="17365D"/>
                    </a:solidFill>
                  </a:tcPr>
                </a:tc>
                <a:tc>
                  <a:txBody>
                    <a:bodyPr/>
                    <a:lstStyle/>
                    <a:p>
                      <a:pPr algn="ctr"/>
                      <a:r>
                        <a:rPr sz="840" b="1" i="0">
                          <a:solidFill>
                            <a:srgbClr val="FFFFFF"/>
                          </a:solidFill>
                          <a:latin typeface="Aptos"/>
                        </a:rPr>
                        <a:t>Residual gap</a:t>
                      </a:r>
                    </a:p>
                  </a:txBody>
                  <a:tcPr marL="36576" marR="36576" marT="27432" marB="27432" anchor="ctr">
                    <a:solidFill>
                      <a:srgbClr val="17365D"/>
                    </a:solidFill>
                  </a:tcPr>
                </a:tc>
              </a:tr>
              <a:tr h="493776">
                <a:tc>
                  <a:txBody>
                    <a:bodyPr/>
                    <a:lstStyle/>
                    <a:p>
                      <a:pPr algn="l"/>
                      <a:r>
                        <a:rPr sz="860" b="1" i="0">
                          <a:solidFill>
                            <a:srgbClr val="202B33"/>
                          </a:solidFill>
                          <a:latin typeface="Aptos"/>
                        </a:rPr>
                        <a:t>Rigid NWC barrier</a:t>
                      </a:r>
                    </a:p>
                  </a:txBody>
                  <a:tcPr marL="36576" marR="36576" marT="27432" marB="27432" anchor="ctr">
                    <a:solidFill>
                      <a:srgbClr val="FFFFFF"/>
                    </a:solidFill>
                  </a:tcPr>
                </a:tc>
                <a:tc>
                  <a:txBody>
                    <a:bodyPr/>
                    <a:lstStyle/>
                    <a:p>
                      <a:pPr algn="ctr"/>
                      <a:r>
                        <a:rPr sz="860" b="0" i="0">
                          <a:solidFill>
                            <a:srgbClr val="202B33"/>
                          </a:solidFill>
                          <a:latin typeface="Aptos"/>
                        </a:rPr>
                        <a:t>High</a:t>
                      </a:r>
                    </a:p>
                  </a:txBody>
                  <a:tcPr marL="36576" marR="36576" marT="27432" marB="27432" anchor="ctr">
                    <a:solidFill>
                      <a:srgbClr val="FFFFFF"/>
                    </a:solidFill>
                  </a:tcPr>
                </a:tc>
                <a:tc>
                  <a:txBody>
                    <a:bodyPr/>
                    <a:lstStyle/>
                    <a:p>
                      <a:pPr algn="ctr"/>
                      <a:r>
                        <a:rPr sz="860" b="0" i="0">
                          <a:solidFill>
                            <a:srgbClr val="202B33"/>
                          </a:solidFill>
                          <a:latin typeface="Aptos"/>
                        </a:rPr>
                        <a:t>Low–moderate</a:t>
                      </a:r>
                    </a:p>
                  </a:txBody>
                  <a:tcPr marL="36576" marR="36576" marT="27432" marB="27432" anchor="ctr">
                    <a:solidFill>
                      <a:srgbClr val="FFFFFF"/>
                    </a:solidFill>
                  </a:tcPr>
                </a:tc>
                <a:tc>
                  <a:txBody>
                    <a:bodyPr/>
                    <a:lstStyle/>
                    <a:p>
                      <a:pPr algn="ctr"/>
                      <a:r>
                        <a:rPr sz="860" b="0" i="0">
                          <a:solidFill>
                            <a:srgbClr val="202B33"/>
                          </a:solidFill>
                          <a:latin typeface="Aptos"/>
                        </a:rPr>
                        <a:t>Brittle / debris risk</a:t>
                      </a:r>
                    </a:p>
                  </a:txBody>
                  <a:tcPr marL="36576" marR="36576" marT="27432" marB="27432" anchor="ctr">
                    <a:solidFill>
                      <a:srgbClr val="FFFFFF"/>
                    </a:solidFill>
                  </a:tcPr>
                </a:tc>
                <a:tc>
                  <a:txBody>
                    <a:bodyPr/>
                    <a:lstStyle/>
                    <a:p>
                      <a:pPr algn="ctr"/>
                      <a:r>
                        <a:rPr sz="860" b="0" i="0">
                          <a:solidFill>
                            <a:srgbClr val="202B33"/>
                          </a:solidFill>
                          <a:latin typeface="Aptos"/>
                        </a:rPr>
                        <a:t>Mature</a:t>
                      </a:r>
                    </a:p>
                  </a:txBody>
                  <a:tcPr marL="36576" marR="36576" marT="27432" marB="27432" anchor="ctr">
                    <a:solidFill>
                      <a:srgbClr val="FFFFFF"/>
                    </a:solidFill>
                  </a:tcPr>
                </a:tc>
                <a:tc>
                  <a:txBody>
                    <a:bodyPr/>
                    <a:lstStyle/>
                    <a:p>
                      <a:pPr algn="ctr"/>
                      <a:r>
                        <a:rPr sz="860" b="0" i="0">
                          <a:solidFill>
                            <a:srgbClr val="202B33"/>
                          </a:solidFill>
                          <a:latin typeface="Aptos"/>
                        </a:rPr>
                        <a:t>Harsh impact pulse</a:t>
                      </a:r>
                    </a:p>
                  </a:txBody>
                  <a:tcPr marL="36576" marR="36576" marT="27432" marB="27432" anchor="ctr">
                    <a:solidFill>
                      <a:srgbClr val="FFFFFF"/>
                    </a:solidFill>
                  </a:tcPr>
                </a:tc>
              </a:tr>
              <a:tr h="493776">
                <a:tc>
                  <a:txBody>
                    <a:bodyPr/>
                    <a:lstStyle/>
                    <a:p>
                      <a:pPr algn="l"/>
                      <a:r>
                        <a:rPr sz="860" b="1" i="0">
                          <a:solidFill>
                            <a:srgbClr val="202B33"/>
                          </a:solidFill>
                          <a:latin typeface="Aptos"/>
                        </a:rPr>
                        <a:t>Steel / cable</a:t>
                      </a:r>
                    </a:p>
                  </a:txBody>
                  <a:tcPr marL="36576" marR="36576" marT="27432" marB="27432" anchor="ctr">
                    <a:solidFill>
                      <a:srgbClr val="F8FAFB"/>
                    </a:solidFill>
                  </a:tcPr>
                </a:tc>
                <a:tc>
                  <a:txBody>
                    <a:bodyPr/>
                    <a:lstStyle/>
                    <a:p>
                      <a:pPr algn="ctr"/>
                      <a:r>
                        <a:rPr sz="860" b="0" i="0">
                          <a:solidFill>
                            <a:srgbClr val="202B33"/>
                          </a:solidFill>
                          <a:latin typeface="Aptos"/>
                        </a:rPr>
                        <a:t>System-dependent</a:t>
                      </a:r>
                    </a:p>
                  </a:txBody>
                  <a:tcPr marL="36576" marR="36576" marT="27432" marB="27432" anchor="ctr">
                    <a:solidFill>
                      <a:srgbClr val="F8FAFB"/>
                    </a:solidFill>
                  </a:tcPr>
                </a:tc>
                <a:tc>
                  <a:txBody>
                    <a:bodyPr/>
                    <a:lstStyle/>
                    <a:p>
                      <a:pPr algn="ctr"/>
                      <a:r>
                        <a:rPr sz="860" b="0" i="0">
                          <a:solidFill>
                            <a:srgbClr val="202B33"/>
                          </a:solidFill>
                          <a:latin typeface="Aptos"/>
                        </a:rPr>
                        <a:t>High via deflection</a:t>
                      </a:r>
                    </a:p>
                  </a:txBody>
                  <a:tcPr marL="36576" marR="36576" marT="27432" marB="27432" anchor="ctr">
                    <a:solidFill>
                      <a:srgbClr val="F8FAFB"/>
                    </a:solidFill>
                  </a:tcPr>
                </a:tc>
                <a:tc>
                  <a:txBody>
                    <a:bodyPr/>
                    <a:lstStyle/>
                    <a:p>
                      <a:pPr algn="ctr"/>
                      <a:r>
                        <a:rPr sz="860" b="0" i="0">
                          <a:solidFill>
                            <a:srgbClr val="202B33"/>
                          </a:solidFill>
                          <a:latin typeface="Aptos"/>
                        </a:rPr>
                        <a:t>Repair after impact</a:t>
                      </a:r>
                    </a:p>
                  </a:txBody>
                  <a:tcPr marL="36576" marR="36576" marT="27432" marB="27432" anchor="ctr">
                    <a:solidFill>
                      <a:srgbClr val="F8FAFB"/>
                    </a:solidFill>
                  </a:tcPr>
                </a:tc>
                <a:tc>
                  <a:txBody>
                    <a:bodyPr/>
                    <a:lstStyle/>
                    <a:p>
                      <a:pPr algn="ctr"/>
                      <a:r>
                        <a:rPr sz="860" b="0" i="0">
                          <a:solidFill>
                            <a:srgbClr val="202B33"/>
                          </a:solidFill>
                          <a:latin typeface="Aptos"/>
                        </a:rPr>
                        <a:t>Corrosion / clear zone</a:t>
                      </a:r>
                    </a:p>
                  </a:txBody>
                  <a:tcPr marL="36576" marR="36576" marT="27432" marB="27432" anchor="ctr">
                    <a:solidFill>
                      <a:srgbClr val="F8FAFB"/>
                    </a:solidFill>
                  </a:tcPr>
                </a:tc>
                <a:tc>
                  <a:txBody>
                    <a:bodyPr/>
                    <a:lstStyle/>
                    <a:p>
                      <a:pPr algn="ctr"/>
                      <a:r>
                        <a:rPr sz="860" b="0" i="0">
                          <a:solidFill>
                            <a:srgbClr val="202B33"/>
                          </a:solidFill>
                          <a:latin typeface="Aptos"/>
                        </a:rPr>
                        <a:t>Space + maintenance</a:t>
                      </a:r>
                    </a:p>
                  </a:txBody>
                  <a:tcPr marL="36576" marR="36576" marT="27432" marB="27432" anchor="ctr">
                    <a:solidFill>
                      <a:srgbClr val="F8FAFB"/>
                    </a:solidFill>
                  </a:tcPr>
                </a:tc>
              </a:tr>
              <a:tr h="493776">
                <a:tc>
                  <a:txBody>
                    <a:bodyPr/>
                    <a:lstStyle/>
                    <a:p>
                      <a:pPr algn="l"/>
                      <a:r>
                        <a:rPr sz="860" b="1" i="0">
                          <a:solidFill>
                            <a:srgbClr val="202B33"/>
                          </a:solidFill>
                          <a:latin typeface="Aptos"/>
                        </a:rPr>
                        <a:t>Rubberised + fibre</a:t>
                      </a:r>
                    </a:p>
                  </a:txBody>
                  <a:tcPr marL="36576" marR="36576" marT="27432" marB="27432" anchor="ctr">
                    <a:solidFill>
                      <a:srgbClr val="FFFFFF"/>
                    </a:solidFill>
                  </a:tcPr>
                </a:tc>
                <a:tc>
                  <a:txBody>
                    <a:bodyPr/>
                    <a:lstStyle/>
                    <a:p>
                      <a:pPr algn="ctr"/>
                      <a:r>
                        <a:rPr sz="860" b="0" i="0">
                          <a:solidFill>
                            <a:srgbClr val="202B33"/>
                          </a:solidFill>
                          <a:latin typeface="Aptos"/>
                        </a:rPr>
                        <a:t>Strength trade-off</a:t>
                      </a:r>
                    </a:p>
                  </a:txBody>
                  <a:tcPr marL="36576" marR="36576" marT="27432" marB="27432" anchor="ctr">
                    <a:solidFill>
                      <a:srgbClr val="FFFFFF"/>
                    </a:solidFill>
                  </a:tcPr>
                </a:tc>
                <a:tc>
                  <a:txBody>
                    <a:bodyPr/>
                    <a:lstStyle/>
                    <a:p>
                      <a:pPr algn="ctr"/>
                      <a:r>
                        <a:rPr sz="860" b="0" i="0">
                          <a:solidFill>
                            <a:srgbClr val="202B33"/>
                          </a:solidFill>
                          <a:latin typeface="Aptos"/>
                        </a:rPr>
                        <a:t>Improved</a:t>
                      </a:r>
                    </a:p>
                  </a:txBody>
                  <a:tcPr marL="36576" marR="36576" marT="27432" marB="27432" anchor="ctr">
                    <a:solidFill>
                      <a:srgbClr val="FFFFFF"/>
                    </a:solidFill>
                  </a:tcPr>
                </a:tc>
                <a:tc>
                  <a:txBody>
                    <a:bodyPr/>
                    <a:lstStyle/>
                    <a:p>
                      <a:pPr algn="ctr"/>
                      <a:r>
                        <a:rPr sz="860" b="0" i="0">
                          <a:solidFill>
                            <a:srgbClr val="202B33"/>
                          </a:solidFill>
                          <a:latin typeface="Aptos"/>
                        </a:rPr>
                        <a:t>Improved</a:t>
                      </a:r>
                    </a:p>
                  </a:txBody>
                  <a:tcPr marL="36576" marR="36576" marT="27432" marB="27432" anchor="ctr">
                    <a:solidFill>
                      <a:srgbClr val="FFFFFF"/>
                    </a:solidFill>
                  </a:tcPr>
                </a:tc>
                <a:tc>
                  <a:txBody>
                    <a:bodyPr/>
                    <a:lstStyle/>
                    <a:p>
                      <a:pPr algn="ctr"/>
                      <a:r>
                        <a:rPr sz="860" b="0" i="0">
                          <a:solidFill>
                            <a:srgbClr val="202B33"/>
                          </a:solidFill>
                          <a:latin typeface="Aptos"/>
                        </a:rPr>
                        <a:t>Processing complexity</a:t>
                      </a:r>
                    </a:p>
                  </a:txBody>
                  <a:tcPr marL="36576" marR="36576" marT="27432" marB="27432" anchor="ctr">
                    <a:solidFill>
                      <a:srgbClr val="FFFFFF"/>
                    </a:solidFill>
                  </a:tcPr>
                </a:tc>
                <a:tc>
                  <a:txBody>
                    <a:bodyPr/>
                    <a:lstStyle/>
                    <a:p>
                      <a:pPr algn="ctr"/>
                      <a:r>
                        <a:rPr sz="860" b="0" i="0">
                          <a:solidFill>
                            <a:srgbClr val="202B33"/>
                          </a:solidFill>
                          <a:latin typeface="Aptos"/>
                        </a:rPr>
                        <a:t>Durability / scale</a:t>
                      </a:r>
                    </a:p>
                  </a:txBody>
                  <a:tcPr marL="36576" marR="36576" marT="27432" marB="27432" anchor="ctr">
                    <a:solidFill>
                      <a:srgbClr val="FFFFFF"/>
                    </a:solidFill>
                  </a:tcPr>
                </a:tc>
              </a:tr>
              <a:tr h="493776">
                <a:tc>
                  <a:txBody>
                    <a:bodyPr/>
                    <a:lstStyle/>
                    <a:p>
                      <a:pPr algn="l"/>
                      <a:r>
                        <a:rPr sz="860" b="1" i="0">
                          <a:solidFill>
                            <a:srgbClr val="202B33"/>
                          </a:solidFill>
                          <a:latin typeface="Aptos"/>
                        </a:rPr>
                        <a:t>UHPC / ECC</a:t>
                      </a:r>
                    </a:p>
                  </a:txBody>
                  <a:tcPr marL="36576" marR="36576" marT="27432" marB="27432" anchor="ctr">
                    <a:solidFill>
                      <a:srgbClr val="F8FAFB"/>
                    </a:solidFill>
                  </a:tcPr>
                </a:tc>
                <a:tc>
                  <a:txBody>
                    <a:bodyPr/>
                    <a:lstStyle/>
                    <a:p>
                      <a:pPr algn="ctr"/>
                      <a:r>
                        <a:rPr sz="860" b="0" i="0">
                          <a:solidFill>
                            <a:srgbClr val="202B33"/>
                          </a:solidFill>
                          <a:latin typeface="Aptos"/>
                        </a:rPr>
                        <a:t>Very high</a:t>
                      </a:r>
                    </a:p>
                  </a:txBody>
                  <a:tcPr marL="36576" marR="36576" marT="27432" marB="27432" anchor="ctr">
                    <a:solidFill>
                      <a:srgbClr val="F8FAFB"/>
                    </a:solidFill>
                  </a:tcPr>
                </a:tc>
                <a:tc>
                  <a:txBody>
                    <a:bodyPr/>
                    <a:lstStyle/>
                    <a:p>
                      <a:pPr algn="ctr"/>
                      <a:r>
                        <a:rPr sz="860" b="0" i="0">
                          <a:solidFill>
                            <a:srgbClr val="202B33"/>
                          </a:solidFill>
                          <a:latin typeface="Aptos"/>
                        </a:rPr>
                        <a:t>Mix-dependent</a:t>
                      </a:r>
                    </a:p>
                  </a:txBody>
                  <a:tcPr marL="36576" marR="36576" marT="27432" marB="27432" anchor="ctr">
                    <a:solidFill>
                      <a:srgbClr val="F8FAFB"/>
                    </a:solidFill>
                  </a:tcPr>
                </a:tc>
                <a:tc>
                  <a:txBody>
                    <a:bodyPr/>
                    <a:lstStyle/>
                    <a:p>
                      <a:pPr algn="ctr"/>
                      <a:r>
                        <a:rPr sz="860" b="0" i="0">
                          <a:solidFill>
                            <a:srgbClr val="202B33"/>
                          </a:solidFill>
                          <a:latin typeface="Aptos"/>
                        </a:rPr>
                        <a:t>Good crack control</a:t>
                      </a:r>
                    </a:p>
                  </a:txBody>
                  <a:tcPr marL="36576" marR="36576" marT="27432" marB="27432" anchor="ctr">
                    <a:solidFill>
                      <a:srgbClr val="F8FAFB"/>
                    </a:solidFill>
                  </a:tcPr>
                </a:tc>
                <a:tc>
                  <a:txBody>
                    <a:bodyPr/>
                    <a:lstStyle/>
                    <a:p>
                      <a:pPr algn="ctr"/>
                      <a:r>
                        <a:rPr sz="860" b="0" i="0">
                          <a:solidFill>
                            <a:srgbClr val="202B33"/>
                          </a:solidFill>
                          <a:latin typeface="Aptos"/>
                        </a:rPr>
                        <a:t>High material cost</a:t>
                      </a:r>
                    </a:p>
                  </a:txBody>
                  <a:tcPr marL="36576" marR="36576" marT="27432" marB="27432" anchor="ctr">
                    <a:solidFill>
                      <a:srgbClr val="F8FAFB"/>
                    </a:solidFill>
                  </a:tcPr>
                </a:tc>
                <a:tc>
                  <a:txBody>
                    <a:bodyPr/>
                    <a:lstStyle/>
                    <a:p>
                      <a:pPr algn="ctr"/>
                      <a:r>
                        <a:rPr sz="860" b="0" i="0">
                          <a:solidFill>
                            <a:srgbClr val="202B33"/>
                          </a:solidFill>
                          <a:latin typeface="Aptos"/>
                        </a:rPr>
                        <a:t>Stiffness / economics</a:t>
                      </a:r>
                    </a:p>
                  </a:txBody>
                  <a:tcPr marL="36576" marR="36576" marT="27432" marB="27432" anchor="ctr">
                    <a:solidFill>
                      <a:srgbClr val="F8FAFB"/>
                    </a:solidFill>
                  </a:tcPr>
                </a:tc>
              </a:tr>
              <a:tr h="493776">
                <a:tc>
                  <a:txBody>
                    <a:bodyPr/>
                    <a:lstStyle/>
                    <a:p>
                      <a:pPr algn="l"/>
                      <a:r>
                        <a:rPr sz="860" b="1" i="0">
                          <a:solidFill>
                            <a:srgbClr val="202B33"/>
                          </a:solidFill>
                          <a:latin typeface="Aptos"/>
                        </a:rPr>
                        <a:t>Lightweight barrier concepts</a:t>
                      </a:r>
                    </a:p>
                  </a:txBody>
                  <a:tcPr marL="36576" marR="36576" marT="27432" marB="27432" anchor="ctr">
                    <a:solidFill>
                      <a:srgbClr val="FFFFFF"/>
                    </a:solidFill>
                  </a:tcPr>
                </a:tc>
                <a:tc>
                  <a:txBody>
                    <a:bodyPr/>
                    <a:lstStyle/>
                    <a:p>
                      <a:pPr algn="ctr"/>
                      <a:r>
                        <a:rPr sz="860" b="0" i="0">
                          <a:solidFill>
                            <a:srgbClr val="202B33"/>
                          </a:solidFill>
                          <a:latin typeface="Aptos"/>
                        </a:rPr>
                        <a:t>Demonstrated in prior art</a:t>
                      </a:r>
                    </a:p>
                  </a:txBody>
                  <a:tcPr marL="36576" marR="36576" marT="27432" marB="27432" anchor="ctr">
                    <a:solidFill>
                      <a:srgbClr val="FFFFFF"/>
                    </a:solidFill>
                  </a:tcPr>
                </a:tc>
                <a:tc>
                  <a:txBody>
                    <a:bodyPr/>
                    <a:lstStyle/>
                    <a:p>
                      <a:pPr algn="ctr"/>
                      <a:r>
                        <a:rPr sz="860" b="0" i="0">
                          <a:solidFill>
                            <a:srgbClr val="202B33"/>
                          </a:solidFill>
                          <a:latin typeface="Aptos"/>
                        </a:rPr>
                        <a:t>Potential</a:t>
                      </a:r>
                    </a:p>
                  </a:txBody>
                  <a:tcPr marL="36576" marR="36576" marT="27432" marB="27432" anchor="ctr">
                    <a:solidFill>
                      <a:srgbClr val="FFFFFF"/>
                    </a:solidFill>
                  </a:tcPr>
                </a:tc>
                <a:tc>
                  <a:txBody>
                    <a:bodyPr/>
                    <a:lstStyle/>
                    <a:p>
                      <a:pPr algn="ctr"/>
                      <a:r>
                        <a:rPr sz="860" b="0" i="0">
                          <a:solidFill>
                            <a:srgbClr val="202B33"/>
                          </a:solidFill>
                          <a:latin typeface="Aptos"/>
                        </a:rPr>
                        <a:t>Design-specific</a:t>
                      </a:r>
                    </a:p>
                  </a:txBody>
                  <a:tcPr marL="36576" marR="36576" marT="27432" marB="27432" anchor="ctr">
                    <a:solidFill>
                      <a:srgbClr val="FFFFFF"/>
                    </a:solidFill>
                  </a:tcPr>
                </a:tc>
                <a:tc>
                  <a:txBody>
                    <a:bodyPr/>
                    <a:lstStyle/>
                    <a:p>
                      <a:pPr algn="ctr"/>
                      <a:r>
                        <a:rPr sz="860" b="0" i="0">
                          <a:solidFill>
                            <a:srgbClr val="202B33"/>
                          </a:solidFill>
                          <a:latin typeface="Aptos"/>
                        </a:rPr>
                        <a:t>Limited adoption</a:t>
                      </a:r>
                    </a:p>
                  </a:txBody>
                  <a:tcPr marL="36576" marR="36576" marT="27432" marB="27432" anchor="ctr">
                    <a:solidFill>
                      <a:srgbClr val="FFFFFF"/>
                    </a:solidFill>
                  </a:tcPr>
                </a:tc>
                <a:tc>
                  <a:txBody>
                    <a:bodyPr/>
                    <a:lstStyle/>
                    <a:p>
                      <a:pPr algn="ctr"/>
                      <a:r>
                        <a:rPr sz="860" b="0" i="0">
                          <a:solidFill>
                            <a:srgbClr val="202B33"/>
                          </a:solidFill>
                          <a:latin typeface="Aptos"/>
                        </a:rPr>
                        <a:t>No integrated proof set</a:t>
                      </a:r>
                    </a:p>
                  </a:txBody>
                  <a:tcPr marL="36576" marR="36576" marT="27432" marB="27432" anchor="ctr">
                    <a:solidFill>
                      <a:srgbClr val="FFFFFF"/>
                    </a:solidFill>
                  </a:tcPr>
                </a:tc>
              </a:tr>
              <a:tr h="493776">
                <a:tc>
                  <a:txBody>
                    <a:bodyPr/>
                    <a:lstStyle/>
                    <a:p>
                      <a:pPr algn="l"/>
                      <a:r>
                        <a:rPr sz="860" b="1" i="0">
                          <a:solidFill>
                            <a:srgbClr val="202B33"/>
                          </a:solidFill>
                          <a:latin typeface="Aptos"/>
                        </a:rPr>
                        <a:t>This invention</a:t>
                      </a:r>
                    </a:p>
                  </a:txBody>
                  <a:tcPr marL="36576" marR="36576" marT="27432" marB="27432" anchor="ctr">
                    <a:solidFill>
                      <a:srgbClr val="EAF2F3"/>
                    </a:solidFill>
                  </a:tcPr>
                </a:tc>
                <a:tc>
                  <a:txBody>
                    <a:bodyPr/>
                    <a:lstStyle/>
                    <a:p>
                      <a:pPr algn="ctr"/>
                      <a:r>
                        <a:rPr sz="860" b="0" i="0">
                          <a:solidFill>
                            <a:srgbClr val="202B33"/>
                          </a:solidFill>
                          <a:latin typeface="Aptos"/>
                        </a:rPr>
                        <a:t>M40+ in tested mixes</a:t>
                      </a:r>
                    </a:p>
                  </a:txBody>
                  <a:tcPr marL="36576" marR="36576" marT="27432" marB="27432" anchor="ctr">
                    <a:solidFill>
                      <a:srgbClr val="EAF2F3"/>
                    </a:solidFill>
                  </a:tcPr>
                </a:tc>
                <a:tc>
                  <a:txBody>
                    <a:bodyPr/>
                    <a:lstStyle/>
                    <a:p>
                      <a:pPr algn="ctr"/>
                      <a:r>
                        <a:rPr sz="860" b="0" i="0">
                          <a:solidFill>
                            <a:srgbClr val="202B33"/>
                          </a:solidFill>
                          <a:latin typeface="Aptos"/>
                        </a:rPr>
                        <a:t>High in repeated impact</a:t>
                      </a:r>
                    </a:p>
                  </a:txBody>
                  <a:tcPr marL="36576" marR="36576" marT="27432" marB="27432" anchor="ctr">
                    <a:solidFill>
                      <a:srgbClr val="EAF2F3"/>
                    </a:solidFill>
                  </a:tcPr>
                </a:tc>
                <a:tc>
                  <a:txBody>
                    <a:bodyPr/>
                    <a:lstStyle/>
                    <a:p>
                      <a:pPr algn="ctr"/>
                      <a:r>
                        <a:rPr sz="860" b="0" i="0">
                          <a:solidFill>
                            <a:srgbClr val="202B33"/>
                          </a:solidFill>
                          <a:latin typeface="Aptos"/>
                        </a:rPr>
                        <a:t>Controlled cracking observed</a:t>
                      </a:r>
                    </a:p>
                  </a:txBody>
                  <a:tcPr marL="36576" marR="36576" marT="27432" marB="27432" anchor="ctr">
                    <a:solidFill>
                      <a:srgbClr val="EAF2F3"/>
                    </a:solidFill>
                  </a:tcPr>
                </a:tc>
                <a:tc>
                  <a:txBody>
                    <a:bodyPr/>
                    <a:lstStyle/>
                    <a:p>
                      <a:pPr algn="ctr"/>
                      <a:r>
                        <a:rPr sz="860" b="0" i="0">
                          <a:solidFill>
                            <a:srgbClr val="202B33"/>
                          </a:solidFill>
                          <a:latin typeface="Aptos"/>
                        </a:rPr>
                        <a:t>Precast-compatible</a:t>
                      </a:r>
                    </a:p>
                  </a:txBody>
                  <a:tcPr marL="36576" marR="36576" marT="27432" marB="27432" anchor="ctr">
                    <a:solidFill>
                      <a:srgbClr val="EAF2F3"/>
                    </a:solidFill>
                  </a:tcPr>
                </a:tc>
                <a:tc>
                  <a:txBody>
                    <a:bodyPr/>
                    <a:lstStyle/>
                    <a:p>
                      <a:pPr algn="ctr"/>
                      <a:r>
                        <a:rPr sz="860" b="0" i="0">
                          <a:solidFill>
                            <a:srgbClr val="202B33"/>
                          </a:solidFill>
                          <a:latin typeface="Aptos"/>
                        </a:rPr>
                        <a:t>Full-scale proof pending</a:t>
                      </a:r>
                    </a:p>
                  </a:txBody>
                  <a:tcPr marL="36576" marR="36576" marT="27432" marB="27432" anchor="ctr">
                    <a:solidFill>
                      <a:srgbClr val="EAF2F3"/>
                    </a:solidFill>
                  </a:tcPr>
                </a:tc>
              </a:tr>
            </a:tbl>
          </a:graphicData>
        </a:graphic>
      </p:graphicFrame>
      <p:sp>
        <p:nvSpPr>
          <p:cNvPr id="12" name="Rectangle 11"/>
          <p:cNvSpPr/>
          <p:nvPr/>
        </p:nvSpPr>
        <p:spPr>
          <a:xfrm>
            <a:off x="667512" y="4974336"/>
            <a:ext cx="10863072" cy="868680"/>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5148072"/>
            <a:ext cx="1920240" cy="274320"/>
          </a:xfrm>
          <a:prstGeom prst="rect">
            <a:avLst/>
          </a:prstGeom>
          <a:noFill/>
        </p:spPr>
        <p:txBody>
          <a:bodyPr wrap="square" lIns="0" rIns="0" tIns="0" bIns="0" anchor="t">
            <a:spAutoFit/>
          </a:bodyPr>
          <a:lstStyle/>
          <a:p>
            <a:pPr algn="l">
              <a:lnSpc>
                <a:spcPct val="100000"/>
              </a:lnSpc>
            </a:pPr>
            <a:r>
              <a:rPr sz="900" b="1" i="0">
                <a:solidFill>
                  <a:srgbClr val="2E6F9E"/>
                </a:solidFill>
                <a:latin typeface="Aptos"/>
              </a:rPr>
              <a:t>PATENT POSITIONING</a:t>
            </a:r>
          </a:p>
        </p:txBody>
      </p:sp>
      <p:sp>
        <p:nvSpPr>
          <p:cNvPr id="14" name="TextBox 13"/>
          <p:cNvSpPr txBox="1"/>
          <p:nvPr/>
        </p:nvSpPr>
        <p:spPr>
          <a:xfrm>
            <a:off x="2724912" y="5074920"/>
            <a:ext cx="8485632" cy="530352"/>
          </a:xfrm>
          <a:prstGeom prst="rect">
            <a:avLst/>
          </a:prstGeom>
          <a:noFill/>
        </p:spPr>
        <p:txBody>
          <a:bodyPr wrap="square" lIns="0" rIns="0" tIns="0" bIns="0" anchor="t">
            <a:spAutoFit/>
          </a:bodyPr>
          <a:lstStyle/>
          <a:p>
            <a:pPr algn="l">
              <a:lnSpc>
                <a:spcPct val="100000"/>
              </a:lnSpc>
            </a:pPr>
            <a:r>
              <a:rPr sz="1060" b="1" i="0">
                <a:solidFill>
                  <a:srgbClr val="202B33"/>
                </a:solidFill>
                <a:latin typeface="Aptos"/>
              </a:rPr>
              <a:t>Avoid a broad “first lightweight concrete barrier” assertion: lightweight-concrete barrier concepts appear in conference literature. Centre differentiation on the integrated architecture, measured synergy, controlled-damage response and protected manufacturing envelope.</a:t>
            </a:r>
          </a:p>
        </p:txBody>
      </p:sp>
      <p:sp>
        <p:nvSpPr>
          <p:cNvPr id="15" name="TextBox 14"/>
          <p:cNvSpPr txBox="1"/>
          <p:nvPr/>
        </p:nvSpPr>
        <p:spPr>
          <a:xfrm>
            <a:off x="667512" y="5989320"/>
            <a:ext cx="1083564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Zain &amp; Mohammed (2015); Raj et al. (2020), ASCE J. Mater. Civ. Eng.; Shen et al. (2014), Constr. Build. Mater.; Bonin et al. (2004), II Int’l Congress SIIV proceedings; Grzebieta et al. (2005), 19th ESV Conference proceedings; Xue et al.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TECHNICAL CONCEPT</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Mechanistic hypothesis and invention architecture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05</a:t>
            </a:r>
          </a:p>
        </p:txBody>
      </p:sp>
      <p:graphicFrame>
        <p:nvGraphicFramePr>
          <p:cNvPr id="11" name="Table 10"/>
          <p:cNvGraphicFramePr>
            <a:graphicFrameLocks noGrp="1"/>
          </p:cNvGraphicFramePr>
          <p:nvPr/>
        </p:nvGraphicFramePr>
        <p:xfrm>
          <a:off x="658368" y="1225296"/>
          <a:ext cx="10863071" cy="2322576"/>
        </p:xfrm>
        <a:graphic>
          <a:graphicData uri="http://schemas.openxmlformats.org/drawingml/2006/table">
            <a:tbl>
              <a:tblPr firstRow="1" bandRow="1">
                <a:tableStyleId>{5C22544A-7EE6-4342-B048-85BDC9FD1C3A}</a:tableStyleId>
              </a:tblPr>
              <a:tblGrid>
                <a:gridCol w="2878714"/>
                <a:gridCol w="3530498"/>
                <a:gridCol w="4453859"/>
              </a:tblGrid>
              <a:tr h="580644">
                <a:tc>
                  <a:txBody>
                    <a:bodyPr/>
                    <a:lstStyle/>
                    <a:p>
                      <a:pPr algn="l"/>
                      <a:r>
                        <a:rPr sz="880" b="1" i="0">
                          <a:solidFill>
                            <a:srgbClr val="FFFFFF"/>
                          </a:solidFill>
                          <a:latin typeface="Aptos"/>
                        </a:rPr>
                        <a:t>Material feature</a:t>
                      </a:r>
                    </a:p>
                  </a:txBody>
                  <a:tcPr marL="36576" marR="36576" marT="27432" marB="27432" anchor="ctr">
                    <a:solidFill>
                      <a:srgbClr val="17365D"/>
                    </a:solidFill>
                  </a:tcPr>
                </a:tc>
                <a:tc>
                  <a:txBody>
                    <a:bodyPr/>
                    <a:lstStyle/>
                    <a:p>
                      <a:pPr algn="ctr"/>
                      <a:r>
                        <a:rPr sz="880" b="1" i="0">
                          <a:solidFill>
                            <a:srgbClr val="FFFFFF"/>
                          </a:solidFill>
                          <a:latin typeface="Aptos"/>
                        </a:rPr>
                        <a:t>Micromechanical process</a:t>
                      </a:r>
                    </a:p>
                  </a:txBody>
                  <a:tcPr marL="36576" marR="36576" marT="27432" marB="27432" anchor="ctr">
                    <a:solidFill>
                      <a:srgbClr val="17365D"/>
                    </a:solidFill>
                  </a:tcPr>
                </a:tc>
                <a:tc>
                  <a:txBody>
                    <a:bodyPr/>
                    <a:lstStyle/>
                    <a:p>
                      <a:pPr algn="ctr"/>
                      <a:r>
                        <a:rPr sz="880" b="1" i="0">
                          <a:solidFill>
                            <a:srgbClr val="FFFFFF"/>
                          </a:solidFill>
                          <a:latin typeface="Aptos"/>
                        </a:rPr>
                        <a:t>Expected engineering consequence</a:t>
                      </a:r>
                    </a:p>
                  </a:txBody>
                  <a:tcPr marL="36576" marR="36576" marT="27432" marB="27432" anchor="ctr">
                    <a:solidFill>
                      <a:srgbClr val="17365D"/>
                    </a:solidFill>
                  </a:tcPr>
                </a:tc>
              </a:tr>
              <a:tr h="580644">
                <a:tc>
                  <a:txBody>
                    <a:bodyPr/>
                    <a:lstStyle/>
                    <a:p>
                      <a:pPr algn="l"/>
                      <a:r>
                        <a:rPr sz="900" b="1" i="0">
                          <a:solidFill>
                            <a:srgbClr val="202B33"/>
                          </a:solidFill>
                          <a:latin typeface="Aptos"/>
                        </a:rPr>
                        <a:t>Porous lightweight phase</a:t>
                      </a:r>
                    </a:p>
                  </a:txBody>
                  <a:tcPr marL="36576" marR="36576" marT="27432" marB="27432" anchor="ctr">
                    <a:solidFill>
                      <a:srgbClr val="EAF1F6"/>
                    </a:solidFill>
                  </a:tcPr>
                </a:tc>
                <a:tc>
                  <a:txBody>
                    <a:bodyPr/>
                    <a:lstStyle/>
                    <a:p>
                      <a:pPr algn="ctr"/>
                      <a:r>
                        <a:rPr sz="900" b="0" i="0">
                          <a:solidFill>
                            <a:srgbClr val="202B33"/>
                          </a:solidFill>
                          <a:latin typeface="Aptos"/>
                        </a:rPr>
                        <a:t>Local crushing; pore collapse; internal damping</a:t>
                      </a:r>
                    </a:p>
                  </a:txBody>
                  <a:tcPr marL="36576" marR="36576" marT="27432" marB="27432" anchor="ctr">
                    <a:solidFill>
                      <a:srgbClr val="EAF1F6"/>
                    </a:solidFill>
                  </a:tcPr>
                </a:tc>
                <a:tc>
                  <a:txBody>
                    <a:bodyPr/>
                    <a:lstStyle/>
                    <a:p>
                      <a:pPr algn="ctr"/>
                      <a:r>
                        <a:rPr sz="900" b="0" i="0">
                          <a:solidFill>
                            <a:srgbClr val="202B33"/>
                          </a:solidFill>
                          <a:latin typeface="Aptos"/>
                        </a:rPr>
                        <a:t>Reduced density and distributed impact-energy dissipation</a:t>
                      </a:r>
                    </a:p>
                  </a:txBody>
                  <a:tcPr marL="36576" marR="36576" marT="27432" marB="27432" anchor="ctr">
                    <a:solidFill>
                      <a:srgbClr val="EAF1F6"/>
                    </a:solidFill>
                  </a:tcPr>
                </a:tc>
              </a:tr>
              <a:tr h="580644">
                <a:tc>
                  <a:txBody>
                    <a:bodyPr/>
                    <a:lstStyle/>
                    <a:p>
                      <a:pPr algn="l"/>
                      <a:r>
                        <a:rPr sz="900" b="1" i="0">
                          <a:solidFill>
                            <a:srgbClr val="202B33"/>
                          </a:solidFill>
                          <a:latin typeface="Aptos"/>
                        </a:rPr>
                        <a:t>Discrete crack-bridging phase</a:t>
                      </a:r>
                    </a:p>
                  </a:txBody>
                  <a:tcPr marL="36576" marR="36576" marT="27432" marB="27432" anchor="ctr">
                    <a:solidFill>
                      <a:srgbClr val="F6EFE4"/>
                    </a:solidFill>
                  </a:tcPr>
                </a:tc>
                <a:tc>
                  <a:txBody>
                    <a:bodyPr/>
                    <a:lstStyle/>
                    <a:p>
                      <a:pPr algn="ctr"/>
                      <a:r>
                        <a:rPr sz="900" b="0" i="0">
                          <a:solidFill>
                            <a:srgbClr val="202B33"/>
                          </a:solidFill>
                          <a:latin typeface="Aptos"/>
                        </a:rPr>
                        <a:t>Debonding; frictional pull-out; bridging</a:t>
                      </a:r>
                    </a:p>
                  </a:txBody>
                  <a:tcPr marL="36576" marR="36576" marT="27432" marB="27432" anchor="ctr">
                    <a:solidFill>
                      <a:srgbClr val="F6EFE4"/>
                    </a:solidFill>
                  </a:tcPr>
                </a:tc>
                <a:tc>
                  <a:txBody>
                    <a:bodyPr/>
                    <a:lstStyle/>
                    <a:p>
                      <a:pPr algn="ctr"/>
                      <a:r>
                        <a:rPr sz="900" b="0" i="0">
                          <a:solidFill>
                            <a:srgbClr val="202B33"/>
                          </a:solidFill>
                          <a:latin typeface="Aptos"/>
                        </a:rPr>
                        <a:t>Residual toughness and fragment restraint</a:t>
                      </a:r>
                    </a:p>
                  </a:txBody>
                  <a:tcPr marL="36576" marR="36576" marT="27432" marB="27432" anchor="ctr">
                    <a:solidFill>
                      <a:srgbClr val="F6EFE4"/>
                    </a:solidFill>
                  </a:tcPr>
                </a:tc>
              </a:tr>
              <a:tr h="580644">
                <a:tc>
                  <a:txBody>
                    <a:bodyPr/>
                    <a:lstStyle/>
                    <a:p>
                      <a:pPr algn="l"/>
                      <a:r>
                        <a:rPr sz="900" b="1" i="0">
                          <a:solidFill>
                            <a:srgbClr val="202B33"/>
                          </a:solidFill>
                          <a:latin typeface="Aptos"/>
                        </a:rPr>
                        <a:t>Structural binder phase</a:t>
                      </a:r>
                    </a:p>
                  </a:txBody>
                  <a:tcPr marL="36576" marR="36576" marT="27432" marB="27432" anchor="ctr">
                    <a:solidFill>
                      <a:srgbClr val="ECF2ED"/>
                    </a:solidFill>
                  </a:tcPr>
                </a:tc>
                <a:tc>
                  <a:txBody>
                    <a:bodyPr/>
                    <a:lstStyle/>
                    <a:p>
                      <a:pPr algn="ctr"/>
                      <a:r>
                        <a:rPr sz="900" b="0" i="0">
                          <a:solidFill>
                            <a:srgbClr val="202B33"/>
                          </a:solidFill>
                          <a:latin typeface="Aptos"/>
                        </a:rPr>
                        <a:t>Matrix load transfer and interfacial bonding</a:t>
                      </a:r>
                    </a:p>
                  </a:txBody>
                  <a:tcPr marL="36576" marR="36576" marT="27432" marB="27432" anchor="ctr">
                    <a:solidFill>
                      <a:srgbClr val="ECF2ED"/>
                    </a:solidFill>
                  </a:tcPr>
                </a:tc>
                <a:tc>
                  <a:txBody>
                    <a:bodyPr/>
                    <a:lstStyle/>
                    <a:p>
                      <a:pPr algn="ctr"/>
                      <a:r>
                        <a:rPr sz="900" b="0" i="0">
                          <a:solidFill>
                            <a:srgbClr val="202B33"/>
                          </a:solidFill>
                          <a:latin typeface="Aptos"/>
                        </a:rPr>
                        <a:t>Structural-grade strength and stable reinforcement anchorage</a:t>
                      </a:r>
                    </a:p>
                  </a:txBody>
                  <a:tcPr marL="36576" marR="36576" marT="27432" marB="27432" anchor="ctr">
                    <a:solidFill>
                      <a:srgbClr val="ECF2ED"/>
                    </a:solidFill>
                  </a:tcPr>
                </a:tc>
              </a:tr>
            </a:tbl>
          </a:graphicData>
        </a:graphic>
      </p:graphicFrame>
      <p:sp>
        <p:nvSpPr>
          <p:cNvPr id="12" name="TextBox 11"/>
          <p:cNvSpPr txBox="1"/>
          <p:nvPr/>
        </p:nvSpPr>
        <p:spPr>
          <a:xfrm>
            <a:off x="731520" y="3803904"/>
            <a:ext cx="2057400" cy="274320"/>
          </a:xfrm>
          <a:prstGeom prst="rect">
            <a:avLst/>
          </a:prstGeom>
          <a:noFill/>
        </p:spPr>
        <p:txBody>
          <a:bodyPr wrap="square" lIns="0" rIns="0" tIns="0" bIns="0" anchor="t">
            <a:spAutoFit/>
          </a:bodyPr>
          <a:lstStyle/>
          <a:p>
            <a:pPr algn="l">
              <a:lnSpc>
                <a:spcPct val="100000"/>
              </a:lnSpc>
            </a:pPr>
            <a:r>
              <a:rPr sz="869" b="1" i="0">
                <a:solidFill>
                  <a:srgbClr val="2E6F9E"/>
                </a:solidFill>
                <a:latin typeface="Aptos"/>
              </a:rPr>
              <a:t>PROPOSED ENERGY PARTITION</a:t>
            </a:r>
          </a:p>
        </p:txBody>
      </p:sp>
      <p:sp>
        <p:nvSpPr>
          <p:cNvPr id="13" name="Rectangle 12"/>
          <p:cNvSpPr/>
          <p:nvPr/>
        </p:nvSpPr>
        <p:spPr>
          <a:xfrm>
            <a:off x="731520" y="4114800"/>
            <a:ext cx="6693408" cy="749808"/>
          </a:xfrm>
          <a:prstGeom prst="rect">
            <a:avLst/>
          </a:prstGeom>
          <a:solidFill>
            <a:srgbClr val="FFFFFF"/>
          </a:solidFill>
          <a:ln w="1016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9264" y="4279392"/>
            <a:ext cx="6217920" cy="365760"/>
          </a:xfrm>
          <a:prstGeom prst="rect">
            <a:avLst/>
          </a:prstGeom>
          <a:noFill/>
        </p:spPr>
        <p:txBody>
          <a:bodyPr wrap="square" lIns="0" rIns="0" tIns="0" bIns="0" anchor="t">
            <a:spAutoFit/>
          </a:bodyPr>
          <a:lstStyle/>
          <a:p>
            <a:pPr algn="ctr">
              <a:lnSpc>
                <a:spcPct val="100000"/>
              </a:lnSpc>
            </a:pPr>
            <a:r>
              <a:rPr sz="1600" b="1" i="0">
                <a:solidFill>
                  <a:srgbClr val="17365D"/>
                </a:solidFill>
                <a:latin typeface="Cambria"/>
              </a:rPr>
              <a:t>Eᵢₘₚ = Eₘₐₜᵣᵢₓ + Ecrush + Edebond/pull-out + Efracture + Eresidual</a:t>
            </a:r>
          </a:p>
        </p:txBody>
      </p:sp>
      <p:sp>
        <p:nvSpPr>
          <p:cNvPr id="15" name="Rectangle 14"/>
          <p:cNvSpPr/>
          <p:nvPr/>
        </p:nvSpPr>
        <p:spPr>
          <a:xfrm>
            <a:off x="7680960" y="3803904"/>
            <a:ext cx="3767328" cy="1060704"/>
          </a:xfrm>
          <a:prstGeom prst="rect">
            <a:avLst/>
          </a:prstGeom>
          <a:solidFill>
            <a:srgbClr val="EAF2F3"/>
          </a:solidFill>
          <a:ln w="8890">
            <a:solidFill>
              <a:srgbClr val="3F7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60" y="3986784"/>
            <a:ext cx="3310128" cy="694944"/>
          </a:xfrm>
          <a:prstGeom prst="rect">
            <a:avLst/>
          </a:prstGeom>
          <a:noFill/>
        </p:spPr>
        <p:txBody>
          <a:bodyPr wrap="square" lIns="0" rIns="0" tIns="0" bIns="0" anchor="t">
            <a:spAutoFit/>
          </a:bodyPr>
          <a:lstStyle/>
          <a:p>
            <a:pPr algn="ctr">
              <a:lnSpc>
                <a:spcPct val="100000"/>
              </a:lnSpc>
            </a:pPr>
            <a:r>
              <a:rPr sz="1000" b="1" i="0">
                <a:solidFill>
                  <a:srgbClr val="17365D"/>
                </a:solidFill>
                <a:latin typeface="Aptos"/>
              </a:rPr>
              <a:t>System-level hypothesis
More absorbed energy + controlled deformation → lower force-transmission potential</a:t>
            </a:r>
          </a:p>
        </p:txBody>
      </p:sp>
      <p:sp>
        <p:nvSpPr>
          <p:cNvPr id="17" name="Rectangle 16"/>
          <p:cNvSpPr/>
          <p:nvPr/>
        </p:nvSpPr>
        <p:spPr>
          <a:xfrm>
            <a:off x="731520" y="5157216"/>
            <a:ext cx="10716768" cy="530352"/>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5294376"/>
            <a:ext cx="10314432" cy="265176"/>
          </a:xfrm>
          <a:prstGeom prst="rect">
            <a:avLst/>
          </a:prstGeom>
          <a:noFill/>
        </p:spPr>
        <p:txBody>
          <a:bodyPr wrap="square" lIns="0" rIns="0" tIns="0" bIns="0" anchor="t">
            <a:spAutoFit/>
          </a:bodyPr>
          <a:lstStyle/>
          <a:p>
            <a:pPr algn="l">
              <a:lnSpc>
                <a:spcPct val="100000"/>
              </a:lnSpc>
            </a:pPr>
            <a:r>
              <a:rPr sz="1030" b="1" i="0">
                <a:solidFill>
                  <a:srgbClr val="17365D"/>
                </a:solidFill>
                <a:latin typeface="Aptos"/>
              </a:rPr>
              <a:t>Technology thesis: an integrated material architecture creates a semi-energy-absorbing rigid barrier while retaining structural-grade strength.</a:t>
            </a:r>
          </a:p>
        </p:txBody>
      </p:sp>
      <p:sp>
        <p:nvSpPr>
          <p:cNvPr id="19" name="Rectangle 18"/>
          <p:cNvSpPr/>
          <p:nvPr/>
        </p:nvSpPr>
        <p:spPr>
          <a:xfrm>
            <a:off x="731520" y="5760720"/>
            <a:ext cx="10716768" cy="320040"/>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5833872"/>
            <a:ext cx="10314432" cy="173736"/>
          </a:xfrm>
          <a:prstGeom prst="rect">
            <a:avLst/>
          </a:prstGeom>
          <a:noFill/>
        </p:spPr>
        <p:txBody>
          <a:bodyPr wrap="square" lIns="0" rIns="0" tIns="0" bIns="0" anchor="t">
            <a:spAutoFit/>
          </a:bodyPr>
          <a:lstStyle/>
          <a:p>
            <a:pPr algn="l">
              <a:lnSpc>
                <a:spcPct val="100000"/>
              </a:lnSpc>
            </a:pPr>
            <a:r>
              <a:rPr sz="840" b="1" i="0">
                <a:solidFill>
                  <a:srgbClr val="9A4651"/>
                </a:solidFill>
                <a:latin typeface="Aptos"/>
              </a:rPr>
              <a:t>Lower transmitted force is a mechanistic hypothesis; vehicle-level force, ASI and THIV remain unmeasured.</a:t>
            </a:r>
          </a:p>
        </p:txBody>
      </p:sp>
      <p:sp>
        <p:nvSpPr>
          <p:cNvPr id="21" name="TextBox 20"/>
          <p:cNvSpPr txBox="1"/>
          <p:nvPr/>
        </p:nvSpPr>
        <p:spPr>
          <a:xfrm>
            <a:off x="749808" y="6117336"/>
            <a:ext cx="1056132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disclosure (16 Jul 2026); Wang &amp; Wang (2013); Nadesan &amp; Dinakar (2017); Sahoo et al. (2020). Energy-partition model is an author synthesis.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METHODS OVERVIEW</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Experimental programme and evidence hierarchy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06</a:t>
            </a:r>
          </a:p>
        </p:txBody>
      </p:sp>
      <p:sp>
        <p:nvSpPr>
          <p:cNvPr id="11" name="Rectangle 10"/>
          <p:cNvSpPr/>
          <p:nvPr/>
        </p:nvSpPr>
        <p:spPr>
          <a:xfrm>
            <a:off x="640080"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371600"/>
            <a:ext cx="256032" cy="182880"/>
          </a:xfrm>
          <a:prstGeom prst="rect">
            <a:avLst/>
          </a:prstGeom>
          <a:noFill/>
        </p:spPr>
        <p:txBody>
          <a:bodyPr wrap="square" lIns="0" rIns="0" tIns="0" bIns="0" anchor="t">
            <a:spAutoFit/>
          </a:bodyPr>
          <a:lstStyle/>
          <a:p>
            <a:pPr algn="ctr">
              <a:lnSpc>
                <a:spcPct val="100000"/>
              </a:lnSpc>
            </a:pPr>
            <a:r>
              <a:rPr sz="869" b="1" i="0">
                <a:solidFill>
                  <a:srgbClr val="FFFFFF"/>
                </a:solidFill>
                <a:latin typeface="Aptos"/>
              </a:rPr>
              <a:t>1</a:t>
            </a:r>
          </a:p>
        </p:txBody>
      </p:sp>
      <p:sp>
        <p:nvSpPr>
          <p:cNvPr id="14" name="TextBox 13"/>
          <p:cNvSpPr txBox="1"/>
          <p:nvPr/>
        </p:nvSpPr>
        <p:spPr>
          <a:xfrm>
            <a:off x="1024127" y="1362456"/>
            <a:ext cx="1444752" cy="201168"/>
          </a:xfrm>
          <a:prstGeom prst="rect">
            <a:avLst/>
          </a:prstGeom>
          <a:noFill/>
        </p:spPr>
        <p:txBody>
          <a:bodyPr wrap="square" lIns="0" rIns="0" tIns="0" bIns="0" anchor="t">
            <a:spAutoFit/>
          </a:bodyPr>
          <a:lstStyle/>
          <a:p>
            <a:pPr algn="l">
              <a:lnSpc>
                <a:spcPct val="100000"/>
              </a:lnSpc>
            </a:pPr>
            <a:r>
              <a:rPr sz="830" b="1" i="0">
                <a:solidFill>
                  <a:srgbClr val="FFFFFF"/>
                </a:solidFill>
                <a:latin typeface="Aptos"/>
              </a:rPr>
              <a:t>MATERIALS</a:t>
            </a:r>
          </a:p>
        </p:txBody>
      </p:sp>
      <p:sp>
        <p:nvSpPr>
          <p:cNvPr id="15" name="TextBox 14"/>
          <p:cNvSpPr txBox="1"/>
          <p:nvPr/>
        </p:nvSpPr>
        <p:spPr>
          <a:xfrm>
            <a:off x="786384" y="1783080"/>
            <a:ext cx="1645920" cy="960120"/>
          </a:xfrm>
          <a:prstGeom prst="rect">
            <a:avLst/>
          </a:prstGeom>
          <a:noFill/>
        </p:spPr>
        <p:txBody>
          <a:bodyPr wrap="square" lIns="0" rIns="0" tIns="0" bIns="0" anchor="ctr">
            <a:spAutoFit/>
          </a:bodyPr>
          <a:lstStyle/>
          <a:p>
            <a:pPr algn="ctr">
              <a:lnSpc>
                <a:spcPct val="100000"/>
              </a:lnSpc>
            </a:pPr>
            <a:r>
              <a:rPr sz="900" b="0" i="0">
                <a:solidFill>
                  <a:srgbClr val="202B33"/>
                </a:solidFill>
                <a:latin typeface="Aptos"/>
              </a:rPr>
              <a:t>Chemistry; physical properties; reinforcement quality</a:t>
            </a:r>
          </a:p>
        </p:txBody>
      </p:sp>
      <p:sp>
        <p:nvSpPr>
          <p:cNvPr id="16" name="Chevron 15"/>
          <p:cNvSpPr/>
          <p:nvPr/>
        </p:nvSpPr>
        <p:spPr>
          <a:xfrm>
            <a:off x="2606039" y="1956816"/>
            <a:ext cx="256032" cy="292608"/>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98648"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98648"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90088" y="1371600"/>
            <a:ext cx="256032" cy="182880"/>
          </a:xfrm>
          <a:prstGeom prst="rect">
            <a:avLst/>
          </a:prstGeom>
          <a:noFill/>
        </p:spPr>
        <p:txBody>
          <a:bodyPr wrap="square" lIns="0" rIns="0" tIns="0" bIns="0" anchor="t">
            <a:spAutoFit/>
          </a:bodyPr>
          <a:lstStyle/>
          <a:p>
            <a:pPr algn="ctr">
              <a:lnSpc>
                <a:spcPct val="100000"/>
              </a:lnSpc>
            </a:pPr>
            <a:r>
              <a:rPr sz="869" b="1" i="0">
                <a:solidFill>
                  <a:srgbClr val="FFFFFF"/>
                </a:solidFill>
                <a:latin typeface="Aptos"/>
              </a:rPr>
              <a:t>2</a:t>
            </a:r>
          </a:p>
        </p:txBody>
      </p:sp>
      <p:sp>
        <p:nvSpPr>
          <p:cNvPr id="20" name="TextBox 19"/>
          <p:cNvSpPr txBox="1"/>
          <p:nvPr/>
        </p:nvSpPr>
        <p:spPr>
          <a:xfrm>
            <a:off x="3282696" y="1362456"/>
            <a:ext cx="1444752" cy="201168"/>
          </a:xfrm>
          <a:prstGeom prst="rect">
            <a:avLst/>
          </a:prstGeom>
          <a:noFill/>
        </p:spPr>
        <p:txBody>
          <a:bodyPr wrap="square" lIns="0" rIns="0" tIns="0" bIns="0" anchor="t">
            <a:spAutoFit/>
          </a:bodyPr>
          <a:lstStyle/>
          <a:p>
            <a:pPr algn="l">
              <a:lnSpc>
                <a:spcPct val="100000"/>
              </a:lnSpc>
            </a:pPr>
            <a:r>
              <a:rPr sz="830" b="1" i="0">
                <a:solidFill>
                  <a:srgbClr val="FFFFFF"/>
                </a:solidFill>
                <a:latin typeface="Aptos"/>
              </a:rPr>
              <a:t>MIX DESIGN</a:t>
            </a:r>
          </a:p>
        </p:txBody>
      </p:sp>
      <p:sp>
        <p:nvSpPr>
          <p:cNvPr id="21" name="TextBox 20"/>
          <p:cNvSpPr txBox="1"/>
          <p:nvPr/>
        </p:nvSpPr>
        <p:spPr>
          <a:xfrm>
            <a:off x="3044952" y="1783080"/>
            <a:ext cx="1645920" cy="960120"/>
          </a:xfrm>
          <a:prstGeom prst="rect">
            <a:avLst/>
          </a:prstGeom>
          <a:noFill/>
        </p:spPr>
        <p:txBody>
          <a:bodyPr wrap="square" lIns="0" rIns="0" tIns="0" bIns="0" anchor="ctr">
            <a:spAutoFit/>
          </a:bodyPr>
          <a:lstStyle/>
          <a:p>
            <a:pPr algn="ctr">
              <a:lnSpc>
                <a:spcPct val="100000"/>
              </a:lnSpc>
            </a:pPr>
            <a:r>
              <a:rPr sz="900" b="0" i="0">
                <a:solidFill>
                  <a:srgbClr val="202B33"/>
                </a:solidFill>
                <a:latin typeface="Aptos"/>
              </a:rPr>
              <a:t>NWC + four lightweight variants; increasing reinforcement</a:t>
            </a:r>
          </a:p>
        </p:txBody>
      </p:sp>
      <p:sp>
        <p:nvSpPr>
          <p:cNvPr id="22" name="Chevron 21"/>
          <p:cNvSpPr/>
          <p:nvPr/>
        </p:nvSpPr>
        <p:spPr>
          <a:xfrm>
            <a:off x="4864608" y="1956816"/>
            <a:ext cx="256032" cy="292608"/>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57216"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57216"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48656" y="1371600"/>
            <a:ext cx="256032" cy="182880"/>
          </a:xfrm>
          <a:prstGeom prst="rect">
            <a:avLst/>
          </a:prstGeom>
          <a:noFill/>
        </p:spPr>
        <p:txBody>
          <a:bodyPr wrap="square" lIns="0" rIns="0" tIns="0" bIns="0" anchor="t">
            <a:spAutoFit/>
          </a:bodyPr>
          <a:lstStyle/>
          <a:p>
            <a:pPr algn="ctr">
              <a:lnSpc>
                <a:spcPct val="100000"/>
              </a:lnSpc>
            </a:pPr>
            <a:r>
              <a:rPr sz="869" b="1" i="0">
                <a:solidFill>
                  <a:srgbClr val="FFFFFF"/>
                </a:solidFill>
                <a:latin typeface="Aptos"/>
              </a:rPr>
              <a:t>3</a:t>
            </a:r>
          </a:p>
        </p:txBody>
      </p:sp>
      <p:sp>
        <p:nvSpPr>
          <p:cNvPr id="26" name="TextBox 25"/>
          <p:cNvSpPr txBox="1"/>
          <p:nvPr/>
        </p:nvSpPr>
        <p:spPr>
          <a:xfrm>
            <a:off x="5541264" y="1362456"/>
            <a:ext cx="1444752" cy="201168"/>
          </a:xfrm>
          <a:prstGeom prst="rect">
            <a:avLst/>
          </a:prstGeom>
          <a:noFill/>
        </p:spPr>
        <p:txBody>
          <a:bodyPr wrap="square" lIns="0" rIns="0" tIns="0" bIns="0" anchor="t">
            <a:spAutoFit/>
          </a:bodyPr>
          <a:lstStyle/>
          <a:p>
            <a:pPr algn="l">
              <a:lnSpc>
                <a:spcPct val="100000"/>
              </a:lnSpc>
            </a:pPr>
            <a:r>
              <a:rPr sz="830" b="1" i="0">
                <a:solidFill>
                  <a:srgbClr val="FFFFFF"/>
                </a:solidFill>
                <a:latin typeface="Aptos"/>
              </a:rPr>
              <a:t>STATIC TESTS</a:t>
            </a:r>
          </a:p>
        </p:txBody>
      </p:sp>
      <p:sp>
        <p:nvSpPr>
          <p:cNvPr id="27" name="TextBox 26"/>
          <p:cNvSpPr txBox="1"/>
          <p:nvPr/>
        </p:nvSpPr>
        <p:spPr>
          <a:xfrm>
            <a:off x="5303520" y="1783080"/>
            <a:ext cx="1645920" cy="960120"/>
          </a:xfrm>
          <a:prstGeom prst="rect">
            <a:avLst/>
          </a:prstGeom>
          <a:noFill/>
        </p:spPr>
        <p:txBody>
          <a:bodyPr wrap="square" lIns="0" rIns="0" tIns="0" bIns="0" anchor="ctr">
            <a:spAutoFit/>
          </a:bodyPr>
          <a:lstStyle/>
          <a:p>
            <a:pPr algn="ctr">
              <a:lnSpc>
                <a:spcPct val="100000"/>
              </a:lnSpc>
            </a:pPr>
            <a:r>
              <a:rPr sz="900" b="0" i="0">
                <a:solidFill>
                  <a:srgbClr val="202B33"/>
                </a:solidFill>
                <a:latin typeface="Aptos"/>
              </a:rPr>
              <a:t>Slump; reported density; 28 d compression and split tension</a:t>
            </a:r>
          </a:p>
        </p:txBody>
      </p:sp>
      <p:sp>
        <p:nvSpPr>
          <p:cNvPr id="28" name="Chevron 27"/>
          <p:cNvSpPr/>
          <p:nvPr/>
        </p:nvSpPr>
        <p:spPr>
          <a:xfrm>
            <a:off x="7123176" y="1956816"/>
            <a:ext cx="256032" cy="292608"/>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415783"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15783"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07223" y="1371600"/>
            <a:ext cx="256032" cy="182880"/>
          </a:xfrm>
          <a:prstGeom prst="rect">
            <a:avLst/>
          </a:prstGeom>
          <a:noFill/>
        </p:spPr>
        <p:txBody>
          <a:bodyPr wrap="square" lIns="0" rIns="0" tIns="0" bIns="0" anchor="t">
            <a:spAutoFit/>
          </a:bodyPr>
          <a:lstStyle/>
          <a:p>
            <a:pPr algn="ctr">
              <a:lnSpc>
                <a:spcPct val="100000"/>
              </a:lnSpc>
            </a:pPr>
            <a:r>
              <a:rPr sz="869" b="1" i="0">
                <a:solidFill>
                  <a:srgbClr val="FFFFFF"/>
                </a:solidFill>
                <a:latin typeface="Aptos"/>
              </a:rPr>
              <a:t>4</a:t>
            </a:r>
          </a:p>
        </p:txBody>
      </p:sp>
      <p:sp>
        <p:nvSpPr>
          <p:cNvPr id="32" name="TextBox 31"/>
          <p:cNvSpPr txBox="1"/>
          <p:nvPr/>
        </p:nvSpPr>
        <p:spPr>
          <a:xfrm>
            <a:off x="7799831" y="1362456"/>
            <a:ext cx="1444752" cy="201168"/>
          </a:xfrm>
          <a:prstGeom prst="rect">
            <a:avLst/>
          </a:prstGeom>
          <a:noFill/>
        </p:spPr>
        <p:txBody>
          <a:bodyPr wrap="square" lIns="0" rIns="0" tIns="0" bIns="0" anchor="t">
            <a:spAutoFit/>
          </a:bodyPr>
          <a:lstStyle/>
          <a:p>
            <a:pPr algn="l">
              <a:lnSpc>
                <a:spcPct val="100000"/>
              </a:lnSpc>
            </a:pPr>
            <a:r>
              <a:rPr sz="830" b="1" i="0">
                <a:solidFill>
                  <a:srgbClr val="FFFFFF"/>
                </a:solidFill>
                <a:latin typeface="Aptos"/>
              </a:rPr>
              <a:t>PRISM IMPACT</a:t>
            </a:r>
          </a:p>
        </p:txBody>
      </p:sp>
      <p:sp>
        <p:nvSpPr>
          <p:cNvPr id="33" name="TextBox 32"/>
          <p:cNvSpPr txBox="1"/>
          <p:nvPr/>
        </p:nvSpPr>
        <p:spPr>
          <a:xfrm>
            <a:off x="7562088" y="1783080"/>
            <a:ext cx="1645920" cy="960120"/>
          </a:xfrm>
          <a:prstGeom prst="rect">
            <a:avLst/>
          </a:prstGeom>
          <a:noFill/>
        </p:spPr>
        <p:txBody>
          <a:bodyPr wrap="square" lIns="0" rIns="0" tIns="0" bIns="0" anchor="ctr">
            <a:spAutoFit/>
          </a:bodyPr>
          <a:lstStyle/>
          <a:p>
            <a:pPr algn="ctr">
              <a:lnSpc>
                <a:spcPct val="100000"/>
              </a:lnSpc>
            </a:pPr>
            <a:r>
              <a:rPr sz="900" b="0" i="0">
                <a:solidFill>
                  <a:srgbClr val="202B33"/>
                </a:solidFill>
                <a:latin typeface="Aptos"/>
              </a:rPr>
              <a:t>13.5 kg drop mass; N₁/N₂; acceleration-derived displacement</a:t>
            </a:r>
          </a:p>
        </p:txBody>
      </p:sp>
      <p:sp>
        <p:nvSpPr>
          <p:cNvPr id="34" name="Chevron 33"/>
          <p:cNvSpPr/>
          <p:nvPr/>
        </p:nvSpPr>
        <p:spPr>
          <a:xfrm>
            <a:off x="9381744" y="1956816"/>
            <a:ext cx="256032" cy="292608"/>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674352"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674352"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65792" y="1371600"/>
            <a:ext cx="256032" cy="182880"/>
          </a:xfrm>
          <a:prstGeom prst="rect">
            <a:avLst/>
          </a:prstGeom>
          <a:noFill/>
        </p:spPr>
        <p:txBody>
          <a:bodyPr wrap="square" lIns="0" rIns="0" tIns="0" bIns="0" anchor="t">
            <a:spAutoFit/>
          </a:bodyPr>
          <a:lstStyle/>
          <a:p>
            <a:pPr algn="ctr">
              <a:lnSpc>
                <a:spcPct val="100000"/>
              </a:lnSpc>
            </a:pPr>
            <a:r>
              <a:rPr sz="869" b="1" i="0">
                <a:solidFill>
                  <a:srgbClr val="FFFFFF"/>
                </a:solidFill>
                <a:latin typeface="Aptos"/>
              </a:rPr>
              <a:t>5</a:t>
            </a:r>
          </a:p>
        </p:txBody>
      </p:sp>
      <p:sp>
        <p:nvSpPr>
          <p:cNvPr id="38" name="TextBox 37"/>
          <p:cNvSpPr txBox="1"/>
          <p:nvPr/>
        </p:nvSpPr>
        <p:spPr>
          <a:xfrm>
            <a:off x="10058400" y="1362456"/>
            <a:ext cx="1444752" cy="201168"/>
          </a:xfrm>
          <a:prstGeom prst="rect">
            <a:avLst/>
          </a:prstGeom>
          <a:noFill/>
        </p:spPr>
        <p:txBody>
          <a:bodyPr wrap="square" lIns="0" rIns="0" tIns="0" bIns="0" anchor="t">
            <a:spAutoFit/>
          </a:bodyPr>
          <a:lstStyle/>
          <a:p>
            <a:pPr algn="l">
              <a:lnSpc>
                <a:spcPct val="100000"/>
              </a:lnSpc>
            </a:pPr>
            <a:r>
              <a:rPr sz="830" b="1" i="0">
                <a:solidFill>
                  <a:srgbClr val="FFFFFF"/>
                </a:solidFill>
                <a:latin typeface="Aptos"/>
              </a:rPr>
              <a:t>BARRIER MODEL</a:t>
            </a:r>
          </a:p>
        </p:txBody>
      </p:sp>
      <p:sp>
        <p:nvSpPr>
          <p:cNvPr id="39" name="TextBox 38"/>
          <p:cNvSpPr txBox="1"/>
          <p:nvPr/>
        </p:nvSpPr>
        <p:spPr>
          <a:xfrm>
            <a:off x="9820656" y="1783080"/>
            <a:ext cx="1645920" cy="960120"/>
          </a:xfrm>
          <a:prstGeom prst="rect">
            <a:avLst/>
          </a:prstGeom>
          <a:noFill/>
        </p:spPr>
        <p:txBody>
          <a:bodyPr wrap="square" lIns="0" rIns="0" tIns="0" bIns="0" anchor="ctr">
            <a:spAutoFit/>
          </a:bodyPr>
          <a:lstStyle/>
          <a:p>
            <a:pPr algn="ctr">
              <a:lnSpc>
                <a:spcPct val="100000"/>
              </a:lnSpc>
            </a:pPr>
            <a:r>
              <a:rPr sz="900" b="0" i="0">
                <a:solidFill>
                  <a:srgbClr val="202B33"/>
                </a:solidFill>
                <a:latin typeface="Aptos"/>
              </a:rPr>
              <a:t>1:3 New Jersey geometry; 40 kg pendulum; NWC vs selected LWC</a:t>
            </a:r>
          </a:p>
        </p:txBody>
      </p:sp>
      <p:graphicFrame>
        <p:nvGraphicFramePr>
          <p:cNvPr id="40" name="Table 39"/>
          <p:cNvGraphicFramePr>
            <a:graphicFrameLocks noGrp="1"/>
          </p:cNvGraphicFramePr>
          <p:nvPr/>
        </p:nvGraphicFramePr>
        <p:xfrm>
          <a:off x="731520" y="3355848"/>
          <a:ext cx="10716766" cy="1965960"/>
        </p:xfrm>
        <a:graphic>
          <a:graphicData uri="http://schemas.openxmlformats.org/drawingml/2006/table">
            <a:tbl>
              <a:tblPr firstRow="1" bandRow="1">
                <a:tableStyleId>{5C22544A-7EE6-4342-B048-85BDC9FD1C3A}</a:tableStyleId>
              </a:tblPr>
              <a:tblGrid>
                <a:gridCol w="1589568"/>
                <a:gridCol w="2820202"/>
                <a:gridCol w="3179136"/>
                <a:gridCol w="3127860"/>
              </a:tblGrid>
              <a:tr h="491490">
                <a:tc>
                  <a:txBody>
                    <a:bodyPr/>
                    <a:lstStyle/>
                    <a:p>
                      <a:pPr algn="l"/>
                      <a:r>
                        <a:rPr sz="840" b="1" i="0">
                          <a:solidFill>
                            <a:srgbClr val="FFFFFF"/>
                          </a:solidFill>
                          <a:latin typeface="Aptos"/>
                        </a:rPr>
                        <a:t>Evidence level</a:t>
                      </a:r>
                    </a:p>
                  </a:txBody>
                  <a:tcPr marL="36576" marR="36576" marT="27432" marB="27432" anchor="ctr">
                    <a:solidFill>
                      <a:srgbClr val="17365D"/>
                    </a:solidFill>
                  </a:tcPr>
                </a:tc>
                <a:tc>
                  <a:txBody>
                    <a:bodyPr/>
                    <a:lstStyle/>
                    <a:p>
                      <a:pPr algn="ctr"/>
                      <a:r>
                        <a:rPr sz="840" b="1" i="0">
                          <a:solidFill>
                            <a:srgbClr val="FFFFFF"/>
                          </a:solidFill>
                          <a:latin typeface="Aptos"/>
                        </a:rPr>
                        <a:t>Specimens / comparison</a:t>
                      </a:r>
                    </a:p>
                  </a:txBody>
                  <a:tcPr marL="36576" marR="36576" marT="27432" marB="27432" anchor="ctr">
                    <a:solidFill>
                      <a:srgbClr val="17365D"/>
                    </a:solidFill>
                  </a:tcPr>
                </a:tc>
                <a:tc>
                  <a:txBody>
                    <a:bodyPr/>
                    <a:lstStyle/>
                    <a:p>
                      <a:pPr algn="ctr"/>
                      <a:r>
                        <a:rPr sz="840" b="1" i="0">
                          <a:solidFill>
                            <a:srgbClr val="FFFFFF"/>
                          </a:solidFill>
                          <a:latin typeface="Aptos"/>
                        </a:rPr>
                        <a:t>Primary response</a:t>
                      </a:r>
                    </a:p>
                  </a:txBody>
                  <a:tcPr marL="36576" marR="36576" marT="27432" marB="27432" anchor="ctr">
                    <a:solidFill>
                      <a:srgbClr val="17365D"/>
                    </a:solidFill>
                  </a:tcPr>
                </a:tc>
                <a:tc>
                  <a:txBody>
                    <a:bodyPr/>
                    <a:lstStyle/>
                    <a:p>
                      <a:pPr algn="ctr"/>
                      <a:r>
                        <a:rPr sz="840" b="1" i="0">
                          <a:solidFill>
                            <a:srgbClr val="FFFFFF"/>
                          </a:solidFill>
                          <a:latin typeface="Aptos"/>
                        </a:rPr>
                        <a:t>Interpretive limitation</a:t>
                      </a:r>
                    </a:p>
                  </a:txBody>
                  <a:tcPr marL="36576" marR="36576" marT="27432" marB="27432" anchor="ctr">
                    <a:solidFill>
                      <a:srgbClr val="17365D"/>
                    </a:solidFill>
                  </a:tcPr>
                </a:tc>
              </a:tr>
              <a:tr h="491490">
                <a:tc>
                  <a:txBody>
                    <a:bodyPr/>
                    <a:lstStyle/>
                    <a:p>
                      <a:pPr algn="l"/>
                      <a:r>
                        <a:rPr sz="860" b="1" i="0">
                          <a:solidFill>
                            <a:srgbClr val="202B33"/>
                          </a:solidFill>
                          <a:latin typeface="Aptos"/>
                        </a:rPr>
                        <a:t>Material</a:t>
                      </a:r>
                    </a:p>
                  </a:txBody>
                  <a:tcPr marL="36576" marR="36576" marT="27432" marB="27432" anchor="ctr">
                    <a:solidFill>
                      <a:srgbClr val="FFFFFF"/>
                    </a:solidFill>
                  </a:tcPr>
                </a:tc>
                <a:tc>
                  <a:txBody>
                    <a:bodyPr/>
                    <a:lstStyle/>
                    <a:p>
                      <a:pPr algn="ctr"/>
                      <a:r>
                        <a:rPr sz="860" b="0" i="0">
                          <a:solidFill>
                            <a:srgbClr val="202B33"/>
                          </a:solidFill>
                          <a:latin typeface="Aptos"/>
                        </a:rPr>
                        <a:t>Five concrete mixtures</a:t>
                      </a:r>
                    </a:p>
                  </a:txBody>
                  <a:tcPr marL="36576" marR="36576" marT="27432" marB="27432" anchor="ctr">
                    <a:solidFill>
                      <a:srgbClr val="FFFFFF"/>
                    </a:solidFill>
                  </a:tcPr>
                </a:tc>
                <a:tc>
                  <a:txBody>
                    <a:bodyPr/>
                    <a:lstStyle/>
                    <a:p>
                      <a:pPr algn="ctr"/>
                      <a:r>
                        <a:rPr sz="860" b="0" i="0">
                          <a:solidFill>
                            <a:srgbClr val="202B33"/>
                          </a:solidFill>
                          <a:latin typeface="Aptos"/>
                        </a:rPr>
                        <a:t>Density, fᶜ, fₜ</a:t>
                      </a:r>
                    </a:p>
                  </a:txBody>
                  <a:tcPr marL="36576" marR="36576" marT="27432" marB="27432" anchor="ctr">
                    <a:solidFill>
                      <a:srgbClr val="FFFFFF"/>
                    </a:solidFill>
                  </a:tcPr>
                </a:tc>
                <a:tc>
                  <a:txBody>
                    <a:bodyPr/>
                    <a:lstStyle/>
                    <a:p>
                      <a:pPr algn="ctr"/>
                      <a:r>
                        <a:rPr sz="860" b="0" i="0">
                          <a:solidFill>
                            <a:srgbClr val="202B33"/>
                          </a:solidFill>
                          <a:latin typeface="Aptos"/>
                        </a:rPr>
                        <a:t>Density terminology unresolved</a:t>
                      </a:r>
                    </a:p>
                  </a:txBody>
                  <a:tcPr marL="36576" marR="36576" marT="27432" marB="27432" anchor="ctr">
                    <a:solidFill>
                      <a:srgbClr val="FFFFFF"/>
                    </a:solidFill>
                  </a:tcPr>
                </a:tc>
              </a:tr>
              <a:tr h="491490">
                <a:tc>
                  <a:txBody>
                    <a:bodyPr/>
                    <a:lstStyle/>
                    <a:p>
                      <a:pPr algn="l"/>
                      <a:r>
                        <a:rPr sz="860" b="1" i="0">
                          <a:solidFill>
                            <a:srgbClr val="202B33"/>
                          </a:solidFill>
                          <a:latin typeface="Aptos"/>
                        </a:rPr>
                        <a:t>Repeated impact</a:t>
                      </a:r>
                    </a:p>
                  </a:txBody>
                  <a:tcPr marL="36576" marR="36576" marT="27432" marB="27432" anchor="ctr">
                    <a:solidFill>
                      <a:srgbClr val="F8FAFB"/>
                    </a:solidFill>
                  </a:tcPr>
                </a:tc>
                <a:tc>
                  <a:txBody>
                    <a:bodyPr/>
                    <a:lstStyle/>
                    <a:p>
                      <a:pPr algn="ctr"/>
                      <a:r>
                        <a:rPr sz="860" b="0" i="0">
                          <a:solidFill>
                            <a:srgbClr val="202B33"/>
                          </a:solidFill>
                          <a:latin typeface="Aptos"/>
                        </a:rPr>
                        <a:t>Four beams reportedly cast per mix</a:t>
                      </a:r>
                    </a:p>
                  </a:txBody>
                  <a:tcPr marL="36576" marR="36576" marT="27432" marB="27432" anchor="ctr">
                    <a:solidFill>
                      <a:srgbClr val="F8FAFB"/>
                    </a:solidFill>
                  </a:tcPr>
                </a:tc>
                <a:tc>
                  <a:txBody>
                    <a:bodyPr/>
                    <a:lstStyle/>
                    <a:p>
                      <a:pPr algn="ctr"/>
                      <a:r>
                        <a:rPr sz="860" b="0" i="0">
                          <a:solidFill>
                            <a:srgbClr val="202B33"/>
                          </a:solidFill>
                          <a:latin typeface="Aptos"/>
                        </a:rPr>
                        <a:t>N₁, N₂, E₁, E₂, displacement</a:t>
                      </a:r>
                    </a:p>
                  </a:txBody>
                  <a:tcPr marL="36576" marR="36576" marT="27432" marB="27432" anchor="ctr">
                    <a:solidFill>
                      <a:srgbClr val="F8FAFB"/>
                    </a:solidFill>
                  </a:tcPr>
                </a:tc>
                <a:tc>
                  <a:txBody>
                    <a:bodyPr/>
                    <a:lstStyle/>
                    <a:p>
                      <a:pPr algn="ctr"/>
                      <a:r>
                        <a:rPr sz="860" b="0" i="0">
                          <a:solidFill>
                            <a:srgbClr val="202B33"/>
                          </a:solidFill>
                          <a:latin typeface="Aptos"/>
                        </a:rPr>
                        <a:t>N₁/N₂ dispersion not reported</a:t>
                      </a:r>
                    </a:p>
                  </a:txBody>
                  <a:tcPr marL="36576" marR="36576" marT="27432" marB="27432" anchor="ctr">
                    <a:solidFill>
                      <a:srgbClr val="F8FAFB"/>
                    </a:solidFill>
                  </a:tcPr>
                </a:tc>
              </a:tr>
              <a:tr h="491490">
                <a:tc>
                  <a:txBody>
                    <a:bodyPr/>
                    <a:lstStyle/>
                    <a:p>
                      <a:pPr algn="l"/>
                      <a:r>
                        <a:rPr sz="860" b="1" i="0">
                          <a:solidFill>
                            <a:srgbClr val="202B33"/>
                          </a:solidFill>
                          <a:latin typeface="Aptos"/>
                        </a:rPr>
                        <a:t>Barrier scale</a:t>
                      </a:r>
                    </a:p>
                  </a:txBody>
                  <a:tcPr marL="36576" marR="36576" marT="27432" marB="27432" anchor="ctr">
                    <a:solidFill>
                      <a:srgbClr val="F6EAEC"/>
                    </a:solidFill>
                  </a:tcPr>
                </a:tc>
                <a:tc>
                  <a:txBody>
                    <a:bodyPr/>
                    <a:lstStyle/>
                    <a:p>
                      <a:pPr algn="ctr"/>
                      <a:r>
                        <a:rPr sz="860" b="0" i="0">
                          <a:solidFill>
                            <a:srgbClr val="202B33"/>
                          </a:solidFill>
                          <a:latin typeface="Aptos"/>
                        </a:rPr>
                        <a:t>1 NWC + 1 selected LWC</a:t>
                      </a:r>
                    </a:p>
                  </a:txBody>
                  <a:tcPr marL="36576" marR="36576" marT="27432" marB="27432" anchor="ctr">
                    <a:solidFill>
                      <a:srgbClr val="F6EAEC"/>
                    </a:solidFill>
                  </a:tcPr>
                </a:tc>
                <a:tc>
                  <a:txBody>
                    <a:bodyPr/>
                    <a:lstStyle/>
                    <a:p>
                      <a:pPr algn="ctr"/>
                      <a:r>
                        <a:rPr sz="860" b="0" i="0">
                          <a:solidFill>
                            <a:srgbClr val="202B33"/>
                          </a:solidFill>
                          <a:latin typeface="Aptos"/>
                        </a:rPr>
                        <a:t>Failure blows, E₂, deformation, debris</a:t>
                      </a:r>
                    </a:p>
                  </a:txBody>
                  <a:tcPr marL="36576" marR="36576" marT="27432" marB="27432" anchor="ctr">
                    <a:solidFill>
                      <a:srgbClr val="F6EAEC"/>
                    </a:solidFill>
                  </a:tcPr>
                </a:tc>
                <a:tc>
                  <a:txBody>
                    <a:bodyPr/>
                    <a:lstStyle/>
                    <a:p>
                      <a:pPr algn="ctr"/>
                      <a:r>
                        <a:rPr sz="860" b="0" i="0">
                          <a:solidFill>
                            <a:srgbClr val="202B33"/>
                          </a:solidFill>
                          <a:latin typeface="Aptos"/>
                        </a:rPr>
                        <a:t>Preliminary; no population inference</a:t>
                      </a:r>
                    </a:p>
                  </a:txBody>
                  <a:tcPr marL="36576" marR="36576" marT="27432" marB="27432" anchor="ctr">
                    <a:solidFill>
                      <a:srgbClr val="F6EAEC"/>
                    </a:solidFill>
                  </a:tcPr>
                </a:tc>
              </a:tr>
            </a:tbl>
          </a:graphicData>
        </a:graphic>
      </p:graphicFrame>
      <p:sp>
        <p:nvSpPr>
          <p:cNvPr id="41" name="Rectangle 40"/>
          <p:cNvSpPr/>
          <p:nvPr/>
        </p:nvSpPr>
        <p:spPr>
          <a:xfrm>
            <a:off x="731520" y="5468112"/>
            <a:ext cx="10716768" cy="420624"/>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2688" y="5568696"/>
            <a:ext cx="10314432" cy="210312"/>
          </a:xfrm>
          <a:prstGeom prst="rect">
            <a:avLst/>
          </a:prstGeom>
          <a:noFill/>
        </p:spPr>
        <p:txBody>
          <a:bodyPr wrap="square" lIns="0" rIns="0" tIns="0" bIns="0" anchor="t">
            <a:spAutoFit/>
          </a:bodyPr>
          <a:lstStyle/>
          <a:p>
            <a:pPr algn="l">
              <a:lnSpc>
                <a:spcPct val="100000"/>
              </a:lnSpc>
            </a:pPr>
            <a:r>
              <a:rPr sz="880" b="1" i="0">
                <a:solidFill>
                  <a:srgbClr val="9A4651"/>
                </a:solidFill>
                <a:latin typeface="Aptos"/>
              </a:rPr>
              <a:t>Statistical boundary: reported ratios are experimental observations; barrier-scale confidence intervals cannot be inferred from n = 1.</a:t>
            </a:r>
          </a:p>
        </p:txBody>
      </p:sp>
      <p:sp>
        <p:nvSpPr>
          <p:cNvPr id="43" name="TextBox 42"/>
          <p:cNvSpPr txBox="1"/>
          <p:nvPr/>
        </p:nvSpPr>
        <p:spPr>
          <a:xfrm>
            <a:off x="749808" y="6007608"/>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Al-Amir et al. manuscript, Experimental Program and Testing Methods; sample-count interpretation follows the stated casting plan.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MIXTURE DESIGN</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Experimental mixture matrix and selected embodiment</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07</a:t>
            </a:r>
          </a:p>
        </p:txBody>
      </p:sp>
      <p:graphicFrame>
        <p:nvGraphicFramePr>
          <p:cNvPr id="11" name="Table 10"/>
          <p:cNvGraphicFramePr>
            <a:graphicFrameLocks noGrp="1"/>
          </p:cNvGraphicFramePr>
          <p:nvPr/>
        </p:nvGraphicFramePr>
        <p:xfrm>
          <a:off x="658368" y="1325880"/>
          <a:ext cx="8046718" cy="2560320"/>
        </p:xfrm>
        <a:graphic>
          <a:graphicData uri="http://schemas.openxmlformats.org/drawingml/2006/table">
            <a:tbl>
              <a:tblPr firstRow="1" bandRow="1">
                <a:tableStyleId>{5C22544A-7EE6-4342-B048-85BDC9FD1C3A}</a:tableStyleId>
              </a:tblPr>
              <a:tblGrid>
                <a:gridCol w="1207008"/>
                <a:gridCol w="1321961"/>
                <a:gridCol w="1781773"/>
                <a:gridCol w="2241586"/>
                <a:gridCol w="1494390"/>
              </a:tblGrid>
              <a:tr h="853440">
                <a:tc>
                  <a:txBody>
                    <a:bodyPr/>
                    <a:lstStyle/>
                    <a:p>
                      <a:pPr algn="l"/>
                      <a:r>
                        <a:rPr sz="880" b="1" i="0">
                          <a:solidFill>
                            <a:srgbClr val="FFFFFF"/>
                          </a:solidFill>
                          <a:latin typeface="Aptos"/>
                        </a:rPr>
                        <a:t>Programme</a:t>
                      </a:r>
                    </a:p>
                  </a:txBody>
                  <a:tcPr marL="36576" marR="36576" marT="27432" marB="27432" anchor="ctr">
                    <a:solidFill>
                      <a:srgbClr val="17365D"/>
                    </a:solidFill>
                  </a:tcPr>
                </a:tc>
                <a:tc>
                  <a:txBody>
                    <a:bodyPr/>
                    <a:lstStyle/>
                    <a:p>
                      <a:pPr algn="ctr"/>
                      <a:r>
                        <a:rPr sz="880" b="1" i="0">
                          <a:solidFill>
                            <a:srgbClr val="FFFFFF"/>
                          </a:solidFill>
                          <a:latin typeface="Aptos"/>
                        </a:rPr>
                        <a:t>Reference</a:t>
                      </a:r>
                    </a:p>
                  </a:txBody>
                  <a:tcPr marL="36576" marR="36576" marT="27432" marB="27432" anchor="ctr">
                    <a:solidFill>
                      <a:srgbClr val="17365D"/>
                    </a:solidFill>
                  </a:tcPr>
                </a:tc>
                <a:tc>
                  <a:txBody>
                    <a:bodyPr/>
                    <a:lstStyle/>
                    <a:p>
                      <a:pPr algn="ctr"/>
                      <a:r>
                        <a:rPr sz="880" b="1" i="0">
                          <a:solidFill>
                            <a:srgbClr val="FFFFFF"/>
                          </a:solidFill>
                          <a:latin typeface="Aptos"/>
                        </a:rPr>
                        <a:t>Lightweight controls</a:t>
                      </a:r>
                    </a:p>
                  </a:txBody>
                  <a:tcPr marL="36576" marR="36576" marT="27432" marB="27432" anchor="ctr">
                    <a:solidFill>
                      <a:srgbClr val="17365D"/>
                    </a:solidFill>
                  </a:tcPr>
                </a:tc>
                <a:tc>
                  <a:txBody>
                    <a:bodyPr/>
                    <a:lstStyle/>
                    <a:p>
                      <a:pPr algn="ctr"/>
                      <a:r>
                        <a:rPr sz="880" b="1" i="0">
                          <a:solidFill>
                            <a:srgbClr val="FFFFFF"/>
                          </a:solidFill>
                          <a:latin typeface="Aptos"/>
                        </a:rPr>
                        <a:t>Reinforced variants</a:t>
                      </a:r>
                    </a:p>
                  </a:txBody>
                  <a:tcPr marL="36576" marR="36576" marT="27432" marB="27432" anchor="ctr">
                    <a:solidFill>
                      <a:srgbClr val="17365D"/>
                    </a:solidFill>
                  </a:tcPr>
                </a:tc>
                <a:tc>
                  <a:txBody>
                    <a:bodyPr/>
                    <a:lstStyle/>
                    <a:p>
                      <a:pPr algn="ctr"/>
                      <a:r>
                        <a:rPr sz="880" b="1" i="0">
                          <a:solidFill>
                            <a:srgbClr val="FFFFFF"/>
                          </a:solidFill>
                          <a:latin typeface="Aptos"/>
                        </a:rPr>
                        <a:t>Selected</a:t>
                      </a:r>
                    </a:p>
                  </a:txBody>
                  <a:tcPr marL="36576" marR="36576" marT="27432" marB="27432" anchor="ctr">
                    <a:solidFill>
                      <a:srgbClr val="17365D"/>
                    </a:solidFill>
                  </a:tcPr>
                </a:tc>
              </a:tr>
              <a:tr h="853440">
                <a:tc>
                  <a:txBody>
                    <a:bodyPr/>
                    <a:lstStyle/>
                    <a:p>
                      <a:pPr algn="l"/>
                      <a:r>
                        <a:rPr sz="900" b="1" i="0">
                          <a:solidFill>
                            <a:srgbClr val="202B33"/>
                          </a:solidFill>
                          <a:latin typeface="Aptos"/>
                        </a:rPr>
                        <a:t>Design</a:t>
                      </a:r>
                    </a:p>
                  </a:txBody>
                  <a:tcPr marL="36576" marR="36576" marT="27432" marB="27432" anchor="ctr">
                    <a:solidFill>
                      <a:srgbClr val="FFFFFF"/>
                    </a:solidFill>
                  </a:tcPr>
                </a:tc>
                <a:tc>
                  <a:txBody>
                    <a:bodyPr/>
                    <a:lstStyle/>
                    <a:p>
                      <a:pPr algn="ctr"/>
                      <a:r>
                        <a:rPr sz="900" b="0" i="0">
                          <a:solidFill>
                            <a:srgbClr val="202B33"/>
                          </a:solidFill>
                          <a:latin typeface="Aptos"/>
                        </a:rPr>
                        <a:t>M40 NWC</a:t>
                      </a:r>
                    </a:p>
                  </a:txBody>
                  <a:tcPr marL="36576" marR="36576" marT="27432" marB="27432" anchor="ctr">
                    <a:solidFill>
                      <a:srgbClr val="FFFFFF"/>
                    </a:solidFill>
                  </a:tcPr>
                </a:tc>
                <a:tc>
                  <a:txBody>
                    <a:bodyPr/>
                    <a:lstStyle/>
                    <a:p>
                      <a:pPr algn="ctr"/>
                      <a:r>
                        <a:rPr sz="900" b="0" i="0">
                          <a:solidFill>
                            <a:srgbClr val="202B33"/>
                          </a:solidFill>
                          <a:latin typeface="Aptos"/>
                        </a:rPr>
                        <a:t>Porous-LWA concrete</a:t>
                      </a:r>
                    </a:p>
                  </a:txBody>
                  <a:tcPr marL="36576" marR="36576" marT="27432" marB="27432" anchor="ctr">
                    <a:solidFill>
                      <a:srgbClr val="FFFFFF"/>
                    </a:solidFill>
                  </a:tcPr>
                </a:tc>
                <a:tc>
                  <a:txBody>
                    <a:bodyPr/>
                    <a:lstStyle/>
                    <a:p>
                      <a:pPr algn="ctr"/>
                      <a:r>
                        <a:rPr sz="900" b="0" i="0">
                          <a:solidFill>
                            <a:srgbClr val="202B33"/>
                          </a:solidFill>
                          <a:latin typeface="Aptos"/>
                        </a:rPr>
                        <a:t>Three increasing reinforcement levels</a:t>
                      </a:r>
                    </a:p>
                  </a:txBody>
                  <a:tcPr marL="36576" marR="36576" marT="27432" marB="27432" anchor="ctr">
                    <a:solidFill>
                      <a:srgbClr val="FFFFFF"/>
                    </a:solidFill>
                  </a:tcPr>
                </a:tc>
                <a:tc>
                  <a:txBody>
                    <a:bodyPr/>
                    <a:lstStyle/>
                    <a:p>
                      <a:pPr algn="ctr"/>
                      <a:r>
                        <a:rPr sz="900" b="0" i="0">
                          <a:solidFill>
                            <a:srgbClr val="202B33"/>
                          </a:solidFill>
                          <a:latin typeface="Aptos"/>
                        </a:rPr>
                        <a:t>Highest tested level</a:t>
                      </a:r>
                    </a:p>
                  </a:txBody>
                  <a:tcPr marL="36576" marR="36576" marT="27432" marB="27432" anchor="ctr">
                    <a:solidFill>
                      <a:srgbClr val="FFFFFF"/>
                    </a:solidFill>
                  </a:tcPr>
                </a:tc>
              </a:tr>
              <a:tr h="853440">
                <a:tc>
                  <a:txBody>
                    <a:bodyPr/>
                    <a:lstStyle/>
                    <a:p>
                      <a:pPr algn="l"/>
                      <a:r>
                        <a:rPr sz="900" b="1" i="0">
                          <a:solidFill>
                            <a:srgbClr val="202B33"/>
                          </a:solidFill>
                          <a:latin typeface="Aptos"/>
                        </a:rPr>
                        <a:t>Purpose</a:t>
                      </a:r>
                    </a:p>
                  </a:txBody>
                  <a:tcPr marL="36576" marR="36576" marT="27432" marB="27432" anchor="ctr">
                    <a:solidFill>
                      <a:srgbClr val="EAF2F3"/>
                    </a:solidFill>
                  </a:tcPr>
                </a:tc>
                <a:tc>
                  <a:txBody>
                    <a:bodyPr/>
                    <a:lstStyle/>
                    <a:p>
                      <a:pPr algn="ctr"/>
                      <a:r>
                        <a:rPr sz="900" b="0" i="0">
                          <a:solidFill>
                            <a:srgbClr val="202B33"/>
                          </a:solidFill>
                          <a:latin typeface="Aptos"/>
                        </a:rPr>
                        <a:t>Benchmark</a:t>
                      </a:r>
                    </a:p>
                  </a:txBody>
                  <a:tcPr marL="36576" marR="36576" marT="27432" marB="27432" anchor="ctr">
                    <a:solidFill>
                      <a:srgbClr val="EAF2F3"/>
                    </a:solidFill>
                  </a:tcPr>
                </a:tc>
                <a:tc>
                  <a:txBody>
                    <a:bodyPr/>
                    <a:lstStyle/>
                    <a:p>
                      <a:pPr algn="ctr"/>
                      <a:r>
                        <a:rPr sz="900" b="0" i="0">
                          <a:solidFill>
                            <a:srgbClr val="202B33"/>
                          </a:solidFill>
                          <a:latin typeface="Aptos"/>
                        </a:rPr>
                        <a:t>Separate LWA effect</a:t>
                      </a:r>
                    </a:p>
                  </a:txBody>
                  <a:tcPr marL="36576" marR="36576" marT="27432" marB="27432" anchor="ctr">
                    <a:solidFill>
                      <a:srgbClr val="EAF2F3"/>
                    </a:solidFill>
                  </a:tcPr>
                </a:tc>
                <a:tc>
                  <a:txBody>
                    <a:bodyPr/>
                    <a:lstStyle/>
                    <a:p>
                      <a:pPr algn="ctr"/>
                      <a:r>
                        <a:rPr sz="900" b="0" i="0">
                          <a:solidFill>
                            <a:srgbClr val="202B33"/>
                          </a:solidFill>
                          <a:latin typeface="Aptos"/>
                        </a:rPr>
                        <a:t>Map performance response</a:t>
                      </a:r>
                    </a:p>
                  </a:txBody>
                  <a:tcPr marL="36576" marR="36576" marT="27432" marB="27432" anchor="ctr">
                    <a:solidFill>
                      <a:srgbClr val="EAF2F3"/>
                    </a:solidFill>
                  </a:tcPr>
                </a:tc>
                <a:tc>
                  <a:txBody>
                    <a:bodyPr/>
                    <a:lstStyle/>
                    <a:p>
                      <a:pPr algn="ctr"/>
                      <a:r>
                        <a:rPr sz="900" b="0" i="0">
                          <a:solidFill>
                            <a:srgbClr val="202B33"/>
                          </a:solidFill>
                          <a:latin typeface="Aptos"/>
                        </a:rPr>
                        <a:t>Barrier model</a:t>
                      </a:r>
                    </a:p>
                  </a:txBody>
                  <a:tcPr marL="36576" marR="36576" marT="27432" marB="27432" anchor="ctr">
                    <a:solidFill>
                      <a:srgbClr val="EAF2F3"/>
                    </a:solidFill>
                  </a:tcPr>
                </a:tc>
              </a:tr>
            </a:tbl>
          </a:graphicData>
        </a:graphic>
      </p:graphicFrame>
      <p:sp>
        <p:nvSpPr>
          <p:cNvPr id="12" name="Rectangle 11"/>
          <p:cNvSpPr/>
          <p:nvPr/>
        </p:nvSpPr>
        <p:spPr>
          <a:xfrm>
            <a:off x="685800" y="4206240"/>
            <a:ext cx="8001000" cy="841248"/>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89120"/>
            <a:ext cx="7589520" cy="411480"/>
          </a:xfrm>
          <a:prstGeom prst="rect">
            <a:avLst/>
          </a:prstGeom>
          <a:noFill/>
        </p:spPr>
        <p:txBody>
          <a:bodyPr wrap="square" lIns="0" rIns="0" tIns="0" bIns="0" anchor="t">
            <a:spAutoFit/>
          </a:bodyPr>
          <a:lstStyle/>
          <a:p>
            <a:pPr algn="l">
              <a:lnSpc>
                <a:spcPct val="100000"/>
              </a:lnSpc>
            </a:pPr>
            <a:r>
              <a:rPr sz="1000" b="1" i="0">
                <a:solidFill>
                  <a:srgbClr val="9A4651"/>
                </a:solidFill>
                <a:latin typeface="Aptos"/>
              </a:rPr>
              <a:t>Formulation proportions, moisture-conditioning protocol and constituent specifications are redacted. Release only after patent filing and IITBBS IP approval.</a:t>
            </a:r>
          </a:p>
        </p:txBody>
      </p:sp>
      <p:sp>
        <p:nvSpPr>
          <p:cNvPr id="14" name="Rectangle 13"/>
          <p:cNvSpPr/>
          <p:nvPr/>
        </p:nvSpPr>
        <p:spPr>
          <a:xfrm>
            <a:off x="8942832" y="1225296"/>
            <a:ext cx="2377440" cy="4315968"/>
          </a:xfrm>
          <a:prstGeom prst="rect">
            <a:avLst/>
          </a:prstGeom>
          <a:solidFill>
            <a:srgbClr val="FFFFFF"/>
          </a:solidFill>
          <a:ln w="1016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942832" y="1225296"/>
            <a:ext cx="2377440" cy="9144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1517904"/>
            <a:ext cx="1975104" cy="603504"/>
          </a:xfrm>
          <a:prstGeom prst="rect">
            <a:avLst/>
          </a:prstGeom>
          <a:noFill/>
        </p:spPr>
        <p:txBody>
          <a:bodyPr wrap="square" lIns="0" rIns="0" tIns="0" bIns="0" anchor="t">
            <a:spAutoFit/>
          </a:bodyPr>
          <a:lstStyle/>
          <a:p>
            <a:pPr algn="l">
              <a:lnSpc>
                <a:spcPct val="100000"/>
              </a:lnSpc>
            </a:pPr>
            <a:r>
              <a:rPr sz="1040" b="1" i="0">
                <a:solidFill>
                  <a:srgbClr val="17365D"/>
                </a:solidFill>
                <a:latin typeface="Cambria"/>
              </a:rPr>
              <a:t>SELECTED TECHNOLOGY EMBODIMENT</a:t>
            </a:r>
          </a:p>
        </p:txBody>
      </p:sp>
      <p:sp>
        <p:nvSpPr>
          <p:cNvPr id="17" name="TextBox 16"/>
          <p:cNvSpPr txBox="1"/>
          <p:nvPr/>
        </p:nvSpPr>
        <p:spPr>
          <a:xfrm>
            <a:off x="9144000" y="2240280"/>
            <a:ext cx="1975104" cy="2697480"/>
          </a:xfrm>
          <a:prstGeom prst="rect">
            <a:avLst/>
          </a:prstGeom>
          <a:noFill/>
        </p:spPr>
        <p:txBody>
          <a:bodyPr wrap="square" lIns="0" rIns="0" tIns="0" bIns="0" anchor="t">
            <a:spAutoFit/>
          </a:bodyPr>
          <a:lstStyle/>
          <a:p>
            <a:pPr algn="l">
              <a:lnSpc>
                <a:spcPct val="105000"/>
              </a:lnSpc>
            </a:pPr>
            <a:r>
              <a:rPr sz="940" b="0" i="0">
                <a:solidFill>
                  <a:srgbClr val="202B33"/>
                </a:solidFill>
                <a:latin typeface="Aptos"/>
              </a:rPr>
              <a:t>• Structural lightweight design target
• Industrial by-product aggregate pathway
• Lower-clinker binder pathway
• Discrete crack-bridging reinforcement
• Reported density below 2,000 kg/m³
• 28 d strength above M40 requirement</a:t>
            </a:r>
          </a:p>
        </p:txBody>
      </p:sp>
      <p:sp>
        <p:nvSpPr>
          <p:cNvPr id="18" name="Rectangle 17"/>
          <p:cNvSpPr/>
          <p:nvPr/>
        </p:nvSpPr>
        <p:spPr>
          <a:xfrm>
            <a:off x="9144000" y="4992624"/>
            <a:ext cx="1975104" cy="310896"/>
          </a:xfrm>
          <a:prstGeom prst="rect">
            <a:avLst/>
          </a:prstGeom>
          <a:solidFill>
            <a:srgbClr val="EAF1F6"/>
          </a:solidFill>
          <a:ln w="635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98864" y="5056632"/>
            <a:ext cx="1865376" cy="182880"/>
          </a:xfrm>
          <a:prstGeom prst="rect">
            <a:avLst/>
          </a:prstGeom>
          <a:noFill/>
        </p:spPr>
        <p:txBody>
          <a:bodyPr wrap="square" lIns="0" rIns="0" tIns="0" bIns="0" anchor="t">
            <a:spAutoFit/>
          </a:bodyPr>
          <a:lstStyle/>
          <a:p>
            <a:pPr algn="ctr">
              <a:lnSpc>
                <a:spcPct val="100000"/>
              </a:lnSpc>
            </a:pPr>
            <a:r>
              <a:rPr sz="780" b="1" i="0">
                <a:solidFill>
                  <a:srgbClr val="2E6F9E"/>
                </a:solidFill>
                <a:latin typeface="Aptos"/>
              </a:rPr>
              <a:t>MIX USED FOR BARRIER MODEL</a:t>
            </a:r>
          </a:p>
        </p:txBody>
      </p:sp>
      <p:sp>
        <p:nvSpPr>
          <p:cNvPr id="20" name="TextBox 19"/>
          <p:cNvSpPr txBox="1"/>
          <p:nvPr/>
        </p:nvSpPr>
        <p:spPr>
          <a:xfrm>
            <a:off x="676656" y="5797296"/>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Al-Amir et al. manuscript, Tables 4–6 and chart caches. Density terminology retained as “reported density”; the source alternates between wet and dry density. Exact extra-water protocol omitted by user instruction.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MATERIAL RESULTS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Reported density and 28-day mechanical performance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08</a:t>
            </a:r>
          </a:p>
        </p:txBody>
      </p:sp>
      <p:graphicFrame>
        <p:nvGraphicFramePr>
          <p:cNvPr id="11" name="Chart 10"/>
          <p:cNvGraphicFramePr>
            <a:graphicFrameLocks noGrp="1"/>
          </p:cNvGraphicFramePr>
          <p:nvPr/>
        </p:nvGraphicFramePr>
        <p:xfrm>
          <a:off x="658368" y="1316736"/>
          <a:ext cx="3429000" cy="3456432"/>
        </p:xfrm>
        <a:graphic>
          <a:graphicData uri="http://schemas.openxmlformats.org/drawingml/2006/chart">
            <c:chart xmlns:c="http://schemas.openxmlformats.org/drawingml/2006/chart" r:id="rId3"/>
          </a:graphicData>
        </a:graphic>
      </p:graphicFrame>
      <p:sp>
        <p:nvSpPr>
          <p:cNvPr id="12" name="TextBox 11"/>
          <p:cNvSpPr txBox="1"/>
          <p:nvPr/>
        </p:nvSpPr>
        <p:spPr>
          <a:xfrm>
            <a:off x="704088" y="1335024"/>
            <a:ext cx="3337560"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Reported density</a:t>
            </a:r>
          </a:p>
        </p:txBody>
      </p:sp>
      <p:graphicFrame>
        <p:nvGraphicFramePr>
          <p:cNvPr id="13" name="Chart 12"/>
          <p:cNvGraphicFramePr>
            <a:graphicFrameLocks noGrp="1"/>
          </p:cNvGraphicFramePr>
          <p:nvPr/>
        </p:nvGraphicFramePr>
        <p:xfrm>
          <a:off x="4370832" y="1316736"/>
          <a:ext cx="3429000" cy="3456432"/>
        </p:xfrm>
        <a:graphic>
          <a:graphicData uri="http://schemas.openxmlformats.org/drawingml/2006/chart">
            <c:chart xmlns:c="http://schemas.openxmlformats.org/drawingml/2006/chart" r:id="rId4"/>
          </a:graphicData>
        </a:graphic>
      </p:graphicFrame>
      <p:sp>
        <p:nvSpPr>
          <p:cNvPr id="14" name="TextBox 13"/>
          <p:cNvSpPr txBox="1"/>
          <p:nvPr/>
        </p:nvSpPr>
        <p:spPr>
          <a:xfrm>
            <a:off x="4416552" y="1335024"/>
            <a:ext cx="3337560"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28 d compressive strength</a:t>
            </a:r>
          </a:p>
        </p:txBody>
      </p:sp>
      <p:graphicFrame>
        <p:nvGraphicFramePr>
          <p:cNvPr id="15" name="Chart 14"/>
          <p:cNvGraphicFramePr>
            <a:graphicFrameLocks noGrp="1"/>
          </p:cNvGraphicFramePr>
          <p:nvPr/>
        </p:nvGraphicFramePr>
        <p:xfrm>
          <a:off x="8083296" y="1316736"/>
          <a:ext cx="3429000" cy="3456432"/>
        </p:xfrm>
        <a:graphic>
          <a:graphicData uri="http://schemas.openxmlformats.org/drawingml/2006/chart">
            <c:chart xmlns:c="http://schemas.openxmlformats.org/drawingml/2006/chart" r:id="rId5"/>
          </a:graphicData>
        </a:graphic>
      </p:graphicFrame>
      <p:sp>
        <p:nvSpPr>
          <p:cNvPr id="16" name="TextBox 15"/>
          <p:cNvSpPr txBox="1"/>
          <p:nvPr/>
        </p:nvSpPr>
        <p:spPr>
          <a:xfrm>
            <a:off x="8129016" y="1335024"/>
            <a:ext cx="3337560"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28 d splitting tensile strength</a:t>
            </a:r>
          </a:p>
        </p:txBody>
      </p:sp>
      <p:sp>
        <p:nvSpPr>
          <p:cNvPr id="17" name="Rectangle 16"/>
          <p:cNvSpPr/>
          <p:nvPr/>
        </p:nvSpPr>
        <p:spPr>
          <a:xfrm>
            <a:off x="768096" y="5020056"/>
            <a:ext cx="2423160" cy="29260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033772"/>
            <a:ext cx="2350008" cy="246888"/>
          </a:xfrm>
          <a:prstGeom prst="rect">
            <a:avLst/>
          </a:prstGeom>
          <a:noFill/>
        </p:spPr>
        <p:txBody>
          <a:bodyPr wrap="square" lIns="0" rIns="0" tIns="0" bIns="0" anchor="ctr">
            <a:spAutoFit/>
          </a:bodyPr>
          <a:lstStyle/>
          <a:p>
            <a:pPr algn="ctr">
              <a:lnSpc>
                <a:spcPct val="100000"/>
              </a:lnSpc>
            </a:pPr>
            <a:r>
              <a:rPr sz="919" b="1" i="0">
                <a:solidFill>
                  <a:srgbClr val="2E6F9E"/>
                </a:solidFill>
                <a:latin typeface="Aptos"/>
              </a:rPr>
              <a:t>LWC15 density −19.4%</a:t>
            </a:r>
          </a:p>
        </p:txBody>
      </p:sp>
      <p:sp>
        <p:nvSpPr>
          <p:cNvPr id="19" name="Rectangle 18"/>
          <p:cNvSpPr/>
          <p:nvPr/>
        </p:nvSpPr>
        <p:spPr>
          <a:xfrm>
            <a:off x="4507992" y="5020056"/>
            <a:ext cx="2423160" cy="292608"/>
          </a:xfrm>
          <a:prstGeom prst="rect">
            <a:avLst/>
          </a:prstGeom>
          <a:solidFill>
            <a:srgbClr val="ECF2ED"/>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44568" y="5033772"/>
            <a:ext cx="2350008" cy="246888"/>
          </a:xfrm>
          <a:prstGeom prst="rect">
            <a:avLst/>
          </a:prstGeom>
          <a:noFill/>
        </p:spPr>
        <p:txBody>
          <a:bodyPr wrap="square" lIns="0" rIns="0" tIns="0" bIns="0" anchor="ctr">
            <a:spAutoFit/>
          </a:bodyPr>
          <a:lstStyle/>
          <a:p>
            <a:pPr algn="ctr">
              <a:lnSpc>
                <a:spcPct val="100000"/>
              </a:lnSpc>
            </a:pPr>
            <a:r>
              <a:rPr sz="919" b="1" i="0">
                <a:solidFill>
                  <a:srgbClr val="557A60"/>
                </a:solidFill>
                <a:latin typeface="Aptos"/>
              </a:rPr>
              <a:t>LWC10 max = 56.8 MPa</a:t>
            </a:r>
          </a:p>
        </p:txBody>
      </p:sp>
      <p:sp>
        <p:nvSpPr>
          <p:cNvPr id="21" name="Rectangle 20"/>
          <p:cNvSpPr/>
          <p:nvPr/>
        </p:nvSpPr>
        <p:spPr>
          <a:xfrm>
            <a:off x="8220456" y="5020056"/>
            <a:ext cx="2423160" cy="292608"/>
          </a:xfrm>
          <a:prstGeom prst="rect">
            <a:avLst/>
          </a:prstGeom>
          <a:solidFill>
            <a:srgbClr val="F6EFE4"/>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5033772"/>
            <a:ext cx="2350008" cy="246888"/>
          </a:xfrm>
          <a:prstGeom prst="rect">
            <a:avLst/>
          </a:prstGeom>
          <a:noFill/>
        </p:spPr>
        <p:txBody>
          <a:bodyPr wrap="square" lIns="0" rIns="0" tIns="0" bIns="0" anchor="ctr">
            <a:spAutoFit/>
          </a:bodyPr>
          <a:lstStyle/>
          <a:p>
            <a:pPr algn="ctr">
              <a:lnSpc>
                <a:spcPct val="100000"/>
              </a:lnSpc>
            </a:pPr>
            <a:r>
              <a:rPr sz="919" b="1" i="0">
                <a:solidFill>
                  <a:srgbClr val="B37A30"/>
                </a:solidFill>
                <a:latin typeface="Aptos"/>
              </a:rPr>
              <a:t>LWC15 tension +76%</a:t>
            </a:r>
          </a:p>
        </p:txBody>
      </p:sp>
      <p:sp>
        <p:nvSpPr>
          <p:cNvPr id="23" name="Rectangle 22"/>
          <p:cNvSpPr/>
          <p:nvPr/>
        </p:nvSpPr>
        <p:spPr>
          <a:xfrm>
            <a:off x="777240" y="5449824"/>
            <a:ext cx="10488168" cy="347472"/>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1832" y="5532120"/>
            <a:ext cx="10104120" cy="192024"/>
          </a:xfrm>
          <a:prstGeom prst="rect">
            <a:avLst/>
          </a:prstGeom>
          <a:noFill/>
        </p:spPr>
        <p:txBody>
          <a:bodyPr wrap="square" lIns="0" rIns="0" tIns="0" bIns="0" anchor="t">
            <a:spAutoFit/>
          </a:bodyPr>
          <a:lstStyle/>
          <a:p>
            <a:pPr algn="l">
              <a:lnSpc>
                <a:spcPct val="100000"/>
              </a:lnSpc>
            </a:pPr>
            <a:r>
              <a:rPr sz="880" b="1" i="0">
                <a:solidFill>
                  <a:srgbClr val="9A4651"/>
                </a:solidFill>
                <a:latin typeface="Aptos"/>
              </a:rPr>
              <a:t>Workability trade-off: slump fell from 165 mm (LWC00) to 87 mm (LWC15); fibre dispersion and compaction are scale-up control points.</a:t>
            </a:r>
          </a:p>
        </p:txBody>
      </p:sp>
      <p:sp>
        <p:nvSpPr>
          <p:cNvPr id="25" name="TextBox 24"/>
          <p:cNvSpPr txBox="1"/>
          <p:nvPr/>
        </p:nvSpPr>
        <p:spPr>
          <a:xfrm>
            <a:off x="676656" y="5934456"/>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dataset, manuscript Fig. 8 and Fig. 9 native chart caches. Values shown as supplied; no independent raw-data audit. Three cube/cylinder specimens per mix were stated in the casting plan.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IMPACT METHODOLOGY</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Repeated-impact test and signal-processing method</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09</a:t>
            </a:r>
          </a:p>
        </p:txBody>
      </p:sp>
      <p:sp>
        <p:nvSpPr>
          <p:cNvPr id="11" name="Rectangle 10"/>
          <p:cNvSpPr/>
          <p:nvPr/>
        </p:nvSpPr>
        <p:spPr>
          <a:xfrm>
            <a:off x="658368" y="1225296"/>
            <a:ext cx="4681728" cy="4315968"/>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rop_weight_setup_contain.jpg"/>
          <p:cNvPicPr>
            <a:picLocks noChangeAspect="1"/>
          </p:cNvPicPr>
          <p:nvPr/>
        </p:nvPicPr>
        <p:blipFill>
          <a:blip r:embed="rId3"/>
          <a:stretch>
            <a:fillRect/>
          </a:stretch>
        </p:blipFill>
        <p:spPr>
          <a:xfrm>
            <a:off x="758952" y="1325880"/>
            <a:ext cx="4480560" cy="3858768"/>
          </a:xfrm>
          <a:prstGeom prst="rect">
            <a:avLst/>
          </a:prstGeom>
        </p:spPr>
      </p:pic>
      <p:sp>
        <p:nvSpPr>
          <p:cNvPr id="13" name="TextBox 12"/>
          <p:cNvSpPr txBox="1"/>
          <p:nvPr/>
        </p:nvSpPr>
        <p:spPr>
          <a:xfrm>
            <a:off x="832104" y="5230368"/>
            <a:ext cx="4334256" cy="219456"/>
          </a:xfrm>
          <a:prstGeom prst="rect">
            <a:avLst/>
          </a:prstGeom>
          <a:noFill/>
        </p:spPr>
        <p:txBody>
          <a:bodyPr wrap="square" lIns="0" rIns="0" tIns="0" bIns="0" anchor="t">
            <a:spAutoFit/>
          </a:bodyPr>
          <a:lstStyle/>
          <a:p>
            <a:pPr algn="ctr">
              <a:lnSpc>
                <a:spcPct val="100000"/>
              </a:lnSpc>
            </a:pPr>
            <a:r>
              <a:rPr sz="819" b="1" i="0">
                <a:solidFill>
                  <a:srgbClr val="17365D"/>
                </a:solidFill>
                <a:latin typeface="Aptos"/>
              </a:rPr>
              <a:t>Figure 4. Repeated drop-weight impact apparatus for prismatic beams</a:t>
            </a:r>
          </a:p>
        </p:txBody>
      </p:sp>
      <p:graphicFrame>
        <p:nvGraphicFramePr>
          <p:cNvPr id="14" name="Table 13"/>
          <p:cNvGraphicFramePr>
            <a:graphicFrameLocks noGrp="1"/>
          </p:cNvGraphicFramePr>
          <p:nvPr/>
        </p:nvGraphicFramePr>
        <p:xfrm>
          <a:off x="5596128" y="1261872"/>
          <a:ext cx="5669279" cy="2432304"/>
        </p:xfrm>
        <a:graphic>
          <a:graphicData uri="http://schemas.openxmlformats.org/drawingml/2006/table">
            <a:tbl>
              <a:tblPr firstRow="1" bandRow="1">
                <a:tableStyleId>{5C22544A-7EE6-4342-B048-85BDC9FD1C3A}</a:tableStyleId>
              </a:tblPr>
              <a:tblGrid>
                <a:gridCol w="2436795"/>
                <a:gridCol w="3232484"/>
              </a:tblGrid>
              <a:tr h="347472">
                <a:tc>
                  <a:txBody>
                    <a:bodyPr/>
                    <a:lstStyle/>
                    <a:p>
                      <a:pPr algn="l"/>
                      <a:r>
                        <a:rPr sz="900" b="1" i="0">
                          <a:solidFill>
                            <a:srgbClr val="FFFFFF"/>
                          </a:solidFill>
                          <a:latin typeface="Aptos"/>
                        </a:rPr>
                        <a:t>Parameter</a:t>
                      </a:r>
                    </a:p>
                  </a:txBody>
                  <a:tcPr marL="36576" marR="36576" marT="27432" marB="27432" anchor="ctr">
                    <a:solidFill>
                      <a:srgbClr val="17365D"/>
                    </a:solidFill>
                  </a:tcPr>
                </a:tc>
                <a:tc>
                  <a:txBody>
                    <a:bodyPr/>
                    <a:lstStyle/>
                    <a:p>
                      <a:pPr algn="ctr"/>
                      <a:r>
                        <a:rPr sz="900" b="1" i="0">
                          <a:solidFill>
                            <a:srgbClr val="FFFFFF"/>
                          </a:solidFill>
                          <a:latin typeface="Aptos"/>
                        </a:rPr>
                        <a:t>Specified value</a:t>
                      </a:r>
                    </a:p>
                  </a:txBody>
                  <a:tcPr marL="36576" marR="36576" marT="27432" marB="27432" anchor="ctr">
                    <a:solidFill>
                      <a:srgbClr val="17365D"/>
                    </a:solidFill>
                  </a:tcPr>
                </a:tc>
              </a:tr>
              <a:tr h="347472">
                <a:tc>
                  <a:txBody>
                    <a:bodyPr/>
                    <a:lstStyle/>
                    <a:p>
                      <a:pPr algn="l"/>
                      <a:r>
                        <a:rPr sz="919" b="1" i="0">
                          <a:solidFill>
                            <a:srgbClr val="202B33"/>
                          </a:solidFill>
                          <a:latin typeface="Aptos"/>
                        </a:rPr>
                        <a:t>Beam geometry</a:t>
                      </a:r>
                    </a:p>
                  </a:txBody>
                  <a:tcPr marL="36576" marR="36576" marT="27432" marB="27432" anchor="ctr">
                    <a:solidFill>
                      <a:srgbClr val="FFFFFF"/>
                    </a:solidFill>
                  </a:tcPr>
                </a:tc>
                <a:tc>
                  <a:txBody>
                    <a:bodyPr/>
                    <a:lstStyle/>
                    <a:p>
                      <a:pPr algn="ctr"/>
                      <a:r>
                        <a:rPr sz="919" b="0" i="0">
                          <a:solidFill>
                            <a:srgbClr val="202B33"/>
                          </a:solidFill>
                          <a:latin typeface="Aptos"/>
                        </a:rPr>
                        <a:t>100 × 100 × 500 mm</a:t>
                      </a:r>
                    </a:p>
                  </a:txBody>
                  <a:tcPr marL="36576" marR="36576" marT="27432" marB="27432" anchor="ctr">
                    <a:solidFill>
                      <a:srgbClr val="FFFFFF"/>
                    </a:solidFill>
                  </a:tcPr>
                </a:tc>
              </a:tr>
              <a:tr h="347472">
                <a:tc>
                  <a:txBody>
                    <a:bodyPr/>
                    <a:lstStyle/>
                    <a:p>
                      <a:pPr algn="l"/>
                      <a:r>
                        <a:rPr sz="919" b="1" i="0">
                          <a:solidFill>
                            <a:srgbClr val="202B33"/>
                          </a:solidFill>
                          <a:latin typeface="Aptos"/>
                        </a:rPr>
                        <a:t>Support span</a:t>
                      </a:r>
                    </a:p>
                  </a:txBody>
                  <a:tcPr marL="36576" marR="36576" marT="27432" marB="27432" anchor="ctr">
                    <a:solidFill>
                      <a:srgbClr val="F8FAFB"/>
                    </a:solidFill>
                  </a:tcPr>
                </a:tc>
                <a:tc>
                  <a:txBody>
                    <a:bodyPr/>
                    <a:lstStyle/>
                    <a:p>
                      <a:pPr algn="ctr"/>
                      <a:r>
                        <a:rPr sz="919" b="0" i="0">
                          <a:solidFill>
                            <a:srgbClr val="202B33"/>
                          </a:solidFill>
                          <a:latin typeface="Aptos"/>
                        </a:rPr>
                        <a:t>400 mm</a:t>
                      </a:r>
                    </a:p>
                  </a:txBody>
                  <a:tcPr marL="36576" marR="36576" marT="27432" marB="27432" anchor="ctr">
                    <a:solidFill>
                      <a:srgbClr val="F8FAFB"/>
                    </a:solidFill>
                  </a:tcPr>
                </a:tc>
              </a:tr>
              <a:tr h="347472">
                <a:tc>
                  <a:txBody>
                    <a:bodyPr/>
                    <a:lstStyle/>
                    <a:p>
                      <a:pPr algn="l"/>
                      <a:r>
                        <a:rPr sz="919" b="1" i="0">
                          <a:solidFill>
                            <a:srgbClr val="202B33"/>
                          </a:solidFill>
                          <a:latin typeface="Aptos"/>
                        </a:rPr>
                        <a:t>Drop mass, m</a:t>
                      </a:r>
                    </a:p>
                  </a:txBody>
                  <a:tcPr marL="36576" marR="36576" marT="27432" marB="27432" anchor="ctr">
                    <a:solidFill>
                      <a:srgbClr val="FFFFFF"/>
                    </a:solidFill>
                  </a:tcPr>
                </a:tc>
                <a:tc>
                  <a:txBody>
                    <a:bodyPr/>
                    <a:lstStyle/>
                    <a:p>
                      <a:pPr algn="ctr"/>
                      <a:r>
                        <a:rPr sz="919" b="0" i="0">
                          <a:solidFill>
                            <a:srgbClr val="202B33"/>
                          </a:solidFill>
                          <a:latin typeface="Aptos"/>
                        </a:rPr>
                        <a:t>13.5 kg</a:t>
                      </a:r>
                    </a:p>
                  </a:txBody>
                  <a:tcPr marL="36576" marR="36576" marT="27432" marB="27432" anchor="ctr">
                    <a:solidFill>
                      <a:srgbClr val="FFFFFF"/>
                    </a:solidFill>
                  </a:tcPr>
                </a:tc>
              </a:tr>
              <a:tr h="347472">
                <a:tc>
                  <a:txBody>
                    <a:bodyPr/>
                    <a:lstStyle/>
                    <a:p>
                      <a:pPr algn="l"/>
                      <a:r>
                        <a:rPr sz="919" b="1" i="0">
                          <a:solidFill>
                            <a:srgbClr val="202B33"/>
                          </a:solidFill>
                          <a:latin typeface="Aptos"/>
                        </a:rPr>
                        <a:t>Drop height, h</a:t>
                      </a:r>
                    </a:p>
                  </a:txBody>
                  <a:tcPr marL="36576" marR="36576" marT="27432" marB="27432" anchor="ctr">
                    <a:solidFill>
                      <a:srgbClr val="F8FAFB"/>
                    </a:solidFill>
                  </a:tcPr>
                </a:tc>
                <a:tc>
                  <a:txBody>
                    <a:bodyPr/>
                    <a:lstStyle/>
                    <a:p>
                      <a:pPr algn="ctr"/>
                      <a:r>
                        <a:rPr sz="919" b="0" i="0">
                          <a:solidFill>
                            <a:srgbClr val="202B33"/>
                          </a:solidFill>
                          <a:latin typeface="Aptos"/>
                        </a:rPr>
                        <a:t>100 mm</a:t>
                      </a:r>
                    </a:p>
                  </a:txBody>
                  <a:tcPr marL="36576" marR="36576" marT="27432" marB="27432" anchor="ctr">
                    <a:solidFill>
                      <a:srgbClr val="F8FAFB"/>
                    </a:solidFill>
                  </a:tcPr>
                </a:tc>
              </a:tr>
              <a:tr h="347472">
                <a:tc>
                  <a:txBody>
                    <a:bodyPr/>
                    <a:lstStyle/>
                    <a:p>
                      <a:pPr algn="l"/>
                      <a:r>
                        <a:rPr sz="919" b="1" i="0">
                          <a:solidFill>
                            <a:srgbClr val="202B33"/>
                          </a:solidFill>
                          <a:latin typeface="Aptos"/>
                        </a:rPr>
                        <a:t>Energy per blow, mgh</a:t>
                      </a:r>
                    </a:p>
                  </a:txBody>
                  <a:tcPr marL="36576" marR="36576" marT="27432" marB="27432" anchor="ctr">
                    <a:solidFill>
                      <a:srgbClr val="FFFFFF"/>
                    </a:solidFill>
                  </a:tcPr>
                </a:tc>
                <a:tc>
                  <a:txBody>
                    <a:bodyPr/>
                    <a:lstStyle/>
                    <a:p>
                      <a:pPr algn="ctr"/>
                      <a:r>
                        <a:rPr sz="919" b="0" i="0">
                          <a:solidFill>
                            <a:srgbClr val="202B33"/>
                          </a:solidFill>
                          <a:latin typeface="Aptos"/>
                        </a:rPr>
                        <a:t>13.24 J</a:t>
                      </a:r>
                    </a:p>
                  </a:txBody>
                  <a:tcPr marL="36576" marR="36576" marT="27432" marB="27432" anchor="ctr">
                    <a:solidFill>
                      <a:srgbClr val="FFFFFF"/>
                    </a:solidFill>
                  </a:tcPr>
                </a:tc>
              </a:tr>
              <a:tr h="347472">
                <a:tc>
                  <a:txBody>
                    <a:bodyPr/>
                    <a:lstStyle/>
                    <a:p>
                      <a:pPr algn="l"/>
                      <a:r>
                        <a:rPr sz="919" b="1" i="0">
                          <a:solidFill>
                            <a:srgbClr val="202B33"/>
                          </a:solidFill>
                          <a:latin typeface="Aptos"/>
                        </a:rPr>
                        <a:t>Recorded endpoints</a:t>
                      </a:r>
                    </a:p>
                  </a:txBody>
                  <a:tcPr marL="36576" marR="36576" marT="27432" marB="27432" anchor="ctr">
                    <a:solidFill>
                      <a:srgbClr val="F8FAFB"/>
                    </a:solidFill>
                  </a:tcPr>
                </a:tc>
                <a:tc>
                  <a:txBody>
                    <a:bodyPr/>
                    <a:lstStyle/>
                    <a:p>
                      <a:pPr algn="ctr"/>
                      <a:r>
                        <a:rPr sz="919" b="0" i="0">
                          <a:solidFill>
                            <a:srgbClr val="202B33"/>
                          </a:solidFill>
                          <a:latin typeface="Aptos"/>
                        </a:rPr>
                        <a:t>N₁ first crack; N₂ failure</a:t>
                      </a:r>
                    </a:p>
                  </a:txBody>
                  <a:tcPr marL="36576" marR="36576" marT="27432" marB="27432" anchor="ctr">
                    <a:solidFill>
                      <a:srgbClr val="F8FAFB"/>
                    </a:solidFill>
                  </a:tcPr>
                </a:tc>
              </a:tr>
            </a:tbl>
          </a:graphicData>
        </a:graphic>
      </p:graphicFrame>
      <p:sp>
        <p:nvSpPr>
          <p:cNvPr id="15" name="Rectangle 14"/>
          <p:cNvSpPr/>
          <p:nvPr/>
        </p:nvSpPr>
        <p:spPr>
          <a:xfrm>
            <a:off x="5596128" y="3886200"/>
            <a:ext cx="5669280" cy="612648"/>
          </a:xfrm>
          <a:prstGeom prst="rect">
            <a:avLst/>
          </a:prstGeom>
          <a:solidFill>
            <a:srgbClr val="F6EFE4"/>
          </a:solidFill>
          <a:ln w="8890">
            <a:solidFill>
              <a:srgbClr val="B37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33872" y="4014215"/>
            <a:ext cx="5193792" cy="347472"/>
          </a:xfrm>
          <a:prstGeom prst="rect">
            <a:avLst/>
          </a:prstGeom>
          <a:noFill/>
        </p:spPr>
        <p:txBody>
          <a:bodyPr wrap="square" lIns="0" rIns="0" tIns="0" bIns="0" anchor="t">
            <a:spAutoFit/>
          </a:bodyPr>
          <a:lstStyle/>
          <a:p>
            <a:pPr algn="ctr">
              <a:lnSpc>
                <a:spcPct val="100000"/>
              </a:lnSpc>
            </a:pPr>
            <a:r>
              <a:rPr sz="1220" b="1" i="0">
                <a:solidFill>
                  <a:srgbClr val="17365D"/>
                </a:solidFill>
                <a:latin typeface="Cambria"/>
              </a:rPr>
              <a:t>E₁ = N₁mgh   |   E₂ = N₂mgh   |   ΔNpost = N₂ − N₁</a:t>
            </a:r>
          </a:p>
        </p:txBody>
      </p:sp>
      <p:sp>
        <p:nvSpPr>
          <p:cNvPr id="17" name="TextBox 16"/>
          <p:cNvSpPr txBox="1"/>
          <p:nvPr/>
        </p:nvSpPr>
        <p:spPr>
          <a:xfrm>
            <a:off x="5596128" y="4690872"/>
            <a:ext cx="1444752" cy="237744"/>
          </a:xfrm>
          <a:prstGeom prst="rect">
            <a:avLst/>
          </a:prstGeom>
          <a:noFill/>
        </p:spPr>
        <p:txBody>
          <a:bodyPr wrap="square" lIns="0" rIns="0" tIns="0" bIns="0" anchor="t">
            <a:spAutoFit/>
          </a:bodyPr>
          <a:lstStyle/>
          <a:p>
            <a:pPr algn="l">
              <a:lnSpc>
                <a:spcPct val="100000"/>
              </a:lnSpc>
            </a:pPr>
            <a:r>
              <a:rPr sz="850" b="1" i="0">
                <a:solidFill>
                  <a:srgbClr val="2E6F9E"/>
                </a:solidFill>
                <a:latin typeface="Aptos"/>
              </a:rPr>
              <a:t>SIGNAL PROCESSING</a:t>
            </a:r>
          </a:p>
        </p:txBody>
      </p:sp>
      <p:sp>
        <p:nvSpPr>
          <p:cNvPr id="18" name="Rectangle 17"/>
          <p:cNvSpPr/>
          <p:nvPr/>
        </p:nvSpPr>
        <p:spPr>
          <a:xfrm>
            <a:off x="5596128"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32704" y="5093208"/>
            <a:ext cx="886968" cy="384048"/>
          </a:xfrm>
          <a:prstGeom prst="rect">
            <a:avLst/>
          </a:prstGeom>
          <a:noFill/>
        </p:spPr>
        <p:txBody>
          <a:bodyPr wrap="square" lIns="0" rIns="0" tIns="0" bIns="0" anchor="ctr">
            <a:spAutoFit/>
          </a:bodyPr>
          <a:lstStyle/>
          <a:p>
            <a:pPr algn="ctr">
              <a:lnSpc>
                <a:spcPct val="100000"/>
              </a:lnSpc>
            </a:pPr>
            <a:r>
              <a:rPr sz="750" b="1" i="0">
                <a:solidFill>
                  <a:srgbClr val="17365D"/>
                </a:solidFill>
                <a:latin typeface="Aptos"/>
              </a:rPr>
              <a:t>detrend</a:t>
            </a:r>
          </a:p>
        </p:txBody>
      </p:sp>
      <p:sp>
        <p:nvSpPr>
          <p:cNvPr id="20" name="Chevron 19"/>
          <p:cNvSpPr/>
          <p:nvPr/>
        </p:nvSpPr>
        <p:spPr>
          <a:xfrm>
            <a:off x="6574536"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29984" y="5001768"/>
            <a:ext cx="960120" cy="56692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0" y="5093208"/>
            <a:ext cx="886968" cy="384048"/>
          </a:xfrm>
          <a:prstGeom prst="rect">
            <a:avLst/>
          </a:prstGeom>
          <a:noFill/>
        </p:spPr>
        <p:txBody>
          <a:bodyPr wrap="square" lIns="0" rIns="0" tIns="0" bIns="0" anchor="ctr">
            <a:spAutoFit/>
          </a:bodyPr>
          <a:lstStyle/>
          <a:p>
            <a:pPr algn="ctr">
              <a:lnSpc>
                <a:spcPct val="100000"/>
              </a:lnSpc>
            </a:pPr>
            <a:r>
              <a:rPr sz="750" b="1" i="0">
                <a:solidFill>
                  <a:srgbClr val="17365D"/>
                </a:solidFill>
                <a:latin typeface="Aptos"/>
              </a:rPr>
              <a:t>4th-order zero-phase
HP filter, 3 Hz</a:t>
            </a:r>
          </a:p>
        </p:txBody>
      </p:sp>
      <p:sp>
        <p:nvSpPr>
          <p:cNvPr id="23" name="Chevron 22"/>
          <p:cNvSpPr/>
          <p:nvPr/>
        </p:nvSpPr>
        <p:spPr>
          <a:xfrm>
            <a:off x="7708392"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63840"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0415" y="5093208"/>
            <a:ext cx="886968" cy="384048"/>
          </a:xfrm>
          <a:prstGeom prst="rect">
            <a:avLst/>
          </a:prstGeom>
          <a:noFill/>
        </p:spPr>
        <p:txBody>
          <a:bodyPr wrap="square" lIns="0" rIns="0" tIns="0" bIns="0" anchor="ctr">
            <a:spAutoFit/>
          </a:bodyPr>
          <a:lstStyle/>
          <a:p>
            <a:pPr algn="ctr">
              <a:lnSpc>
                <a:spcPct val="100000"/>
              </a:lnSpc>
            </a:pPr>
            <a:r>
              <a:rPr sz="750" b="1" i="0">
                <a:solidFill>
                  <a:srgbClr val="17365D"/>
                </a:solidFill>
                <a:latin typeface="Aptos"/>
              </a:rPr>
              <a:t>∫a dt → v</a:t>
            </a:r>
          </a:p>
        </p:txBody>
      </p:sp>
      <p:sp>
        <p:nvSpPr>
          <p:cNvPr id="26" name="Chevron 25"/>
          <p:cNvSpPr/>
          <p:nvPr/>
        </p:nvSpPr>
        <p:spPr>
          <a:xfrm>
            <a:off x="8842248"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97696" y="5001768"/>
            <a:ext cx="960120" cy="56692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34272" y="5093208"/>
            <a:ext cx="886968" cy="384048"/>
          </a:xfrm>
          <a:prstGeom prst="rect">
            <a:avLst/>
          </a:prstGeom>
          <a:noFill/>
        </p:spPr>
        <p:txBody>
          <a:bodyPr wrap="square" lIns="0" rIns="0" tIns="0" bIns="0" anchor="ctr">
            <a:spAutoFit/>
          </a:bodyPr>
          <a:lstStyle/>
          <a:p>
            <a:pPr algn="ctr">
              <a:lnSpc>
                <a:spcPct val="100000"/>
              </a:lnSpc>
            </a:pPr>
            <a:r>
              <a:rPr sz="750" b="1" i="0">
                <a:solidFill>
                  <a:srgbClr val="17365D"/>
                </a:solidFill>
                <a:latin typeface="Aptos"/>
              </a:rPr>
              <a:t>drift correction</a:t>
            </a:r>
          </a:p>
        </p:txBody>
      </p:sp>
      <p:sp>
        <p:nvSpPr>
          <p:cNvPr id="29" name="Chevron 28"/>
          <p:cNvSpPr/>
          <p:nvPr/>
        </p:nvSpPr>
        <p:spPr>
          <a:xfrm>
            <a:off x="9976104"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131552"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68128" y="5093208"/>
            <a:ext cx="886968" cy="384048"/>
          </a:xfrm>
          <a:prstGeom prst="rect">
            <a:avLst/>
          </a:prstGeom>
          <a:noFill/>
        </p:spPr>
        <p:txBody>
          <a:bodyPr wrap="square" lIns="0" rIns="0" tIns="0" bIns="0" anchor="ctr">
            <a:spAutoFit/>
          </a:bodyPr>
          <a:lstStyle/>
          <a:p>
            <a:pPr algn="ctr">
              <a:lnSpc>
                <a:spcPct val="100000"/>
              </a:lnSpc>
            </a:pPr>
            <a:r>
              <a:rPr sz="750" b="1" i="0">
                <a:solidFill>
                  <a:srgbClr val="17365D"/>
                </a:solidFill>
                <a:latin typeface="Aptos"/>
              </a:rPr>
              <a:t>∫v dt → x</a:t>
            </a:r>
          </a:p>
        </p:txBody>
      </p:sp>
      <p:sp>
        <p:nvSpPr>
          <p:cNvPr id="32" name="TextBox 31"/>
          <p:cNvSpPr txBox="1"/>
          <p:nvPr/>
        </p:nvSpPr>
        <p:spPr>
          <a:xfrm>
            <a:off x="667512" y="5925312"/>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Inventor-supplied manuscript Fig. 4; ACI 544.2R-89 adapted to prismatic beams; manuscript Testing Methods, Eqs. 1–2 and signal-processing description.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PRISM IMPACT RESULTS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Effect of reinforcement level on repeated-impact endurance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10</a:t>
            </a:r>
          </a:p>
        </p:txBody>
      </p:sp>
      <p:graphicFrame>
        <p:nvGraphicFramePr>
          <p:cNvPr id="11" name="Chart 10"/>
          <p:cNvGraphicFramePr>
            <a:graphicFrameLocks noGrp="1"/>
          </p:cNvGraphicFramePr>
          <p:nvPr/>
        </p:nvGraphicFramePr>
        <p:xfrm>
          <a:off x="667512" y="1280160"/>
          <a:ext cx="5504688" cy="4160520"/>
        </p:xfrm>
        <a:graphic>
          <a:graphicData uri="http://schemas.openxmlformats.org/drawingml/2006/chart">
            <c:chart xmlns:c="http://schemas.openxmlformats.org/drawingml/2006/chart" r:id="rId3"/>
          </a:graphicData>
        </a:graphic>
      </p:graphicFrame>
      <p:sp>
        <p:nvSpPr>
          <p:cNvPr id="12" name="TextBox 11"/>
          <p:cNvSpPr txBox="1"/>
          <p:nvPr/>
        </p:nvSpPr>
        <p:spPr>
          <a:xfrm>
            <a:off x="713232" y="1298448"/>
            <a:ext cx="5413248"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Failure energy, E₂ (N·m)</a:t>
            </a:r>
          </a:p>
        </p:txBody>
      </p:sp>
      <p:graphicFrame>
        <p:nvGraphicFramePr>
          <p:cNvPr id="13" name="Chart 12"/>
          <p:cNvGraphicFramePr>
            <a:graphicFrameLocks noGrp="1"/>
          </p:cNvGraphicFramePr>
          <p:nvPr/>
        </p:nvGraphicFramePr>
        <p:xfrm>
          <a:off x="6446520" y="1280160"/>
          <a:ext cx="5010912" cy="4160520"/>
        </p:xfrm>
        <a:graphic>
          <a:graphicData uri="http://schemas.openxmlformats.org/drawingml/2006/chart">
            <c:chart xmlns:c="http://schemas.openxmlformats.org/drawingml/2006/chart" r:id="rId4"/>
          </a:graphicData>
        </a:graphic>
      </p:graphicFrame>
      <p:sp>
        <p:nvSpPr>
          <p:cNvPr id="14" name="TextBox 13"/>
          <p:cNvSpPr txBox="1"/>
          <p:nvPr/>
        </p:nvSpPr>
        <p:spPr>
          <a:xfrm>
            <a:off x="6492240" y="1298448"/>
            <a:ext cx="4919472"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Impact counts</a:t>
            </a:r>
          </a:p>
        </p:txBody>
      </p:sp>
      <p:sp>
        <p:nvSpPr>
          <p:cNvPr id="15" name="Rectangle 14"/>
          <p:cNvSpPr/>
          <p:nvPr/>
        </p:nvSpPr>
        <p:spPr>
          <a:xfrm>
            <a:off x="841248" y="5166360"/>
            <a:ext cx="2240280" cy="292608"/>
          </a:xfrm>
          <a:prstGeom prst="rect">
            <a:avLst/>
          </a:prstGeom>
          <a:solidFill>
            <a:srgbClr val="F6EAEC"/>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5180076"/>
            <a:ext cx="2167128" cy="246888"/>
          </a:xfrm>
          <a:prstGeom prst="rect">
            <a:avLst/>
          </a:prstGeom>
          <a:noFill/>
        </p:spPr>
        <p:txBody>
          <a:bodyPr wrap="square" lIns="0" rIns="0" tIns="0" bIns="0" anchor="ctr">
            <a:spAutoFit/>
          </a:bodyPr>
          <a:lstStyle/>
          <a:p>
            <a:pPr algn="ctr">
              <a:lnSpc>
                <a:spcPct val="100000"/>
              </a:lnSpc>
            </a:pPr>
            <a:r>
              <a:rPr sz="930" b="1" i="0">
                <a:solidFill>
                  <a:srgbClr val="9A4651"/>
                </a:solidFill>
                <a:latin typeface="Aptos"/>
              </a:rPr>
              <a:t>55.3× vs NWC</a:t>
            </a:r>
          </a:p>
        </p:txBody>
      </p:sp>
      <p:sp>
        <p:nvSpPr>
          <p:cNvPr id="17" name="Rectangle 16"/>
          <p:cNvSpPr/>
          <p:nvPr/>
        </p:nvSpPr>
        <p:spPr>
          <a:xfrm>
            <a:off x="3291840" y="5166360"/>
            <a:ext cx="2542032" cy="292608"/>
          </a:xfrm>
          <a:prstGeom prst="rect">
            <a:avLst/>
          </a:prstGeom>
          <a:solidFill>
            <a:srgbClr val="F6EFE4"/>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28416" y="5180076"/>
            <a:ext cx="2468879" cy="246888"/>
          </a:xfrm>
          <a:prstGeom prst="rect">
            <a:avLst/>
          </a:prstGeom>
          <a:noFill/>
        </p:spPr>
        <p:txBody>
          <a:bodyPr wrap="square" lIns="0" rIns="0" tIns="0" bIns="0" anchor="ctr">
            <a:spAutoFit/>
          </a:bodyPr>
          <a:lstStyle/>
          <a:p>
            <a:pPr algn="ctr">
              <a:lnSpc>
                <a:spcPct val="100000"/>
              </a:lnSpc>
            </a:pPr>
            <a:r>
              <a:rPr sz="930" b="1" i="0">
                <a:solidFill>
                  <a:srgbClr val="B37A30"/>
                </a:solidFill>
                <a:latin typeface="Aptos"/>
              </a:rPr>
              <a:t>110.5× vs plain LWC</a:t>
            </a:r>
          </a:p>
        </p:txBody>
      </p:sp>
      <p:sp>
        <p:nvSpPr>
          <p:cNvPr id="19" name="Rectangle 18"/>
          <p:cNvSpPr/>
          <p:nvPr/>
        </p:nvSpPr>
        <p:spPr>
          <a:xfrm>
            <a:off x="6702552" y="5166360"/>
            <a:ext cx="2029968" cy="29260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39128" y="5180076"/>
            <a:ext cx="1956816" cy="246888"/>
          </a:xfrm>
          <a:prstGeom prst="rect">
            <a:avLst/>
          </a:prstGeom>
          <a:noFill/>
        </p:spPr>
        <p:txBody>
          <a:bodyPr wrap="square" lIns="0" rIns="0" tIns="0" bIns="0" anchor="ctr">
            <a:spAutoFit/>
          </a:bodyPr>
          <a:lstStyle/>
          <a:p>
            <a:pPr algn="ctr">
              <a:lnSpc>
                <a:spcPct val="100000"/>
              </a:lnSpc>
            </a:pPr>
            <a:r>
              <a:rPr sz="930" b="1" i="0">
                <a:solidFill>
                  <a:srgbClr val="2E6F9E"/>
                </a:solidFill>
                <a:latin typeface="Aptos"/>
              </a:rPr>
              <a:t>N₂ = 221 blows</a:t>
            </a:r>
          </a:p>
        </p:txBody>
      </p:sp>
      <p:sp>
        <p:nvSpPr>
          <p:cNvPr id="21" name="Rectangle 20"/>
          <p:cNvSpPr/>
          <p:nvPr/>
        </p:nvSpPr>
        <p:spPr>
          <a:xfrm>
            <a:off x="8942832" y="5166360"/>
            <a:ext cx="2103120" cy="29260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79407" y="5180076"/>
            <a:ext cx="2029967" cy="246888"/>
          </a:xfrm>
          <a:prstGeom prst="rect">
            <a:avLst/>
          </a:prstGeom>
          <a:noFill/>
        </p:spPr>
        <p:txBody>
          <a:bodyPr wrap="square" lIns="0" rIns="0" tIns="0" bIns="0" anchor="ctr">
            <a:spAutoFit/>
          </a:bodyPr>
          <a:lstStyle/>
          <a:p>
            <a:pPr algn="ctr">
              <a:lnSpc>
                <a:spcPct val="100000"/>
              </a:lnSpc>
            </a:pPr>
            <a:r>
              <a:rPr sz="930" b="1" i="0">
                <a:solidFill>
                  <a:srgbClr val="3F7E73"/>
                </a:solidFill>
                <a:latin typeface="Aptos"/>
              </a:rPr>
              <a:t>186 post-crack blows</a:t>
            </a:r>
          </a:p>
        </p:txBody>
      </p:sp>
      <p:sp>
        <p:nvSpPr>
          <p:cNvPr id="23" name="TextBox 22"/>
          <p:cNvSpPr txBox="1"/>
          <p:nvPr/>
        </p:nvSpPr>
        <p:spPr>
          <a:xfrm>
            <a:off x="676656" y="5870448"/>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dataset, manuscript Table 8. E₂ = mgh × N₂. Ratios calculated from supplied values; impact-count variability/replicate distribution is not reported in the 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DYNAMIC RESPONSE</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020" b="1" i="0">
                <a:solidFill>
                  <a:srgbClr val="17365D"/>
                </a:solidFill>
                <a:latin typeface="Cambria"/>
              </a:rPr>
              <a:t>First-impact displacement and inferred dissipation mechanisms</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11</a:t>
            </a:r>
          </a:p>
        </p:txBody>
      </p:sp>
      <p:graphicFrame>
        <p:nvGraphicFramePr>
          <p:cNvPr id="11" name="Chart 10"/>
          <p:cNvGraphicFramePr>
            <a:graphicFrameLocks noGrp="1"/>
          </p:cNvGraphicFramePr>
          <p:nvPr/>
        </p:nvGraphicFramePr>
        <p:xfrm>
          <a:off x="667512" y="1298448"/>
          <a:ext cx="4919472" cy="3977639"/>
        </p:xfrm>
        <a:graphic>
          <a:graphicData uri="http://schemas.openxmlformats.org/drawingml/2006/chart">
            <c:chart xmlns:c="http://schemas.openxmlformats.org/drawingml/2006/chart" r:id="rId3"/>
          </a:graphicData>
        </a:graphic>
      </p:graphicFrame>
      <p:sp>
        <p:nvSpPr>
          <p:cNvPr id="12" name="TextBox 11"/>
          <p:cNvSpPr txBox="1"/>
          <p:nvPr/>
        </p:nvSpPr>
        <p:spPr>
          <a:xfrm>
            <a:off x="713232" y="1316736"/>
            <a:ext cx="4828032"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Peak displacement after first impact</a:t>
            </a:r>
          </a:p>
        </p:txBody>
      </p:sp>
      <p:sp>
        <p:nvSpPr>
          <p:cNvPr id="13" name="Rectangle 12"/>
          <p:cNvSpPr/>
          <p:nvPr/>
        </p:nvSpPr>
        <p:spPr>
          <a:xfrm>
            <a:off x="5870448" y="1353312"/>
            <a:ext cx="1444752" cy="1152144"/>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73368" y="1545336"/>
            <a:ext cx="438912" cy="438912"/>
          </a:xfrm>
          <a:prstGeom prst="ellipse">
            <a:avLst/>
          </a:prstGeom>
          <a:solidFill>
            <a:srgbClr val="2E6F9E"/>
          </a:solidFill>
          <a:ln>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1545336"/>
            <a:ext cx="438912"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a:t>
            </a:r>
          </a:p>
        </p:txBody>
      </p:sp>
      <p:sp>
        <p:nvSpPr>
          <p:cNvPr id="16" name="TextBox 15"/>
          <p:cNvSpPr txBox="1"/>
          <p:nvPr/>
        </p:nvSpPr>
        <p:spPr>
          <a:xfrm>
            <a:off x="5961888" y="2057400"/>
            <a:ext cx="1261872" cy="310896"/>
          </a:xfrm>
          <a:prstGeom prst="rect">
            <a:avLst/>
          </a:prstGeom>
          <a:noFill/>
        </p:spPr>
        <p:txBody>
          <a:bodyPr wrap="square" lIns="0" rIns="0" tIns="0" bIns="0" anchor="t">
            <a:spAutoFit/>
          </a:bodyPr>
          <a:lstStyle/>
          <a:p>
            <a:pPr algn="ctr">
              <a:lnSpc>
                <a:spcPct val="100000"/>
              </a:lnSpc>
            </a:pPr>
            <a:r>
              <a:rPr sz="840" b="1" i="0">
                <a:solidFill>
                  <a:srgbClr val="2E6F9E"/>
                </a:solidFill>
                <a:latin typeface="Aptos"/>
              </a:rPr>
              <a:t>POROUS
PHASE</a:t>
            </a:r>
          </a:p>
        </p:txBody>
      </p:sp>
      <p:sp>
        <p:nvSpPr>
          <p:cNvPr id="17" name="Rectangle 16"/>
          <p:cNvSpPr/>
          <p:nvPr/>
        </p:nvSpPr>
        <p:spPr>
          <a:xfrm>
            <a:off x="7525512" y="1353312"/>
            <a:ext cx="1444752" cy="1152144"/>
          </a:xfrm>
          <a:prstGeom prst="rect">
            <a:avLst/>
          </a:prstGeom>
          <a:solidFill>
            <a:srgbClr val="F6EFE4"/>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28431" y="1545336"/>
            <a:ext cx="438912" cy="438912"/>
          </a:xfrm>
          <a:prstGeom prst="ellipse">
            <a:avLst/>
          </a:prstGeom>
          <a:solidFill>
            <a:srgbClr val="B37A30"/>
          </a:solidFill>
          <a:ln>
            <a:solidFill>
              <a:srgbClr val="B37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28431" y="1545336"/>
            <a:ext cx="438912"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a:t>
            </a:r>
          </a:p>
        </p:txBody>
      </p:sp>
      <p:sp>
        <p:nvSpPr>
          <p:cNvPr id="20" name="TextBox 19"/>
          <p:cNvSpPr txBox="1"/>
          <p:nvPr/>
        </p:nvSpPr>
        <p:spPr>
          <a:xfrm>
            <a:off x="7616952" y="2057400"/>
            <a:ext cx="1261872" cy="310896"/>
          </a:xfrm>
          <a:prstGeom prst="rect">
            <a:avLst/>
          </a:prstGeom>
          <a:noFill/>
        </p:spPr>
        <p:txBody>
          <a:bodyPr wrap="square" lIns="0" rIns="0" tIns="0" bIns="0" anchor="t">
            <a:spAutoFit/>
          </a:bodyPr>
          <a:lstStyle/>
          <a:p>
            <a:pPr algn="ctr">
              <a:lnSpc>
                <a:spcPct val="100000"/>
              </a:lnSpc>
            </a:pPr>
            <a:r>
              <a:rPr sz="840" b="1" i="0">
                <a:solidFill>
                  <a:srgbClr val="B37A30"/>
                </a:solidFill>
                <a:latin typeface="Aptos"/>
              </a:rPr>
              <a:t>BRIDGING
PHASE</a:t>
            </a:r>
          </a:p>
        </p:txBody>
      </p:sp>
      <p:pic>
        <p:nvPicPr>
          <p:cNvPr id="21" name="Picture 20" descr="split_failure_external_contain.jpg"/>
          <p:cNvPicPr>
            <a:picLocks noChangeAspect="1"/>
          </p:cNvPicPr>
          <p:nvPr/>
        </p:nvPicPr>
        <p:blipFill>
          <a:blip r:embed="rId4"/>
          <a:stretch>
            <a:fillRect/>
          </a:stretch>
        </p:blipFill>
        <p:spPr>
          <a:xfrm>
            <a:off x="9180576" y="1353312"/>
            <a:ext cx="1965960" cy="1152144"/>
          </a:xfrm>
          <a:prstGeom prst="rect">
            <a:avLst/>
          </a:prstGeom>
        </p:spPr>
      </p:pic>
      <p:sp>
        <p:nvSpPr>
          <p:cNvPr id="22" name="TextBox 21"/>
          <p:cNvSpPr txBox="1"/>
          <p:nvPr/>
        </p:nvSpPr>
        <p:spPr>
          <a:xfrm>
            <a:off x="5870448" y="2587752"/>
            <a:ext cx="1444752" cy="329184"/>
          </a:xfrm>
          <a:prstGeom prst="rect">
            <a:avLst/>
          </a:prstGeom>
          <a:noFill/>
        </p:spPr>
        <p:txBody>
          <a:bodyPr wrap="square" lIns="0" rIns="0" tIns="0" bIns="0" anchor="t">
            <a:spAutoFit/>
          </a:bodyPr>
          <a:lstStyle/>
          <a:p>
            <a:pPr algn="ctr">
              <a:lnSpc>
                <a:spcPct val="100000"/>
              </a:lnSpc>
            </a:pPr>
            <a:r>
              <a:rPr sz="930" b="1" i="0">
                <a:solidFill>
                  <a:srgbClr val="2E6F9E"/>
                </a:solidFill>
                <a:latin typeface="Aptos"/>
              </a:rPr>
              <a:t>Energy-absorbing phase</a:t>
            </a:r>
          </a:p>
        </p:txBody>
      </p:sp>
      <p:sp>
        <p:nvSpPr>
          <p:cNvPr id="23" name="TextBox 22"/>
          <p:cNvSpPr txBox="1"/>
          <p:nvPr/>
        </p:nvSpPr>
        <p:spPr>
          <a:xfrm>
            <a:off x="7525512" y="2587752"/>
            <a:ext cx="1444752" cy="329184"/>
          </a:xfrm>
          <a:prstGeom prst="rect">
            <a:avLst/>
          </a:prstGeom>
          <a:noFill/>
        </p:spPr>
        <p:txBody>
          <a:bodyPr wrap="square" lIns="0" rIns="0" tIns="0" bIns="0" anchor="t">
            <a:spAutoFit/>
          </a:bodyPr>
          <a:lstStyle/>
          <a:p>
            <a:pPr algn="ctr">
              <a:lnSpc>
                <a:spcPct val="100000"/>
              </a:lnSpc>
            </a:pPr>
            <a:r>
              <a:rPr sz="930" b="1" i="0">
                <a:solidFill>
                  <a:srgbClr val="B37A30"/>
                </a:solidFill>
                <a:latin typeface="Aptos"/>
              </a:rPr>
              <a:t>Crack-bridging phase</a:t>
            </a:r>
          </a:p>
        </p:txBody>
      </p:sp>
      <p:sp>
        <p:nvSpPr>
          <p:cNvPr id="24" name="TextBox 23"/>
          <p:cNvSpPr txBox="1"/>
          <p:nvPr/>
        </p:nvSpPr>
        <p:spPr>
          <a:xfrm>
            <a:off x="9180576" y="2587752"/>
            <a:ext cx="1965960" cy="329184"/>
          </a:xfrm>
          <a:prstGeom prst="rect">
            <a:avLst/>
          </a:prstGeom>
          <a:noFill/>
        </p:spPr>
        <p:txBody>
          <a:bodyPr wrap="square" lIns="0" rIns="0" tIns="0" bIns="0" anchor="t">
            <a:spAutoFit/>
          </a:bodyPr>
          <a:lstStyle/>
          <a:p>
            <a:pPr algn="ctr">
              <a:lnSpc>
                <a:spcPct val="100000"/>
              </a:lnSpc>
            </a:pPr>
            <a:r>
              <a:rPr sz="930" b="1" i="0">
                <a:solidFill>
                  <a:srgbClr val="3F7E73"/>
                </a:solidFill>
                <a:latin typeface="Aptos"/>
              </a:rPr>
              <a:t>Controlled crack path</a:t>
            </a:r>
          </a:p>
        </p:txBody>
      </p:sp>
      <p:sp>
        <p:nvSpPr>
          <p:cNvPr id="25" name="Chevron 24"/>
          <p:cNvSpPr/>
          <p:nvPr/>
        </p:nvSpPr>
        <p:spPr>
          <a:xfrm>
            <a:off x="7278624" y="1737360"/>
            <a:ext cx="219456" cy="31089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hevron 25"/>
          <p:cNvSpPr/>
          <p:nvPr/>
        </p:nvSpPr>
        <p:spPr>
          <a:xfrm>
            <a:off x="8933688" y="1737360"/>
            <a:ext cx="219456" cy="31089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7" name="Table 26"/>
          <p:cNvGraphicFramePr>
            <a:graphicFrameLocks noGrp="1"/>
          </p:cNvGraphicFramePr>
          <p:nvPr/>
        </p:nvGraphicFramePr>
        <p:xfrm>
          <a:off x="5870448" y="3136392"/>
          <a:ext cx="5276087" cy="1901952"/>
        </p:xfrm>
        <a:graphic>
          <a:graphicData uri="http://schemas.openxmlformats.org/drawingml/2006/table">
            <a:tbl>
              <a:tblPr firstRow="1" bandRow="1">
                <a:tableStyleId>{5C22544A-7EE6-4342-B048-85BDC9FD1C3A}</a:tableStyleId>
              </a:tblPr>
              <a:tblGrid>
                <a:gridCol w="2091422"/>
                <a:gridCol w="3184665"/>
              </a:tblGrid>
              <a:tr h="380390">
                <a:tc>
                  <a:txBody>
                    <a:bodyPr/>
                    <a:lstStyle/>
                    <a:p>
                      <a:pPr algn="l"/>
                      <a:r>
                        <a:rPr sz="840" b="1" i="0">
                          <a:solidFill>
                            <a:srgbClr val="FFFFFF"/>
                          </a:solidFill>
                          <a:latin typeface="Aptos"/>
                        </a:rPr>
                        <a:t>Mechanism</a:t>
                      </a:r>
                    </a:p>
                  </a:txBody>
                  <a:tcPr marL="36576" marR="36576" marT="27432" marB="27432" anchor="ctr">
                    <a:solidFill>
                      <a:srgbClr val="17365D"/>
                    </a:solidFill>
                  </a:tcPr>
                </a:tc>
                <a:tc>
                  <a:txBody>
                    <a:bodyPr/>
                    <a:lstStyle/>
                    <a:p>
                      <a:pPr algn="ctr"/>
                      <a:r>
                        <a:rPr sz="840" b="1" i="0">
                          <a:solidFill>
                            <a:srgbClr val="FFFFFF"/>
                          </a:solidFill>
                          <a:latin typeface="Aptos"/>
                        </a:rPr>
                        <a:t>Physical interpretation</a:t>
                      </a:r>
                    </a:p>
                  </a:txBody>
                  <a:tcPr marL="36576" marR="36576" marT="27432" marB="27432" anchor="ctr">
                    <a:solidFill>
                      <a:srgbClr val="17365D"/>
                    </a:solidFill>
                  </a:tcPr>
                </a:tc>
              </a:tr>
              <a:tr h="380390">
                <a:tc>
                  <a:txBody>
                    <a:bodyPr/>
                    <a:lstStyle/>
                    <a:p>
                      <a:pPr algn="l"/>
                      <a:r>
                        <a:rPr sz="860" b="1" i="0">
                          <a:solidFill>
                            <a:srgbClr val="202B33"/>
                          </a:solidFill>
                          <a:latin typeface="Aptos"/>
                        </a:rPr>
                        <a:t>Aggregate / porous-phase crushing</a:t>
                      </a:r>
                    </a:p>
                  </a:txBody>
                  <a:tcPr marL="36576" marR="36576" marT="27432" marB="27432" anchor="ctr">
                    <a:solidFill>
                      <a:srgbClr val="FFFFFF"/>
                    </a:solidFill>
                  </a:tcPr>
                </a:tc>
                <a:tc>
                  <a:txBody>
                    <a:bodyPr/>
                    <a:lstStyle/>
                    <a:p>
                      <a:pPr algn="ctr"/>
                      <a:r>
                        <a:rPr sz="860" b="0" i="0">
                          <a:solidFill>
                            <a:srgbClr val="202B33"/>
                          </a:solidFill>
                          <a:latin typeface="Aptos"/>
                        </a:rPr>
                        <a:t>Local deformation and energy dissipation</a:t>
                      </a:r>
                    </a:p>
                  </a:txBody>
                  <a:tcPr marL="36576" marR="36576" marT="27432" marB="27432" anchor="ctr">
                    <a:solidFill>
                      <a:srgbClr val="FFFFFF"/>
                    </a:solidFill>
                  </a:tcPr>
                </a:tc>
              </a:tr>
              <a:tr h="380390">
                <a:tc>
                  <a:txBody>
                    <a:bodyPr/>
                    <a:lstStyle/>
                    <a:p>
                      <a:pPr algn="l"/>
                      <a:r>
                        <a:rPr sz="860" b="1" i="0">
                          <a:solidFill>
                            <a:srgbClr val="202B33"/>
                          </a:solidFill>
                          <a:latin typeface="Aptos"/>
                        </a:rPr>
                        <a:t>Crack bridging</a:t>
                      </a:r>
                    </a:p>
                  </a:txBody>
                  <a:tcPr marL="36576" marR="36576" marT="27432" marB="27432" anchor="ctr">
                    <a:solidFill>
                      <a:srgbClr val="F8FAFB"/>
                    </a:solidFill>
                  </a:tcPr>
                </a:tc>
                <a:tc>
                  <a:txBody>
                    <a:bodyPr/>
                    <a:lstStyle/>
                    <a:p>
                      <a:pPr algn="ctr"/>
                      <a:r>
                        <a:rPr sz="860" b="0" i="0">
                          <a:solidFill>
                            <a:srgbClr val="202B33"/>
                          </a:solidFill>
                          <a:latin typeface="Aptos"/>
                        </a:rPr>
                        <a:t>Stress transfer across opening cracks</a:t>
                      </a:r>
                    </a:p>
                  </a:txBody>
                  <a:tcPr marL="36576" marR="36576" marT="27432" marB="27432" anchor="ctr">
                    <a:solidFill>
                      <a:srgbClr val="F8FAFB"/>
                    </a:solidFill>
                  </a:tcPr>
                </a:tc>
              </a:tr>
              <a:tr h="380390">
                <a:tc>
                  <a:txBody>
                    <a:bodyPr/>
                    <a:lstStyle/>
                    <a:p>
                      <a:pPr algn="l"/>
                      <a:r>
                        <a:rPr sz="860" b="1" i="0">
                          <a:solidFill>
                            <a:srgbClr val="202B33"/>
                          </a:solidFill>
                          <a:latin typeface="Aptos"/>
                        </a:rPr>
                        <a:t>Debonding and pull-out</a:t>
                      </a:r>
                    </a:p>
                  </a:txBody>
                  <a:tcPr marL="36576" marR="36576" marT="27432" marB="27432" anchor="ctr">
                    <a:solidFill>
                      <a:srgbClr val="FFFFFF"/>
                    </a:solidFill>
                  </a:tcPr>
                </a:tc>
                <a:tc>
                  <a:txBody>
                    <a:bodyPr/>
                    <a:lstStyle/>
                    <a:p>
                      <a:pPr algn="ctr"/>
                      <a:r>
                        <a:rPr sz="860" b="0" i="0">
                          <a:solidFill>
                            <a:srgbClr val="202B33"/>
                          </a:solidFill>
                          <a:latin typeface="Aptos"/>
                        </a:rPr>
                        <a:t>Frictional work extends failure process</a:t>
                      </a:r>
                    </a:p>
                  </a:txBody>
                  <a:tcPr marL="36576" marR="36576" marT="27432" marB="27432" anchor="ctr">
                    <a:solidFill>
                      <a:srgbClr val="FFFFFF"/>
                    </a:solidFill>
                  </a:tcPr>
                </a:tc>
              </a:tr>
              <a:tr h="380392">
                <a:tc>
                  <a:txBody>
                    <a:bodyPr/>
                    <a:lstStyle/>
                    <a:p>
                      <a:pPr algn="l"/>
                      <a:r>
                        <a:rPr sz="860" b="1" i="0">
                          <a:solidFill>
                            <a:srgbClr val="202B33"/>
                          </a:solidFill>
                          <a:latin typeface="Aptos"/>
                        </a:rPr>
                        <a:t>Fragment restraint</a:t>
                      </a:r>
                    </a:p>
                  </a:txBody>
                  <a:tcPr marL="36576" marR="36576" marT="27432" marB="27432" anchor="ctr">
                    <a:solidFill>
                      <a:srgbClr val="F8FAFB"/>
                    </a:solidFill>
                  </a:tcPr>
                </a:tc>
                <a:tc>
                  <a:txBody>
                    <a:bodyPr/>
                    <a:lstStyle/>
                    <a:p>
                      <a:pPr algn="ctr"/>
                      <a:r>
                        <a:rPr sz="860" b="0" i="0">
                          <a:solidFill>
                            <a:srgbClr val="202B33"/>
                          </a:solidFill>
                          <a:latin typeface="Aptos"/>
                        </a:rPr>
                        <a:t>Improved residual integrity and smaller debris</a:t>
                      </a:r>
                    </a:p>
                  </a:txBody>
                  <a:tcPr marL="36576" marR="36576" marT="27432" marB="27432" anchor="ctr">
                    <a:solidFill>
                      <a:srgbClr val="F8FAFB"/>
                    </a:solidFill>
                  </a:tcPr>
                </a:tc>
              </a:tr>
            </a:tbl>
          </a:graphicData>
        </a:graphic>
      </p:graphicFrame>
      <p:sp>
        <p:nvSpPr>
          <p:cNvPr id="28" name="Rectangle 27"/>
          <p:cNvSpPr/>
          <p:nvPr/>
        </p:nvSpPr>
        <p:spPr>
          <a:xfrm>
            <a:off x="813816" y="5367528"/>
            <a:ext cx="10332720" cy="347472"/>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9264" y="5449824"/>
            <a:ext cx="10021824" cy="192024"/>
          </a:xfrm>
          <a:prstGeom prst="rect">
            <a:avLst/>
          </a:prstGeom>
          <a:noFill/>
        </p:spPr>
        <p:txBody>
          <a:bodyPr wrap="square" lIns="0" rIns="0" tIns="0" bIns="0" anchor="t">
            <a:spAutoFit/>
          </a:bodyPr>
          <a:lstStyle/>
          <a:p>
            <a:pPr algn="l">
              <a:lnSpc>
                <a:spcPct val="100000"/>
              </a:lnSpc>
            </a:pPr>
            <a:r>
              <a:rPr sz="890" b="1" i="0">
                <a:solidFill>
                  <a:srgbClr val="9A4651"/>
                </a:solidFill>
                <a:latin typeface="Aptos"/>
              </a:rPr>
              <a:t>LWC10 has the highest first-impact displacement (0.85 mm); LWC15 is slightly stiffer (0.71 mm) yet vastly more durable under repeated impact.</a:t>
            </a:r>
          </a:p>
        </p:txBody>
      </p:sp>
      <p:sp>
        <p:nvSpPr>
          <p:cNvPr id="30" name="TextBox 29"/>
          <p:cNvSpPr txBox="1"/>
          <p:nvPr/>
        </p:nvSpPr>
        <p:spPr>
          <a:xfrm>
            <a:off x="667512" y="5879592"/>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dataset, manuscript Table 9 and material/failure photos (Figs. 2 and 10). Mechanism supported by Wang &amp; Wang (2013), Gao et al. (1997) and Sahoo et al. (2020). Error values supplied: SD 0.005–0.0686 mm.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TECHNO-ECONOMICS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Material cost and laboratory impact-energy efficiency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12</a:t>
            </a:r>
          </a:p>
        </p:txBody>
      </p:sp>
      <p:graphicFrame>
        <p:nvGraphicFramePr>
          <p:cNvPr id="11" name="Chart 10"/>
          <p:cNvGraphicFramePr>
            <a:graphicFrameLocks noGrp="1"/>
          </p:cNvGraphicFramePr>
          <p:nvPr/>
        </p:nvGraphicFramePr>
        <p:xfrm>
          <a:off x="676656" y="1344168"/>
          <a:ext cx="5138928" cy="3493008"/>
        </p:xfrm>
        <a:graphic>
          <a:graphicData uri="http://schemas.openxmlformats.org/drawingml/2006/chart">
            <c:chart xmlns:c="http://schemas.openxmlformats.org/drawingml/2006/chart" r:id="rId3"/>
          </a:graphicData>
        </a:graphic>
      </p:graphicFrame>
      <p:sp>
        <p:nvSpPr>
          <p:cNvPr id="12" name="TextBox 11"/>
          <p:cNvSpPr txBox="1"/>
          <p:nvPr/>
        </p:nvSpPr>
        <p:spPr>
          <a:xfrm>
            <a:off x="722376" y="1362456"/>
            <a:ext cx="5047488"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Material cost</a:t>
            </a:r>
          </a:p>
        </p:txBody>
      </p:sp>
      <p:graphicFrame>
        <p:nvGraphicFramePr>
          <p:cNvPr id="13" name="Chart 12"/>
          <p:cNvGraphicFramePr>
            <a:graphicFrameLocks noGrp="1"/>
          </p:cNvGraphicFramePr>
          <p:nvPr/>
        </p:nvGraphicFramePr>
        <p:xfrm>
          <a:off x="6181344" y="1344168"/>
          <a:ext cx="5138928" cy="3493008"/>
        </p:xfrm>
        <a:graphic>
          <a:graphicData uri="http://schemas.openxmlformats.org/drawingml/2006/chart">
            <c:chart xmlns:c="http://schemas.openxmlformats.org/drawingml/2006/chart" r:id="rId4"/>
          </a:graphicData>
        </a:graphic>
      </p:graphicFrame>
      <p:sp>
        <p:nvSpPr>
          <p:cNvPr id="14" name="TextBox 13"/>
          <p:cNvSpPr txBox="1"/>
          <p:nvPr/>
        </p:nvSpPr>
        <p:spPr>
          <a:xfrm>
            <a:off x="6227064" y="1362456"/>
            <a:ext cx="5047488"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Laboratory cost / impact energy</a:t>
            </a:r>
          </a:p>
        </p:txBody>
      </p:sp>
      <p:graphicFrame>
        <p:nvGraphicFramePr>
          <p:cNvPr id="15" name="Table 14"/>
          <p:cNvGraphicFramePr>
            <a:graphicFrameLocks noGrp="1"/>
          </p:cNvGraphicFramePr>
          <p:nvPr/>
        </p:nvGraphicFramePr>
        <p:xfrm>
          <a:off x="841248" y="5029200"/>
          <a:ext cx="10222991" cy="786384"/>
        </p:xfrm>
        <a:graphic>
          <a:graphicData uri="http://schemas.openxmlformats.org/drawingml/2006/table">
            <a:tbl>
              <a:tblPr firstRow="1" bandRow="1">
                <a:tableStyleId>{5C22544A-7EE6-4342-B048-85BDC9FD1C3A}</a:tableStyleId>
              </a:tblPr>
              <a:tblGrid>
                <a:gridCol w="2402403"/>
                <a:gridCol w="2300173"/>
                <a:gridCol w="2300173"/>
                <a:gridCol w="3220242"/>
              </a:tblGrid>
              <a:tr h="262128">
                <a:tc>
                  <a:txBody>
                    <a:bodyPr/>
                    <a:lstStyle/>
                    <a:p>
                      <a:pPr algn="l"/>
                      <a:r>
                        <a:rPr sz="770" b="1" i="0">
                          <a:solidFill>
                            <a:srgbClr val="FFFFFF"/>
                          </a:solidFill>
                          <a:latin typeface="Aptos"/>
                        </a:rPr>
                        <a:t>Metric</a:t>
                      </a:r>
                    </a:p>
                  </a:txBody>
                  <a:tcPr marL="36576" marR="36576" marT="27432" marB="27432" anchor="ctr">
                    <a:solidFill>
                      <a:srgbClr val="17365D"/>
                    </a:solidFill>
                  </a:tcPr>
                </a:tc>
                <a:tc>
                  <a:txBody>
                    <a:bodyPr/>
                    <a:lstStyle/>
                    <a:p>
                      <a:pPr algn="ctr"/>
                      <a:r>
                        <a:rPr sz="770" b="1" i="0">
                          <a:solidFill>
                            <a:srgbClr val="FFFFFF"/>
                          </a:solidFill>
                          <a:latin typeface="Aptos"/>
                        </a:rPr>
                        <a:t>NWC</a:t>
                      </a:r>
                    </a:p>
                  </a:txBody>
                  <a:tcPr marL="36576" marR="36576" marT="27432" marB="27432" anchor="ctr">
                    <a:solidFill>
                      <a:srgbClr val="17365D"/>
                    </a:solidFill>
                  </a:tcPr>
                </a:tc>
                <a:tc>
                  <a:txBody>
                    <a:bodyPr/>
                    <a:lstStyle/>
                    <a:p>
                      <a:pPr algn="ctr"/>
                      <a:r>
                        <a:rPr sz="770" b="1" i="0">
                          <a:solidFill>
                            <a:srgbClr val="FFFFFF"/>
                          </a:solidFill>
                          <a:latin typeface="Aptos"/>
                        </a:rPr>
                        <a:t>Selected LWC</a:t>
                      </a:r>
                    </a:p>
                  </a:txBody>
                  <a:tcPr marL="36576" marR="36576" marT="27432" marB="27432" anchor="ctr">
                    <a:solidFill>
                      <a:srgbClr val="17365D"/>
                    </a:solidFill>
                  </a:tcPr>
                </a:tc>
                <a:tc>
                  <a:txBody>
                    <a:bodyPr/>
                    <a:lstStyle/>
                    <a:p>
                      <a:pPr algn="ctr"/>
                      <a:r>
                        <a:rPr sz="770" b="1" i="0">
                          <a:solidFill>
                            <a:srgbClr val="FFFFFF"/>
                          </a:solidFill>
                          <a:latin typeface="Aptos"/>
                        </a:rPr>
                        <a:t>Comparison</a:t>
                      </a:r>
                    </a:p>
                  </a:txBody>
                  <a:tcPr marL="36576" marR="36576" marT="27432" marB="27432" anchor="ctr">
                    <a:solidFill>
                      <a:srgbClr val="17365D"/>
                    </a:solidFill>
                  </a:tcPr>
                </a:tc>
              </a:tr>
              <a:tr h="262128">
                <a:tc>
                  <a:txBody>
                    <a:bodyPr/>
                    <a:lstStyle/>
                    <a:p>
                      <a:pPr algn="l"/>
                      <a:r>
                        <a:rPr sz="790" b="1" i="0">
                          <a:solidFill>
                            <a:srgbClr val="202B33"/>
                          </a:solidFill>
                          <a:latin typeface="Aptos"/>
                        </a:rPr>
                        <a:t>Material cost</a:t>
                      </a:r>
                    </a:p>
                  </a:txBody>
                  <a:tcPr marL="36576" marR="36576" marT="27432" marB="27432" anchor="ctr">
                    <a:solidFill>
                      <a:srgbClr val="FFFFFF"/>
                    </a:solidFill>
                  </a:tcPr>
                </a:tc>
                <a:tc>
                  <a:txBody>
                    <a:bodyPr/>
                    <a:lstStyle/>
                    <a:p>
                      <a:pPr algn="ctr"/>
                      <a:r>
                        <a:rPr sz="790" b="0" i="0">
                          <a:solidFill>
                            <a:srgbClr val="202B33"/>
                          </a:solidFill>
                          <a:latin typeface="Aptos"/>
                        </a:rPr>
                        <a:t>₹4,945/m³</a:t>
                      </a:r>
                    </a:p>
                  </a:txBody>
                  <a:tcPr marL="36576" marR="36576" marT="27432" marB="27432" anchor="ctr">
                    <a:solidFill>
                      <a:srgbClr val="FFFFFF"/>
                    </a:solidFill>
                  </a:tcPr>
                </a:tc>
                <a:tc>
                  <a:txBody>
                    <a:bodyPr/>
                    <a:lstStyle/>
                    <a:p>
                      <a:pPr algn="ctr"/>
                      <a:r>
                        <a:rPr sz="790" b="0" i="0">
                          <a:solidFill>
                            <a:srgbClr val="202B33"/>
                          </a:solidFill>
                          <a:latin typeface="Aptos"/>
                        </a:rPr>
                        <a:t>₹16,192/m³</a:t>
                      </a:r>
                    </a:p>
                  </a:txBody>
                  <a:tcPr marL="36576" marR="36576" marT="27432" marB="27432" anchor="ctr">
                    <a:solidFill>
                      <a:srgbClr val="FFFFFF"/>
                    </a:solidFill>
                  </a:tcPr>
                </a:tc>
                <a:tc>
                  <a:txBody>
                    <a:bodyPr/>
                    <a:lstStyle/>
                    <a:p>
                      <a:pPr algn="ctr"/>
                      <a:r>
                        <a:rPr sz="790" b="0" i="0">
                          <a:solidFill>
                            <a:srgbClr val="202B33"/>
                          </a:solidFill>
                          <a:latin typeface="Aptos"/>
                        </a:rPr>
                        <a:t>3.27× higher</a:t>
                      </a:r>
                    </a:p>
                  </a:txBody>
                  <a:tcPr marL="36576" marR="36576" marT="27432" marB="27432" anchor="ctr">
                    <a:solidFill>
                      <a:srgbClr val="FFFFFF"/>
                    </a:solidFill>
                  </a:tcPr>
                </a:tc>
              </a:tr>
              <a:tr h="262128">
                <a:tc>
                  <a:txBody>
                    <a:bodyPr/>
                    <a:lstStyle/>
                    <a:p>
                      <a:pPr algn="l"/>
                      <a:r>
                        <a:rPr sz="790" b="1" i="0">
                          <a:solidFill>
                            <a:srgbClr val="202B33"/>
                          </a:solidFill>
                          <a:latin typeface="Aptos"/>
                        </a:rPr>
                        <a:t>Cost / prism E₂</a:t>
                      </a:r>
                    </a:p>
                  </a:txBody>
                  <a:tcPr marL="36576" marR="36576" marT="27432" marB="27432" anchor="ctr">
                    <a:solidFill>
                      <a:srgbClr val="EAF2F3"/>
                    </a:solidFill>
                  </a:tcPr>
                </a:tc>
                <a:tc>
                  <a:txBody>
                    <a:bodyPr/>
                    <a:lstStyle/>
                    <a:p>
                      <a:pPr algn="ctr"/>
                      <a:r>
                        <a:rPr sz="790" b="0" i="0">
                          <a:solidFill>
                            <a:srgbClr val="202B33"/>
                          </a:solidFill>
                          <a:latin typeface="Aptos"/>
                        </a:rPr>
                        <a:t>₹93.36/(N·m)</a:t>
                      </a:r>
                    </a:p>
                  </a:txBody>
                  <a:tcPr marL="36576" marR="36576" marT="27432" marB="27432" anchor="ctr">
                    <a:solidFill>
                      <a:srgbClr val="EAF2F3"/>
                    </a:solidFill>
                  </a:tcPr>
                </a:tc>
                <a:tc>
                  <a:txBody>
                    <a:bodyPr/>
                    <a:lstStyle/>
                    <a:p>
                      <a:pPr algn="ctr"/>
                      <a:r>
                        <a:rPr sz="790" b="0" i="0">
                          <a:solidFill>
                            <a:srgbClr val="202B33"/>
                          </a:solidFill>
                          <a:latin typeface="Aptos"/>
                        </a:rPr>
                        <a:t>₹5.53/(N·m)</a:t>
                      </a:r>
                    </a:p>
                  </a:txBody>
                  <a:tcPr marL="36576" marR="36576" marT="27432" marB="27432" anchor="ctr">
                    <a:solidFill>
                      <a:srgbClr val="EAF2F3"/>
                    </a:solidFill>
                  </a:tcPr>
                </a:tc>
                <a:tc>
                  <a:txBody>
                    <a:bodyPr/>
                    <a:lstStyle/>
                    <a:p>
                      <a:pPr algn="ctr"/>
                      <a:r>
                        <a:rPr sz="790" b="0" i="0">
                          <a:solidFill>
                            <a:srgbClr val="202B33"/>
                          </a:solidFill>
                          <a:latin typeface="Aptos"/>
                        </a:rPr>
                        <a:t>16.9× lower unit cost</a:t>
                      </a:r>
                    </a:p>
                  </a:txBody>
                  <a:tcPr marL="36576" marR="36576" marT="27432" marB="27432" anchor="ctr">
                    <a:solidFill>
                      <a:srgbClr val="EAF2F3"/>
                    </a:solidFill>
                  </a:tcPr>
                </a:tc>
              </a:tr>
            </a:tbl>
          </a:graphicData>
        </a:graphic>
      </p:graphicFrame>
      <p:sp>
        <p:nvSpPr>
          <p:cNvPr id="16" name="TextBox 15"/>
          <p:cNvSpPr txBox="1"/>
          <p:nvPr/>
        </p:nvSpPr>
        <p:spPr>
          <a:xfrm>
            <a:off x="676656" y="5879592"/>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dataset, manuscript Tables 7 and 10. Local material prices × mix quantities; cost/energy uses prism E₂. Excludes labour, transport, curing, reinforcement, fabrication, repair, service life, inflation and test uncertainty.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SCALED VALIDATION</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020" b="1" i="0">
                <a:solidFill>
                  <a:srgbClr val="17365D"/>
                </a:solidFill>
                <a:latin typeface="Cambria"/>
              </a:rPr>
              <a:t>One-third-scale New Jersey barrier: geometry and impact protocol</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13</a:t>
            </a:r>
          </a:p>
        </p:txBody>
      </p:sp>
      <p:pic>
        <p:nvPicPr>
          <p:cNvPr id="11" name="Picture 10" descr="barrier_geometry_contain.jpg"/>
          <p:cNvPicPr>
            <a:picLocks noChangeAspect="1"/>
          </p:cNvPicPr>
          <p:nvPr/>
        </p:nvPicPr>
        <p:blipFill>
          <a:blip r:embed="rId3"/>
          <a:stretch>
            <a:fillRect/>
          </a:stretch>
        </p:blipFill>
        <p:spPr>
          <a:xfrm>
            <a:off x="658368" y="1225296"/>
            <a:ext cx="5166360" cy="3493008"/>
          </a:xfrm>
          <a:prstGeom prst="rect">
            <a:avLst/>
          </a:prstGeom>
        </p:spPr>
      </p:pic>
      <p:pic>
        <p:nvPicPr>
          <p:cNvPr id="12" name="Picture 11" descr="pendulum_setup_contain.jpg"/>
          <p:cNvPicPr>
            <a:picLocks noChangeAspect="1"/>
          </p:cNvPicPr>
          <p:nvPr/>
        </p:nvPicPr>
        <p:blipFill>
          <a:blip r:embed="rId4"/>
          <a:stretch>
            <a:fillRect/>
          </a:stretch>
        </p:blipFill>
        <p:spPr>
          <a:xfrm>
            <a:off x="6099048" y="1225296"/>
            <a:ext cx="5166360" cy="3493008"/>
          </a:xfrm>
          <a:prstGeom prst="rect">
            <a:avLst/>
          </a:prstGeom>
        </p:spPr>
      </p:pic>
      <p:sp>
        <p:nvSpPr>
          <p:cNvPr id="13" name="TextBox 12"/>
          <p:cNvSpPr txBox="1"/>
          <p:nvPr/>
        </p:nvSpPr>
        <p:spPr>
          <a:xfrm>
            <a:off x="841248" y="4361688"/>
            <a:ext cx="4800600" cy="265176"/>
          </a:xfrm>
          <a:prstGeom prst="rect">
            <a:avLst/>
          </a:prstGeom>
          <a:noFill/>
        </p:spPr>
        <p:txBody>
          <a:bodyPr wrap="square" lIns="0" rIns="0" tIns="0" bIns="0" anchor="t">
            <a:spAutoFit/>
          </a:bodyPr>
          <a:lstStyle/>
          <a:p>
            <a:pPr algn="ctr">
              <a:lnSpc>
                <a:spcPct val="100000"/>
              </a:lnSpc>
            </a:pPr>
            <a:r>
              <a:rPr sz="850" b="1" i="0">
                <a:solidFill>
                  <a:srgbClr val="202B33"/>
                </a:solidFill>
                <a:latin typeface="Aptos"/>
              </a:rPr>
              <a:t>Full-scale and 1:3 cross-section / reinforcement geometry</a:t>
            </a:r>
          </a:p>
        </p:txBody>
      </p:sp>
      <p:sp>
        <p:nvSpPr>
          <p:cNvPr id="14" name="TextBox 13"/>
          <p:cNvSpPr txBox="1"/>
          <p:nvPr/>
        </p:nvSpPr>
        <p:spPr>
          <a:xfrm>
            <a:off x="6281928" y="4361688"/>
            <a:ext cx="4800600" cy="265176"/>
          </a:xfrm>
          <a:prstGeom prst="rect">
            <a:avLst/>
          </a:prstGeom>
          <a:noFill/>
        </p:spPr>
        <p:txBody>
          <a:bodyPr wrap="square" lIns="0" rIns="0" tIns="0" bIns="0" anchor="t">
            <a:spAutoFit/>
          </a:bodyPr>
          <a:lstStyle/>
          <a:p>
            <a:pPr algn="ctr">
              <a:lnSpc>
                <a:spcPct val="100000"/>
              </a:lnSpc>
            </a:pPr>
            <a:r>
              <a:rPr sz="850" b="1" i="0">
                <a:solidFill>
                  <a:srgbClr val="202B33"/>
                </a:solidFill>
                <a:latin typeface="Aptos"/>
              </a:rPr>
              <a:t>Pendulum rig: restrained specimen; rear-face accelerometer</a:t>
            </a:r>
          </a:p>
        </p:txBody>
      </p:sp>
      <p:graphicFrame>
        <p:nvGraphicFramePr>
          <p:cNvPr id="15" name="Table 14"/>
          <p:cNvGraphicFramePr>
            <a:graphicFrameLocks noGrp="1"/>
          </p:cNvGraphicFramePr>
          <p:nvPr/>
        </p:nvGraphicFramePr>
        <p:xfrm>
          <a:off x="768096" y="4846320"/>
          <a:ext cx="10497308" cy="768096"/>
        </p:xfrm>
        <a:graphic>
          <a:graphicData uri="http://schemas.openxmlformats.org/drawingml/2006/table">
            <a:tbl>
              <a:tblPr firstRow="1" bandRow="1">
                <a:tableStyleId>{5C22544A-7EE6-4342-B048-85BDC9FD1C3A}</a:tableStyleId>
              </a:tblPr>
              <a:tblGrid>
                <a:gridCol w="1874519"/>
                <a:gridCol w="1553173"/>
                <a:gridCol w="1553173"/>
                <a:gridCol w="1767404"/>
                <a:gridCol w="3749039"/>
              </a:tblGrid>
              <a:tr h="384048">
                <a:tc>
                  <a:txBody>
                    <a:bodyPr/>
                    <a:lstStyle/>
                    <a:p>
                      <a:pPr algn="ctr"/>
                      <a:r>
                        <a:rPr sz="830" b="1" i="0">
                          <a:solidFill>
                            <a:srgbClr val="FFFFFF"/>
                          </a:solidFill>
                          <a:latin typeface="Aptos"/>
                        </a:rPr>
                        <a:t>Scale</a:t>
                      </a:r>
                    </a:p>
                  </a:txBody>
                  <a:tcPr marL="36576" marR="36576" marT="27432" marB="27432" anchor="ctr">
                    <a:solidFill>
                      <a:srgbClr val="17365D"/>
                    </a:solidFill>
                  </a:tcPr>
                </a:tc>
                <a:tc>
                  <a:txBody>
                    <a:bodyPr/>
                    <a:lstStyle/>
                    <a:p>
                      <a:pPr algn="ctr"/>
                      <a:r>
                        <a:rPr sz="830" b="1" i="0">
                          <a:solidFill>
                            <a:srgbClr val="FFFFFF"/>
                          </a:solidFill>
                          <a:latin typeface="Aptos"/>
                        </a:rPr>
                        <a:t>Impactor mass</a:t>
                      </a:r>
                    </a:p>
                  </a:txBody>
                  <a:tcPr marL="36576" marR="36576" marT="27432" marB="27432" anchor="ctr">
                    <a:solidFill>
                      <a:srgbClr val="17365D"/>
                    </a:solidFill>
                  </a:tcPr>
                </a:tc>
                <a:tc>
                  <a:txBody>
                    <a:bodyPr/>
                    <a:lstStyle/>
                    <a:p>
                      <a:pPr algn="ctr"/>
                      <a:r>
                        <a:rPr sz="830" b="1" i="0">
                          <a:solidFill>
                            <a:srgbClr val="FFFFFF"/>
                          </a:solidFill>
                          <a:latin typeface="Aptos"/>
                        </a:rPr>
                        <a:t>Vertical rise</a:t>
                      </a:r>
                    </a:p>
                  </a:txBody>
                  <a:tcPr marL="36576" marR="36576" marT="27432" marB="27432" anchor="ctr">
                    <a:solidFill>
                      <a:srgbClr val="17365D"/>
                    </a:solidFill>
                  </a:tcPr>
                </a:tc>
                <a:tc>
                  <a:txBody>
                    <a:bodyPr/>
                    <a:lstStyle/>
                    <a:p>
                      <a:pPr algn="ctr"/>
                      <a:r>
                        <a:rPr sz="830" b="1" i="0">
                          <a:solidFill>
                            <a:srgbClr val="FFFFFF"/>
                          </a:solidFill>
                          <a:latin typeface="Aptos"/>
                        </a:rPr>
                        <a:t>Energy per blow</a:t>
                      </a:r>
                    </a:p>
                  </a:txBody>
                  <a:tcPr marL="36576" marR="36576" marT="27432" marB="27432" anchor="ctr">
                    <a:solidFill>
                      <a:srgbClr val="17365D"/>
                    </a:solidFill>
                  </a:tcPr>
                </a:tc>
                <a:tc>
                  <a:txBody>
                    <a:bodyPr/>
                    <a:lstStyle/>
                    <a:p>
                      <a:pPr algn="ctr"/>
                      <a:r>
                        <a:rPr sz="830" b="1" i="0">
                          <a:solidFill>
                            <a:srgbClr val="FFFFFF"/>
                          </a:solidFill>
                          <a:latin typeface="Aptos"/>
                        </a:rPr>
                        <a:t>Comparison / replication</a:t>
                      </a:r>
                    </a:p>
                  </a:txBody>
                  <a:tcPr marL="36576" marR="36576" marT="27432" marB="27432" anchor="ctr">
                    <a:solidFill>
                      <a:srgbClr val="17365D"/>
                    </a:solidFill>
                  </a:tcPr>
                </a:tc>
              </a:tr>
              <a:tr h="384048">
                <a:tc>
                  <a:txBody>
                    <a:bodyPr/>
                    <a:lstStyle/>
                    <a:p>
                      <a:pPr algn="ctr"/>
                      <a:r>
                        <a:rPr sz="850" b="1" i="0">
                          <a:solidFill>
                            <a:srgbClr val="202B33"/>
                          </a:solidFill>
                          <a:latin typeface="Aptos"/>
                        </a:rPr>
                        <a:t>1:3 geometric model</a:t>
                      </a:r>
                    </a:p>
                  </a:txBody>
                  <a:tcPr marL="36576" marR="36576" marT="27432" marB="27432" anchor="ctr">
                    <a:solidFill>
                      <a:srgbClr val="FFFFFF"/>
                    </a:solidFill>
                  </a:tcPr>
                </a:tc>
                <a:tc>
                  <a:txBody>
                    <a:bodyPr/>
                    <a:lstStyle/>
                    <a:p>
                      <a:pPr algn="ctr"/>
                      <a:r>
                        <a:rPr sz="850" b="0" i="0">
                          <a:solidFill>
                            <a:srgbClr val="202B33"/>
                          </a:solidFill>
                          <a:latin typeface="Aptos"/>
                        </a:rPr>
                        <a:t>40 kg</a:t>
                      </a:r>
                    </a:p>
                  </a:txBody>
                  <a:tcPr marL="36576" marR="36576" marT="27432" marB="27432" anchor="ctr">
                    <a:solidFill>
                      <a:srgbClr val="FFFFFF"/>
                    </a:solidFill>
                  </a:tcPr>
                </a:tc>
                <a:tc>
                  <a:txBody>
                    <a:bodyPr/>
                    <a:lstStyle/>
                    <a:p>
                      <a:pPr algn="ctr"/>
                      <a:r>
                        <a:rPr sz="850" b="0" i="0">
                          <a:solidFill>
                            <a:srgbClr val="202B33"/>
                          </a:solidFill>
                          <a:latin typeface="Aptos"/>
                        </a:rPr>
                        <a:t>0.35 m</a:t>
                      </a:r>
                    </a:p>
                  </a:txBody>
                  <a:tcPr marL="36576" marR="36576" marT="27432" marB="27432" anchor="ctr">
                    <a:solidFill>
                      <a:srgbClr val="FFFFFF"/>
                    </a:solidFill>
                  </a:tcPr>
                </a:tc>
                <a:tc>
                  <a:txBody>
                    <a:bodyPr/>
                    <a:lstStyle/>
                    <a:p>
                      <a:pPr algn="ctr"/>
                      <a:r>
                        <a:rPr sz="850" b="0" i="0">
                          <a:solidFill>
                            <a:srgbClr val="202B33"/>
                          </a:solidFill>
                          <a:latin typeface="Aptos"/>
                        </a:rPr>
                        <a:t>≈137.3 J</a:t>
                      </a:r>
                    </a:p>
                  </a:txBody>
                  <a:tcPr marL="36576" marR="36576" marT="27432" marB="27432" anchor="ctr">
                    <a:solidFill>
                      <a:srgbClr val="FFFFFF"/>
                    </a:solidFill>
                  </a:tcPr>
                </a:tc>
                <a:tc>
                  <a:txBody>
                    <a:bodyPr/>
                    <a:lstStyle/>
                    <a:p>
                      <a:pPr algn="ctr"/>
                      <a:r>
                        <a:rPr sz="850" b="0" i="0">
                          <a:solidFill>
                            <a:srgbClr val="202B33"/>
                          </a:solidFill>
                          <a:latin typeface="Aptos"/>
                        </a:rPr>
                        <a:t>1 NWC and 1 selected LWC barrier</a:t>
                      </a:r>
                    </a:p>
                  </a:txBody>
                  <a:tcPr marL="36576" marR="36576" marT="27432" marB="27432" anchor="ctr">
                    <a:solidFill>
                      <a:srgbClr val="FFFFFF"/>
                    </a:solidFill>
                  </a:tcPr>
                </a:tc>
              </a:tr>
            </a:tbl>
          </a:graphicData>
        </a:graphic>
      </p:graphicFrame>
      <p:sp>
        <p:nvSpPr>
          <p:cNvPr id="16" name="TextBox 15"/>
          <p:cNvSpPr txBox="1"/>
          <p:nvPr/>
        </p:nvSpPr>
        <p:spPr>
          <a:xfrm>
            <a:off x="667512" y="5870448"/>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Inventor-supplied manuscript Figs. 5–7; Testing Methods. Geometry scaled 1:3 using dimensional similarity; energy per blow = 40 × 9.81 × 0.35 ≈ 137.3 J. One NWC and one LWC15 barrier were tested.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BARRIER RESULTS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Scaled-barrier impact response and failure morphology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14</a:t>
            </a:r>
          </a:p>
        </p:txBody>
      </p:sp>
      <p:pic>
        <p:nvPicPr>
          <p:cNvPr id="11" name="Picture 10" descr="barrier_failure_contain.jpg"/>
          <p:cNvPicPr>
            <a:picLocks noChangeAspect="1"/>
          </p:cNvPicPr>
          <p:nvPr/>
        </p:nvPicPr>
        <p:blipFill>
          <a:blip r:embed="rId3"/>
          <a:stretch>
            <a:fillRect/>
          </a:stretch>
        </p:blipFill>
        <p:spPr>
          <a:xfrm>
            <a:off x="658368" y="1252728"/>
            <a:ext cx="5212080" cy="4142232"/>
          </a:xfrm>
          <a:prstGeom prst="rect">
            <a:avLst/>
          </a:prstGeom>
        </p:spPr>
      </p:pic>
      <p:graphicFrame>
        <p:nvGraphicFramePr>
          <p:cNvPr id="12" name="Chart 11"/>
          <p:cNvGraphicFramePr>
            <a:graphicFrameLocks noGrp="1"/>
          </p:cNvGraphicFramePr>
          <p:nvPr/>
        </p:nvGraphicFramePr>
        <p:xfrm>
          <a:off x="6172200" y="1280160"/>
          <a:ext cx="2532888" cy="2880360"/>
        </p:xfrm>
        <a:graphic>
          <a:graphicData uri="http://schemas.openxmlformats.org/drawingml/2006/chart">
            <c:chart xmlns:c="http://schemas.openxmlformats.org/drawingml/2006/chart" r:id="rId4"/>
          </a:graphicData>
        </a:graphic>
      </p:graphicFrame>
      <p:sp>
        <p:nvSpPr>
          <p:cNvPr id="13" name="TextBox 12"/>
          <p:cNvSpPr txBox="1"/>
          <p:nvPr/>
        </p:nvSpPr>
        <p:spPr>
          <a:xfrm>
            <a:off x="6217920" y="1298448"/>
            <a:ext cx="2441448"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Energy to failure</a:t>
            </a:r>
          </a:p>
        </p:txBody>
      </p:sp>
      <p:graphicFrame>
        <p:nvGraphicFramePr>
          <p:cNvPr id="14" name="Chart 13"/>
          <p:cNvGraphicFramePr>
            <a:graphicFrameLocks noGrp="1"/>
          </p:cNvGraphicFramePr>
          <p:nvPr/>
        </p:nvGraphicFramePr>
        <p:xfrm>
          <a:off x="8942832" y="1280160"/>
          <a:ext cx="2532888" cy="2880360"/>
        </p:xfrm>
        <a:graphic>
          <a:graphicData uri="http://schemas.openxmlformats.org/drawingml/2006/chart">
            <c:chart xmlns:c="http://schemas.openxmlformats.org/drawingml/2006/chart" r:id="rId5"/>
          </a:graphicData>
        </a:graphic>
      </p:graphicFrame>
      <p:sp>
        <p:nvSpPr>
          <p:cNvPr id="15" name="TextBox 14"/>
          <p:cNvSpPr txBox="1"/>
          <p:nvPr/>
        </p:nvSpPr>
        <p:spPr>
          <a:xfrm>
            <a:off x="8988552" y="1298448"/>
            <a:ext cx="2441448"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Peak deformation</a:t>
            </a:r>
          </a:p>
        </p:txBody>
      </p:sp>
      <p:graphicFrame>
        <p:nvGraphicFramePr>
          <p:cNvPr id="16" name="Table 15"/>
          <p:cNvGraphicFramePr>
            <a:graphicFrameLocks noGrp="1"/>
          </p:cNvGraphicFramePr>
          <p:nvPr/>
        </p:nvGraphicFramePr>
        <p:xfrm>
          <a:off x="6172200" y="4389120"/>
          <a:ext cx="5303519" cy="1024128"/>
        </p:xfrm>
        <a:graphic>
          <a:graphicData uri="http://schemas.openxmlformats.org/drawingml/2006/table">
            <a:tbl>
              <a:tblPr firstRow="1" bandRow="1">
                <a:tableStyleId>{5C22544A-7EE6-4342-B048-85BDC9FD1C3A}</a:tableStyleId>
              </a:tblPr>
              <a:tblGrid>
                <a:gridCol w="1672281"/>
                <a:gridCol w="1194486"/>
                <a:gridCol w="1290045"/>
                <a:gridCol w="1146707"/>
              </a:tblGrid>
              <a:tr h="256032">
                <a:tc>
                  <a:txBody>
                    <a:bodyPr/>
                    <a:lstStyle/>
                    <a:p>
                      <a:pPr algn="l"/>
                      <a:r>
                        <a:rPr sz="750" b="1" i="0">
                          <a:solidFill>
                            <a:srgbClr val="FFFFFF"/>
                          </a:solidFill>
                          <a:latin typeface="Aptos"/>
                        </a:rPr>
                        <a:t>Response</a:t>
                      </a:r>
                    </a:p>
                  </a:txBody>
                  <a:tcPr marL="36576" marR="36576" marT="27432" marB="27432" anchor="ctr">
                    <a:solidFill>
                      <a:srgbClr val="17365D"/>
                    </a:solidFill>
                  </a:tcPr>
                </a:tc>
                <a:tc>
                  <a:txBody>
                    <a:bodyPr/>
                    <a:lstStyle/>
                    <a:p>
                      <a:pPr algn="ctr"/>
                      <a:r>
                        <a:rPr sz="750" b="1" i="0">
                          <a:solidFill>
                            <a:srgbClr val="FFFFFF"/>
                          </a:solidFill>
                          <a:latin typeface="Aptos"/>
                        </a:rPr>
                        <a:t>NWC</a:t>
                      </a:r>
                    </a:p>
                  </a:txBody>
                  <a:tcPr marL="36576" marR="36576" marT="27432" marB="27432" anchor="ctr">
                    <a:solidFill>
                      <a:srgbClr val="17365D"/>
                    </a:solidFill>
                  </a:tcPr>
                </a:tc>
                <a:tc>
                  <a:txBody>
                    <a:bodyPr/>
                    <a:lstStyle/>
                    <a:p>
                      <a:pPr algn="ctr"/>
                      <a:r>
                        <a:rPr sz="750" b="1" i="0">
                          <a:solidFill>
                            <a:srgbClr val="FFFFFF"/>
                          </a:solidFill>
                          <a:latin typeface="Aptos"/>
                        </a:rPr>
                        <a:t>Selected LWC</a:t>
                      </a:r>
                    </a:p>
                  </a:txBody>
                  <a:tcPr marL="36576" marR="36576" marT="27432" marB="27432" anchor="ctr">
                    <a:solidFill>
                      <a:srgbClr val="17365D"/>
                    </a:solidFill>
                  </a:tcPr>
                </a:tc>
                <a:tc>
                  <a:txBody>
                    <a:bodyPr/>
                    <a:lstStyle/>
                    <a:p>
                      <a:pPr algn="ctr"/>
                      <a:r>
                        <a:rPr sz="750" b="1" i="0">
                          <a:solidFill>
                            <a:srgbClr val="FFFFFF"/>
                          </a:solidFill>
                          <a:latin typeface="Aptos"/>
                        </a:rPr>
                        <a:t>Observed ratio</a:t>
                      </a:r>
                    </a:p>
                  </a:txBody>
                  <a:tcPr marL="36576" marR="36576" marT="27432" marB="27432" anchor="ctr">
                    <a:solidFill>
                      <a:srgbClr val="17365D"/>
                    </a:solidFill>
                  </a:tcPr>
                </a:tc>
              </a:tr>
              <a:tr h="256032">
                <a:tc>
                  <a:txBody>
                    <a:bodyPr/>
                    <a:lstStyle/>
                    <a:p>
                      <a:pPr algn="l"/>
                      <a:r>
                        <a:rPr sz="770" b="1" i="0">
                          <a:solidFill>
                            <a:srgbClr val="202B33"/>
                          </a:solidFill>
                          <a:latin typeface="Aptos"/>
                        </a:rPr>
                        <a:t>Blows to failure, N₂</a:t>
                      </a:r>
                    </a:p>
                  </a:txBody>
                  <a:tcPr marL="36576" marR="36576" marT="27432" marB="27432" anchor="ctr">
                    <a:solidFill>
                      <a:srgbClr val="FFFFFF"/>
                    </a:solidFill>
                  </a:tcPr>
                </a:tc>
                <a:tc>
                  <a:txBody>
                    <a:bodyPr/>
                    <a:lstStyle/>
                    <a:p>
                      <a:pPr algn="ctr"/>
                      <a:r>
                        <a:rPr sz="770" b="0" i="0">
                          <a:solidFill>
                            <a:srgbClr val="202B33"/>
                          </a:solidFill>
                          <a:latin typeface="Aptos"/>
                        </a:rPr>
                        <a:t>10</a:t>
                      </a:r>
                    </a:p>
                  </a:txBody>
                  <a:tcPr marL="36576" marR="36576" marT="27432" marB="27432" anchor="ctr">
                    <a:solidFill>
                      <a:srgbClr val="FFFFFF"/>
                    </a:solidFill>
                  </a:tcPr>
                </a:tc>
                <a:tc>
                  <a:txBody>
                    <a:bodyPr/>
                    <a:lstStyle/>
                    <a:p>
                      <a:pPr algn="ctr"/>
                      <a:r>
                        <a:rPr sz="770" b="0" i="0">
                          <a:solidFill>
                            <a:srgbClr val="202B33"/>
                          </a:solidFill>
                          <a:latin typeface="Aptos"/>
                        </a:rPr>
                        <a:t>20</a:t>
                      </a:r>
                    </a:p>
                  </a:txBody>
                  <a:tcPr marL="36576" marR="36576" marT="27432" marB="27432" anchor="ctr">
                    <a:solidFill>
                      <a:srgbClr val="FFFFFF"/>
                    </a:solidFill>
                  </a:tcPr>
                </a:tc>
                <a:tc>
                  <a:txBody>
                    <a:bodyPr/>
                    <a:lstStyle/>
                    <a:p>
                      <a:pPr algn="ctr"/>
                      <a:r>
                        <a:rPr sz="770" b="0" i="0">
                          <a:solidFill>
                            <a:srgbClr val="202B33"/>
                          </a:solidFill>
                          <a:latin typeface="Aptos"/>
                        </a:rPr>
                        <a:t>2.00×</a:t>
                      </a:r>
                    </a:p>
                  </a:txBody>
                  <a:tcPr marL="36576" marR="36576" marT="27432" marB="27432" anchor="ctr">
                    <a:solidFill>
                      <a:srgbClr val="FFFFFF"/>
                    </a:solidFill>
                  </a:tcPr>
                </a:tc>
              </a:tr>
              <a:tr h="256032">
                <a:tc>
                  <a:txBody>
                    <a:bodyPr/>
                    <a:lstStyle/>
                    <a:p>
                      <a:pPr algn="l"/>
                      <a:r>
                        <a:rPr sz="770" b="1" i="0">
                          <a:solidFill>
                            <a:srgbClr val="202B33"/>
                          </a:solidFill>
                          <a:latin typeface="Aptos"/>
                        </a:rPr>
                        <a:t>Failure energy, E₂</a:t>
                      </a:r>
                    </a:p>
                  </a:txBody>
                  <a:tcPr marL="36576" marR="36576" marT="27432" marB="27432" anchor="ctr">
                    <a:solidFill>
                      <a:srgbClr val="EAF2F3"/>
                    </a:solidFill>
                  </a:tcPr>
                </a:tc>
                <a:tc>
                  <a:txBody>
                    <a:bodyPr/>
                    <a:lstStyle/>
                    <a:p>
                      <a:pPr algn="ctr"/>
                      <a:r>
                        <a:rPr sz="770" b="0" i="0">
                          <a:solidFill>
                            <a:srgbClr val="202B33"/>
                          </a:solidFill>
                          <a:latin typeface="Aptos"/>
                        </a:rPr>
                        <a:t>1,373 N·m</a:t>
                      </a:r>
                    </a:p>
                  </a:txBody>
                  <a:tcPr marL="36576" marR="36576" marT="27432" marB="27432" anchor="ctr">
                    <a:solidFill>
                      <a:srgbClr val="EAF2F3"/>
                    </a:solidFill>
                  </a:tcPr>
                </a:tc>
                <a:tc>
                  <a:txBody>
                    <a:bodyPr/>
                    <a:lstStyle/>
                    <a:p>
                      <a:pPr algn="ctr"/>
                      <a:r>
                        <a:rPr sz="770" b="0" i="0">
                          <a:solidFill>
                            <a:srgbClr val="202B33"/>
                          </a:solidFill>
                          <a:latin typeface="Aptos"/>
                        </a:rPr>
                        <a:t>2,746 N·m</a:t>
                      </a:r>
                    </a:p>
                  </a:txBody>
                  <a:tcPr marL="36576" marR="36576" marT="27432" marB="27432" anchor="ctr">
                    <a:solidFill>
                      <a:srgbClr val="EAF2F3"/>
                    </a:solidFill>
                  </a:tcPr>
                </a:tc>
                <a:tc>
                  <a:txBody>
                    <a:bodyPr/>
                    <a:lstStyle/>
                    <a:p>
                      <a:pPr algn="ctr"/>
                      <a:r>
                        <a:rPr sz="770" b="0" i="0">
                          <a:solidFill>
                            <a:srgbClr val="202B33"/>
                          </a:solidFill>
                          <a:latin typeface="Aptos"/>
                        </a:rPr>
                        <a:t>2.0×</a:t>
                      </a:r>
                    </a:p>
                  </a:txBody>
                  <a:tcPr marL="36576" marR="36576" marT="27432" marB="27432" anchor="ctr">
                    <a:solidFill>
                      <a:srgbClr val="EAF2F3"/>
                    </a:solidFill>
                  </a:tcPr>
                </a:tc>
              </a:tr>
              <a:tr h="256032">
                <a:tc>
                  <a:txBody>
                    <a:bodyPr/>
                    <a:lstStyle/>
                    <a:p>
                      <a:pPr algn="l"/>
                      <a:r>
                        <a:rPr sz="770" b="1" i="0">
                          <a:solidFill>
                            <a:srgbClr val="202B33"/>
                          </a:solidFill>
                          <a:latin typeface="Aptos"/>
                        </a:rPr>
                        <a:t>Peak deformation</a:t>
                      </a:r>
                    </a:p>
                  </a:txBody>
                  <a:tcPr marL="36576" marR="36576" marT="27432" marB="27432" anchor="ctr">
                    <a:solidFill>
                      <a:srgbClr val="FFFFFF"/>
                    </a:solidFill>
                  </a:tcPr>
                </a:tc>
                <a:tc>
                  <a:txBody>
                    <a:bodyPr/>
                    <a:lstStyle/>
                    <a:p>
                      <a:pPr algn="ctr"/>
                      <a:r>
                        <a:rPr sz="770" b="0" i="0">
                          <a:solidFill>
                            <a:srgbClr val="202B33"/>
                          </a:solidFill>
                          <a:latin typeface="Aptos"/>
                        </a:rPr>
                        <a:t>4.22 mm</a:t>
                      </a:r>
                    </a:p>
                  </a:txBody>
                  <a:tcPr marL="36576" marR="36576" marT="27432" marB="27432" anchor="ctr">
                    <a:solidFill>
                      <a:srgbClr val="FFFFFF"/>
                    </a:solidFill>
                  </a:tcPr>
                </a:tc>
                <a:tc>
                  <a:txBody>
                    <a:bodyPr/>
                    <a:lstStyle/>
                    <a:p>
                      <a:pPr algn="ctr"/>
                      <a:r>
                        <a:rPr sz="770" b="0" i="0">
                          <a:solidFill>
                            <a:srgbClr val="202B33"/>
                          </a:solidFill>
                          <a:latin typeface="Aptos"/>
                        </a:rPr>
                        <a:t>12.70 mm</a:t>
                      </a:r>
                    </a:p>
                  </a:txBody>
                  <a:tcPr marL="36576" marR="36576" marT="27432" marB="27432" anchor="ctr">
                    <a:solidFill>
                      <a:srgbClr val="FFFFFF"/>
                    </a:solidFill>
                  </a:tcPr>
                </a:tc>
                <a:tc>
                  <a:txBody>
                    <a:bodyPr/>
                    <a:lstStyle/>
                    <a:p>
                      <a:pPr algn="ctr"/>
                      <a:r>
                        <a:rPr sz="770" b="0" i="0">
                          <a:solidFill>
                            <a:srgbClr val="202B33"/>
                          </a:solidFill>
                          <a:latin typeface="Aptos"/>
                        </a:rPr>
                        <a:t>3.01×</a:t>
                      </a:r>
                    </a:p>
                  </a:txBody>
                  <a:tcPr marL="36576" marR="36576" marT="27432" marB="27432" anchor="ctr">
                    <a:solidFill>
                      <a:srgbClr val="FFFFFF"/>
                    </a:solidFill>
                  </a:tcPr>
                </a:tc>
              </a:tr>
            </a:tbl>
          </a:graphicData>
        </a:graphic>
      </p:graphicFrame>
      <p:sp>
        <p:nvSpPr>
          <p:cNvPr id="17" name="Rectangle 16"/>
          <p:cNvSpPr/>
          <p:nvPr/>
        </p:nvSpPr>
        <p:spPr>
          <a:xfrm>
            <a:off x="749808" y="5504688"/>
            <a:ext cx="10652760" cy="320040"/>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77840"/>
            <a:ext cx="10287000" cy="182880"/>
          </a:xfrm>
          <a:prstGeom prst="rect">
            <a:avLst/>
          </a:prstGeom>
          <a:noFill/>
        </p:spPr>
        <p:txBody>
          <a:bodyPr wrap="square" lIns="0" rIns="0" tIns="0" bIns="0" anchor="t">
            <a:spAutoFit/>
          </a:bodyPr>
          <a:lstStyle/>
          <a:p>
            <a:pPr algn="l">
              <a:lnSpc>
                <a:spcPct val="100000"/>
              </a:lnSpc>
            </a:pPr>
            <a:r>
              <a:rPr sz="860" b="1" i="0">
                <a:solidFill>
                  <a:srgbClr val="9A4651"/>
                </a:solidFill>
                <a:latin typeface="Aptos"/>
              </a:rPr>
              <a:t>Fragmentation observation is qualitative: LWC15 showed finer, more distributed debris; particle-size/mass and ejection-velocity measurements are still required.</a:t>
            </a:r>
          </a:p>
        </p:txBody>
      </p:sp>
      <p:sp>
        <p:nvSpPr>
          <p:cNvPr id="19" name="TextBox 18"/>
          <p:cNvSpPr txBox="1"/>
          <p:nvPr/>
        </p:nvSpPr>
        <p:spPr>
          <a:xfrm>
            <a:off x="667512" y="5897880"/>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dataset, manuscript Tables 11–12 and Fig. 16. NWC: N₂=10, E₂=1,373 N·m, 4.22 mm; LWC15: N₂=20, E₂=2,746 N·m, 12.70 mm. n=1 barrier per mix.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IPR TECHNICAL ASSESSMENT</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Evidence-to-claim support matrix</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15</a:t>
            </a:r>
          </a:p>
        </p:txBody>
      </p:sp>
      <p:graphicFrame>
        <p:nvGraphicFramePr>
          <p:cNvPr id="11" name="Table 10"/>
          <p:cNvGraphicFramePr>
            <a:graphicFrameLocks noGrp="1"/>
          </p:cNvGraphicFramePr>
          <p:nvPr/>
        </p:nvGraphicFramePr>
        <p:xfrm>
          <a:off x="658368" y="1207008"/>
          <a:ext cx="6812277" cy="4251960"/>
        </p:xfrm>
        <a:graphic>
          <a:graphicData uri="http://schemas.openxmlformats.org/drawingml/2006/table">
            <a:tbl>
              <a:tblPr firstRow="1" bandRow="1">
                <a:tableStyleId>{5C22544A-7EE6-4342-B048-85BDC9FD1C3A}</a:tableStyleId>
              </a:tblPr>
              <a:tblGrid>
                <a:gridCol w="1487187"/>
                <a:gridCol w="2254768"/>
                <a:gridCol w="2062873"/>
                <a:gridCol w="1007449"/>
              </a:tblGrid>
              <a:tr h="607422">
                <a:tc>
                  <a:txBody>
                    <a:bodyPr/>
                    <a:lstStyle/>
                    <a:p>
                      <a:pPr algn="l"/>
                      <a:r>
                        <a:rPr sz="840" b="1" i="0">
                          <a:solidFill>
                            <a:srgbClr val="FFFFFF"/>
                          </a:solidFill>
                          <a:latin typeface="Aptos"/>
                        </a:rPr>
                        <a:t>Evidence</a:t>
                      </a:r>
                    </a:p>
                  </a:txBody>
                  <a:tcPr marL="36576" marR="36576" marT="27432" marB="27432" anchor="ctr">
                    <a:solidFill>
                      <a:srgbClr val="17365D"/>
                    </a:solidFill>
                  </a:tcPr>
                </a:tc>
                <a:tc>
                  <a:txBody>
                    <a:bodyPr/>
                    <a:lstStyle/>
                    <a:p>
                      <a:pPr algn="ctr"/>
                      <a:r>
                        <a:rPr sz="840" b="1" i="0">
                          <a:solidFill>
                            <a:srgbClr val="FFFFFF"/>
                          </a:solidFill>
                          <a:latin typeface="Aptos"/>
                        </a:rPr>
                        <a:t>Observed LWC15 result</a:t>
                      </a:r>
                    </a:p>
                  </a:txBody>
                  <a:tcPr marL="36576" marR="36576" marT="27432" marB="27432" anchor="ctr">
                    <a:solidFill>
                      <a:srgbClr val="17365D"/>
                    </a:solidFill>
                  </a:tcPr>
                </a:tc>
                <a:tc>
                  <a:txBody>
                    <a:bodyPr/>
                    <a:lstStyle/>
                    <a:p>
                      <a:pPr algn="ctr"/>
                      <a:r>
                        <a:rPr sz="840" b="1" i="0">
                          <a:solidFill>
                            <a:srgbClr val="FFFFFF"/>
                          </a:solidFill>
                          <a:latin typeface="Aptos"/>
                        </a:rPr>
                        <a:t>Supports</a:t>
                      </a:r>
                    </a:p>
                  </a:txBody>
                  <a:tcPr marL="36576" marR="36576" marT="27432" marB="27432" anchor="ctr">
                    <a:solidFill>
                      <a:srgbClr val="17365D"/>
                    </a:solidFill>
                  </a:tcPr>
                </a:tc>
                <a:tc>
                  <a:txBody>
                    <a:bodyPr/>
                    <a:lstStyle/>
                    <a:p>
                      <a:pPr algn="ctr"/>
                      <a:r>
                        <a:rPr sz="840" b="1" i="0">
                          <a:solidFill>
                            <a:srgbClr val="FFFFFF"/>
                          </a:solidFill>
                          <a:latin typeface="Aptos"/>
                        </a:rPr>
                        <a:t>Confidence</a:t>
                      </a:r>
                    </a:p>
                  </a:txBody>
                  <a:tcPr marL="36576" marR="36576" marT="27432" marB="27432" anchor="ctr">
                    <a:solidFill>
                      <a:srgbClr val="17365D"/>
                    </a:solidFill>
                  </a:tcPr>
                </a:tc>
              </a:tr>
              <a:tr h="607422">
                <a:tc>
                  <a:txBody>
                    <a:bodyPr/>
                    <a:lstStyle/>
                    <a:p>
                      <a:pPr algn="l"/>
                      <a:r>
                        <a:rPr sz="860" b="1" i="0">
                          <a:solidFill>
                            <a:srgbClr val="202B33"/>
                          </a:solidFill>
                          <a:latin typeface="Aptos"/>
                        </a:rPr>
                        <a:t>Reported density</a:t>
                      </a:r>
                    </a:p>
                  </a:txBody>
                  <a:tcPr marL="36576" marR="36576" marT="27432" marB="27432" anchor="ctr">
                    <a:solidFill>
                      <a:srgbClr val="FFFFFF"/>
                    </a:solidFill>
                  </a:tcPr>
                </a:tc>
                <a:tc>
                  <a:txBody>
                    <a:bodyPr/>
                    <a:lstStyle/>
                    <a:p>
                      <a:pPr algn="ctr"/>
                      <a:r>
                        <a:rPr sz="860" b="0" i="0">
                          <a:solidFill>
                            <a:srgbClr val="202B33"/>
                          </a:solidFill>
                          <a:latin typeface="Aptos"/>
                        </a:rPr>
                        <a:t>1,987 kg/m³; −19.4% vs NWC</a:t>
                      </a:r>
                    </a:p>
                  </a:txBody>
                  <a:tcPr marL="36576" marR="36576" marT="27432" marB="27432" anchor="ctr">
                    <a:solidFill>
                      <a:srgbClr val="FFFFFF"/>
                    </a:solidFill>
                  </a:tcPr>
                </a:tc>
                <a:tc>
                  <a:txBody>
                    <a:bodyPr/>
                    <a:lstStyle/>
                    <a:p>
                      <a:pPr algn="ctr"/>
                      <a:r>
                        <a:rPr sz="860" b="0" i="0">
                          <a:solidFill>
                            <a:srgbClr val="202B33"/>
                          </a:solidFill>
                          <a:latin typeface="Aptos"/>
                        </a:rPr>
                        <a:t>Lightweight article / transport value</a:t>
                      </a:r>
                    </a:p>
                  </a:txBody>
                  <a:tcPr marL="36576" marR="36576" marT="27432" marB="27432" anchor="ctr">
                    <a:solidFill>
                      <a:srgbClr val="FFFFFF"/>
                    </a:solidFill>
                  </a:tcPr>
                </a:tc>
                <a:tc>
                  <a:txBody>
                    <a:bodyPr/>
                    <a:lstStyle/>
                    <a:p>
                      <a:pPr algn="ctr"/>
                      <a:r>
                        <a:rPr sz="860" b="0" i="0">
                          <a:solidFill>
                            <a:srgbClr val="202B33"/>
                          </a:solidFill>
                          <a:latin typeface="Aptos"/>
                        </a:rPr>
                        <a:t>Medium*</a:t>
                      </a:r>
                    </a:p>
                  </a:txBody>
                  <a:tcPr marL="36576" marR="36576" marT="27432" marB="27432" anchor="ctr">
                    <a:solidFill>
                      <a:srgbClr val="FFFFFF"/>
                    </a:solidFill>
                  </a:tcPr>
                </a:tc>
              </a:tr>
              <a:tr h="607422">
                <a:tc>
                  <a:txBody>
                    <a:bodyPr/>
                    <a:lstStyle/>
                    <a:p>
                      <a:pPr algn="l"/>
                      <a:r>
                        <a:rPr sz="860" b="1" i="0">
                          <a:solidFill>
                            <a:srgbClr val="202B33"/>
                          </a:solidFill>
                          <a:latin typeface="Aptos"/>
                        </a:rPr>
                        <a:t>Compressive strength</a:t>
                      </a:r>
                    </a:p>
                  </a:txBody>
                  <a:tcPr marL="36576" marR="36576" marT="27432" marB="27432" anchor="ctr">
                    <a:solidFill>
                      <a:srgbClr val="F8FAFB"/>
                    </a:solidFill>
                  </a:tcPr>
                </a:tc>
                <a:tc>
                  <a:txBody>
                    <a:bodyPr/>
                    <a:lstStyle/>
                    <a:p>
                      <a:pPr algn="ctr"/>
                      <a:r>
                        <a:rPr sz="860" b="0" i="0">
                          <a:solidFill>
                            <a:srgbClr val="202B33"/>
                          </a:solidFill>
                          <a:latin typeface="Aptos"/>
                        </a:rPr>
                        <a:t>55.4 MPa; M40+</a:t>
                      </a:r>
                    </a:p>
                  </a:txBody>
                  <a:tcPr marL="36576" marR="36576" marT="27432" marB="27432" anchor="ctr">
                    <a:solidFill>
                      <a:srgbClr val="F8FAFB"/>
                    </a:solidFill>
                  </a:tcPr>
                </a:tc>
                <a:tc>
                  <a:txBody>
                    <a:bodyPr/>
                    <a:lstStyle/>
                    <a:p>
                      <a:pPr algn="ctr"/>
                      <a:r>
                        <a:rPr sz="860" b="0" i="0">
                          <a:solidFill>
                            <a:srgbClr val="202B33"/>
                          </a:solidFill>
                          <a:latin typeface="Aptos"/>
                        </a:rPr>
                        <a:t>Structural-use enablement</a:t>
                      </a:r>
                    </a:p>
                  </a:txBody>
                  <a:tcPr marL="36576" marR="36576" marT="27432" marB="27432" anchor="ctr">
                    <a:solidFill>
                      <a:srgbClr val="F8FAFB"/>
                    </a:solidFill>
                  </a:tcPr>
                </a:tc>
                <a:tc>
                  <a:txBody>
                    <a:bodyPr/>
                    <a:lstStyle/>
                    <a:p>
                      <a:pPr algn="ctr"/>
                      <a:r>
                        <a:rPr sz="860" b="0" i="0">
                          <a:solidFill>
                            <a:srgbClr val="202B33"/>
                          </a:solidFill>
                          <a:latin typeface="Aptos"/>
                        </a:rPr>
                        <a:t>High</a:t>
                      </a:r>
                    </a:p>
                  </a:txBody>
                  <a:tcPr marL="36576" marR="36576" marT="27432" marB="27432" anchor="ctr">
                    <a:solidFill>
                      <a:srgbClr val="F8FAFB"/>
                    </a:solidFill>
                  </a:tcPr>
                </a:tc>
              </a:tr>
              <a:tr h="607422">
                <a:tc>
                  <a:txBody>
                    <a:bodyPr/>
                    <a:lstStyle/>
                    <a:p>
                      <a:pPr algn="l"/>
                      <a:r>
                        <a:rPr sz="860" b="1" i="0">
                          <a:solidFill>
                            <a:srgbClr val="202B33"/>
                          </a:solidFill>
                          <a:latin typeface="Aptos"/>
                        </a:rPr>
                        <a:t>Split tensile</a:t>
                      </a:r>
                    </a:p>
                  </a:txBody>
                  <a:tcPr marL="36576" marR="36576" marT="27432" marB="27432" anchor="ctr">
                    <a:solidFill>
                      <a:srgbClr val="FFFFFF"/>
                    </a:solidFill>
                  </a:tcPr>
                </a:tc>
                <a:tc>
                  <a:txBody>
                    <a:bodyPr/>
                    <a:lstStyle/>
                    <a:p>
                      <a:pPr algn="ctr"/>
                      <a:r>
                        <a:rPr sz="860" b="0" i="0">
                          <a:solidFill>
                            <a:srgbClr val="202B33"/>
                          </a:solidFill>
                          <a:latin typeface="Aptos"/>
                        </a:rPr>
                        <a:t>7.60 MPa; +76%</a:t>
                      </a:r>
                    </a:p>
                  </a:txBody>
                  <a:tcPr marL="36576" marR="36576" marT="27432" marB="27432" anchor="ctr">
                    <a:solidFill>
                      <a:srgbClr val="FFFFFF"/>
                    </a:solidFill>
                  </a:tcPr>
                </a:tc>
                <a:tc>
                  <a:txBody>
                    <a:bodyPr/>
                    <a:lstStyle/>
                    <a:p>
                      <a:pPr algn="ctr"/>
                      <a:r>
                        <a:rPr sz="860" b="0" i="0">
                          <a:solidFill>
                            <a:srgbClr val="202B33"/>
                          </a:solidFill>
                          <a:latin typeface="Aptos"/>
                        </a:rPr>
                        <a:t>Fibre-bridging function</a:t>
                      </a:r>
                    </a:p>
                  </a:txBody>
                  <a:tcPr marL="36576" marR="36576" marT="27432" marB="27432" anchor="ctr">
                    <a:solidFill>
                      <a:srgbClr val="FFFFFF"/>
                    </a:solidFill>
                  </a:tcPr>
                </a:tc>
                <a:tc>
                  <a:txBody>
                    <a:bodyPr/>
                    <a:lstStyle/>
                    <a:p>
                      <a:pPr algn="ctr"/>
                      <a:r>
                        <a:rPr sz="860" b="0" i="0">
                          <a:solidFill>
                            <a:srgbClr val="202B33"/>
                          </a:solidFill>
                          <a:latin typeface="Aptos"/>
                        </a:rPr>
                        <a:t>High</a:t>
                      </a:r>
                    </a:p>
                  </a:txBody>
                  <a:tcPr marL="36576" marR="36576" marT="27432" marB="27432" anchor="ctr">
                    <a:solidFill>
                      <a:srgbClr val="FFFFFF"/>
                    </a:solidFill>
                  </a:tcPr>
                </a:tc>
              </a:tr>
              <a:tr h="607422">
                <a:tc>
                  <a:txBody>
                    <a:bodyPr/>
                    <a:lstStyle/>
                    <a:p>
                      <a:pPr algn="l"/>
                      <a:r>
                        <a:rPr sz="860" b="1" i="0">
                          <a:solidFill>
                            <a:srgbClr val="202B33"/>
                          </a:solidFill>
                          <a:latin typeface="Aptos"/>
                        </a:rPr>
                        <a:t>Prism failure energy</a:t>
                      </a:r>
                    </a:p>
                  </a:txBody>
                  <a:tcPr marL="36576" marR="36576" marT="27432" marB="27432" anchor="ctr">
                    <a:solidFill>
                      <a:srgbClr val="F6EFE4"/>
                    </a:solidFill>
                  </a:tcPr>
                </a:tc>
                <a:tc>
                  <a:txBody>
                    <a:bodyPr/>
                    <a:lstStyle/>
                    <a:p>
                      <a:pPr algn="ctr"/>
                      <a:r>
                        <a:rPr sz="860" b="0" i="0">
                          <a:solidFill>
                            <a:srgbClr val="202B33"/>
                          </a:solidFill>
                          <a:latin typeface="Aptos"/>
                        </a:rPr>
                        <a:t>2,927.8 N·m; 55.3× NWC</a:t>
                      </a:r>
                    </a:p>
                  </a:txBody>
                  <a:tcPr marL="36576" marR="36576" marT="27432" marB="27432" anchor="ctr">
                    <a:solidFill>
                      <a:srgbClr val="F6EFE4"/>
                    </a:solidFill>
                  </a:tcPr>
                </a:tc>
                <a:tc>
                  <a:txBody>
                    <a:bodyPr/>
                    <a:lstStyle/>
                    <a:p>
                      <a:pPr algn="ctr"/>
                      <a:r>
                        <a:rPr sz="860" b="0" i="0">
                          <a:solidFill>
                            <a:srgbClr val="202B33"/>
                          </a:solidFill>
                          <a:latin typeface="Aptos"/>
                        </a:rPr>
                        <a:t>Unexpected technical effect</a:t>
                      </a:r>
                    </a:p>
                  </a:txBody>
                  <a:tcPr marL="36576" marR="36576" marT="27432" marB="27432" anchor="ctr">
                    <a:solidFill>
                      <a:srgbClr val="F6EFE4"/>
                    </a:solidFill>
                  </a:tcPr>
                </a:tc>
                <a:tc>
                  <a:txBody>
                    <a:bodyPr/>
                    <a:lstStyle/>
                    <a:p>
                      <a:pPr algn="ctr"/>
                      <a:r>
                        <a:rPr sz="860" b="0" i="0">
                          <a:solidFill>
                            <a:srgbClr val="202B33"/>
                          </a:solidFill>
                          <a:latin typeface="Aptos"/>
                        </a:rPr>
                        <a:t>Medium</a:t>
                      </a:r>
                    </a:p>
                  </a:txBody>
                  <a:tcPr marL="36576" marR="36576" marT="27432" marB="27432" anchor="ctr">
                    <a:solidFill>
                      <a:srgbClr val="F6EFE4"/>
                    </a:solidFill>
                  </a:tcPr>
                </a:tc>
              </a:tr>
              <a:tr h="607422">
                <a:tc>
                  <a:txBody>
                    <a:bodyPr/>
                    <a:lstStyle/>
                    <a:p>
                      <a:pPr algn="l"/>
                      <a:r>
                        <a:rPr sz="860" b="1" i="0">
                          <a:solidFill>
                            <a:srgbClr val="202B33"/>
                          </a:solidFill>
                          <a:latin typeface="Aptos"/>
                        </a:rPr>
                        <a:t>Scaled barrier</a:t>
                      </a:r>
                    </a:p>
                  </a:txBody>
                  <a:tcPr marL="36576" marR="36576" marT="27432" marB="27432" anchor="ctr">
                    <a:solidFill>
                      <a:srgbClr val="EAF2F3"/>
                    </a:solidFill>
                  </a:tcPr>
                </a:tc>
                <a:tc>
                  <a:txBody>
                    <a:bodyPr/>
                    <a:lstStyle/>
                    <a:p>
                      <a:pPr algn="ctr"/>
                      <a:r>
                        <a:rPr sz="860" b="0" i="0">
                          <a:solidFill>
                            <a:srgbClr val="202B33"/>
                          </a:solidFill>
                          <a:latin typeface="Aptos"/>
                        </a:rPr>
                        <a:t>2,746 N·m; 2.0× NWC</a:t>
                      </a:r>
                    </a:p>
                  </a:txBody>
                  <a:tcPr marL="36576" marR="36576" marT="27432" marB="27432" anchor="ctr">
                    <a:solidFill>
                      <a:srgbClr val="EAF2F3"/>
                    </a:solidFill>
                  </a:tcPr>
                </a:tc>
                <a:tc>
                  <a:txBody>
                    <a:bodyPr/>
                    <a:lstStyle/>
                    <a:p>
                      <a:pPr algn="ctr"/>
                      <a:r>
                        <a:rPr sz="860" b="0" i="0">
                          <a:solidFill>
                            <a:srgbClr val="202B33"/>
                          </a:solidFill>
                          <a:latin typeface="Aptos"/>
                        </a:rPr>
                        <a:t>Barrier-use embodiment</a:t>
                      </a:r>
                    </a:p>
                  </a:txBody>
                  <a:tcPr marL="36576" marR="36576" marT="27432" marB="27432" anchor="ctr">
                    <a:solidFill>
                      <a:srgbClr val="EAF2F3"/>
                    </a:solidFill>
                  </a:tcPr>
                </a:tc>
                <a:tc>
                  <a:txBody>
                    <a:bodyPr/>
                    <a:lstStyle/>
                    <a:p>
                      <a:pPr algn="ctr"/>
                      <a:r>
                        <a:rPr sz="860" b="0" i="0">
                          <a:solidFill>
                            <a:srgbClr val="202B33"/>
                          </a:solidFill>
                          <a:latin typeface="Aptos"/>
                        </a:rPr>
                        <a:t>Preliminary</a:t>
                      </a:r>
                    </a:p>
                  </a:txBody>
                  <a:tcPr marL="36576" marR="36576" marT="27432" marB="27432" anchor="ctr">
                    <a:solidFill>
                      <a:srgbClr val="EAF2F3"/>
                    </a:solidFill>
                  </a:tcPr>
                </a:tc>
              </a:tr>
              <a:tr h="607428">
                <a:tc>
                  <a:txBody>
                    <a:bodyPr/>
                    <a:lstStyle/>
                    <a:p>
                      <a:pPr algn="l"/>
                      <a:r>
                        <a:rPr sz="860" b="1" i="0">
                          <a:solidFill>
                            <a:srgbClr val="202B33"/>
                          </a:solidFill>
                          <a:latin typeface="Aptos"/>
                        </a:rPr>
                        <a:t>Fragmentation</a:t>
                      </a:r>
                    </a:p>
                  </a:txBody>
                  <a:tcPr marL="36576" marR="36576" marT="27432" marB="27432" anchor="ctr">
                    <a:solidFill>
                      <a:srgbClr val="F8FAFB"/>
                    </a:solidFill>
                  </a:tcPr>
                </a:tc>
                <a:tc>
                  <a:txBody>
                    <a:bodyPr/>
                    <a:lstStyle/>
                    <a:p>
                      <a:pPr algn="ctr"/>
                      <a:r>
                        <a:rPr sz="860" b="0" i="0">
                          <a:solidFill>
                            <a:srgbClr val="202B33"/>
                          </a:solidFill>
                          <a:latin typeface="Aptos"/>
                        </a:rPr>
                        <a:t>Finer / distributed debris observed</a:t>
                      </a:r>
                    </a:p>
                  </a:txBody>
                  <a:tcPr marL="36576" marR="36576" marT="27432" marB="27432" anchor="ctr">
                    <a:solidFill>
                      <a:srgbClr val="F8FAFB"/>
                    </a:solidFill>
                  </a:tcPr>
                </a:tc>
                <a:tc>
                  <a:txBody>
                    <a:bodyPr/>
                    <a:lstStyle/>
                    <a:p>
                      <a:pPr algn="ctr"/>
                      <a:r>
                        <a:rPr sz="860" b="0" i="0">
                          <a:solidFill>
                            <a:srgbClr val="202B33"/>
                          </a:solidFill>
                          <a:latin typeface="Aptos"/>
                        </a:rPr>
                        <a:t>Controlled-damage function</a:t>
                      </a:r>
                    </a:p>
                  </a:txBody>
                  <a:tcPr marL="36576" marR="36576" marT="27432" marB="27432" anchor="ctr">
                    <a:solidFill>
                      <a:srgbClr val="F8FAFB"/>
                    </a:solidFill>
                  </a:tcPr>
                </a:tc>
                <a:tc>
                  <a:txBody>
                    <a:bodyPr/>
                    <a:lstStyle/>
                    <a:p>
                      <a:pPr algn="ctr"/>
                      <a:r>
                        <a:rPr sz="860" b="0" i="0">
                          <a:solidFill>
                            <a:srgbClr val="202B33"/>
                          </a:solidFill>
                          <a:latin typeface="Aptos"/>
                        </a:rPr>
                        <a:t>Preliminary</a:t>
                      </a:r>
                    </a:p>
                  </a:txBody>
                  <a:tcPr marL="36576" marR="36576" marT="27432" marB="27432" anchor="ctr">
                    <a:solidFill>
                      <a:srgbClr val="F8FAFB"/>
                    </a:solidFill>
                  </a:tcPr>
                </a:tc>
              </a:tr>
            </a:tbl>
          </a:graphicData>
        </a:graphic>
      </p:graphicFrame>
      <p:graphicFrame>
        <p:nvGraphicFramePr>
          <p:cNvPr id="12" name="Table 11"/>
          <p:cNvGraphicFramePr>
            <a:graphicFrameLocks noGrp="1"/>
          </p:cNvGraphicFramePr>
          <p:nvPr/>
        </p:nvGraphicFramePr>
        <p:xfrm>
          <a:off x="7726679" y="1207008"/>
          <a:ext cx="3767327" cy="4251960"/>
        </p:xfrm>
        <a:graphic>
          <a:graphicData uri="http://schemas.openxmlformats.org/drawingml/2006/table">
            <a:tbl>
              <a:tblPr firstRow="1" bandRow="1">
                <a:tableStyleId>{5C22544A-7EE6-4342-B048-85BDC9FD1C3A}</a:tableStyleId>
              </a:tblPr>
              <a:tblGrid>
                <a:gridCol w="1459839"/>
                <a:gridCol w="2307488"/>
              </a:tblGrid>
              <a:tr h="708660">
                <a:tc>
                  <a:txBody>
                    <a:bodyPr/>
                    <a:lstStyle/>
                    <a:p>
                      <a:pPr algn="l"/>
                      <a:r>
                        <a:rPr sz="790" b="1" i="0">
                          <a:solidFill>
                            <a:srgbClr val="FFFFFF"/>
                          </a:solidFill>
                          <a:latin typeface="Aptos"/>
                        </a:rPr>
                        <a:t>Protectable layer</a:t>
                      </a:r>
                    </a:p>
                  </a:txBody>
                  <a:tcPr marL="36576" marR="36576" marT="27432" marB="27432" anchor="ctr">
                    <a:solidFill>
                      <a:srgbClr val="17365D"/>
                    </a:solidFill>
                  </a:tcPr>
                </a:tc>
                <a:tc>
                  <a:txBody>
                    <a:bodyPr/>
                    <a:lstStyle/>
                    <a:p>
                      <a:pPr algn="ctr"/>
                      <a:r>
                        <a:rPr sz="790" b="1" i="0">
                          <a:solidFill>
                            <a:srgbClr val="FFFFFF"/>
                          </a:solidFill>
                          <a:latin typeface="Aptos"/>
                        </a:rPr>
                        <a:t>Technical basis in current record</a:t>
                      </a:r>
                    </a:p>
                  </a:txBody>
                  <a:tcPr marL="36576" marR="36576" marT="27432" marB="27432" anchor="ctr">
                    <a:solidFill>
                      <a:srgbClr val="17365D"/>
                    </a:solidFill>
                  </a:tcPr>
                </a:tc>
              </a:tr>
              <a:tr h="708660">
                <a:tc>
                  <a:txBody>
                    <a:bodyPr/>
                    <a:lstStyle/>
                    <a:p>
                      <a:pPr algn="l"/>
                      <a:r>
                        <a:rPr sz="810" b="1" i="0">
                          <a:solidFill>
                            <a:srgbClr val="202B33"/>
                          </a:solidFill>
                          <a:latin typeface="Aptos"/>
                        </a:rPr>
                        <a:t>Material platform</a:t>
                      </a:r>
                    </a:p>
                  </a:txBody>
                  <a:tcPr marL="36576" marR="36576" marT="27432" marB="27432" anchor="ctr">
                    <a:solidFill>
                      <a:srgbClr val="FFFFFF"/>
                    </a:solidFill>
                  </a:tcPr>
                </a:tc>
                <a:tc>
                  <a:txBody>
                    <a:bodyPr/>
                    <a:lstStyle/>
                    <a:p>
                      <a:pPr algn="ctr"/>
                      <a:r>
                        <a:rPr sz="810" b="0" i="0">
                          <a:solidFill>
                            <a:srgbClr val="202B33"/>
                          </a:solidFill>
                          <a:latin typeface="Aptos"/>
                        </a:rPr>
                        <a:t>Integrated lightweight energy-dissipation architecture</a:t>
                      </a:r>
                    </a:p>
                  </a:txBody>
                  <a:tcPr marL="36576" marR="36576" marT="27432" marB="27432" anchor="ctr">
                    <a:solidFill>
                      <a:srgbClr val="FFFFFF"/>
                    </a:solidFill>
                  </a:tcPr>
                </a:tc>
              </a:tr>
              <a:tr h="708660">
                <a:tc>
                  <a:txBody>
                    <a:bodyPr/>
                    <a:lstStyle/>
                    <a:p>
                      <a:pPr algn="l"/>
                      <a:r>
                        <a:rPr sz="810" b="1" i="0">
                          <a:solidFill>
                            <a:srgbClr val="202B33"/>
                          </a:solidFill>
                          <a:latin typeface="Aptos"/>
                        </a:rPr>
                        <a:t>Manufacturing know-how</a:t>
                      </a:r>
                    </a:p>
                  </a:txBody>
                  <a:tcPr marL="36576" marR="36576" marT="27432" marB="27432" anchor="ctr">
                    <a:solidFill>
                      <a:srgbClr val="F8FAFB"/>
                    </a:solidFill>
                  </a:tcPr>
                </a:tc>
                <a:tc>
                  <a:txBody>
                    <a:bodyPr/>
                    <a:lstStyle/>
                    <a:p>
                      <a:pPr algn="ctr"/>
                      <a:r>
                        <a:rPr sz="810" b="0" i="0">
                          <a:solidFill>
                            <a:srgbClr val="202B33"/>
                          </a:solidFill>
                          <a:latin typeface="Aptos"/>
                        </a:rPr>
                        <a:t>Controlled processing and quality-assurance protocol</a:t>
                      </a:r>
                    </a:p>
                  </a:txBody>
                  <a:tcPr marL="36576" marR="36576" marT="27432" marB="27432" anchor="ctr">
                    <a:solidFill>
                      <a:srgbClr val="F8FAFB"/>
                    </a:solidFill>
                  </a:tcPr>
                </a:tc>
              </a:tr>
              <a:tr h="708660">
                <a:tc>
                  <a:txBody>
                    <a:bodyPr/>
                    <a:lstStyle/>
                    <a:p>
                      <a:pPr algn="l"/>
                      <a:r>
                        <a:rPr sz="810" b="1" i="0">
                          <a:solidFill>
                            <a:srgbClr val="202B33"/>
                          </a:solidFill>
                          <a:latin typeface="Aptos"/>
                        </a:rPr>
                        <a:t>Barrier embodiment</a:t>
                      </a:r>
                    </a:p>
                  </a:txBody>
                  <a:tcPr marL="36576" marR="36576" marT="27432" marB="27432" anchor="ctr">
                    <a:solidFill>
                      <a:srgbClr val="FFFFFF"/>
                    </a:solidFill>
                  </a:tcPr>
                </a:tc>
                <a:tc>
                  <a:txBody>
                    <a:bodyPr/>
                    <a:lstStyle/>
                    <a:p>
                      <a:pPr algn="ctr"/>
                      <a:r>
                        <a:rPr sz="810" b="0" i="0">
                          <a:solidFill>
                            <a:srgbClr val="202B33"/>
                          </a:solidFill>
                          <a:latin typeface="Aptos"/>
                        </a:rPr>
                        <a:t>Application-specific structural article</a:t>
                      </a:r>
                    </a:p>
                  </a:txBody>
                  <a:tcPr marL="36576" marR="36576" marT="27432" marB="27432" anchor="ctr">
                    <a:solidFill>
                      <a:srgbClr val="FFFFFF"/>
                    </a:solidFill>
                  </a:tcPr>
                </a:tc>
              </a:tr>
              <a:tr h="708660">
                <a:tc>
                  <a:txBody>
                    <a:bodyPr/>
                    <a:lstStyle/>
                    <a:p>
                      <a:pPr algn="l"/>
                      <a:r>
                        <a:rPr sz="810" b="1" i="0">
                          <a:solidFill>
                            <a:srgbClr val="202B33"/>
                          </a:solidFill>
                          <a:latin typeface="Aptos"/>
                        </a:rPr>
                        <a:t>Performance envelope</a:t>
                      </a:r>
                    </a:p>
                  </a:txBody>
                  <a:tcPr marL="36576" marR="36576" marT="27432" marB="27432" anchor="ctr">
                    <a:solidFill>
                      <a:srgbClr val="F6EFE4"/>
                    </a:solidFill>
                  </a:tcPr>
                </a:tc>
                <a:tc>
                  <a:txBody>
                    <a:bodyPr/>
                    <a:lstStyle/>
                    <a:p>
                      <a:pPr algn="ctr"/>
                      <a:r>
                        <a:rPr sz="810" b="0" i="0">
                          <a:solidFill>
                            <a:srgbClr val="202B33"/>
                          </a:solidFill>
                          <a:latin typeface="Aptos"/>
                        </a:rPr>
                        <a:t>Strength, impact endurance and controlled damage</a:t>
                      </a:r>
                    </a:p>
                  </a:txBody>
                  <a:tcPr marL="36576" marR="36576" marT="27432" marB="27432" anchor="ctr">
                    <a:solidFill>
                      <a:srgbClr val="F6EFE4"/>
                    </a:solidFill>
                  </a:tcPr>
                </a:tc>
              </a:tr>
              <a:tr h="708660">
                <a:tc>
                  <a:txBody>
                    <a:bodyPr/>
                    <a:lstStyle/>
                    <a:p>
                      <a:pPr algn="l"/>
                      <a:r>
                        <a:rPr sz="810" b="1" i="0">
                          <a:solidFill>
                            <a:srgbClr val="202B33"/>
                          </a:solidFill>
                          <a:latin typeface="Aptos"/>
                        </a:rPr>
                        <a:t>Deployment package</a:t>
                      </a:r>
                    </a:p>
                  </a:txBody>
                  <a:tcPr marL="36576" marR="36576" marT="27432" marB="27432" anchor="ctr">
                    <a:solidFill>
                      <a:srgbClr val="FFFFFF"/>
                    </a:solidFill>
                  </a:tcPr>
                </a:tc>
                <a:tc>
                  <a:txBody>
                    <a:bodyPr/>
                    <a:lstStyle/>
                    <a:p>
                      <a:pPr algn="ctr"/>
                      <a:r>
                        <a:rPr sz="810" b="0" i="0">
                          <a:solidFill>
                            <a:srgbClr val="202B33"/>
                          </a:solidFill>
                          <a:latin typeface="Aptos"/>
                        </a:rPr>
                        <a:t>Precast production and field implementation</a:t>
                      </a:r>
                    </a:p>
                  </a:txBody>
                  <a:tcPr marL="36576" marR="36576" marT="27432" marB="27432" anchor="ctr">
                    <a:solidFill>
                      <a:srgbClr val="FFFFFF"/>
                    </a:solidFill>
                  </a:tcPr>
                </a:tc>
              </a:tr>
            </a:tbl>
          </a:graphicData>
        </a:graphic>
      </p:graphicFrame>
      <p:sp>
        <p:nvSpPr>
          <p:cNvPr id="13" name="TextBox 12"/>
          <p:cNvSpPr txBox="1"/>
          <p:nvPr/>
        </p:nvSpPr>
        <p:spPr>
          <a:xfrm>
            <a:off x="7818120" y="5513832"/>
            <a:ext cx="3566160" cy="219456"/>
          </a:xfrm>
          <a:prstGeom prst="rect">
            <a:avLst/>
          </a:prstGeom>
          <a:noFill/>
        </p:spPr>
        <p:txBody>
          <a:bodyPr wrap="square" lIns="0" rIns="0" tIns="0" bIns="0" anchor="t">
            <a:spAutoFit/>
          </a:bodyPr>
          <a:lstStyle/>
          <a:p>
            <a:pPr algn="l">
              <a:lnSpc>
                <a:spcPct val="100000"/>
              </a:lnSpc>
            </a:pPr>
            <a:r>
              <a:rPr sz="780" b="1" i="0">
                <a:solidFill>
                  <a:srgbClr val="9A4651"/>
                </a:solidFill>
                <a:latin typeface="Aptos"/>
              </a:rPr>
              <a:t>* Correct density basis and water protocol before claim drafting.</a:t>
            </a:r>
          </a:p>
        </p:txBody>
      </p:sp>
      <p:sp>
        <p:nvSpPr>
          <p:cNvPr id="14" name="TextBox 13"/>
          <p:cNvSpPr txBox="1"/>
          <p:nvPr/>
        </p:nvSpPr>
        <p:spPr>
          <a:xfrm>
            <a:off x="667512" y="5806440"/>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Evidence: inventor dataset. Claim structure is a technical drafting aid only—not legal advice. Patentability/FTO requires professional searching, claim construction and jurisdiction-specific counsel.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FUTURE WORK</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Research gaps and staged validation plan</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16</a:t>
            </a:r>
          </a:p>
        </p:txBody>
      </p:sp>
      <p:graphicFrame>
        <p:nvGraphicFramePr>
          <p:cNvPr id="11" name="Table 10"/>
          <p:cNvGraphicFramePr>
            <a:graphicFrameLocks noGrp="1"/>
          </p:cNvGraphicFramePr>
          <p:nvPr/>
        </p:nvGraphicFramePr>
        <p:xfrm>
          <a:off x="658368" y="1207008"/>
          <a:ext cx="10863070" cy="4334256"/>
        </p:xfrm>
        <a:graphic>
          <a:graphicData uri="http://schemas.openxmlformats.org/drawingml/2006/table">
            <a:tbl>
              <a:tblPr firstRow="1" bandRow="1">
                <a:tableStyleId>{5C22544A-7EE6-4342-B048-85BDC9FD1C3A}</a:tableStyleId>
              </a:tblPr>
              <a:tblGrid>
                <a:gridCol w="1116764"/>
                <a:gridCol w="2487338"/>
                <a:gridCol w="3248769"/>
                <a:gridCol w="2741149"/>
                <a:gridCol w="1269050"/>
              </a:tblGrid>
              <a:tr h="722376">
                <a:tc>
                  <a:txBody>
                    <a:bodyPr/>
                    <a:lstStyle/>
                    <a:p>
                      <a:pPr algn="l"/>
                      <a:r>
                        <a:rPr sz="760" b="1" i="0">
                          <a:solidFill>
                            <a:srgbClr val="FFFFFF"/>
                          </a:solidFill>
                          <a:latin typeface="Aptos"/>
                        </a:rPr>
                        <a:t>Stage</a:t>
                      </a:r>
                    </a:p>
                  </a:txBody>
                  <a:tcPr marL="36576" marR="36576" marT="27432" marB="27432" anchor="ctr">
                    <a:solidFill>
                      <a:srgbClr val="17365D"/>
                    </a:solidFill>
                  </a:tcPr>
                </a:tc>
                <a:tc>
                  <a:txBody>
                    <a:bodyPr/>
                    <a:lstStyle/>
                    <a:p>
                      <a:pPr algn="ctr"/>
                      <a:r>
                        <a:rPr sz="760" b="1" i="0">
                          <a:solidFill>
                            <a:srgbClr val="FFFFFF"/>
                          </a:solidFill>
                          <a:latin typeface="Aptos"/>
                        </a:rPr>
                        <a:t>Research / IP question</a:t>
                      </a:r>
                    </a:p>
                  </a:txBody>
                  <a:tcPr marL="36576" marR="36576" marT="27432" marB="27432" anchor="ctr">
                    <a:solidFill>
                      <a:srgbClr val="17365D"/>
                    </a:solidFill>
                  </a:tcPr>
                </a:tc>
                <a:tc>
                  <a:txBody>
                    <a:bodyPr/>
                    <a:lstStyle/>
                    <a:p>
                      <a:pPr algn="ctr"/>
                      <a:r>
                        <a:rPr sz="760" b="1" i="0">
                          <a:solidFill>
                            <a:srgbClr val="FFFFFF"/>
                          </a:solidFill>
                          <a:latin typeface="Aptos"/>
                        </a:rPr>
                        <a:t>Method</a:t>
                      </a:r>
                    </a:p>
                  </a:txBody>
                  <a:tcPr marL="36576" marR="36576" marT="27432" marB="27432" anchor="ctr">
                    <a:solidFill>
                      <a:srgbClr val="17365D"/>
                    </a:solidFill>
                  </a:tcPr>
                </a:tc>
                <a:tc>
                  <a:txBody>
                    <a:bodyPr/>
                    <a:lstStyle/>
                    <a:p>
                      <a:pPr algn="ctr"/>
                      <a:r>
                        <a:rPr sz="760" b="1" i="0">
                          <a:solidFill>
                            <a:srgbClr val="FFFFFF"/>
                          </a:solidFill>
                          <a:latin typeface="Aptos"/>
                        </a:rPr>
                        <a:t>Decision criterion</a:t>
                      </a:r>
                    </a:p>
                  </a:txBody>
                  <a:tcPr marL="36576" marR="36576" marT="27432" marB="27432" anchor="ctr">
                    <a:solidFill>
                      <a:srgbClr val="17365D"/>
                    </a:solidFill>
                  </a:tcPr>
                </a:tc>
                <a:tc>
                  <a:txBody>
                    <a:bodyPr/>
                    <a:lstStyle/>
                    <a:p>
                      <a:pPr algn="ctr"/>
                      <a:r>
                        <a:rPr sz="760" b="1" i="0">
                          <a:solidFill>
                            <a:srgbClr val="FFFFFF"/>
                          </a:solidFill>
                          <a:latin typeface="Aptos"/>
                        </a:rPr>
                        <a:t>Indicative timing</a:t>
                      </a:r>
                    </a:p>
                  </a:txBody>
                  <a:tcPr marL="36576" marR="36576" marT="27432" marB="27432" anchor="ctr">
                    <a:solidFill>
                      <a:srgbClr val="17365D"/>
                    </a:solidFill>
                  </a:tcPr>
                </a:tc>
              </a:tr>
              <a:tr h="722376">
                <a:tc>
                  <a:txBody>
                    <a:bodyPr/>
                    <a:lstStyle/>
                    <a:p>
                      <a:pPr algn="l"/>
                      <a:r>
                        <a:rPr sz="780" b="1" i="0">
                          <a:solidFill>
                            <a:srgbClr val="202B33"/>
                          </a:solidFill>
                          <a:latin typeface="Aptos"/>
                        </a:rPr>
                        <a:t>1. Protect</a:t>
                      </a:r>
                    </a:p>
                  </a:txBody>
                  <a:tcPr marL="36576" marR="36576" marT="27432" marB="27432" anchor="ctr">
                    <a:solidFill>
                      <a:srgbClr val="EAF1F6"/>
                    </a:solidFill>
                  </a:tcPr>
                </a:tc>
                <a:tc>
                  <a:txBody>
                    <a:bodyPr/>
                    <a:lstStyle/>
                    <a:p>
                      <a:pPr algn="ctr"/>
                      <a:r>
                        <a:rPr sz="780" b="0" i="0">
                          <a:solidFill>
                            <a:srgbClr val="202B33"/>
                          </a:solidFill>
                          <a:latin typeface="Aptos"/>
                        </a:rPr>
                        <a:t>Is the integrated platform novel and enabled?</a:t>
                      </a:r>
                    </a:p>
                  </a:txBody>
                  <a:tcPr marL="36576" marR="36576" marT="27432" marB="27432" anchor="ctr">
                    <a:solidFill>
                      <a:srgbClr val="EAF1F6"/>
                    </a:solidFill>
                  </a:tcPr>
                </a:tc>
                <a:tc>
                  <a:txBody>
                    <a:bodyPr/>
                    <a:lstStyle/>
                    <a:p>
                      <a:pPr algn="ctr"/>
                      <a:r>
                        <a:rPr sz="780" b="0" i="0">
                          <a:solidFill>
                            <a:srgbClr val="202B33"/>
                          </a:solidFill>
                          <a:latin typeface="Aptos"/>
                        </a:rPr>
                        <a:t>Professional patent search; reconcile records; file</a:t>
                      </a:r>
                    </a:p>
                  </a:txBody>
                  <a:tcPr marL="36576" marR="36576" marT="27432" marB="27432" anchor="ctr">
                    <a:solidFill>
                      <a:srgbClr val="EAF1F6"/>
                    </a:solidFill>
                  </a:tcPr>
                </a:tc>
                <a:tc>
                  <a:txBody>
                    <a:bodyPr/>
                    <a:lstStyle/>
                    <a:p>
                      <a:pPr algn="ctr"/>
                      <a:r>
                        <a:rPr sz="780" b="0" i="0">
                          <a:solidFill>
                            <a:srgbClr val="202B33"/>
                          </a:solidFill>
                          <a:latin typeface="Aptos"/>
                        </a:rPr>
                        <a:t>IPR approval and filing</a:t>
                      </a:r>
                    </a:p>
                  </a:txBody>
                  <a:tcPr marL="36576" marR="36576" marT="27432" marB="27432" anchor="ctr">
                    <a:solidFill>
                      <a:srgbClr val="EAF1F6"/>
                    </a:solidFill>
                  </a:tcPr>
                </a:tc>
                <a:tc>
                  <a:txBody>
                    <a:bodyPr/>
                    <a:lstStyle/>
                    <a:p>
                      <a:pPr algn="ctr"/>
                      <a:r>
                        <a:rPr sz="780" b="0" i="0">
                          <a:solidFill>
                            <a:srgbClr val="202B33"/>
                          </a:solidFill>
                          <a:latin typeface="Aptos"/>
                        </a:rPr>
                        <a:t>Now</a:t>
                      </a:r>
                    </a:p>
                  </a:txBody>
                  <a:tcPr marL="36576" marR="36576" marT="27432" marB="27432" anchor="ctr">
                    <a:solidFill>
                      <a:srgbClr val="EAF1F6"/>
                    </a:solidFill>
                  </a:tcPr>
                </a:tc>
              </a:tr>
              <a:tr h="722376">
                <a:tc>
                  <a:txBody>
                    <a:bodyPr/>
                    <a:lstStyle/>
                    <a:p>
                      <a:pPr algn="l"/>
                      <a:r>
                        <a:rPr sz="780" b="1" i="0">
                          <a:solidFill>
                            <a:srgbClr val="202B33"/>
                          </a:solidFill>
                          <a:latin typeface="Aptos"/>
                        </a:rPr>
                        <a:t>2. Reproduce</a:t>
                      </a:r>
                    </a:p>
                  </a:txBody>
                  <a:tcPr marL="36576" marR="36576" marT="27432" marB="27432" anchor="ctr">
                    <a:solidFill>
                      <a:srgbClr val="F8FAFB"/>
                    </a:solidFill>
                  </a:tcPr>
                </a:tc>
                <a:tc>
                  <a:txBody>
                    <a:bodyPr/>
                    <a:lstStyle/>
                    <a:p>
                      <a:pPr algn="ctr"/>
                      <a:r>
                        <a:rPr sz="780" b="0" i="0">
                          <a:solidFill>
                            <a:srgbClr val="202B33"/>
                          </a:solidFill>
                          <a:latin typeface="Aptos"/>
                        </a:rPr>
                        <a:t>Are effect sizes repeatable?</a:t>
                      </a:r>
                    </a:p>
                  </a:txBody>
                  <a:tcPr marL="36576" marR="36576" marT="27432" marB="27432" anchor="ctr">
                    <a:solidFill>
                      <a:srgbClr val="F8FAFB"/>
                    </a:solidFill>
                  </a:tcPr>
                </a:tc>
                <a:tc>
                  <a:txBody>
                    <a:bodyPr/>
                    <a:lstStyle/>
                    <a:p>
                      <a:pPr algn="ctr"/>
                      <a:r>
                        <a:rPr sz="780" b="0" i="0">
                          <a:solidFill>
                            <a:srgbClr val="202B33"/>
                          </a:solidFill>
                          <a:latin typeface="Aptos"/>
                        </a:rPr>
                        <a:t>Specimen-level repeats; ≥3 barriers/mix; debris quantification</a:t>
                      </a:r>
                    </a:p>
                  </a:txBody>
                  <a:tcPr marL="36576" marR="36576" marT="27432" marB="27432" anchor="ctr">
                    <a:solidFill>
                      <a:srgbClr val="F8FAFB"/>
                    </a:solidFill>
                  </a:tcPr>
                </a:tc>
                <a:tc>
                  <a:txBody>
                    <a:bodyPr/>
                    <a:lstStyle/>
                    <a:p>
                      <a:pPr algn="ctr"/>
                      <a:r>
                        <a:rPr sz="780" b="0" i="0">
                          <a:solidFill>
                            <a:srgbClr val="202B33"/>
                          </a:solidFill>
                          <a:latin typeface="Aptos"/>
                        </a:rPr>
                        <a:t>Uncertainty and effect-size bounds</a:t>
                      </a:r>
                    </a:p>
                  </a:txBody>
                  <a:tcPr marL="36576" marR="36576" marT="27432" marB="27432" anchor="ctr">
                    <a:solidFill>
                      <a:srgbClr val="F8FAFB"/>
                    </a:solidFill>
                  </a:tcPr>
                </a:tc>
                <a:tc>
                  <a:txBody>
                    <a:bodyPr/>
                    <a:lstStyle/>
                    <a:p>
                      <a:pPr algn="ctr"/>
                      <a:r>
                        <a:rPr sz="780" b="0" i="0">
                          <a:solidFill>
                            <a:srgbClr val="202B33"/>
                          </a:solidFill>
                          <a:latin typeface="Aptos"/>
                        </a:rPr>
                        <a:t>0–6 months</a:t>
                      </a:r>
                    </a:p>
                  </a:txBody>
                  <a:tcPr marL="36576" marR="36576" marT="27432" marB="27432" anchor="ctr">
                    <a:solidFill>
                      <a:srgbClr val="F8FAFB"/>
                    </a:solidFill>
                  </a:tcPr>
                </a:tc>
              </a:tr>
              <a:tr h="722376">
                <a:tc>
                  <a:txBody>
                    <a:bodyPr/>
                    <a:lstStyle/>
                    <a:p>
                      <a:pPr algn="l"/>
                      <a:r>
                        <a:rPr sz="780" b="1" i="0">
                          <a:solidFill>
                            <a:srgbClr val="202B33"/>
                          </a:solidFill>
                          <a:latin typeface="Aptos"/>
                        </a:rPr>
                        <a:t>3. Mechanism + durability</a:t>
                      </a:r>
                    </a:p>
                  </a:txBody>
                  <a:tcPr marL="36576" marR="36576" marT="27432" marB="27432" anchor="ctr">
                    <a:solidFill>
                      <a:srgbClr val="FFFFFF"/>
                    </a:solidFill>
                  </a:tcPr>
                </a:tc>
                <a:tc>
                  <a:txBody>
                    <a:bodyPr/>
                    <a:lstStyle/>
                    <a:p>
                      <a:pPr algn="ctr"/>
                      <a:r>
                        <a:rPr sz="780" b="0" i="0">
                          <a:solidFill>
                            <a:srgbClr val="202B33"/>
                          </a:solidFill>
                          <a:latin typeface="Aptos"/>
                        </a:rPr>
                        <a:t>Does performance persist under ageing and repeated impact?</a:t>
                      </a:r>
                    </a:p>
                  </a:txBody>
                  <a:tcPr marL="36576" marR="36576" marT="27432" marB="27432" anchor="ctr">
                    <a:solidFill>
                      <a:srgbClr val="FFFFFF"/>
                    </a:solidFill>
                  </a:tcPr>
                </a:tc>
                <a:tc>
                  <a:txBody>
                    <a:bodyPr/>
                    <a:lstStyle/>
                    <a:p>
                      <a:pPr algn="ctr"/>
                      <a:r>
                        <a:rPr sz="780" b="0" i="0">
                          <a:solidFill>
                            <a:srgbClr val="202B33"/>
                          </a:solidFill>
                          <a:latin typeface="Aptos"/>
                        </a:rPr>
                        <a:t>FE calibration; fatigue; chloride; corrosion; fire/weather</a:t>
                      </a:r>
                    </a:p>
                  </a:txBody>
                  <a:tcPr marL="36576" marR="36576" marT="27432" marB="27432" anchor="ctr">
                    <a:solidFill>
                      <a:srgbClr val="FFFFFF"/>
                    </a:solidFill>
                  </a:tcPr>
                </a:tc>
                <a:tc>
                  <a:txBody>
                    <a:bodyPr/>
                    <a:lstStyle/>
                    <a:p>
                      <a:pPr algn="ctr"/>
                      <a:r>
                        <a:rPr sz="780" b="0" i="0">
                          <a:solidFill>
                            <a:srgbClr val="202B33"/>
                          </a:solidFill>
                          <a:latin typeface="Aptos"/>
                        </a:rPr>
                        <a:t>Validated model + durability envelope</a:t>
                      </a:r>
                    </a:p>
                  </a:txBody>
                  <a:tcPr marL="36576" marR="36576" marT="27432" marB="27432" anchor="ctr">
                    <a:solidFill>
                      <a:srgbClr val="FFFFFF"/>
                    </a:solidFill>
                  </a:tcPr>
                </a:tc>
                <a:tc>
                  <a:txBody>
                    <a:bodyPr/>
                    <a:lstStyle/>
                    <a:p>
                      <a:pPr algn="ctr"/>
                      <a:r>
                        <a:rPr sz="780" b="0" i="0">
                          <a:solidFill>
                            <a:srgbClr val="202B33"/>
                          </a:solidFill>
                          <a:latin typeface="Aptos"/>
                        </a:rPr>
                        <a:t>6–12 months</a:t>
                      </a:r>
                    </a:p>
                  </a:txBody>
                  <a:tcPr marL="36576" marR="36576" marT="27432" marB="27432" anchor="ctr">
                    <a:solidFill>
                      <a:srgbClr val="FFFFFF"/>
                    </a:solidFill>
                  </a:tcPr>
                </a:tc>
              </a:tr>
              <a:tr h="722376">
                <a:tc>
                  <a:txBody>
                    <a:bodyPr/>
                    <a:lstStyle/>
                    <a:p>
                      <a:pPr algn="l"/>
                      <a:r>
                        <a:rPr sz="780" b="1" i="0">
                          <a:solidFill>
                            <a:srgbClr val="202B33"/>
                          </a:solidFill>
                          <a:latin typeface="Aptos"/>
                        </a:rPr>
                        <a:t>4. Vehicle-scale safety</a:t>
                      </a:r>
                    </a:p>
                  </a:txBody>
                  <a:tcPr marL="36576" marR="36576" marT="27432" marB="27432" anchor="ctr">
                    <a:solidFill>
                      <a:srgbClr val="F6EFE4"/>
                    </a:solidFill>
                  </a:tcPr>
                </a:tc>
                <a:tc>
                  <a:txBody>
                    <a:bodyPr/>
                    <a:lstStyle/>
                    <a:p>
                      <a:pPr algn="ctr"/>
                      <a:r>
                        <a:rPr sz="780" b="0" i="0">
                          <a:solidFill>
                            <a:srgbClr val="202B33"/>
                          </a:solidFill>
                          <a:latin typeface="Aptos"/>
                        </a:rPr>
                        <a:t>Does the system contain and redirect vehicles safely?</a:t>
                      </a:r>
                    </a:p>
                  </a:txBody>
                  <a:tcPr marL="36576" marR="36576" marT="27432" marB="27432" anchor="ctr">
                    <a:solidFill>
                      <a:srgbClr val="F6EFE4"/>
                    </a:solidFill>
                  </a:tcPr>
                </a:tc>
                <a:tc>
                  <a:txBody>
                    <a:bodyPr/>
                    <a:lstStyle/>
                    <a:p>
                      <a:pPr algn="ctr"/>
                      <a:r>
                        <a:rPr sz="780" b="0" i="0">
                          <a:solidFill>
                            <a:srgbClr val="202B33"/>
                          </a:solidFill>
                          <a:latin typeface="Aptos"/>
                        </a:rPr>
                        <a:t>Full-scale IRC / EN 1317 / MASH-aligned tests; ASI/THIV</a:t>
                      </a:r>
                    </a:p>
                  </a:txBody>
                  <a:tcPr marL="36576" marR="36576" marT="27432" marB="27432" anchor="ctr">
                    <a:solidFill>
                      <a:srgbClr val="F6EFE4"/>
                    </a:solidFill>
                  </a:tcPr>
                </a:tc>
                <a:tc>
                  <a:txBody>
                    <a:bodyPr/>
                    <a:lstStyle/>
                    <a:p>
                      <a:pPr algn="ctr"/>
                      <a:r>
                        <a:rPr sz="780" b="0" i="0">
                          <a:solidFill>
                            <a:srgbClr val="202B33"/>
                          </a:solidFill>
                          <a:latin typeface="Aptos"/>
                        </a:rPr>
                        <a:t>Containment, redirection and occupant-risk compliance</a:t>
                      </a:r>
                    </a:p>
                  </a:txBody>
                  <a:tcPr marL="36576" marR="36576" marT="27432" marB="27432" anchor="ctr">
                    <a:solidFill>
                      <a:srgbClr val="F6EFE4"/>
                    </a:solidFill>
                  </a:tcPr>
                </a:tc>
                <a:tc>
                  <a:txBody>
                    <a:bodyPr/>
                    <a:lstStyle/>
                    <a:p>
                      <a:pPr algn="ctr"/>
                      <a:r>
                        <a:rPr sz="780" b="0" i="0">
                          <a:solidFill>
                            <a:srgbClr val="202B33"/>
                          </a:solidFill>
                          <a:latin typeface="Aptos"/>
                        </a:rPr>
                        <a:t>12–24 months</a:t>
                      </a:r>
                    </a:p>
                  </a:txBody>
                  <a:tcPr marL="36576" marR="36576" marT="27432" marB="27432" anchor="ctr">
                    <a:solidFill>
                      <a:srgbClr val="F6EFE4"/>
                    </a:solidFill>
                  </a:tcPr>
                </a:tc>
              </a:tr>
              <a:tr h="722376">
                <a:tc>
                  <a:txBody>
                    <a:bodyPr/>
                    <a:lstStyle/>
                    <a:p>
                      <a:pPr algn="l"/>
                      <a:r>
                        <a:rPr sz="780" b="1" i="0">
                          <a:solidFill>
                            <a:srgbClr val="202B33"/>
                          </a:solidFill>
                          <a:latin typeface="Aptos"/>
                        </a:rPr>
                        <a:t>5. Translation</a:t>
                      </a:r>
                    </a:p>
                  </a:txBody>
                  <a:tcPr marL="36576" marR="36576" marT="27432" marB="27432" anchor="ctr">
                    <a:solidFill>
                      <a:srgbClr val="FFFFFF"/>
                    </a:solidFill>
                  </a:tcPr>
                </a:tc>
                <a:tc>
                  <a:txBody>
                    <a:bodyPr/>
                    <a:lstStyle/>
                    <a:p>
                      <a:pPr algn="ctr"/>
                      <a:r>
                        <a:rPr sz="780" b="0" i="0">
                          <a:solidFill>
                            <a:srgbClr val="202B33"/>
                          </a:solidFill>
                          <a:latin typeface="Aptos"/>
                        </a:rPr>
                        <a:t>Is the system manufacturable and beneficial at installed scale?</a:t>
                      </a:r>
                    </a:p>
                  </a:txBody>
                  <a:tcPr marL="36576" marR="36576" marT="27432" marB="27432" anchor="ctr">
                    <a:solidFill>
                      <a:srgbClr val="FFFFFF"/>
                    </a:solidFill>
                  </a:tcPr>
                </a:tc>
                <a:tc>
                  <a:txBody>
                    <a:bodyPr/>
                    <a:lstStyle/>
                    <a:p>
                      <a:pPr algn="ctr"/>
                      <a:r>
                        <a:rPr sz="780" b="0" i="0">
                          <a:solidFill>
                            <a:srgbClr val="202B33"/>
                          </a:solidFill>
                          <a:latin typeface="Aptos"/>
                        </a:rPr>
                        <a:t>Precast QA; field pilot; comparative LCA and TEA</a:t>
                      </a:r>
                    </a:p>
                  </a:txBody>
                  <a:tcPr marL="36576" marR="36576" marT="27432" marB="27432" anchor="ctr">
                    <a:solidFill>
                      <a:srgbClr val="FFFFFF"/>
                    </a:solidFill>
                  </a:tcPr>
                </a:tc>
                <a:tc>
                  <a:txBody>
                    <a:bodyPr/>
                    <a:lstStyle/>
                    <a:p>
                      <a:pPr algn="ctr"/>
                      <a:r>
                        <a:rPr sz="780" b="0" i="0">
                          <a:solidFill>
                            <a:srgbClr val="202B33"/>
                          </a:solidFill>
                          <a:latin typeface="Aptos"/>
                        </a:rPr>
                        <a:t>Pilot readiness and licensing package</a:t>
                      </a:r>
                    </a:p>
                  </a:txBody>
                  <a:tcPr marL="36576" marR="36576" marT="27432" marB="27432" anchor="ctr">
                    <a:solidFill>
                      <a:srgbClr val="FFFFFF"/>
                    </a:solidFill>
                  </a:tcPr>
                </a:tc>
                <a:tc>
                  <a:txBody>
                    <a:bodyPr/>
                    <a:lstStyle/>
                    <a:p>
                      <a:pPr algn="ctr"/>
                      <a:r>
                        <a:rPr sz="780" b="0" i="0">
                          <a:solidFill>
                            <a:srgbClr val="202B33"/>
                          </a:solidFill>
                          <a:latin typeface="Aptos"/>
                        </a:rPr>
                        <a:t>24–36 months</a:t>
                      </a:r>
                    </a:p>
                  </a:txBody>
                  <a:tcPr marL="36576" marR="36576" marT="27432" marB="27432" anchor="ctr">
                    <a:solidFill>
                      <a:srgbClr val="FFFFFF"/>
                    </a:solidFill>
                  </a:tcPr>
                </a:tc>
              </a:tr>
            </a:tbl>
          </a:graphicData>
        </a:graphic>
      </p:graphicFrame>
      <p:sp>
        <p:nvSpPr>
          <p:cNvPr id="12" name="Rectangle 11"/>
          <p:cNvSpPr/>
          <p:nvPr/>
        </p:nvSpPr>
        <p:spPr>
          <a:xfrm>
            <a:off x="731520" y="5650992"/>
            <a:ext cx="10716768" cy="365760"/>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742432"/>
            <a:ext cx="10351008" cy="182880"/>
          </a:xfrm>
          <a:prstGeom prst="rect">
            <a:avLst/>
          </a:prstGeom>
          <a:noFill/>
        </p:spPr>
        <p:txBody>
          <a:bodyPr wrap="square" lIns="0" rIns="0" tIns="0" bIns="0" anchor="t">
            <a:spAutoFit/>
          </a:bodyPr>
          <a:lstStyle/>
          <a:p>
            <a:pPr algn="l">
              <a:lnSpc>
                <a:spcPct val="100000"/>
              </a:lnSpc>
            </a:pPr>
            <a:r>
              <a:rPr sz="819" b="1" i="0">
                <a:solidFill>
                  <a:srgbClr val="9A4651"/>
                </a:solidFill>
                <a:latin typeface="Aptos"/>
              </a:rPr>
              <a:t>Critical uncertainties: full-scale vehicle response • reinforcement workability • aggregate variability • corrosion • installed cost • disclosure timing</a:t>
            </a:r>
          </a:p>
        </p:txBody>
      </p:sp>
      <p:sp>
        <p:nvSpPr>
          <p:cNvPr id="14" name="TextBox 13"/>
          <p:cNvSpPr txBox="1"/>
          <p:nvPr/>
        </p:nvSpPr>
        <p:spPr>
          <a:xfrm>
            <a:off x="667512" y="6108192"/>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Validation plan synthesizes the inventor questionnaire/technology profile with IRC:119-2015, EN 1317/MASH-style evaluation principles and barrier crash-test literature. Timing is indicative.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CONCLUSIONS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Conclusions and request to the IPR committee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17</a:t>
            </a:r>
          </a:p>
        </p:txBody>
      </p:sp>
      <p:graphicFrame>
        <p:nvGraphicFramePr>
          <p:cNvPr id="11" name="Table 10"/>
          <p:cNvGraphicFramePr>
            <a:graphicFrameLocks noGrp="1"/>
          </p:cNvGraphicFramePr>
          <p:nvPr/>
        </p:nvGraphicFramePr>
        <p:xfrm>
          <a:off x="658368" y="1243584"/>
          <a:ext cx="6720839" cy="3401568"/>
        </p:xfrm>
        <a:graphic>
          <a:graphicData uri="http://schemas.openxmlformats.org/drawingml/2006/table">
            <a:tbl>
              <a:tblPr firstRow="1" bandRow="1">
                <a:tableStyleId>{5C22544A-7EE6-4342-B048-85BDC9FD1C3A}</a:tableStyleId>
              </a:tblPr>
              <a:tblGrid>
                <a:gridCol w="531865"/>
                <a:gridCol w="4013163"/>
                <a:gridCol w="2175811"/>
              </a:tblGrid>
              <a:tr h="680313">
                <a:tc>
                  <a:txBody>
                    <a:bodyPr/>
                    <a:lstStyle/>
                    <a:p>
                      <a:pPr algn="l"/>
                      <a:r>
                        <a:rPr sz="850" b="1" i="0">
                          <a:solidFill>
                            <a:srgbClr val="FFFFFF"/>
                          </a:solidFill>
                          <a:latin typeface="Aptos"/>
                        </a:rPr>
                        <a:t>No.</a:t>
                      </a:r>
                    </a:p>
                  </a:txBody>
                  <a:tcPr marL="36576" marR="36576" marT="27432" marB="27432" anchor="ctr">
                    <a:solidFill>
                      <a:srgbClr val="17365D"/>
                    </a:solidFill>
                  </a:tcPr>
                </a:tc>
                <a:tc>
                  <a:txBody>
                    <a:bodyPr/>
                    <a:lstStyle/>
                    <a:p>
                      <a:pPr algn="ctr"/>
                      <a:r>
                        <a:rPr sz="850" b="1" i="0">
                          <a:solidFill>
                            <a:srgbClr val="FFFFFF"/>
                          </a:solidFill>
                          <a:latin typeface="Aptos"/>
                        </a:rPr>
                        <a:t>Conclusion from current evidence</a:t>
                      </a:r>
                    </a:p>
                  </a:txBody>
                  <a:tcPr marL="36576" marR="36576" marT="27432" marB="27432" anchor="ctr">
                    <a:solidFill>
                      <a:srgbClr val="17365D"/>
                    </a:solidFill>
                  </a:tcPr>
                </a:tc>
                <a:tc>
                  <a:txBody>
                    <a:bodyPr/>
                    <a:lstStyle/>
                    <a:p>
                      <a:pPr algn="ctr"/>
                      <a:r>
                        <a:rPr sz="850" b="1" i="0">
                          <a:solidFill>
                            <a:srgbClr val="FFFFFF"/>
                          </a:solidFill>
                          <a:latin typeface="Aptos"/>
                        </a:rPr>
                        <a:t>Quantitative basis</a:t>
                      </a:r>
                    </a:p>
                  </a:txBody>
                  <a:tcPr marL="36576" marR="36576" marT="27432" marB="27432" anchor="ctr">
                    <a:solidFill>
                      <a:srgbClr val="17365D"/>
                    </a:solidFill>
                  </a:tcPr>
                </a:tc>
              </a:tr>
              <a:tr h="680313">
                <a:tc>
                  <a:txBody>
                    <a:bodyPr/>
                    <a:lstStyle/>
                    <a:p>
                      <a:pPr algn="l"/>
                      <a:r>
                        <a:rPr sz="869" b="1" i="0">
                          <a:solidFill>
                            <a:srgbClr val="202B33"/>
                          </a:solidFill>
                          <a:latin typeface="Aptos"/>
                        </a:rPr>
                        <a:t>1</a:t>
                      </a:r>
                    </a:p>
                  </a:txBody>
                  <a:tcPr marL="36576" marR="36576" marT="27432" marB="27432" anchor="ctr">
                    <a:solidFill>
                      <a:srgbClr val="FFFFFF"/>
                    </a:solidFill>
                  </a:tcPr>
                </a:tc>
                <a:tc>
                  <a:txBody>
                    <a:bodyPr/>
                    <a:lstStyle/>
                    <a:p>
                      <a:pPr algn="ctr"/>
                      <a:r>
                        <a:rPr sz="869" b="0" i="0">
                          <a:solidFill>
                            <a:srgbClr val="202B33"/>
                          </a:solidFill>
                          <a:latin typeface="Aptos"/>
                        </a:rPr>
                        <a:t>The selected lightweight mixture clears the structural-strength gate.</a:t>
                      </a:r>
                    </a:p>
                  </a:txBody>
                  <a:tcPr marL="36576" marR="36576" marT="27432" marB="27432" anchor="ctr">
                    <a:solidFill>
                      <a:srgbClr val="FFFFFF"/>
                    </a:solidFill>
                  </a:tcPr>
                </a:tc>
                <a:tc>
                  <a:txBody>
                    <a:bodyPr/>
                    <a:lstStyle/>
                    <a:p>
                      <a:pPr algn="ctr"/>
                      <a:r>
                        <a:rPr sz="869" b="0" i="0">
                          <a:solidFill>
                            <a:srgbClr val="202B33"/>
                          </a:solidFill>
                          <a:latin typeface="Aptos"/>
                        </a:rPr>
                        <a:t>55.4 MPa; reported density −19.4% vs NWC</a:t>
                      </a:r>
                    </a:p>
                  </a:txBody>
                  <a:tcPr marL="36576" marR="36576" marT="27432" marB="27432" anchor="ctr">
                    <a:solidFill>
                      <a:srgbClr val="FFFFFF"/>
                    </a:solidFill>
                  </a:tcPr>
                </a:tc>
              </a:tr>
              <a:tr h="680313">
                <a:tc>
                  <a:txBody>
                    <a:bodyPr/>
                    <a:lstStyle/>
                    <a:p>
                      <a:pPr algn="l"/>
                      <a:r>
                        <a:rPr sz="869" b="1" i="0">
                          <a:solidFill>
                            <a:srgbClr val="202B33"/>
                          </a:solidFill>
                          <a:latin typeface="Aptos"/>
                        </a:rPr>
                        <a:t>2</a:t>
                      </a:r>
                    </a:p>
                  </a:txBody>
                  <a:tcPr marL="36576" marR="36576" marT="27432" marB="27432" anchor="ctr">
                    <a:solidFill>
                      <a:srgbClr val="F6EFE4"/>
                    </a:solidFill>
                  </a:tcPr>
                </a:tc>
                <a:tc>
                  <a:txBody>
                    <a:bodyPr/>
                    <a:lstStyle/>
                    <a:p>
                      <a:pPr algn="ctr"/>
                      <a:r>
                        <a:rPr sz="869" b="0" i="0">
                          <a:solidFill>
                            <a:srgbClr val="202B33"/>
                          </a:solidFill>
                          <a:latin typeface="Aptos"/>
                        </a:rPr>
                        <a:t>Crack-bridging reinforcement primarily improves tensile and post-cracking response.</a:t>
                      </a:r>
                    </a:p>
                  </a:txBody>
                  <a:tcPr marL="36576" marR="36576" marT="27432" marB="27432" anchor="ctr">
                    <a:solidFill>
                      <a:srgbClr val="F6EFE4"/>
                    </a:solidFill>
                  </a:tcPr>
                </a:tc>
                <a:tc>
                  <a:txBody>
                    <a:bodyPr/>
                    <a:lstStyle/>
                    <a:p>
                      <a:pPr algn="ctr"/>
                      <a:r>
                        <a:rPr sz="869" b="0" i="0">
                          <a:solidFill>
                            <a:srgbClr val="202B33"/>
                          </a:solidFill>
                          <a:latin typeface="Aptos"/>
                        </a:rPr>
                        <a:t>Split tension +76%; prism E₂ 55.3× NWC</a:t>
                      </a:r>
                    </a:p>
                  </a:txBody>
                  <a:tcPr marL="36576" marR="36576" marT="27432" marB="27432" anchor="ctr">
                    <a:solidFill>
                      <a:srgbClr val="F6EFE4"/>
                    </a:solidFill>
                  </a:tcPr>
                </a:tc>
              </a:tr>
              <a:tr h="680313">
                <a:tc>
                  <a:txBody>
                    <a:bodyPr/>
                    <a:lstStyle/>
                    <a:p>
                      <a:pPr algn="l"/>
                      <a:r>
                        <a:rPr sz="869" b="1" i="0">
                          <a:solidFill>
                            <a:srgbClr val="202B33"/>
                          </a:solidFill>
                          <a:latin typeface="Aptos"/>
                        </a:rPr>
                        <a:t>3</a:t>
                      </a:r>
                    </a:p>
                  </a:txBody>
                  <a:tcPr marL="36576" marR="36576" marT="27432" marB="27432" anchor="ctr">
                    <a:solidFill>
                      <a:srgbClr val="EAF2F3"/>
                    </a:solidFill>
                  </a:tcPr>
                </a:tc>
                <a:tc>
                  <a:txBody>
                    <a:bodyPr/>
                    <a:lstStyle/>
                    <a:p>
                      <a:pPr algn="ctr"/>
                      <a:r>
                        <a:rPr sz="869" b="0" i="0">
                          <a:solidFill>
                            <a:srgbClr val="202B33"/>
                          </a:solidFill>
                          <a:latin typeface="Aptos"/>
                        </a:rPr>
                        <a:t>The one-third-scale barrier reproduces the direction of benefit.</a:t>
                      </a:r>
                    </a:p>
                  </a:txBody>
                  <a:tcPr marL="36576" marR="36576" marT="27432" marB="27432" anchor="ctr">
                    <a:solidFill>
                      <a:srgbClr val="EAF2F3"/>
                    </a:solidFill>
                  </a:tcPr>
                </a:tc>
                <a:tc>
                  <a:txBody>
                    <a:bodyPr/>
                    <a:lstStyle/>
                    <a:p>
                      <a:pPr algn="ctr"/>
                      <a:r>
                        <a:rPr sz="869" b="0" i="0">
                          <a:solidFill>
                            <a:srgbClr val="202B33"/>
                          </a:solidFill>
                          <a:latin typeface="Aptos"/>
                        </a:rPr>
                        <a:t>E₂ 2.0×; deformation 3.01×; n = 1/mix</a:t>
                      </a:r>
                    </a:p>
                  </a:txBody>
                  <a:tcPr marL="36576" marR="36576" marT="27432" marB="27432" anchor="ctr">
                    <a:solidFill>
                      <a:srgbClr val="EAF2F3"/>
                    </a:solidFill>
                  </a:tcPr>
                </a:tc>
              </a:tr>
              <a:tr h="680316">
                <a:tc>
                  <a:txBody>
                    <a:bodyPr/>
                    <a:lstStyle/>
                    <a:p>
                      <a:pPr algn="l"/>
                      <a:r>
                        <a:rPr sz="869" b="1" i="0">
                          <a:solidFill>
                            <a:srgbClr val="202B33"/>
                          </a:solidFill>
                          <a:latin typeface="Aptos"/>
                        </a:rPr>
                        <a:t>4</a:t>
                      </a:r>
                    </a:p>
                  </a:txBody>
                  <a:tcPr marL="36576" marR="36576" marT="27432" marB="27432" anchor="ctr">
                    <a:solidFill>
                      <a:srgbClr val="F6EAEC"/>
                    </a:solidFill>
                  </a:tcPr>
                </a:tc>
                <a:tc>
                  <a:txBody>
                    <a:bodyPr/>
                    <a:lstStyle/>
                    <a:p>
                      <a:pPr algn="ctr"/>
                      <a:r>
                        <a:rPr sz="869" b="0" i="0">
                          <a:solidFill>
                            <a:srgbClr val="202B33"/>
                          </a:solidFill>
                          <a:latin typeface="Aptos"/>
                        </a:rPr>
                        <a:t>Occupant-safety and certification claims remain outside the present evidence.</a:t>
                      </a:r>
                    </a:p>
                  </a:txBody>
                  <a:tcPr marL="36576" marR="36576" marT="27432" marB="27432" anchor="ctr">
                    <a:solidFill>
                      <a:srgbClr val="F6EAEC"/>
                    </a:solidFill>
                  </a:tcPr>
                </a:tc>
                <a:tc>
                  <a:txBody>
                    <a:bodyPr/>
                    <a:lstStyle/>
                    <a:p>
                      <a:pPr algn="ctr"/>
                      <a:r>
                        <a:rPr sz="869" b="0" i="0">
                          <a:solidFill>
                            <a:srgbClr val="202B33"/>
                          </a:solidFill>
                          <a:latin typeface="Aptos"/>
                        </a:rPr>
                        <a:t>No vehicle containment, redirection, ASI or THIV test</a:t>
                      </a:r>
                    </a:p>
                  </a:txBody>
                  <a:tcPr marL="36576" marR="36576" marT="27432" marB="27432" anchor="ctr">
                    <a:solidFill>
                      <a:srgbClr val="F6EAEC"/>
                    </a:solidFill>
                  </a:tcPr>
                </a:tc>
              </a:tr>
            </a:tbl>
          </a:graphicData>
        </a:graphic>
      </p:graphicFrame>
      <p:graphicFrame>
        <p:nvGraphicFramePr>
          <p:cNvPr id="12" name="Table 11"/>
          <p:cNvGraphicFramePr>
            <a:graphicFrameLocks noGrp="1"/>
          </p:cNvGraphicFramePr>
          <p:nvPr/>
        </p:nvGraphicFramePr>
        <p:xfrm>
          <a:off x="7626096" y="1243584"/>
          <a:ext cx="3886200" cy="3401568"/>
        </p:xfrm>
        <a:graphic>
          <a:graphicData uri="http://schemas.openxmlformats.org/drawingml/2006/table">
            <a:tbl>
              <a:tblPr firstRow="1" bandRow="1">
                <a:tableStyleId>{5C22544A-7EE6-4342-B048-85BDC9FD1C3A}</a:tableStyleId>
              </a:tblPr>
              <a:tblGrid>
                <a:gridCol w="1573911"/>
                <a:gridCol w="2312289"/>
              </a:tblGrid>
              <a:tr h="680313">
                <a:tc>
                  <a:txBody>
                    <a:bodyPr/>
                    <a:lstStyle/>
                    <a:p>
                      <a:pPr algn="l"/>
                      <a:r>
                        <a:rPr sz="820" b="1" i="0">
                          <a:solidFill>
                            <a:srgbClr val="FFFFFF"/>
                          </a:solidFill>
                          <a:latin typeface="Aptos"/>
                        </a:rPr>
                        <a:t>IPR decision requested</a:t>
                      </a:r>
                    </a:p>
                  </a:txBody>
                  <a:tcPr marL="36576" marR="36576" marT="27432" marB="27432" anchor="ctr">
                    <a:solidFill>
                      <a:srgbClr val="17365D"/>
                    </a:solidFill>
                  </a:tcPr>
                </a:tc>
                <a:tc>
                  <a:txBody>
                    <a:bodyPr/>
                    <a:lstStyle/>
                    <a:p>
                      <a:pPr algn="ctr"/>
                      <a:r>
                        <a:rPr sz="820" b="1" i="0">
                          <a:solidFill>
                            <a:srgbClr val="FFFFFF"/>
                          </a:solidFill>
                          <a:latin typeface="Aptos"/>
                        </a:rPr>
                        <a:t>Purpose</a:t>
                      </a:r>
                    </a:p>
                  </a:txBody>
                  <a:tcPr marL="36576" marR="36576" marT="27432" marB="27432" anchor="ctr">
                    <a:solidFill>
                      <a:srgbClr val="17365D"/>
                    </a:solidFill>
                  </a:tcPr>
                </a:tc>
              </a:tr>
              <a:tr h="680313">
                <a:tc>
                  <a:txBody>
                    <a:bodyPr/>
                    <a:lstStyle/>
                    <a:p>
                      <a:pPr algn="l"/>
                      <a:r>
                        <a:rPr sz="840" b="1" i="0">
                          <a:solidFill>
                            <a:srgbClr val="202B33"/>
                          </a:solidFill>
                          <a:latin typeface="Aptos"/>
                        </a:rPr>
                        <a:t>Approve patent filing</a:t>
                      </a:r>
                    </a:p>
                  </a:txBody>
                  <a:tcPr marL="36576" marR="36576" marT="27432" marB="27432" anchor="ctr">
                    <a:solidFill>
                      <a:srgbClr val="EAF1F6"/>
                    </a:solidFill>
                  </a:tcPr>
                </a:tc>
                <a:tc>
                  <a:txBody>
                    <a:bodyPr/>
                    <a:lstStyle/>
                    <a:p>
                      <a:pPr algn="ctr"/>
                      <a:r>
                        <a:rPr sz="840" b="0" i="0">
                          <a:solidFill>
                            <a:srgbClr val="202B33"/>
                          </a:solidFill>
                          <a:latin typeface="Aptos"/>
                        </a:rPr>
                        <a:t>Authorize professional search, drafting and filing</a:t>
                      </a:r>
                    </a:p>
                  </a:txBody>
                  <a:tcPr marL="36576" marR="36576" marT="27432" marB="27432" anchor="ctr">
                    <a:solidFill>
                      <a:srgbClr val="EAF1F6"/>
                    </a:solidFill>
                  </a:tcPr>
                </a:tc>
              </a:tr>
              <a:tr h="680313">
                <a:tc>
                  <a:txBody>
                    <a:bodyPr/>
                    <a:lstStyle/>
                    <a:p>
                      <a:pPr algn="l"/>
                      <a:r>
                        <a:rPr sz="840" b="1" i="0">
                          <a:solidFill>
                            <a:srgbClr val="202B33"/>
                          </a:solidFill>
                          <a:latin typeface="Aptos"/>
                        </a:rPr>
                        <a:t>Maintain confidentiality</a:t>
                      </a:r>
                    </a:p>
                  </a:txBody>
                  <a:tcPr marL="36576" marR="36576" marT="27432" marB="27432" anchor="ctr">
                    <a:solidFill>
                      <a:srgbClr val="F8FAFB"/>
                    </a:solidFill>
                  </a:tcPr>
                </a:tc>
                <a:tc>
                  <a:txBody>
                    <a:bodyPr/>
                    <a:lstStyle/>
                    <a:p>
                      <a:pPr algn="ctr"/>
                      <a:r>
                        <a:rPr sz="840" b="0" i="0">
                          <a:solidFill>
                            <a:srgbClr val="202B33"/>
                          </a:solidFill>
                          <a:latin typeface="Aptos"/>
                        </a:rPr>
                        <a:t>Coordinate manuscript/public release after filing</a:t>
                      </a:r>
                    </a:p>
                  </a:txBody>
                  <a:tcPr marL="36576" marR="36576" marT="27432" marB="27432" anchor="ctr">
                    <a:solidFill>
                      <a:srgbClr val="F8FAFB"/>
                    </a:solidFill>
                  </a:tcPr>
                </a:tc>
              </a:tr>
              <a:tr h="680313">
                <a:tc>
                  <a:txBody>
                    <a:bodyPr/>
                    <a:lstStyle/>
                    <a:p>
                      <a:pPr algn="l"/>
                      <a:r>
                        <a:rPr sz="840" b="1" i="0">
                          <a:solidFill>
                            <a:srgbClr val="202B33"/>
                          </a:solidFill>
                          <a:latin typeface="Aptos"/>
                        </a:rPr>
                        <a:t>Endorse staged validation</a:t>
                      </a:r>
                    </a:p>
                  </a:txBody>
                  <a:tcPr marL="36576" marR="36576" marT="27432" marB="27432" anchor="ctr">
                    <a:solidFill>
                      <a:srgbClr val="FFFFFF"/>
                    </a:solidFill>
                  </a:tcPr>
                </a:tc>
                <a:tc>
                  <a:txBody>
                    <a:bodyPr/>
                    <a:lstStyle/>
                    <a:p>
                      <a:pPr algn="ctr"/>
                      <a:r>
                        <a:rPr sz="840" b="0" i="0">
                          <a:solidFill>
                            <a:srgbClr val="202B33"/>
                          </a:solidFill>
                          <a:latin typeface="Aptos"/>
                        </a:rPr>
                        <a:t>Replicates, debris metrics, FE and full-scale crash</a:t>
                      </a:r>
                    </a:p>
                  </a:txBody>
                  <a:tcPr marL="36576" marR="36576" marT="27432" marB="27432" anchor="ctr">
                    <a:solidFill>
                      <a:srgbClr val="FFFFFF"/>
                    </a:solidFill>
                  </a:tcPr>
                </a:tc>
              </a:tr>
              <a:tr h="680316">
                <a:tc>
                  <a:txBody>
                    <a:bodyPr/>
                    <a:lstStyle/>
                    <a:p>
                      <a:pPr algn="l"/>
                      <a:r>
                        <a:rPr sz="840" b="1" i="0">
                          <a:solidFill>
                            <a:srgbClr val="202B33"/>
                          </a:solidFill>
                          <a:latin typeface="Aptos"/>
                        </a:rPr>
                        <a:t>Enable controlled transfer</a:t>
                      </a:r>
                    </a:p>
                  </a:txBody>
                  <a:tcPr marL="36576" marR="36576" marT="27432" marB="27432" anchor="ctr">
                    <a:solidFill>
                      <a:srgbClr val="F8FAFB"/>
                    </a:solidFill>
                  </a:tcPr>
                </a:tc>
                <a:tc>
                  <a:txBody>
                    <a:bodyPr/>
                    <a:lstStyle/>
                    <a:p>
                      <a:pPr algn="ctr"/>
                      <a:r>
                        <a:rPr sz="840" b="0" i="0">
                          <a:solidFill>
                            <a:srgbClr val="202B33"/>
                          </a:solidFill>
                          <a:latin typeface="Aptos"/>
                        </a:rPr>
                        <a:t>Engage CRRI/NHAI/precast partners under IP controls</a:t>
                      </a:r>
                    </a:p>
                  </a:txBody>
                  <a:tcPr marL="36576" marR="36576" marT="27432" marB="27432" anchor="ctr">
                    <a:solidFill>
                      <a:srgbClr val="F8FAFB"/>
                    </a:solidFill>
                  </a:tcPr>
                </a:tc>
              </a:tr>
            </a:tbl>
          </a:graphicData>
        </a:graphic>
      </p:graphicFrame>
      <p:sp>
        <p:nvSpPr>
          <p:cNvPr id="13" name="Rectangle 12"/>
          <p:cNvSpPr/>
          <p:nvPr/>
        </p:nvSpPr>
        <p:spPr>
          <a:xfrm>
            <a:off x="731520" y="4956048"/>
            <a:ext cx="10716768" cy="658368"/>
          </a:xfrm>
          <a:prstGeom prst="rect">
            <a:avLst/>
          </a:prstGeom>
          <a:solidFill>
            <a:srgbClr val="EAF1F6"/>
          </a:solidFill>
          <a:ln w="1143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5120640"/>
            <a:ext cx="10259568" cy="347472"/>
          </a:xfrm>
          <a:prstGeom prst="rect">
            <a:avLst/>
          </a:prstGeom>
          <a:noFill/>
        </p:spPr>
        <p:txBody>
          <a:bodyPr wrap="square" lIns="0" rIns="0" tIns="0" bIns="0" anchor="t">
            <a:spAutoFit/>
          </a:bodyPr>
          <a:lstStyle/>
          <a:p>
            <a:pPr algn="ctr">
              <a:lnSpc>
                <a:spcPct val="100000"/>
              </a:lnSpc>
            </a:pPr>
            <a:r>
              <a:rPr sz="1080" b="1" i="0">
                <a:solidFill>
                  <a:srgbClr val="17365D"/>
                </a:solidFill>
                <a:latin typeface="Cambria"/>
              </a:rPr>
              <a:t>Recommendation: approve protection of the integrated material–mechanism–barrier platform; retain full-scale occupant-risk validation as the commercial release gate.</a:t>
            </a:r>
          </a:p>
        </p:txBody>
      </p:sp>
      <p:sp>
        <p:nvSpPr>
          <p:cNvPr id="15" name="Rectangle 14"/>
          <p:cNvSpPr/>
          <p:nvPr/>
        </p:nvSpPr>
        <p:spPr>
          <a:xfrm>
            <a:off x="731520" y="5733288"/>
            <a:ext cx="10716768" cy="320040"/>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806440"/>
            <a:ext cx="10314432" cy="173736"/>
          </a:xfrm>
          <a:prstGeom prst="rect">
            <a:avLst/>
          </a:prstGeom>
          <a:noFill/>
        </p:spPr>
        <p:txBody>
          <a:bodyPr wrap="square" lIns="0" rIns="0" tIns="0" bIns="0" anchor="t">
            <a:spAutoFit/>
          </a:bodyPr>
          <a:lstStyle/>
          <a:p>
            <a:pPr algn="l">
              <a:lnSpc>
                <a:spcPct val="100000"/>
              </a:lnSpc>
            </a:pPr>
            <a:r>
              <a:rPr sz="830" b="1" i="0">
                <a:solidFill>
                  <a:srgbClr val="9A4651"/>
                </a:solidFill>
                <a:latin typeface="Aptos"/>
              </a:rPr>
              <a:t>Technical assessment only: patentability, legal claim scope and safety certification require specialist review.</a:t>
            </a:r>
          </a:p>
        </p:txBody>
      </p:sp>
      <p:sp>
        <p:nvSpPr>
          <p:cNvPr id="17" name="TextBox 16"/>
          <p:cNvSpPr txBox="1"/>
          <p:nvPr/>
        </p:nvSpPr>
        <p:spPr>
          <a:xfrm>
            <a:off x="731520" y="6108192"/>
            <a:ext cx="1060704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Recommendation based on inventor-supplied evidence and inventor-confirmed pre-filing status as of 14 Aug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SOURCES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References &amp; primary sources (1/2)</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18</a:t>
            </a:r>
          </a:p>
        </p:txBody>
      </p:sp>
      <p:sp>
        <p:nvSpPr>
          <p:cNvPr id="11" name="Rectangle 10"/>
          <p:cNvSpPr/>
          <p:nvPr/>
        </p:nvSpPr>
        <p:spPr>
          <a:xfrm>
            <a:off x="667512"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417320"/>
            <a:ext cx="4919472" cy="841248"/>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1  IIT Bhubaneswar invention team (2026). Confidential inventor-supplied crash-barrier research manuscript; submitted 18 Jul 2026. Title and formulation details redacted pending filing.</a:t>
            </a:r>
          </a:p>
        </p:txBody>
      </p:sp>
      <p:sp>
        <p:nvSpPr>
          <p:cNvPr id="13" name="TextBox 12"/>
          <p:cNvSpPr txBox="1"/>
          <p:nvPr/>
        </p:nvSpPr>
        <p:spPr>
          <a:xfrm>
            <a:off x="868680" y="2331720"/>
            <a:ext cx="4919472" cy="841248"/>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2  IIT Bhubaneswar invention team (2026). Invention and Technology Disclosure Form: Novel Concrete Composition for Impact Energy Dissipating Crash Barriers, dated 16 Jul 2026; Questionnaire; Technology Profile.</a:t>
            </a:r>
          </a:p>
        </p:txBody>
      </p:sp>
      <p:sp>
        <p:nvSpPr>
          <p:cNvPr id="14" name="TextBox 13"/>
          <p:cNvSpPr txBox="1"/>
          <p:nvPr/>
        </p:nvSpPr>
        <p:spPr>
          <a:xfrm>
            <a:off x="868680" y="3246120"/>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3  World Health Organization (2023). Global Status Report on Road Safety 2023. https://www.who.int/publications/i/item/9789240086517</a:t>
            </a:r>
          </a:p>
        </p:txBody>
      </p:sp>
      <p:sp>
        <p:nvSpPr>
          <p:cNvPr id="15" name="TextBox 14"/>
          <p:cNvSpPr txBox="1"/>
          <p:nvPr/>
        </p:nvSpPr>
        <p:spPr>
          <a:xfrm>
            <a:off x="868680" y="4014215"/>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4  UNEP (2022). Sand and Sustainability: 10 Strategic Recommendations to Avert a Crisis. https://wedocs.unep.org/20.500.11822/38362</a:t>
            </a:r>
          </a:p>
        </p:txBody>
      </p:sp>
      <p:sp>
        <p:nvSpPr>
          <p:cNvPr id="16" name="TextBox 15"/>
          <p:cNvSpPr txBox="1"/>
          <p:nvPr/>
        </p:nvSpPr>
        <p:spPr>
          <a:xfrm>
            <a:off x="868680" y="4782312"/>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5  U.S. Geological Survey (2025). Mineral Commodity Summaries 2025—Cement. https://pubs.usgs.gov/periodicals/mcs2025/mcs2025-cement.pdf</a:t>
            </a:r>
          </a:p>
        </p:txBody>
      </p:sp>
      <p:sp>
        <p:nvSpPr>
          <p:cNvPr id="17" name="TextBox 16"/>
          <p:cNvSpPr txBox="1"/>
          <p:nvPr/>
        </p:nvSpPr>
        <p:spPr>
          <a:xfrm>
            <a:off x="868680" y="5550407"/>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6  International Energy Agency (2023). Cement—Tracking Clean Energy Progress. https://www.iea.org/energy-system/industry/cement</a:t>
            </a:r>
          </a:p>
        </p:txBody>
      </p:sp>
      <p:sp>
        <p:nvSpPr>
          <p:cNvPr id="18" name="Rectangle 17"/>
          <p:cNvSpPr/>
          <p:nvPr/>
        </p:nvSpPr>
        <p:spPr>
          <a:xfrm>
            <a:off x="6172200"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73368" y="1417320"/>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7  Reid, I.; Carpenter, A.M.; Masili, A. (2020). Beneficial Uses of Coal Fly Ash. IEA Clean Coal Centre, CCC/303, ISBN 978-92-9029-626-3.</a:t>
            </a:r>
          </a:p>
        </p:txBody>
      </p:sp>
      <p:sp>
        <p:nvSpPr>
          <p:cNvPr id="20" name="TextBox 19"/>
          <p:cNvSpPr txBox="1"/>
          <p:nvPr/>
        </p:nvSpPr>
        <p:spPr>
          <a:xfrm>
            <a:off x="6373368" y="2185416"/>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8  IRC:119-2015. Guidelines for Traffic Safety Barriers. Indian Roads Congress, New Delhi.</a:t>
            </a:r>
          </a:p>
        </p:txBody>
      </p:sp>
      <p:sp>
        <p:nvSpPr>
          <p:cNvPr id="21" name="TextBox 20"/>
          <p:cNvSpPr txBox="1"/>
          <p:nvPr/>
        </p:nvSpPr>
        <p:spPr>
          <a:xfrm>
            <a:off x="6373368" y="2953512"/>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9  IRC:6-2016. Standard Specifications and Code of Practice for Road Bridges. Indian Roads Congress.</a:t>
            </a:r>
          </a:p>
        </p:txBody>
      </p:sp>
      <p:sp>
        <p:nvSpPr>
          <p:cNvPr id="22" name="TextBox 21"/>
          <p:cNvSpPr txBox="1"/>
          <p:nvPr/>
        </p:nvSpPr>
        <p:spPr>
          <a:xfrm>
            <a:off x="6373368" y="3721608"/>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10 ACI 211.2-98. Standard Practice for Selecting Proportions for Structural Lightweight Concrete. American Concrete Institute.</a:t>
            </a:r>
          </a:p>
        </p:txBody>
      </p:sp>
      <p:sp>
        <p:nvSpPr>
          <p:cNvPr id="23" name="TextBox 22"/>
          <p:cNvSpPr txBox="1"/>
          <p:nvPr/>
        </p:nvSpPr>
        <p:spPr>
          <a:xfrm>
            <a:off x="6373368" y="4489704"/>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11 ACI 544.2R-89. Measurement of Properties of Fiber Reinforced Concrete. American Concrete Institute.</a:t>
            </a:r>
          </a:p>
        </p:txBody>
      </p:sp>
      <p:sp>
        <p:nvSpPr>
          <p:cNvPr id="24" name="TextBox 23"/>
          <p:cNvSpPr txBox="1"/>
          <p:nvPr/>
        </p:nvSpPr>
        <p:spPr>
          <a:xfrm>
            <a:off x="6373368" y="5257800"/>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12 Applicable Bureau of Indian Standards lightweight-aggregate specification; detailed material designation withheld pending patent filing.</a:t>
            </a:r>
          </a:p>
        </p:txBody>
      </p:sp>
      <p:sp>
        <p:nvSpPr>
          <p:cNvPr id="25" name="TextBox 24"/>
          <p:cNvSpPr txBox="1"/>
          <p:nvPr/>
        </p:nvSpPr>
        <p:spPr>
          <a:xfrm>
            <a:off x="6373368" y="6025896"/>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13 IIT Bhubaneswar visual identity/logo: https://www.iitbbs.ac.in/ (accessed Aug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SOURCES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Peer-reviewed literature &amp; proceedings (2/2)</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EXTERNAL REDACTED DRAFT • NOT FOR DISTRIBUTION BEFORE FILING • IITBBS IPR APPROVAL REQUIRED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19</a:t>
            </a:r>
          </a:p>
        </p:txBody>
      </p:sp>
      <p:sp>
        <p:nvSpPr>
          <p:cNvPr id="11" name="Rectangle 10"/>
          <p:cNvSpPr/>
          <p:nvPr/>
        </p:nvSpPr>
        <p:spPr>
          <a:xfrm>
            <a:off x="667512"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38988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14 Raj, A.; Nagarajan, P.; Pallikkara, S.A. (2020). Application of Fiber-Reinforced Rubcrete for Crash Barriers. J. Mater. Civ. Eng. 32(12), 04020358. doi:10.1061/(ASCE)MT.1943-5533.0003454.</a:t>
            </a:r>
          </a:p>
        </p:txBody>
      </p:sp>
      <p:sp>
        <p:nvSpPr>
          <p:cNvPr id="13" name="TextBox 12"/>
          <p:cNvSpPr txBox="1"/>
          <p:nvPr/>
        </p:nvSpPr>
        <p:spPr>
          <a:xfrm>
            <a:off x="868680" y="209854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15 Shen, W. et al. (2014). Investigation on the safety concrete for highway crash barrier. Constr. Build. Mater. 70, 394–398. doi:10.1016/j.conbuildmat.2014.07.060.</a:t>
            </a:r>
          </a:p>
        </p:txBody>
      </p:sp>
      <p:sp>
        <p:nvSpPr>
          <p:cNvPr id="14" name="TextBox 13"/>
          <p:cNvSpPr txBox="1"/>
          <p:nvPr/>
        </p:nvSpPr>
        <p:spPr>
          <a:xfrm>
            <a:off x="868680" y="280720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16 Zain, M.F.M.; Mohammed, H.J. (2015). Concrete road barriers subjected to impact loads: an overview. Lat. Am. J. Solids Struct. 12, 1824–1858. doi:10.1590/1679-78251783.</a:t>
            </a:r>
          </a:p>
        </p:txBody>
      </p:sp>
      <p:sp>
        <p:nvSpPr>
          <p:cNvPr id="15" name="TextBox 14"/>
          <p:cNvSpPr txBox="1"/>
          <p:nvPr/>
        </p:nvSpPr>
        <p:spPr>
          <a:xfrm>
            <a:off x="868680" y="351586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17 Wang, H.T.; Wang, L.C. (2013). Static and dynamic properties of steel fiber reinforced lightweight aggregate concrete. Constr. Build. Mater. 38, 1146–1151. doi:10.1016/j.conbuildmat.2012.09.016.</a:t>
            </a:r>
          </a:p>
        </p:txBody>
      </p:sp>
      <p:sp>
        <p:nvSpPr>
          <p:cNvPr id="16" name="TextBox 15"/>
          <p:cNvSpPr txBox="1"/>
          <p:nvPr/>
        </p:nvSpPr>
        <p:spPr>
          <a:xfrm>
            <a:off x="868680" y="4224528"/>
            <a:ext cx="4919472" cy="74980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18 Sahoo, S.; Selvaraju, A.K.; Suriya Prakash, S. (2020). Mechanical characterization of structural lightweight aggregate concrete made with SFA and synthetic fibres. Cem. Concr. Compos. 113, 103712. doi:10.1016/j.cemconcomp.2020.103712.</a:t>
            </a:r>
          </a:p>
        </p:txBody>
      </p:sp>
      <p:sp>
        <p:nvSpPr>
          <p:cNvPr id="17" name="TextBox 16"/>
          <p:cNvSpPr txBox="1"/>
          <p:nvPr/>
        </p:nvSpPr>
        <p:spPr>
          <a:xfrm>
            <a:off x="868680" y="5024628"/>
            <a:ext cx="4919472" cy="74980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19 Nadesan, M.S.; Dinakar, P. (2017). Mix design and properties of fly ash waste lightweight aggregates in structural lightweight concrete. Case Stud. Constr. Mater. 7, 336–347. doi:10.1016/j.cscm.2017.09.005.</a:t>
            </a:r>
          </a:p>
        </p:txBody>
      </p:sp>
      <p:sp>
        <p:nvSpPr>
          <p:cNvPr id="18" name="TextBox 17"/>
          <p:cNvSpPr txBox="1"/>
          <p:nvPr/>
        </p:nvSpPr>
        <p:spPr>
          <a:xfrm>
            <a:off x="868680" y="582472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20 Kim, W. et al. (2019). Evaluation of concrete barriers with novel shock absorbers subjected to impact loading. Arch. Civ. Mech. Eng. 19, 657–671. doi:10.1016/j.acme.2019.01.004.</a:t>
            </a:r>
          </a:p>
        </p:txBody>
      </p:sp>
      <p:sp>
        <p:nvSpPr>
          <p:cNvPr id="19" name="Rectangle 18"/>
          <p:cNvSpPr/>
          <p:nvPr/>
        </p:nvSpPr>
        <p:spPr>
          <a:xfrm>
            <a:off x="6172200"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138988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21 Yang, J. et al. (2019). Crash performance evaluation of a new movable median guardrail. Eng. Struct. 182, 459–472. doi:10.1016/j.engstruct.2018.12.090.</a:t>
            </a:r>
          </a:p>
        </p:txBody>
      </p:sp>
      <p:sp>
        <p:nvSpPr>
          <p:cNvPr id="21" name="TextBox 20"/>
          <p:cNvSpPr txBox="1"/>
          <p:nvPr/>
        </p:nvSpPr>
        <p:spPr>
          <a:xfrm>
            <a:off x="6373368" y="209854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22 Abid, S.R. et al. (2020). Repeated drop-weight impact tests on self-compacting concrete reinforced with microsteel fiber. Heliyon 6, e03198. doi:10.1016/j.heliyon.2020.e03198.</a:t>
            </a:r>
          </a:p>
        </p:txBody>
      </p:sp>
      <p:sp>
        <p:nvSpPr>
          <p:cNvPr id="22" name="TextBox 21"/>
          <p:cNvSpPr txBox="1"/>
          <p:nvPr/>
        </p:nvSpPr>
        <p:spPr>
          <a:xfrm>
            <a:off x="6373368" y="280720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23 Li, N.; Park, B.B.; Lambert, J.H. (2018). Effect of guardrail on reducing fatal and severe injuries on freeways. J. Transp. Saf. Secur. 10(5), 455–470. doi:10.1080/19439962.2017.1297970.</a:t>
            </a:r>
          </a:p>
        </p:txBody>
      </p:sp>
      <p:sp>
        <p:nvSpPr>
          <p:cNvPr id="23" name="TextBox 22"/>
          <p:cNvSpPr txBox="1"/>
          <p:nvPr/>
        </p:nvSpPr>
        <p:spPr>
          <a:xfrm>
            <a:off x="6373368" y="351586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24 Grzebieta, R.H. et al. (2005). Roadside Hazard and Barrier Crashworthiness Issues. Proc. 19th Int’l Technical Conf. on Enhanced Safety of Vehicles, Paper 05-0149-O, NHTSA.</a:t>
            </a:r>
          </a:p>
        </p:txBody>
      </p:sp>
      <p:sp>
        <p:nvSpPr>
          <p:cNvPr id="24" name="TextBox 23"/>
          <p:cNvSpPr txBox="1"/>
          <p:nvPr/>
        </p:nvSpPr>
        <p:spPr>
          <a:xfrm>
            <a:off x="6373368" y="4224528"/>
            <a:ext cx="4919472" cy="74980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25 Bonin, G.; Cantisani, G.; Loprencipe, G.; Ranzo, A. (2004). Road safety barriers with short elements of lightweight concrete. Proc. II Int’l Congress SIIV—New Technologies and Modelling Tools for Roads.</a:t>
            </a:r>
          </a:p>
        </p:txBody>
      </p:sp>
      <p:sp>
        <p:nvSpPr>
          <p:cNvPr id="25" name="TextBox 24"/>
          <p:cNvSpPr txBox="1"/>
          <p:nvPr/>
        </p:nvSpPr>
        <p:spPr>
          <a:xfrm>
            <a:off x="6373368" y="502462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26 Iqbal, M. (2011). Vehicular Impact Loading and Barrier Design. ACI Symposium Publication SP-281, 1–16. doi:10.14359/51683612.</a:t>
            </a:r>
          </a:p>
        </p:txBody>
      </p:sp>
      <p:sp>
        <p:nvSpPr>
          <p:cNvPr id="26" name="TextBox 25"/>
          <p:cNvSpPr txBox="1"/>
          <p:nvPr/>
        </p:nvSpPr>
        <p:spPr>
          <a:xfrm>
            <a:off x="6373368" y="573328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27 Pachocki, Ł.; Bruski, D. (2020). Modeling, simulation and validation of a TB41 concrete restraint-system crash test. Arch. Civ. Mech. Eng. doi:10.1007/s43452-020-00065-7.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Novel Concrete Composition for Impact Energy Dissipating Crash Barriers</dc:title>
  <dc:subject>Editable academic external redacted IPR presentation with experimental evidence and references</dc:subject>
  <dc:creator>IIT Bhubaneswar invention team</dc:creator>
  <cp:keywords>crash barrier, lightweight concrete, impact energy, patent, IIT Bhubaneswar</cp:keywords>
  <dc:description>Academic research presentation generated from inventor-supplied documents; claims and certification statements are evidence-qualified.</dc:description>
  <cp:lastModifiedBy>Steve Canny</cp:lastModifiedBy>
  <cp:revision>1</cp:revision>
  <dcterms:created xsi:type="dcterms:W3CDTF">2013-01-27T09:14:16Z</dcterms:created>
  <dcterms:modified xsi:type="dcterms:W3CDTF">2013-01-27T09:15:58Z</dcterms:modified>
  <cp:category/>
</cp:coreProperties>
</file>